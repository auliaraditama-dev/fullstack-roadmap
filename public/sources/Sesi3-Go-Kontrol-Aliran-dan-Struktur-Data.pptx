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Sambutan (±1 menit). Sesi 3 adalah sesi yang paling padat kode di Fase 1: peserta belajar membuat program mengambil keputusan (if-else, switch), mengulang (for), dan menyimpan banyak data (array, slice, map, struct). Ingatkan bahwa semua konsep ini sudah dikenal secara universal dari Sesi 1; yang baru hanyalah bentuknya di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180 menit. Bagian kontrol aliran (if-else, switch, for) sekitar 45 menit, istirahat, lalu struktur data (array, slice, map, struct) sekitar 50 menit, latihan 25 menit, dan soft skill komunikasi verbal/non-verbal 35 menit. Waktu bersifat panduan. Jika peserta masih kesulitan dengan setup dari Sesi 2, alokasikan beberapa menit di awal untuk menyelesaikannya.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tujuan sesi. Tekankan bahwa di akhir sesi peserta sudah bisa menulis program Go yang mengambil keputusan, mengulang, dan mengelola daftar data. Ini fondasi untuk Hands-on Project 1 (CLI daftar belanja) di Sesi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Bahas dua tugas mandiri Sesi 2 (±5 menit). BMI: berat / (tinggi × tinggi) memakai float64; contoh 65 kg dan 1.70 m menghasilkan 22.5. Konversi detik: 3725 detik = 1 jam 2 menit 5 detik; jam = detik / 3600, menit = (detik % 3600) / 60, sisa = detik % 60. Tunjukkan bahwa / dan % pada int saling melengkapi. Tanyakan siapa yang menemukan kesulitan, dan sisipkan tanya jawab singkat soal latihan mendengarkan aktif.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Bandingkan dengan pseudocode Sesi 1: if nilai &gt;= 75 then ... end if. Di Go: kondisi tanpa tanda kurung, kurung kurawal wajib walaupun hanya satu baris, dan else harus berada di baris yang sama dengan kurung kurawal penutup. Live-trace dengan nilai 90, 78, dan 60. Tanyakan: apa yang terjadi bila urutan kondisi dibalik? Hanya blok pertama yang benar yang dijalankan.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hal penting. Pertama, kondisi if di Go harus bertipe bool: if 1 { } adalah error, tidak seperti beberapa bahasa lain. Kedua, if boleh memuat pernyataan singkat sebelum kondisi (if n := len(...); n &gt; 1) dan variabel n hanya berlaku di dalam blok if/else. Gunakan &amp;&amp; dan || dari Sesi 2. Mintalah peserta mencoba mengubah nilai umur dan melihat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Berbeda dengan pseudocode di Sesi 1 dan C/Java: di Go tidak perlu break di tiap case, dan eksekusi tidak jatuh ke case berikutnya secara otomatis. Hanya case yang cocok yang dijalankan. default menangani sisanya. Keyword fallthrough tersedia untuk kasus khusus tetapi jarang dipakai. Live-trace dengan hari :=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Dua varian yang membuat switch Go fleksibel. Satu case bisa memuat beberapa nilai (case 6, 7). switch tanpa ekspresi (tagless) berperilaku seperti rangkaian if-else if yang lebih rapi, dan cocok untuk rentang nilai seperti grade. Bandingkan dengan Sesi 1: switch untuk nilai tertentu, if-else untuk rentang; di Go tagless switch menjembatani keduanya.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hanya punya satu kata kunci perulangan: for. Tidak ada while atau do-while; for menggantikan semuanya. Tiga bentuk: klasik dengan tiga bagian, hanya kondisi (setara while), dan tanpa apa pun (tak hingga, harus dihentikan dengan break). Peringatkan soal infinite loop: jika terminal terjebak, tekan Ctrl+C.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Bedah tiga bagian: init dijalankan sekali di awal, kondisi dicek sebelum setiap putaran, post dijalankan setelah setiap putaran. Trace nilai i: 1, 2, 3, 4, 5; saat i menjadi 6 kondisi salah dan loop berhenti. Catat: i++ di Go adalah pernyataan, bukan ekspresi, sehingga tidak dapat dipakai seperti x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i = 1 dicetak; i = 2 genap, continue; ... i = 7 dicetak; i = 8 genap, continue; i = 9 lebih besar dari 7, break. Output 1 3 5 7. Bahas break (keluar dari loop) dan continue (lanjut ke putaran berikutnya). Kaitkan dengan Sesi 1: % di Go setara MOD. Beri 3–4 menit agar peserta mencoba mengubah batas dan melihat hasilnya.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Istirahat 10 menit. Sarankan peserta mencoba mengubah contoh for di laptop mereka. Setelah kembali, mulai dengan pertanyaan: apa bedanya for klasik dan for kondisi?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Kaitkan dengan Sesi 1 (array dan list). Array di Go berukuran tetap dan ukuran itu bagian dari tipe: [3]int dan [4]int adalah tipe yang berbeda. Indeks dimulai dari 0. Array disalin penuh saat di-assign (value semantics). Karena ukurannya tetap, di praktik Go lebih sering memakai slice. Mengakses indeks di luar batas menyebabkan error (panic saat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Slice adalah struktur data yang paling sering dipakai di Go untuk daftar. Dibuat dengan []T tanpa ukuran. append menambah elemen dan mengembalikan slice baru, jadi hasilnya harus ditampung kembali (buah = append(buah, ...)). Sub-slice s[a:b] mengambil dari indeks a sampai sebelum b. make([]int, 0, 5) membuat slice kosong dengan kapasitas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tidak punya fungsi bawaan untuk menghapus elemen slice; polanya append(s[:i], s[i+1:]...). Tanda ... memecah slice menjadi argumen. Ini dipakai lagi di Project 1 (menghapus item dari daftar belanja). len adalah jumlah elemen, cap adalah kapasitas yang tersedia sebelum slice perlu dialokasikan ulang. Bandingkan array dan slice memakai tabel.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 membuat for menelusuri slice (juga array, map, string). Pada slice ia mengembalikan indeks dan nilai. Tanda _ (blank identifier) dipakai bila salah satunya tidak dibutuhkan; ini menyelesaikan aturan Sesi 2 bahwa variabel yang tidak dipakai adalah error. Contoh kedua hanya memakai nilai.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menyimpan pasangan kunci-nilai, cocok untuk pencarian cepat berdasarkan kunci (nama, ID). Dibuat dengan literal map[K]V{...} atau make(map[K]V). Tambah atau ubah dengan m[k] = v, hapus dengan delete(m, k), hitung dengan len(m). Kunci tidak boleh duplikat; kunci harus bertipe yang dapat dibandingkan (string, int, dll).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Membaca kunci yang tidak ada mengembalikan zero value (mis. 0), sehingga tidak bisa dibedakan dari nilai 0 yang sebenarnya. Idiom v, ok := m[k] memberi tahu apakah kunci ada. Urutan iterasi map tidak terjamin dan dapat berbeda tiap kali dijalankan. Map nil tidak dapat ditulisi (panic), jadi buat dengan literal atau make. Kita memakai _ untuk nilai yang tak dibutuhkan.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 mengelompokkan beberapa field bernama menjadi satu tipe, seperti "kartu data" satu entitas. Deklarasi tipe biasanya di luar fungsi. Akses field dengan tanda titik. %+v mencetak nama field. Field yang diawali huruf besar dapat diakses dari package lain dan nanti dipakai saat encode/decode JSON di Fase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paling umum di aplikasi Go: slice of struct sebagai daftar entitas. Ini akan dipakai di Hands-on Project 1 (daftar belanja CRUD di memori) dan di Fase 2 untuk data API. Ajak peserta menyebutkan struktur data yang tepat untuk: daftar siswa, kamus nama-umur, koordinat (x, y), dan 7 nama 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latihan bertahap, total 25 menit: Latihan 1 (7 menit), Latihan 2 (8 menit), Latihan 3 (10 menit). Ingatkan alur: pseudocode dulu, lalu kode, go run, uji dengan contoh. Pantau peserta yang kesulitan membaca pesan error compiler dan minta peserta berpasangan saling membantu (praktik mendengarkan aktif dari Sesi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nilai &gt;= 85 grade A, &gt;= 70 B, &gt;= 55 C, selain itu D. Uji juga nilai batas: 85, 70, 55. Solusi umum memakai if-else if berurutan dari batas terbesar, atau switch tanpa ekspresi. Kesalahan yang sering muncul: urutan kondisi terbalik (&gt;= 55 dulu) sehingga semua nilai tinggi jatuh ke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nilai := []int{80, 65, 90, 75}. Hasil: total 310, rata-rata 77.5, tertinggi 90. Bonus: jumlah nilai &gt;= 70 adalah 3. Jebakan: rata-rata memakai float64(total) / float64(len(nilai)) dari Sesi 2; jika int / int hasilnya 77 (tanpa desimal). Tertinggi diinisialisasi dengan elemen pertama, bukan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Solusi memakai struct Siswa, slice of struct, for range, dan if. Output: Budi: 80, Sari: 65, Dewi: 90, Lulus: 2. Bonus: map[string]int dari nama ke nilai, lalu cari nilai Sari dengan idiom v, ok. Peserta yang cepat dapat menambahkan siswa baru dengan append.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Bahas dua solusi. Latihan 1: urutan kondisi dari yang terbesar. Latihan 2: for range dengan _ untuk indeks; total += n menambah ke total; tertinggi dimulai dari nilai[0]; rata-rata memakai float64(total) / float64(len(nilai)). Output: 310 77.5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 dideklarasikan di luar main, slice of struct memakai literal tanpa nama field ({"Budi", 80}) yang valid karena urutan field sama dengan deklarasi. Loop mencetak dan menghitung lulus dengan lulus++. Diskusi: bila field diberi nama saat membuat literal, kode lebih tahan terhadap perubahan urutan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bagian soft skill (35 menit): pengantar (5 menit), teknik verbal (5 menit), non-verbal (5 menit), keselarasan (3 menit), aktivitas (14 menit), penutup lembar observasi (3 menit). Kaitkan dengan Sesi 2 (mendengarkan aktif): pendengar yang baik memperhatikan kata-kata sekaligus isyarat non-verbal. Tanyakan: pernahkah kamu salah paham dengan seseorang karena nada bicaranya, bukan katanya?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teknik: jelas dan ringkas, poin utama lebih dulu, tempo dan jeda, contoh konkret. Formula konteks, masalah, usulan membantu menyampaikan hal teknis. Contoh di kanan: pesan yang kabur dibandingkan dengan pesan terstruktur. Contoh ini nanti relevan saat peserta membuat API di Fase 2 dan melaporkan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isyarat non-verbal utama. Kontak mata menunjukkan perhatian dan keyakinan; postur terbuka memberi kesan siap berdiskusi; ekspresi wajah menunjukkan emosi; nada suara mengubah makna kalimat yang sama. Catat variasi budaya: tingkat kontak mata dan gestur yang dianggap sopan berbeda antar budaya, jadi gunakan sebagai panduan, bukan aturan mutlak. Untuk rapat online, bahas kamera, mikrofon, dan latar.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yang efektif terjadi ketika kata dan isyarat non-verbal sejalan. Ketika keduanya bertentangan, pendengar cenderung percaya isyarat non-verbal dan menjadi ragu. Diskusikan dua contoh dan minta peserta menyebut situasi di tim IT (mis. saat menerima kritik di code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Aktivitas berpasangan ±14 menit. Pilih topik dari materi hari ini (mis. beda array dan slice, atau kapan memakai map). A menjelaskan 1 menit tanpa membaca catatan; B mengisi lembar observasi di slide berikutnya. Tukar peran. Setelah keduanya selesai, masing-masing memberi satu hal yang sudah baik dan satu hal yang dapat ditingkatkan. Trainer berkeliling dan mencatat contoh yang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Lembar untuk pengamat (B). Beri tanda cek pada aspek yang terlihat baik. Fokus pada satu atau dua aspek saja agar masukan tidak berlebihan. Tujuannya belajar mengenali isyarat verbal dan non-verbal, bukan menilai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cepat delapan poin. Minta beberapa peserta menyebutkan satu hal yang paling berguna. Catat topik yang perlu diulang di awal Sesi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tanya jawab. Tugas mandiri: (1) FizzBuzz 1 sampai 20: kelipatan 3 cetak Fizz, kelipatan 5 cetak Buzz, kelipatan keduanya FizzBuzz, selain itu cetak angkanya; (2) hitung kemunculan tiap angka dalam slice memakai map[int]int (petunjuk: hitung[n]++); (3) latihkan presentasi 1 menit dengan memperhatikan kontak mata dan tempo. Umumkan Sesi 4: fungsi, error handling, package dan modul, serta soft skill feedback konstruktif.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assets/image1.png">    </p:cNvPr>
          <p:cNvPicPr>
            <a:picLocks noChangeAspect="1"/>
          </p:cNvPicPr>
          <p:nvPr/>
        </p:nvPicPr>
        <p:blipFill>
          <a:blip r:embed="rId1"/>
          <a:stretch>
            <a:fillRect/>
          </a:stretch>
        </p:blipFill>
        <p:spPr>
          <a:xfrm>
            <a:off x="0" y="0"/>
            <a:ext cx="18288000" cy="10287000"/>
          </a:xfrm>
          <a:prstGeom prst="rect">
            <a:avLst/>
          </a:prstGeom>
        </p:spPr>
      </p:pic>
      <p:sp>
        <p:nvSpPr>
          <p:cNvPr id="3" name="Shape 0"/>
          <p:cNvSpPr/>
          <p:nvPr/>
        </p:nvSpPr>
        <p:spPr>
          <a:xfrm>
            <a:off x="576072" y="2130552"/>
            <a:ext cx="0" cy="5321808"/>
          </a:xfrm>
          <a:prstGeom prst="line">
            <a:avLst/>
          </a:prstGeom>
          <a:noFill/>
          <a:ln w="25400">
            <a:solidFill>
              <a:srgbClr val="FDFBFB"/>
            </a:solidFill>
            <a:prstDash val="solid"/>
          </a:ln>
        </p:spPr>
      </p:sp>
      <p:sp>
        <p:nvSpPr>
          <p:cNvPr id="4" name="Text 1"/>
          <p:cNvSpPr txBox="1"/>
          <p:nvPr/>
        </p:nvSpPr>
        <p:spPr>
          <a:xfrm>
            <a:off x="859536" y="2057400"/>
            <a:ext cx="8229600" cy="3291840"/>
          </a:xfrm>
          <a:prstGeom prst="rect">
            <a:avLst/>
          </a:prstGeom>
          <a:noFill/>
          <a:ln/>
        </p:spPr>
        <p:txBody>
          <a:bodyPr wrap="square" lIns="0" tIns="0" rIns="0" bIns="0" rtlCol="0" anchor="t"/>
          <a:lstStyle/>
          <a:p>
            <a:pPr indent="0" marL="0">
              <a:buNone/>
            </a:pPr>
            <a:r>
              <a:rPr lang="en-US" sz="4800" b="1" dirty="0">
                <a:solidFill>
                  <a:srgbClr val="FDFBFB"/>
                </a:solidFill>
                <a:latin typeface="Cambria" pitchFamily="34" charset="0"/>
                <a:ea typeface="Cambria" pitchFamily="34" charset="-122"/>
                <a:cs typeface="Cambria" pitchFamily="34" charset="-120"/>
              </a:rPr>
              <a:t>Kontrol Aliran &amp;</a:t>
            </a:r>
            <a:endParaRPr lang="en-US" sz="4800" dirty="0"/>
          </a:p>
          <a:p>
            <a:pPr indent="0" marL="0">
              <a:buNone/>
            </a:pPr>
            <a:r>
              <a:rPr lang="en-US" sz="4800" b="1" dirty="0">
                <a:solidFill>
                  <a:srgbClr val="FDFBFB"/>
                </a:solidFill>
                <a:latin typeface="Cambria" pitchFamily="34" charset="0"/>
                <a:ea typeface="Cambria" pitchFamily="34" charset="-122"/>
                <a:cs typeface="Cambria" pitchFamily="34" charset="-120"/>
              </a:rPr>
              <a:t>Struktur Data Go</a:t>
            </a:r>
            <a:endParaRPr lang="en-US" sz="4800" dirty="0"/>
          </a:p>
        </p:txBody>
      </p:sp>
      <p:sp>
        <p:nvSpPr>
          <p:cNvPr id="5" name="Text 2"/>
          <p:cNvSpPr txBox="1"/>
          <p:nvPr/>
        </p:nvSpPr>
        <p:spPr>
          <a:xfrm>
            <a:off x="859536" y="5486400"/>
            <a:ext cx="7772400" cy="457200"/>
          </a:xfrm>
          <a:prstGeom prst="rect">
            <a:avLst/>
          </a:prstGeom>
          <a:noFill/>
          <a:ln/>
        </p:spPr>
        <p:txBody>
          <a:bodyPr wrap="square" lIns="0" tIns="0" rIns="0" bIns="0" rtlCol="0" anchor="t"/>
          <a:lstStyle/>
          <a:p>
            <a:pPr indent="0" marL="0">
              <a:buNone/>
            </a:pPr>
            <a:r>
              <a:rPr lang="en-US" sz="2400" b="1" dirty="0">
                <a:solidFill>
                  <a:srgbClr val="FCDF59"/>
                </a:solidFill>
                <a:latin typeface="Arial" pitchFamily="34" charset="0"/>
                <a:ea typeface="Arial" pitchFamily="34" charset="-122"/>
                <a:cs typeface="Arial" pitchFamily="34" charset="-120"/>
              </a:rPr>
              <a:t>Sesi 3 · Modul Go</a:t>
            </a:r>
            <a:endParaRPr lang="en-US" sz="2400" dirty="0"/>
          </a:p>
        </p:txBody>
      </p:sp>
      <p:sp>
        <p:nvSpPr>
          <p:cNvPr id="6" name="Text 3"/>
          <p:cNvSpPr txBox="1"/>
          <p:nvPr/>
        </p:nvSpPr>
        <p:spPr>
          <a:xfrm>
            <a:off x="859536" y="6080760"/>
            <a:ext cx="7863840" cy="1280160"/>
          </a:xfrm>
          <a:prstGeom prst="rect">
            <a:avLst/>
          </a:prstGeom>
          <a:noFill/>
          <a:ln/>
        </p:spPr>
        <p:txBody>
          <a:bodyPr wrap="square" lIns="0" tIns="0" rIns="0" bIns="0" rtlCol="0" anchor="t"/>
          <a:lstStyle/>
          <a:p>
            <a:pPr indent="0" marL="0">
              <a:buNone/>
            </a:pPr>
            <a:r>
              <a:rPr lang="en-US" sz="2200" dirty="0">
                <a:solidFill>
                  <a:srgbClr val="FDFBFB"/>
                </a:solidFill>
                <a:latin typeface="Arial" pitchFamily="34" charset="0"/>
                <a:ea typeface="Arial" pitchFamily="34" charset="-122"/>
                <a:cs typeface="Arial" pitchFamily="34" charset="-120"/>
              </a:rPr>
              <a:t>if-else, switch, for, array, slice, map, struct, dan komunikasi verbal/non-verbal</a:t>
            </a:r>
            <a:endParaRPr lang="en-US" sz="2200" dirty="0"/>
          </a:p>
        </p:txBody>
      </p:sp>
      <p:sp>
        <p:nvSpPr>
          <p:cNvPr id="7" name="Text 4"/>
          <p:cNvSpPr txBox="1"/>
          <p:nvPr/>
        </p:nvSpPr>
        <p:spPr>
          <a:xfrm>
            <a:off x="585216" y="9509760"/>
            <a:ext cx="8229600" cy="365760"/>
          </a:xfrm>
          <a:prstGeom prst="rect">
            <a:avLst/>
          </a:prstGeom>
          <a:noFill/>
          <a:ln/>
        </p:spPr>
        <p:txBody>
          <a:bodyPr wrap="square" lIns="0" tIns="0" rIns="0" bIns="0" rtlCol="0" anchor="t"/>
          <a:lstStyle/>
          <a:p>
            <a:pPr indent="0" marL="0">
              <a:buNone/>
            </a:pPr>
            <a:r>
              <a:rPr lang="en-US" sz="1800" dirty="0">
                <a:solidFill>
                  <a:srgbClr val="FDFBFB"/>
                </a:solidFill>
                <a:latin typeface="Arial" pitchFamily="34" charset="0"/>
                <a:ea typeface="Arial" pitchFamily="34" charset="-122"/>
                <a:cs typeface="Arial" pitchFamily="34" charset="-120"/>
              </a:rPr>
              <a:t>Prepared for HiColleagues Bootcamp Batch 4</a:t>
            </a:r>
            <a:endParaRPr lang="en-US" sz="1800" dirty="0"/>
          </a:p>
        </p:txBody>
      </p:sp>
      <p:sp>
        <p:nvSpPr>
          <p:cNvPr id="8" name="Shape 5"/>
          <p:cNvSpPr/>
          <p:nvPr/>
        </p:nvSpPr>
        <p:spPr>
          <a:xfrm>
            <a:off x="9436608" y="1527048"/>
            <a:ext cx="7232904" cy="7232904"/>
          </a:xfrm>
          <a:prstGeom prst="ellipse">
            <a:avLst/>
          </a:prstGeom>
          <a:solidFill>
            <a:srgbClr val="FDFBFB"/>
          </a:solidFill>
          <a:ln w="12700">
            <a:solidFill>
              <a:srgbClr val="FDFBFB"/>
            </a:solidFill>
            <a:prstDash val="solid"/>
          </a:ln>
        </p:spPr>
      </p:sp>
      <p:sp>
        <p:nvSpPr>
          <p:cNvPr id="9" name="Shape 6"/>
          <p:cNvSpPr/>
          <p:nvPr/>
        </p:nvSpPr>
        <p:spPr>
          <a:xfrm>
            <a:off x="9852660" y="1943100"/>
            <a:ext cx="6400800" cy="6400800"/>
          </a:xfrm>
          <a:prstGeom prst="ellipse">
            <a:avLst/>
          </a:prstGeom>
          <a:solidFill>
            <a:srgbClr val="223F64"/>
          </a:solidFill>
          <a:ln w="12700">
            <a:solidFill>
              <a:srgbClr val="223F64"/>
            </a:solidFill>
            <a:prstDash val="solid"/>
          </a:ln>
        </p:spPr>
      </p:sp>
      <p:sp>
        <p:nvSpPr>
          <p:cNvPr id="10" name="Shape 7"/>
          <p:cNvSpPr/>
          <p:nvPr/>
        </p:nvSpPr>
        <p:spPr>
          <a:xfrm>
            <a:off x="10949940" y="3040380"/>
            <a:ext cx="4206240" cy="4206240"/>
          </a:xfrm>
          <a:prstGeom prst="ellipse">
            <a:avLst/>
          </a:prstGeom>
          <a:solidFill>
            <a:srgbClr val="223F64"/>
          </a:solidFill>
          <a:ln w="25400">
            <a:solidFill>
              <a:srgbClr val="FDFBFB"/>
            </a:solidFill>
            <a:prstDash val="solid"/>
          </a:ln>
        </p:spPr>
      </p:sp>
      <p:sp>
        <p:nvSpPr>
          <p:cNvPr id="11" name="Text 8"/>
          <p:cNvSpPr txBox="1"/>
          <p:nvPr/>
        </p:nvSpPr>
        <p:spPr>
          <a:xfrm>
            <a:off x="11887200" y="4434840"/>
            <a:ext cx="2331720" cy="1371600"/>
          </a:xfrm>
          <a:prstGeom prst="rect">
            <a:avLst/>
          </a:prstGeom>
          <a:noFill/>
          <a:ln/>
        </p:spPr>
        <p:txBody>
          <a:bodyPr wrap="square" lIns="0" tIns="0" rIns="0" bIns="0" rtlCol="0" anchor="ctr"/>
          <a:lstStyle/>
          <a:p>
            <a:pPr algn="ctr" indent="0" marL="0">
              <a:buNone/>
            </a:pPr>
            <a:r>
              <a:rPr lang="en-US" sz="3400" b="1" dirty="0">
                <a:solidFill>
                  <a:srgbClr val="F8EDDB"/>
                </a:solidFill>
                <a:latin typeface="Arial" pitchFamily="34" charset="0"/>
                <a:ea typeface="Arial" pitchFamily="34" charset="-122"/>
                <a:cs typeface="Arial" pitchFamily="34" charset="-120"/>
              </a:rPr>
              <a:t>GO</a:t>
            </a:r>
            <a:endParaRPr lang="en-US" sz="2400" dirty="0"/>
          </a:p>
          <a:p>
            <a:pPr algn="ctr" indent="0" marL="0">
              <a:buNone/>
            </a:pPr>
            <a:r>
              <a:rPr lang="en-US" sz="2000" b="1" dirty="0">
                <a:solidFill>
                  <a:srgbClr val="F8EDDB"/>
                </a:solidFill>
                <a:latin typeface="Arial" pitchFamily="34" charset="0"/>
                <a:ea typeface="Arial" pitchFamily="34" charset="-122"/>
                <a:cs typeface="Arial" pitchFamily="34" charset="-120"/>
              </a:rPr>
              <a:t>CONTROL</a:t>
            </a:r>
            <a:endParaRPr lang="en-US" sz="2400" dirty="0"/>
          </a:p>
        </p:txBody>
      </p:sp>
      <p:sp>
        <p:nvSpPr>
          <p:cNvPr id="12" name="Shape 9"/>
          <p:cNvSpPr/>
          <p:nvPr/>
        </p:nvSpPr>
        <p:spPr>
          <a:xfrm>
            <a:off x="12092940" y="2080260"/>
            <a:ext cx="1920240" cy="1920240"/>
          </a:xfrm>
          <a:prstGeom prst="ellipse">
            <a:avLst/>
          </a:prstGeom>
          <a:solidFill>
            <a:srgbClr val="F8EDDB"/>
          </a:solidFill>
          <a:ln w="25400">
            <a:solidFill>
              <a:srgbClr val="FDFBFB"/>
            </a:solidFill>
            <a:prstDash val="solid"/>
          </a:ln>
        </p:spPr>
      </p:sp>
      <p:pic>
        <p:nvPicPr>
          <p:cNvPr id="13" name="Image 1" descr="preencoded.png">    </p:cNvPr>
          <p:cNvPicPr>
            <a:picLocks noChangeAspect="1"/>
          </p:cNvPicPr>
          <p:nvPr/>
        </p:nvPicPr>
        <p:blipFill>
          <a:blip r:embed="rId2"/>
          <a:stretch>
            <a:fillRect/>
          </a:stretch>
        </p:blipFill>
        <p:spPr>
          <a:xfrm>
            <a:off x="12778740" y="2473452"/>
            <a:ext cx="548640" cy="548640"/>
          </a:xfrm>
          <a:prstGeom prst="rect">
            <a:avLst/>
          </a:prstGeom>
        </p:spPr>
      </p:pic>
      <p:sp>
        <p:nvSpPr>
          <p:cNvPr id="14" name="Text 10"/>
          <p:cNvSpPr txBox="1"/>
          <p:nvPr/>
        </p:nvSpPr>
        <p:spPr>
          <a:xfrm>
            <a:off x="12138660" y="3131820"/>
            <a:ext cx="1828800" cy="365760"/>
          </a:xfrm>
          <a:prstGeom prst="rect">
            <a:avLst/>
          </a:prstGeom>
          <a:noFill/>
          <a:ln/>
        </p:spPr>
        <p:txBody>
          <a:bodyPr wrap="square" lIns="0" tIns="0" rIns="0" bIns="0" rtlCol="0" anchor="t"/>
          <a:lstStyle/>
          <a:p>
            <a:pPr algn="ctr" indent="0" marL="0">
              <a:buNone/>
            </a:pPr>
            <a:r>
              <a:rPr lang="en-US" sz="1600" b="1" dirty="0">
                <a:solidFill>
                  <a:srgbClr val="223F64"/>
                </a:solidFill>
                <a:latin typeface="Arial" pitchFamily="34" charset="0"/>
                <a:ea typeface="Arial" pitchFamily="34" charset="-122"/>
                <a:cs typeface="Arial" pitchFamily="34" charset="-120"/>
              </a:rPr>
              <a:t>IF-ELSE</a:t>
            </a:r>
            <a:endParaRPr lang="en-US" sz="1600" dirty="0"/>
          </a:p>
        </p:txBody>
      </p:sp>
      <p:sp>
        <p:nvSpPr>
          <p:cNvPr id="15" name="Shape 11"/>
          <p:cNvSpPr/>
          <p:nvPr/>
        </p:nvSpPr>
        <p:spPr>
          <a:xfrm>
            <a:off x="14196060" y="4183380"/>
            <a:ext cx="1920240" cy="1920240"/>
          </a:xfrm>
          <a:prstGeom prst="ellipse">
            <a:avLst/>
          </a:prstGeom>
          <a:solidFill>
            <a:srgbClr val="F8EDDB"/>
          </a:solidFill>
          <a:ln w="25400">
            <a:solidFill>
              <a:srgbClr val="FDFBFB"/>
            </a:solidFill>
            <a:prstDash val="solid"/>
          </a:ln>
        </p:spPr>
      </p:sp>
      <p:pic>
        <p:nvPicPr>
          <p:cNvPr id="16" name="Image 2" descr="preencoded.png">    </p:cNvPr>
          <p:cNvPicPr>
            <a:picLocks noChangeAspect="1"/>
          </p:cNvPicPr>
          <p:nvPr/>
        </p:nvPicPr>
        <p:blipFill>
          <a:blip r:embed="rId3"/>
          <a:stretch>
            <a:fillRect/>
          </a:stretch>
        </p:blipFill>
        <p:spPr>
          <a:xfrm>
            <a:off x="14881860" y="4576572"/>
            <a:ext cx="548640" cy="548640"/>
          </a:xfrm>
          <a:prstGeom prst="rect">
            <a:avLst/>
          </a:prstGeom>
        </p:spPr>
      </p:pic>
      <p:sp>
        <p:nvSpPr>
          <p:cNvPr id="17" name="Text 12"/>
          <p:cNvSpPr txBox="1"/>
          <p:nvPr/>
        </p:nvSpPr>
        <p:spPr>
          <a:xfrm>
            <a:off x="14241780" y="5234940"/>
            <a:ext cx="1828800" cy="365760"/>
          </a:xfrm>
          <a:prstGeom prst="rect">
            <a:avLst/>
          </a:prstGeom>
          <a:noFill/>
          <a:ln/>
        </p:spPr>
        <p:txBody>
          <a:bodyPr wrap="square" lIns="0" tIns="0" rIns="0" bIns="0" rtlCol="0" anchor="t"/>
          <a:lstStyle/>
          <a:p>
            <a:pPr algn="ctr" indent="0" marL="0">
              <a:buNone/>
            </a:pPr>
            <a:r>
              <a:rPr lang="en-US" sz="1600" b="1" dirty="0">
                <a:solidFill>
                  <a:srgbClr val="223F64"/>
                </a:solidFill>
                <a:latin typeface="Arial" pitchFamily="34" charset="0"/>
                <a:ea typeface="Arial" pitchFamily="34" charset="-122"/>
                <a:cs typeface="Arial" pitchFamily="34" charset="-120"/>
              </a:rPr>
              <a:t>LOOP</a:t>
            </a:r>
            <a:endParaRPr lang="en-US" sz="1600" dirty="0"/>
          </a:p>
        </p:txBody>
      </p:sp>
      <p:sp>
        <p:nvSpPr>
          <p:cNvPr id="18" name="Shape 13"/>
          <p:cNvSpPr/>
          <p:nvPr/>
        </p:nvSpPr>
        <p:spPr>
          <a:xfrm>
            <a:off x="12092940" y="6286500"/>
            <a:ext cx="1920240" cy="1920240"/>
          </a:xfrm>
          <a:prstGeom prst="ellipse">
            <a:avLst/>
          </a:prstGeom>
          <a:solidFill>
            <a:srgbClr val="F8EDDB"/>
          </a:solidFill>
          <a:ln w="25400">
            <a:solidFill>
              <a:srgbClr val="FDFBFB"/>
            </a:solidFill>
            <a:prstDash val="solid"/>
          </a:ln>
        </p:spPr>
      </p:sp>
      <p:pic>
        <p:nvPicPr>
          <p:cNvPr id="19" name="Image 3" descr="preencoded.png">    </p:cNvPr>
          <p:cNvPicPr>
            <a:picLocks noChangeAspect="1"/>
          </p:cNvPicPr>
          <p:nvPr/>
        </p:nvPicPr>
        <p:blipFill>
          <a:blip r:embed="rId4"/>
          <a:stretch>
            <a:fillRect/>
          </a:stretch>
        </p:blipFill>
        <p:spPr>
          <a:xfrm>
            <a:off x="12778740" y="6679692"/>
            <a:ext cx="548640" cy="548640"/>
          </a:xfrm>
          <a:prstGeom prst="rect">
            <a:avLst/>
          </a:prstGeom>
        </p:spPr>
      </p:pic>
      <p:sp>
        <p:nvSpPr>
          <p:cNvPr id="20" name="Text 14"/>
          <p:cNvSpPr txBox="1"/>
          <p:nvPr/>
        </p:nvSpPr>
        <p:spPr>
          <a:xfrm>
            <a:off x="12138660" y="7338060"/>
            <a:ext cx="1828800" cy="365760"/>
          </a:xfrm>
          <a:prstGeom prst="rect">
            <a:avLst/>
          </a:prstGeom>
          <a:noFill/>
          <a:ln/>
        </p:spPr>
        <p:txBody>
          <a:bodyPr wrap="square" lIns="0" tIns="0" rIns="0" bIns="0" rtlCol="0" anchor="t"/>
          <a:lstStyle/>
          <a:p>
            <a:pPr algn="ctr" indent="0" marL="0">
              <a:buNone/>
            </a:pPr>
            <a:r>
              <a:rPr lang="en-US" sz="1600" b="1" dirty="0">
                <a:solidFill>
                  <a:srgbClr val="223F64"/>
                </a:solidFill>
                <a:latin typeface="Arial" pitchFamily="34" charset="0"/>
                <a:ea typeface="Arial" pitchFamily="34" charset="-122"/>
                <a:cs typeface="Arial" pitchFamily="34" charset="-120"/>
              </a:rPr>
              <a:t>SLICE</a:t>
            </a:r>
            <a:endParaRPr lang="en-US" sz="1600" dirty="0"/>
          </a:p>
        </p:txBody>
      </p:sp>
      <p:sp>
        <p:nvSpPr>
          <p:cNvPr id="21" name="Shape 15"/>
          <p:cNvSpPr/>
          <p:nvPr/>
        </p:nvSpPr>
        <p:spPr>
          <a:xfrm>
            <a:off x="9989820" y="4183380"/>
            <a:ext cx="1920240" cy="1920240"/>
          </a:xfrm>
          <a:prstGeom prst="ellipse">
            <a:avLst/>
          </a:prstGeom>
          <a:solidFill>
            <a:srgbClr val="F8EDDB"/>
          </a:solidFill>
          <a:ln w="25400">
            <a:solidFill>
              <a:srgbClr val="FDFBFB"/>
            </a:solidFill>
            <a:prstDash val="solid"/>
          </a:ln>
        </p:spPr>
      </p:sp>
      <p:pic>
        <p:nvPicPr>
          <p:cNvPr id="22" name="Image 4" descr="preencoded.png">    </p:cNvPr>
          <p:cNvPicPr>
            <a:picLocks noChangeAspect="1"/>
          </p:cNvPicPr>
          <p:nvPr/>
        </p:nvPicPr>
        <p:blipFill>
          <a:blip r:embed="rId5"/>
          <a:stretch>
            <a:fillRect/>
          </a:stretch>
        </p:blipFill>
        <p:spPr>
          <a:xfrm>
            <a:off x="10675620" y="4576572"/>
            <a:ext cx="548640" cy="548640"/>
          </a:xfrm>
          <a:prstGeom prst="rect">
            <a:avLst/>
          </a:prstGeom>
        </p:spPr>
      </p:pic>
      <p:sp>
        <p:nvSpPr>
          <p:cNvPr id="23" name="Text 16"/>
          <p:cNvSpPr txBox="1"/>
          <p:nvPr/>
        </p:nvSpPr>
        <p:spPr>
          <a:xfrm>
            <a:off x="10035540" y="5234940"/>
            <a:ext cx="1828800" cy="365760"/>
          </a:xfrm>
          <a:prstGeom prst="rect">
            <a:avLst/>
          </a:prstGeom>
          <a:noFill/>
          <a:ln/>
        </p:spPr>
        <p:txBody>
          <a:bodyPr wrap="square" lIns="0" tIns="0" rIns="0" bIns="0" rtlCol="0" anchor="t"/>
          <a:lstStyle/>
          <a:p>
            <a:pPr algn="ctr" indent="0" marL="0">
              <a:buNone/>
            </a:pPr>
            <a:r>
              <a:rPr lang="en-US" sz="1600" b="1" dirty="0">
                <a:solidFill>
                  <a:srgbClr val="223F64"/>
                </a:solidFill>
                <a:latin typeface="Arial" pitchFamily="34" charset="0"/>
                <a:ea typeface="Arial" pitchFamily="34" charset="-122"/>
                <a:cs typeface="Arial" pitchFamily="34" charset="-120"/>
              </a:rPr>
              <a:t>MAP</a:t>
            </a:r>
            <a:endParaRPr lang="en-US" sz="1600" dirty="0"/>
          </a:p>
        </p:txBody>
      </p:sp>
      <p:sp>
        <p:nvSpPr>
          <p:cNvPr id="24" name="Shape 17"/>
          <p:cNvSpPr/>
          <p:nvPr/>
        </p:nvSpPr>
        <p:spPr>
          <a:xfrm>
            <a:off x="14173200" y="7635240"/>
            <a:ext cx="1344168" cy="1252728"/>
          </a:xfrm>
          <a:prstGeom prst="roundRect">
            <a:avLst>
              <a:gd name="adj" fmla="val 14599"/>
            </a:avLst>
          </a:prstGeom>
          <a:solidFill>
            <a:srgbClr val="FCDF59"/>
          </a:solidFill>
          <a:ln w="12700">
            <a:solidFill>
              <a:srgbClr val="FCDF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PEMBUKAAN · 10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Agenda 3 Jam</a:t>
            </a:r>
            <a:endParaRPr lang="en-US" sz="4800" dirty="0"/>
          </a:p>
        </p:txBody>
      </p:sp>
      <p:sp>
        <p:nvSpPr>
          <p:cNvPr id="7" name="Shape 2"/>
          <p:cNvSpPr/>
          <p:nvPr/>
        </p:nvSpPr>
        <p:spPr>
          <a:xfrm>
            <a:off x="914400" y="4343400"/>
            <a:ext cx="7955280" cy="769620"/>
          </a:xfrm>
          <a:prstGeom prst="roundRect">
            <a:avLst>
              <a:gd name="adj" fmla="val 17822"/>
            </a:avLst>
          </a:prstGeom>
          <a:solidFill>
            <a:srgbClr val="EEF1FC"/>
          </a:solidFill>
          <a:ln w="12700">
            <a:solidFill>
              <a:srgbClr val="D3DAF5"/>
            </a:solidFill>
            <a:prstDash val="solid"/>
          </a:ln>
        </p:spPr>
      </p:sp>
      <p:sp>
        <p:nvSpPr>
          <p:cNvPr id="8" name="Text 3"/>
          <p:cNvSpPr txBox="1"/>
          <p:nvPr/>
        </p:nvSpPr>
        <p:spPr>
          <a:xfrm>
            <a:off x="1143000" y="4444746"/>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00:00–00:10</a:t>
            </a:r>
            <a:endParaRPr lang="en-US" sz="1800" dirty="0"/>
          </a:p>
        </p:txBody>
      </p:sp>
      <p:sp>
        <p:nvSpPr>
          <p:cNvPr id="9" name="Text 4"/>
          <p:cNvSpPr txBox="1"/>
          <p:nvPr/>
        </p:nvSpPr>
        <p:spPr>
          <a:xfrm>
            <a:off x="3840480" y="4343400"/>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Pembukaan &amp; review tugas</a:t>
            </a:r>
            <a:endParaRPr lang="en-US" sz="2200" dirty="0"/>
          </a:p>
        </p:txBody>
      </p:sp>
      <p:sp>
        <p:nvSpPr>
          <p:cNvPr id="10" name="Text 5"/>
          <p:cNvSpPr txBox="1"/>
          <p:nvPr/>
        </p:nvSpPr>
        <p:spPr>
          <a:xfrm>
            <a:off x="7772400" y="4343400"/>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10'</a:t>
            </a:r>
            <a:endParaRPr lang="en-US" sz="2100" dirty="0"/>
          </a:p>
        </p:txBody>
      </p:sp>
      <p:sp>
        <p:nvSpPr>
          <p:cNvPr id="11" name="Shape 6"/>
          <p:cNvSpPr/>
          <p:nvPr/>
        </p:nvSpPr>
        <p:spPr>
          <a:xfrm>
            <a:off x="914400" y="5222748"/>
            <a:ext cx="7955280" cy="769620"/>
          </a:xfrm>
          <a:prstGeom prst="roundRect">
            <a:avLst>
              <a:gd name="adj" fmla="val 17822"/>
            </a:avLst>
          </a:prstGeom>
          <a:solidFill>
            <a:srgbClr val="EEF1FC"/>
          </a:solidFill>
          <a:ln w="12700">
            <a:solidFill>
              <a:srgbClr val="D3DAF5"/>
            </a:solidFill>
            <a:prstDash val="solid"/>
          </a:ln>
        </p:spPr>
      </p:sp>
      <p:sp>
        <p:nvSpPr>
          <p:cNvPr id="12" name="Text 7"/>
          <p:cNvSpPr txBox="1"/>
          <p:nvPr/>
        </p:nvSpPr>
        <p:spPr>
          <a:xfrm>
            <a:off x="1143000" y="5324094"/>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00:10–00:25</a:t>
            </a:r>
            <a:endParaRPr lang="en-US" sz="1800" dirty="0"/>
          </a:p>
        </p:txBody>
      </p:sp>
      <p:sp>
        <p:nvSpPr>
          <p:cNvPr id="13" name="Text 8"/>
          <p:cNvSpPr txBox="1"/>
          <p:nvPr/>
        </p:nvSpPr>
        <p:spPr>
          <a:xfrm>
            <a:off x="3840480" y="5222748"/>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Percabangan if-else</a:t>
            </a:r>
            <a:endParaRPr lang="en-US" sz="2200" dirty="0"/>
          </a:p>
        </p:txBody>
      </p:sp>
      <p:sp>
        <p:nvSpPr>
          <p:cNvPr id="14" name="Text 9"/>
          <p:cNvSpPr txBox="1"/>
          <p:nvPr/>
        </p:nvSpPr>
        <p:spPr>
          <a:xfrm>
            <a:off x="7772400" y="5222748"/>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15'</a:t>
            </a:r>
            <a:endParaRPr lang="en-US" sz="2100" dirty="0"/>
          </a:p>
        </p:txBody>
      </p:sp>
      <p:sp>
        <p:nvSpPr>
          <p:cNvPr id="15" name="Shape 10"/>
          <p:cNvSpPr/>
          <p:nvPr/>
        </p:nvSpPr>
        <p:spPr>
          <a:xfrm>
            <a:off x="914400" y="6102096"/>
            <a:ext cx="7955280" cy="769620"/>
          </a:xfrm>
          <a:prstGeom prst="roundRect">
            <a:avLst>
              <a:gd name="adj" fmla="val 17822"/>
            </a:avLst>
          </a:prstGeom>
          <a:solidFill>
            <a:srgbClr val="EEF1FC"/>
          </a:solidFill>
          <a:ln w="12700">
            <a:solidFill>
              <a:srgbClr val="D3DAF5"/>
            </a:solidFill>
            <a:prstDash val="solid"/>
          </a:ln>
        </p:spPr>
      </p:sp>
      <p:sp>
        <p:nvSpPr>
          <p:cNvPr id="16" name="Text 11"/>
          <p:cNvSpPr txBox="1"/>
          <p:nvPr/>
        </p:nvSpPr>
        <p:spPr>
          <a:xfrm>
            <a:off x="1143000" y="6203442"/>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00:25–00:35</a:t>
            </a:r>
            <a:endParaRPr lang="en-US" sz="1800" dirty="0"/>
          </a:p>
        </p:txBody>
      </p:sp>
      <p:sp>
        <p:nvSpPr>
          <p:cNvPr id="17" name="Text 12"/>
          <p:cNvSpPr txBox="1"/>
          <p:nvPr/>
        </p:nvSpPr>
        <p:spPr>
          <a:xfrm>
            <a:off x="3840480" y="6102096"/>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Percabangan switch</a:t>
            </a:r>
            <a:endParaRPr lang="en-US" sz="2200" dirty="0"/>
          </a:p>
        </p:txBody>
      </p:sp>
      <p:sp>
        <p:nvSpPr>
          <p:cNvPr id="18" name="Text 13"/>
          <p:cNvSpPr txBox="1"/>
          <p:nvPr/>
        </p:nvSpPr>
        <p:spPr>
          <a:xfrm>
            <a:off x="7772400" y="6102096"/>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10'</a:t>
            </a:r>
            <a:endParaRPr lang="en-US" sz="2100" dirty="0"/>
          </a:p>
        </p:txBody>
      </p:sp>
      <p:sp>
        <p:nvSpPr>
          <p:cNvPr id="19" name="Shape 14"/>
          <p:cNvSpPr/>
          <p:nvPr/>
        </p:nvSpPr>
        <p:spPr>
          <a:xfrm>
            <a:off x="914400" y="6981444"/>
            <a:ext cx="7955280" cy="769620"/>
          </a:xfrm>
          <a:prstGeom prst="roundRect">
            <a:avLst>
              <a:gd name="adj" fmla="val 17822"/>
            </a:avLst>
          </a:prstGeom>
          <a:solidFill>
            <a:srgbClr val="EEF1FC"/>
          </a:solidFill>
          <a:ln w="12700">
            <a:solidFill>
              <a:srgbClr val="D3DAF5"/>
            </a:solidFill>
            <a:prstDash val="solid"/>
          </a:ln>
        </p:spPr>
      </p:sp>
      <p:sp>
        <p:nvSpPr>
          <p:cNvPr id="20" name="Text 15"/>
          <p:cNvSpPr txBox="1"/>
          <p:nvPr/>
        </p:nvSpPr>
        <p:spPr>
          <a:xfrm>
            <a:off x="1143000" y="7082790"/>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00:35–00:55</a:t>
            </a:r>
            <a:endParaRPr lang="en-US" sz="1800" dirty="0"/>
          </a:p>
        </p:txBody>
      </p:sp>
      <p:sp>
        <p:nvSpPr>
          <p:cNvPr id="21" name="Text 16"/>
          <p:cNvSpPr txBox="1"/>
          <p:nvPr/>
        </p:nvSpPr>
        <p:spPr>
          <a:xfrm>
            <a:off x="3840480" y="6981444"/>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Perulangan for</a:t>
            </a:r>
            <a:endParaRPr lang="en-US" sz="2200" dirty="0"/>
          </a:p>
        </p:txBody>
      </p:sp>
      <p:sp>
        <p:nvSpPr>
          <p:cNvPr id="22" name="Text 17"/>
          <p:cNvSpPr txBox="1"/>
          <p:nvPr/>
        </p:nvSpPr>
        <p:spPr>
          <a:xfrm>
            <a:off x="7772400" y="6981444"/>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20'</a:t>
            </a:r>
            <a:endParaRPr lang="en-US" sz="2100" dirty="0"/>
          </a:p>
        </p:txBody>
      </p:sp>
      <p:sp>
        <p:nvSpPr>
          <p:cNvPr id="23" name="Shape 18"/>
          <p:cNvSpPr/>
          <p:nvPr/>
        </p:nvSpPr>
        <p:spPr>
          <a:xfrm>
            <a:off x="914400" y="7860792"/>
            <a:ext cx="7955280" cy="769620"/>
          </a:xfrm>
          <a:prstGeom prst="roundRect">
            <a:avLst>
              <a:gd name="adj" fmla="val 17822"/>
            </a:avLst>
          </a:prstGeom>
          <a:solidFill>
            <a:srgbClr val="EEF1FC"/>
          </a:solidFill>
          <a:ln w="12700">
            <a:solidFill>
              <a:srgbClr val="D3DAF5"/>
            </a:solidFill>
            <a:prstDash val="solid"/>
          </a:ln>
        </p:spPr>
      </p:sp>
      <p:sp>
        <p:nvSpPr>
          <p:cNvPr id="24" name="Text 19"/>
          <p:cNvSpPr txBox="1"/>
          <p:nvPr/>
        </p:nvSpPr>
        <p:spPr>
          <a:xfrm>
            <a:off x="1143000" y="7962138"/>
            <a:ext cx="2468880" cy="566928"/>
          </a:xfrm>
          <a:prstGeom prst="roundRect">
            <a:avLst>
              <a:gd name="adj" fmla="val 19355"/>
            </a:avLst>
          </a:prstGeom>
          <a:solidFill>
            <a:srgbClr val="FCDF59"/>
          </a:solidFill>
          <a:ln>
            <a:solidFill>
              <a:srgbClr val="FCDF59"/>
            </a:solidFill>
          </a:ln>
        </p:spPr>
        <p:txBody>
          <a:bodyPr wrap="square" lIns="635" tIns="635" rIns="635" bIns="635" rtlCol="0" anchor="ctr"/>
          <a:lstStyle/>
          <a:p>
            <a:pPr algn="ctr" indent="0" marL="0">
              <a:buNone/>
            </a:pPr>
            <a:r>
              <a:rPr lang="en-US" sz="1800" b="1" dirty="0">
                <a:solidFill>
                  <a:srgbClr val="13123D"/>
                </a:solidFill>
                <a:latin typeface="Calibri" pitchFamily="34" charset="0"/>
                <a:ea typeface="Calibri" pitchFamily="34" charset="-122"/>
                <a:cs typeface="Calibri" pitchFamily="34" charset="-120"/>
              </a:rPr>
              <a:t>00:55–01:05</a:t>
            </a:r>
            <a:endParaRPr lang="en-US" sz="1800" dirty="0"/>
          </a:p>
        </p:txBody>
      </p:sp>
      <p:sp>
        <p:nvSpPr>
          <p:cNvPr id="25" name="Text 20"/>
          <p:cNvSpPr txBox="1"/>
          <p:nvPr/>
        </p:nvSpPr>
        <p:spPr>
          <a:xfrm>
            <a:off x="3840480" y="7860792"/>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Istirahat</a:t>
            </a:r>
            <a:endParaRPr lang="en-US" sz="2200" dirty="0"/>
          </a:p>
        </p:txBody>
      </p:sp>
      <p:sp>
        <p:nvSpPr>
          <p:cNvPr id="26" name="Text 21"/>
          <p:cNvSpPr txBox="1"/>
          <p:nvPr/>
        </p:nvSpPr>
        <p:spPr>
          <a:xfrm>
            <a:off x="7772400" y="7860792"/>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10'</a:t>
            </a:r>
            <a:endParaRPr lang="en-US" sz="2100" dirty="0"/>
          </a:p>
        </p:txBody>
      </p:sp>
      <p:sp>
        <p:nvSpPr>
          <p:cNvPr id="27" name="Shape 22"/>
          <p:cNvSpPr/>
          <p:nvPr/>
        </p:nvSpPr>
        <p:spPr>
          <a:xfrm>
            <a:off x="914400" y="8740140"/>
            <a:ext cx="7955280" cy="769620"/>
          </a:xfrm>
          <a:prstGeom prst="roundRect">
            <a:avLst>
              <a:gd name="adj" fmla="val 17822"/>
            </a:avLst>
          </a:prstGeom>
          <a:solidFill>
            <a:srgbClr val="EEF1FC"/>
          </a:solidFill>
          <a:ln w="12700">
            <a:solidFill>
              <a:srgbClr val="D3DAF5"/>
            </a:solidFill>
            <a:prstDash val="solid"/>
          </a:ln>
        </p:spPr>
      </p:sp>
      <p:sp>
        <p:nvSpPr>
          <p:cNvPr id="28" name="Text 23"/>
          <p:cNvSpPr txBox="1"/>
          <p:nvPr/>
        </p:nvSpPr>
        <p:spPr>
          <a:xfrm>
            <a:off x="1143000" y="8841486"/>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01:05–01:15</a:t>
            </a:r>
            <a:endParaRPr lang="en-US" sz="1800" dirty="0"/>
          </a:p>
        </p:txBody>
      </p:sp>
      <p:sp>
        <p:nvSpPr>
          <p:cNvPr id="29" name="Text 24"/>
          <p:cNvSpPr txBox="1"/>
          <p:nvPr/>
        </p:nvSpPr>
        <p:spPr>
          <a:xfrm>
            <a:off x="3840480" y="8740140"/>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Array</a:t>
            </a:r>
            <a:endParaRPr lang="en-US" sz="2200" dirty="0"/>
          </a:p>
        </p:txBody>
      </p:sp>
      <p:sp>
        <p:nvSpPr>
          <p:cNvPr id="30" name="Text 25"/>
          <p:cNvSpPr txBox="1"/>
          <p:nvPr/>
        </p:nvSpPr>
        <p:spPr>
          <a:xfrm>
            <a:off x="7772400" y="8740140"/>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10'</a:t>
            </a:r>
            <a:endParaRPr lang="en-US" sz="2100" dirty="0"/>
          </a:p>
        </p:txBody>
      </p:sp>
      <p:sp>
        <p:nvSpPr>
          <p:cNvPr id="31" name="Shape 26"/>
          <p:cNvSpPr/>
          <p:nvPr/>
        </p:nvSpPr>
        <p:spPr>
          <a:xfrm>
            <a:off x="9418320" y="4343400"/>
            <a:ext cx="7955280" cy="769620"/>
          </a:xfrm>
          <a:prstGeom prst="roundRect">
            <a:avLst>
              <a:gd name="adj" fmla="val 17822"/>
            </a:avLst>
          </a:prstGeom>
          <a:solidFill>
            <a:srgbClr val="EEF1FC"/>
          </a:solidFill>
          <a:ln w="12700">
            <a:solidFill>
              <a:srgbClr val="D3DAF5"/>
            </a:solidFill>
            <a:prstDash val="solid"/>
          </a:ln>
        </p:spPr>
      </p:sp>
      <p:sp>
        <p:nvSpPr>
          <p:cNvPr id="32" name="Text 27"/>
          <p:cNvSpPr txBox="1"/>
          <p:nvPr/>
        </p:nvSpPr>
        <p:spPr>
          <a:xfrm>
            <a:off x="9646920" y="4444746"/>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01:15–01:30</a:t>
            </a:r>
            <a:endParaRPr lang="en-US" sz="1800" dirty="0"/>
          </a:p>
        </p:txBody>
      </p:sp>
      <p:sp>
        <p:nvSpPr>
          <p:cNvPr id="33" name="Text 28"/>
          <p:cNvSpPr txBox="1"/>
          <p:nvPr/>
        </p:nvSpPr>
        <p:spPr>
          <a:xfrm>
            <a:off x="12344400" y="4343400"/>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Slice</a:t>
            </a:r>
            <a:endParaRPr lang="en-US" sz="2200" dirty="0"/>
          </a:p>
        </p:txBody>
      </p:sp>
      <p:sp>
        <p:nvSpPr>
          <p:cNvPr id="34" name="Text 29"/>
          <p:cNvSpPr txBox="1"/>
          <p:nvPr/>
        </p:nvSpPr>
        <p:spPr>
          <a:xfrm>
            <a:off x="16276320" y="4343400"/>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15'</a:t>
            </a:r>
            <a:endParaRPr lang="en-US" sz="2100" dirty="0"/>
          </a:p>
        </p:txBody>
      </p:sp>
      <p:sp>
        <p:nvSpPr>
          <p:cNvPr id="35" name="Shape 30"/>
          <p:cNvSpPr/>
          <p:nvPr/>
        </p:nvSpPr>
        <p:spPr>
          <a:xfrm>
            <a:off x="9418320" y="5222748"/>
            <a:ext cx="7955280" cy="769620"/>
          </a:xfrm>
          <a:prstGeom prst="roundRect">
            <a:avLst>
              <a:gd name="adj" fmla="val 17822"/>
            </a:avLst>
          </a:prstGeom>
          <a:solidFill>
            <a:srgbClr val="EEF1FC"/>
          </a:solidFill>
          <a:ln w="12700">
            <a:solidFill>
              <a:srgbClr val="D3DAF5"/>
            </a:solidFill>
            <a:prstDash val="solid"/>
          </a:ln>
        </p:spPr>
      </p:sp>
      <p:sp>
        <p:nvSpPr>
          <p:cNvPr id="36" name="Text 31"/>
          <p:cNvSpPr txBox="1"/>
          <p:nvPr/>
        </p:nvSpPr>
        <p:spPr>
          <a:xfrm>
            <a:off x="9646920" y="5324094"/>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01:30–01:45</a:t>
            </a:r>
            <a:endParaRPr lang="en-US" sz="1800" dirty="0"/>
          </a:p>
        </p:txBody>
      </p:sp>
      <p:sp>
        <p:nvSpPr>
          <p:cNvPr id="37" name="Text 32"/>
          <p:cNvSpPr txBox="1"/>
          <p:nvPr/>
        </p:nvSpPr>
        <p:spPr>
          <a:xfrm>
            <a:off x="12344400" y="5222748"/>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Map</a:t>
            </a:r>
            <a:endParaRPr lang="en-US" sz="2200" dirty="0"/>
          </a:p>
        </p:txBody>
      </p:sp>
      <p:sp>
        <p:nvSpPr>
          <p:cNvPr id="38" name="Text 33"/>
          <p:cNvSpPr txBox="1"/>
          <p:nvPr/>
        </p:nvSpPr>
        <p:spPr>
          <a:xfrm>
            <a:off x="16276320" y="5222748"/>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15'</a:t>
            </a:r>
            <a:endParaRPr lang="en-US" sz="2100" dirty="0"/>
          </a:p>
        </p:txBody>
      </p:sp>
      <p:sp>
        <p:nvSpPr>
          <p:cNvPr id="39" name="Shape 34"/>
          <p:cNvSpPr/>
          <p:nvPr/>
        </p:nvSpPr>
        <p:spPr>
          <a:xfrm>
            <a:off x="9418320" y="6102096"/>
            <a:ext cx="7955280" cy="769620"/>
          </a:xfrm>
          <a:prstGeom prst="roundRect">
            <a:avLst>
              <a:gd name="adj" fmla="val 17822"/>
            </a:avLst>
          </a:prstGeom>
          <a:solidFill>
            <a:srgbClr val="EEF1FC"/>
          </a:solidFill>
          <a:ln w="12700">
            <a:solidFill>
              <a:srgbClr val="D3DAF5"/>
            </a:solidFill>
            <a:prstDash val="solid"/>
          </a:ln>
        </p:spPr>
      </p:sp>
      <p:sp>
        <p:nvSpPr>
          <p:cNvPr id="40" name="Text 35"/>
          <p:cNvSpPr txBox="1"/>
          <p:nvPr/>
        </p:nvSpPr>
        <p:spPr>
          <a:xfrm>
            <a:off x="9646920" y="6203442"/>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01:45–01:55</a:t>
            </a:r>
            <a:endParaRPr lang="en-US" sz="1800" dirty="0"/>
          </a:p>
        </p:txBody>
      </p:sp>
      <p:sp>
        <p:nvSpPr>
          <p:cNvPr id="41" name="Text 36"/>
          <p:cNvSpPr txBox="1"/>
          <p:nvPr/>
        </p:nvSpPr>
        <p:spPr>
          <a:xfrm>
            <a:off x="12344400" y="6102096"/>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Struct</a:t>
            </a:r>
            <a:endParaRPr lang="en-US" sz="2200" dirty="0"/>
          </a:p>
        </p:txBody>
      </p:sp>
      <p:sp>
        <p:nvSpPr>
          <p:cNvPr id="42" name="Text 37"/>
          <p:cNvSpPr txBox="1"/>
          <p:nvPr/>
        </p:nvSpPr>
        <p:spPr>
          <a:xfrm>
            <a:off x="16276320" y="6102096"/>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10'</a:t>
            </a:r>
            <a:endParaRPr lang="en-US" sz="2100" dirty="0"/>
          </a:p>
        </p:txBody>
      </p:sp>
      <p:sp>
        <p:nvSpPr>
          <p:cNvPr id="43" name="Shape 38"/>
          <p:cNvSpPr/>
          <p:nvPr/>
        </p:nvSpPr>
        <p:spPr>
          <a:xfrm>
            <a:off x="9418320" y="6981444"/>
            <a:ext cx="7955280" cy="769620"/>
          </a:xfrm>
          <a:prstGeom prst="roundRect">
            <a:avLst>
              <a:gd name="adj" fmla="val 17822"/>
            </a:avLst>
          </a:prstGeom>
          <a:solidFill>
            <a:srgbClr val="EEF1FC"/>
          </a:solidFill>
          <a:ln w="12700">
            <a:solidFill>
              <a:srgbClr val="D3DAF5"/>
            </a:solidFill>
            <a:prstDash val="solid"/>
          </a:ln>
        </p:spPr>
      </p:sp>
      <p:sp>
        <p:nvSpPr>
          <p:cNvPr id="44" name="Text 39"/>
          <p:cNvSpPr txBox="1"/>
          <p:nvPr/>
        </p:nvSpPr>
        <p:spPr>
          <a:xfrm>
            <a:off x="9646920" y="7082790"/>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01:55–02:20</a:t>
            </a:r>
            <a:endParaRPr lang="en-US" sz="1800" dirty="0"/>
          </a:p>
        </p:txBody>
      </p:sp>
      <p:sp>
        <p:nvSpPr>
          <p:cNvPr id="45" name="Text 40"/>
          <p:cNvSpPr txBox="1"/>
          <p:nvPr/>
        </p:nvSpPr>
        <p:spPr>
          <a:xfrm>
            <a:off x="12344400" y="6981444"/>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Latihan hands-on</a:t>
            </a:r>
            <a:endParaRPr lang="en-US" sz="2200" dirty="0"/>
          </a:p>
        </p:txBody>
      </p:sp>
      <p:sp>
        <p:nvSpPr>
          <p:cNvPr id="46" name="Text 41"/>
          <p:cNvSpPr txBox="1"/>
          <p:nvPr/>
        </p:nvSpPr>
        <p:spPr>
          <a:xfrm>
            <a:off x="16276320" y="6981444"/>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25'</a:t>
            </a:r>
            <a:endParaRPr lang="en-US" sz="2100" dirty="0"/>
          </a:p>
        </p:txBody>
      </p:sp>
      <p:sp>
        <p:nvSpPr>
          <p:cNvPr id="47" name="Shape 42"/>
          <p:cNvSpPr/>
          <p:nvPr/>
        </p:nvSpPr>
        <p:spPr>
          <a:xfrm>
            <a:off x="9418320" y="7860792"/>
            <a:ext cx="7955280" cy="769620"/>
          </a:xfrm>
          <a:prstGeom prst="roundRect">
            <a:avLst>
              <a:gd name="adj" fmla="val 17822"/>
            </a:avLst>
          </a:prstGeom>
          <a:solidFill>
            <a:srgbClr val="EEF1FC"/>
          </a:solidFill>
          <a:ln w="12700">
            <a:solidFill>
              <a:srgbClr val="D3DAF5"/>
            </a:solidFill>
            <a:prstDash val="solid"/>
          </a:ln>
        </p:spPr>
      </p:sp>
      <p:sp>
        <p:nvSpPr>
          <p:cNvPr id="48" name="Text 43"/>
          <p:cNvSpPr txBox="1"/>
          <p:nvPr/>
        </p:nvSpPr>
        <p:spPr>
          <a:xfrm>
            <a:off x="9646920" y="7962138"/>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02:20–02:55</a:t>
            </a:r>
            <a:endParaRPr lang="en-US" sz="1800" dirty="0"/>
          </a:p>
        </p:txBody>
      </p:sp>
      <p:sp>
        <p:nvSpPr>
          <p:cNvPr id="49" name="Text 44"/>
          <p:cNvSpPr txBox="1"/>
          <p:nvPr/>
        </p:nvSpPr>
        <p:spPr>
          <a:xfrm>
            <a:off x="12344400" y="7860792"/>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Soft skill: verbal &amp; non-verbal</a:t>
            </a:r>
            <a:endParaRPr lang="en-US" sz="2200" dirty="0"/>
          </a:p>
        </p:txBody>
      </p:sp>
      <p:sp>
        <p:nvSpPr>
          <p:cNvPr id="50" name="Text 45"/>
          <p:cNvSpPr txBox="1"/>
          <p:nvPr/>
        </p:nvSpPr>
        <p:spPr>
          <a:xfrm>
            <a:off x="16276320" y="7860792"/>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35'</a:t>
            </a:r>
            <a:endParaRPr lang="en-US" sz="2100" dirty="0"/>
          </a:p>
        </p:txBody>
      </p:sp>
      <p:sp>
        <p:nvSpPr>
          <p:cNvPr id="51" name="Shape 46"/>
          <p:cNvSpPr/>
          <p:nvPr/>
        </p:nvSpPr>
        <p:spPr>
          <a:xfrm>
            <a:off x="9418320" y="8740140"/>
            <a:ext cx="7955280" cy="769620"/>
          </a:xfrm>
          <a:prstGeom prst="roundRect">
            <a:avLst>
              <a:gd name="adj" fmla="val 17822"/>
            </a:avLst>
          </a:prstGeom>
          <a:solidFill>
            <a:srgbClr val="EEF1FC"/>
          </a:solidFill>
          <a:ln w="12700">
            <a:solidFill>
              <a:srgbClr val="D3DAF5"/>
            </a:solidFill>
            <a:prstDash val="solid"/>
          </a:ln>
        </p:spPr>
      </p:sp>
      <p:sp>
        <p:nvSpPr>
          <p:cNvPr id="52" name="Text 47"/>
          <p:cNvSpPr txBox="1"/>
          <p:nvPr/>
        </p:nvSpPr>
        <p:spPr>
          <a:xfrm>
            <a:off x="9646920" y="8841486"/>
            <a:ext cx="2468880" cy="566928"/>
          </a:xfrm>
          <a:prstGeom prst="roundRect">
            <a:avLst>
              <a:gd name="adj" fmla="val 19355"/>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02:55–03:00</a:t>
            </a:r>
            <a:endParaRPr lang="en-US" sz="1800" dirty="0"/>
          </a:p>
        </p:txBody>
      </p:sp>
      <p:sp>
        <p:nvSpPr>
          <p:cNvPr id="53" name="Text 48"/>
          <p:cNvSpPr txBox="1"/>
          <p:nvPr/>
        </p:nvSpPr>
        <p:spPr>
          <a:xfrm>
            <a:off x="12344400" y="8740140"/>
            <a:ext cx="3931920" cy="76962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Penutup &amp; tugas</a:t>
            </a:r>
            <a:endParaRPr lang="en-US" sz="2200" dirty="0"/>
          </a:p>
        </p:txBody>
      </p:sp>
      <p:sp>
        <p:nvSpPr>
          <p:cNvPr id="54" name="Text 49"/>
          <p:cNvSpPr txBox="1"/>
          <p:nvPr/>
        </p:nvSpPr>
        <p:spPr>
          <a:xfrm>
            <a:off x="16276320" y="8740140"/>
            <a:ext cx="914400" cy="769620"/>
          </a:xfrm>
          <a:prstGeom prst="rect">
            <a:avLst/>
          </a:prstGeom>
          <a:noFill/>
          <a:ln/>
        </p:spPr>
        <p:txBody>
          <a:bodyPr wrap="square" lIns="0" tIns="0" rIns="0" bIns="0" rtlCol="0" anchor="ctr"/>
          <a:lstStyle/>
          <a:p>
            <a:pPr algn="r" indent="0" marL="0">
              <a:buNone/>
            </a:pPr>
            <a:r>
              <a:rPr lang="en-US" sz="2100" dirty="0">
                <a:solidFill>
                  <a:srgbClr val="5A5F86"/>
                </a:solidFill>
                <a:latin typeface="Calibri" pitchFamily="34" charset="0"/>
                <a:ea typeface="Calibri" pitchFamily="34" charset="-122"/>
                <a:cs typeface="Calibri" pitchFamily="34" charset="-120"/>
              </a:rPr>
              <a:t>5'</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PEMBUKAAN · 10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Tujuan Pembelajaran</a:t>
            </a:r>
            <a:endParaRPr lang="en-US" sz="4800" dirty="0"/>
          </a:p>
        </p:txBody>
      </p:sp>
      <p:sp>
        <p:nvSpPr>
          <p:cNvPr id="7" name="Shape 2"/>
          <p:cNvSpPr/>
          <p:nvPr/>
        </p:nvSpPr>
        <p:spPr>
          <a:xfrm>
            <a:off x="914400" y="4343400"/>
            <a:ext cx="5212080" cy="2468880"/>
          </a:xfrm>
          <a:prstGeom prst="roundRect">
            <a:avLst>
              <a:gd name="adj" fmla="val 5556"/>
            </a:avLst>
          </a:prstGeom>
          <a:solidFill>
            <a:srgbClr val="EEF1FC"/>
          </a:solidFill>
          <a:ln w="12700">
            <a:solidFill>
              <a:srgbClr val="D3DAF5"/>
            </a:solidFill>
            <a:prstDash val="solid"/>
          </a:ln>
        </p:spPr>
      </p:sp>
      <p:sp>
        <p:nvSpPr>
          <p:cNvPr id="8" name="Shape 3"/>
          <p:cNvSpPr/>
          <p:nvPr/>
        </p:nvSpPr>
        <p:spPr>
          <a:xfrm>
            <a:off x="1188720" y="4617720"/>
            <a:ext cx="914400" cy="914400"/>
          </a:xfrm>
          <a:prstGeom prst="ellipse">
            <a:avLst/>
          </a:prstGeom>
          <a:solidFill>
            <a:srgbClr val="162CA2"/>
          </a:solidFill>
          <a:ln w="12700">
            <a:solidFill>
              <a:srgbClr val="162CA2"/>
            </a:solidFill>
            <a:prstDash val="solid"/>
          </a:ln>
        </p:spPr>
      </p:sp>
      <p:pic>
        <p:nvPicPr>
          <p:cNvPr id="9" name="Image 2" descr="preencoded.png">    </p:cNvPr>
          <p:cNvPicPr>
            <a:picLocks noChangeAspect="1"/>
          </p:cNvPicPr>
          <p:nvPr/>
        </p:nvPicPr>
        <p:blipFill>
          <a:blip r:embed="rId3"/>
          <a:stretch>
            <a:fillRect/>
          </a:stretch>
        </p:blipFill>
        <p:spPr>
          <a:xfrm>
            <a:off x="1408176" y="4837176"/>
            <a:ext cx="475488" cy="475488"/>
          </a:xfrm>
          <a:prstGeom prst="rect">
            <a:avLst/>
          </a:prstGeom>
        </p:spPr>
      </p:pic>
      <p:sp>
        <p:nvSpPr>
          <p:cNvPr id="10" name="Text 4"/>
          <p:cNvSpPr txBox="1"/>
          <p:nvPr/>
        </p:nvSpPr>
        <p:spPr>
          <a:xfrm>
            <a:off x="2286000" y="4617720"/>
            <a:ext cx="3657600" cy="914400"/>
          </a:xfrm>
          <a:prstGeom prst="rect">
            <a:avLst/>
          </a:prstGeom>
          <a:noFill/>
          <a:ln/>
        </p:spPr>
        <p:txBody>
          <a:bodyPr wrap="square" lIns="0" tIns="0" rIns="0" bIns="0" rtlCol="0" anchor="ctr"/>
          <a:lstStyle/>
          <a:p>
            <a:pPr indent="0" marL="0">
              <a:buNone/>
            </a:pPr>
            <a:r>
              <a:rPr lang="en-US" sz="2500" b="1" dirty="0">
                <a:solidFill>
                  <a:srgbClr val="162CA2"/>
                </a:solidFill>
                <a:latin typeface="Calibri" pitchFamily="34" charset="0"/>
                <a:ea typeface="Calibri" pitchFamily="34" charset="-122"/>
                <a:cs typeface="Calibri" pitchFamily="34" charset="-120"/>
              </a:rPr>
              <a:t>Mengambil keputusan</a:t>
            </a:r>
            <a:endParaRPr lang="en-US" sz="2500" dirty="0"/>
          </a:p>
        </p:txBody>
      </p:sp>
      <p:sp>
        <p:nvSpPr>
          <p:cNvPr id="11" name="Text 5"/>
          <p:cNvSpPr txBox="1"/>
          <p:nvPr/>
        </p:nvSpPr>
        <p:spPr>
          <a:xfrm>
            <a:off x="1188720" y="5715000"/>
            <a:ext cx="4663440" cy="1005840"/>
          </a:xfrm>
          <a:prstGeom prst="rect">
            <a:avLst/>
          </a:prstGeom>
          <a:noFill/>
          <a:ln/>
        </p:spPr>
        <p:txBody>
          <a:bodyPr wrap="square" lIns="0" tIns="0" rIns="0" bIns="0" rtlCol="0" anchor="t"/>
          <a:lstStyle/>
          <a:p>
            <a:pPr indent="0" marL="0">
              <a:buNone/>
            </a:pPr>
            <a:r>
              <a:rPr lang="en-US" sz="2100" dirty="0">
                <a:solidFill>
                  <a:srgbClr val="13123D"/>
                </a:solidFill>
                <a:latin typeface="Calibri" pitchFamily="34" charset="0"/>
                <a:ea typeface="Calibri" pitchFamily="34" charset="-122"/>
                <a:cs typeface="Calibri" pitchFamily="34" charset="-120"/>
              </a:rPr>
              <a:t>Memakai if-else dan switch di Go.</a:t>
            </a:r>
            <a:endParaRPr lang="en-US" sz="2100" dirty="0"/>
          </a:p>
        </p:txBody>
      </p:sp>
      <p:sp>
        <p:nvSpPr>
          <p:cNvPr id="12" name="Shape 6"/>
          <p:cNvSpPr/>
          <p:nvPr/>
        </p:nvSpPr>
        <p:spPr>
          <a:xfrm>
            <a:off x="6537960" y="4343400"/>
            <a:ext cx="5212080" cy="2468880"/>
          </a:xfrm>
          <a:prstGeom prst="roundRect">
            <a:avLst>
              <a:gd name="adj" fmla="val 5556"/>
            </a:avLst>
          </a:prstGeom>
          <a:solidFill>
            <a:srgbClr val="EEF1FC"/>
          </a:solidFill>
          <a:ln w="12700">
            <a:solidFill>
              <a:srgbClr val="D3DAF5"/>
            </a:solidFill>
            <a:prstDash val="solid"/>
          </a:ln>
        </p:spPr>
      </p:sp>
      <p:sp>
        <p:nvSpPr>
          <p:cNvPr id="13" name="Shape 7"/>
          <p:cNvSpPr/>
          <p:nvPr/>
        </p:nvSpPr>
        <p:spPr>
          <a:xfrm>
            <a:off x="6812280" y="4617720"/>
            <a:ext cx="914400" cy="914400"/>
          </a:xfrm>
          <a:prstGeom prst="ellipse">
            <a:avLst/>
          </a:prstGeom>
          <a:solidFill>
            <a:srgbClr val="162CA2"/>
          </a:solidFill>
          <a:ln w="12700">
            <a:solidFill>
              <a:srgbClr val="162CA2"/>
            </a:solidFill>
            <a:prstDash val="solid"/>
          </a:ln>
        </p:spPr>
      </p:sp>
      <p:pic>
        <p:nvPicPr>
          <p:cNvPr id="14" name="Image 3" descr="preencoded.png">    </p:cNvPr>
          <p:cNvPicPr>
            <a:picLocks noChangeAspect="1"/>
          </p:cNvPicPr>
          <p:nvPr/>
        </p:nvPicPr>
        <p:blipFill>
          <a:blip r:embed="rId4"/>
          <a:stretch>
            <a:fillRect/>
          </a:stretch>
        </p:blipFill>
        <p:spPr>
          <a:xfrm>
            <a:off x="7031736" y="4837176"/>
            <a:ext cx="475488" cy="475488"/>
          </a:xfrm>
          <a:prstGeom prst="rect">
            <a:avLst/>
          </a:prstGeom>
        </p:spPr>
      </p:pic>
      <p:sp>
        <p:nvSpPr>
          <p:cNvPr id="15" name="Text 8"/>
          <p:cNvSpPr txBox="1"/>
          <p:nvPr/>
        </p:nvSpPr>
        <p:spPr>
          <a:xfrm>
            <a:off x="7909560" y="4617720"/>
            <a:ext cx="3657600" cy="914400"/>
          </a:xfrm>
          <a:prstGeom prst="rect">
            <a:avLst/>
          </a:prstGeom>
          <a:noFill/>
          <a:ln/>
        </p:spPr>
        <p:txBody>
          <a:bodyPr wrap="square" lIns="0" tIns="0" rIns="0" bIns="0" rtlCol="0" anchor="ctr"/>
          <a:lstStyle/>
          <a:p>
            <a:pPr indent="0" marL="0">
              <a:buNone/>
            </a:pPr>
            <a:r>
              <a:rPr lang="en-US" sz="2500" b="1" dirty="0">
                <a:solidFill>
                  <a:srgbClr val="162CA2"/>
                </a:solidFill>
                <a:latin typeface="Calibri" pitchFamily="34" charset="0"/>
                <a:ea typeface="Calibri" pitchFamily="34" charset="-122"/>
                <a:cs typeface="Calibri" pitchFamily="34" charset="-120"/>
              </a:rPr>
              <a:t>Mengulang proses</a:t>
            </a:r>
            <a:endParaRPr lang="en-US" sz="2500" dirty="0"/>
          </a:p>
        </p:txBody>
      </p:sp>
      <p:sp>
        <p:nvSpPr>
          <p:cNvPr id="16" name="Text 9"/>
          <p:cNvSpPr txBox="1"/>
          <p:nvPr/>
        </p:nvSpPr>
        <p:spPr>
          <a:xfrm>
            <a:off x="6812280" y="5715000"/>
            <a:ext cx="4663440" cy="1005840"/>
          </a:xfrm>
          <a:prstGeom prst="rect">
            <a:avLst/>
          </a:prstGeom>
          <a:noFill/>
          <a:ln/>
        </p:spPr>
        <p:txBody>
          <a:bodyPr wrap="square" lIns="0" tIns="0" rIns="0" bIns="0" rtlCol="0" anchor="t"/>
          <a:lstStyle/>
          <a:p>
            <a:pPr indent="0" marL="0">
              <a:buNone/>
            </a:pPr>
            <a:r>
              <a:rPr lang="en-US" sz="2100" dirty="0">
                <a:solidFill>
                  <a:srgbClr val="13123D"/>
                </a:solidFill>
                <a:latin typeface="Calibri" pitchFamily="34" charset="0"/>
                <a:ea typeface="Calibri" pitchFamily="34" charset="-122"/>
                <a:cs typeface="Calibri" pitchFamily="34" charset="-120"/>
              </a:rPr>
              <a:t>Memakai for dalam tiga bentuk, break, dan continue.</a:t>
            </a:r>
            <a:endParaRPr lang="en-US" sz="2100" dirty="0"/>
          </a:p>
        </p:txBody>
      </p:sp>
      <p:sp>
        <p:nvSpPr>
          <p:cNvPr id="17" name="Shape 10"/>
          <p:cNvSpPr/>
          <p:nvPr/>
        </p:nvSpPr>
        <p:spPr>
          <a:xfrm>
            <a:off x="12161520" y="4343400"/>
            <a:ext cx="5212080" cy="2468880"/>
          </a:xfrm>
          <a:prstGeom prst="roundRect">
            <a:avLst>
              <a:gd name="adj" fmla="val 5556"/>
            </a:avLst>
          </a:prstGeom>
          <a:solidFill>
            <a:srgbClr val="EEF1FC"/>
          </a:solidFill>
          <a:ln w="12700">
            <a:solidFill>
              <a:srgbClr val="D3DAF5"/>
            </a:solidFill>
            <a:prstDash val="solid"/>
          </a:ln>
        </p:spPr>
      </p:sp>
      <p:sp>
        <p:nvSpPr>
          <p:cNvPr id="18" name="Shape 11"/>
          <p:cNvSpPr/>
          <p:nvPr/>
        </p:nvSpPr>
        <p:spPr>
          <a:xfrm>
            <a:off x="12435840" y="4617720"/>
            <a:ext cx="914400" cy="914400"/>
          </a:xfrm>
          <a:prstGeom prst="ellipse">
            <a:avLst/>
          </a:prstGeom>
          <a:solidFill>
            <a:srgbClr val="162CA2"/>
          </a:solidFill>
          <a:ln w="12700">
            <a:solidFill>
              <a:srgbClr val="162CA2"/>
            </a:solidFill>
            <a:prstDash val="solid"/>
          </a:ln>
        </p:spPr>
      </p:sp>
      <p:pic>
        <p:nvPicPr>
          <p:cNvPr id="19" name="Image 4" descr="preencoded.png">    </p:cNvPr>
          <p:cNvPicPr>
            <a:picLocks noChangeAspect="1"/>
          </p:cNvPicPr>
          <p:nvPr/>
        </p:nvPicPr>
        <p:blipFill>
          <a:blip r:embed="rId5"/>
          <a:stretch>
            <a:fillRect/>
          </a:stretch>
        </p:blipFill>
        <p:spPr>
          <a:xfrm>
            <a:off x="12655296" y="4837176"/>
            <a:ext cx="475488" cy="475488"/>
          </a:xfrm>
          <a:prstGeom prst="rect">
            <a:avLst/>
          </a:prstGeom>
        </p:spPr>
      </p:pic>
      <p:sp>
        <p:nvSpPr>
          <p:cNvPr id="20" name="Text 12"/>
          <p:cNvSpPr txBox="1"/>
          <p:nvPr/>
        </p:nvSpPr>
        <p:spPr>
          <a:xfrm>
            <a:off x="13533120" y="4617720"/>
            <a:ext cx="3657600" cy="914400"/>
          </a:xfrm>
          <a:prstGeom prst="rect">
            <a:avLst/>
          </a:prstGeom>
          <a:noFill/>
          <a:ln/>
        </p:spPr>
        <p:txBody>
          <a:bodyPr wrap="square" lIns="0" tIns="0" rIns="0" bIns="0" rtlCol="0" anchor="ctr"/>
          <a:lstStyle/>
          <a:p>
            <a:pPr indent="0" marL="0">
              <a:buNone/>
            </a:pPr>
            <a:r>
              <a:rPr lang="en-US" sz="2500" b="1" dirty="0">
                <a:solidFill>
                  <a:srgbClr val="162CA2"/>
                </a:solidFill>
                <a:latin typeface="Calibri" pitchFamily="34" charset="0"/>
                <a:ea typeface="Calibri" pitchFamily="34" charset="-122"/>
                <a:cs typeface="Calibri" pitchFamily="34" charset="-120"/>
              </a:rPr>
              <a:t>Array &amp; slice</a:t>
            </a:r>
            <a:endParaRPr lang="en-US" sz="2500" dirty="0"/>
          </a:p>
        </p:txBody>
      </p:sp>
      <p:sp>
        <p:nvSpPr>
          <p:cNvPr id="21" name="Text 13"/>
          <p:cNvSpPr txBox="1"/>
          <p:nvPr/>
        </p:nvSpPr>
        <p:spPr>
          <a:xfrm>
            <a:off x="12435840" y="5715000"/>
            <a:ext cx="4663440" cy="1005840"/>
          </a:xfrm>
          <a:prstGeom prst="rect">
            <a:avLst/>
          </a:prstGeom>
          <a:noFill/>
          <a:ln/>
        </p:spPr>
        <p:txBody>
          <a:bodyPr wrap="square" lIns="0" tIns="0" rIns="0" bIns="0" rtlCol="0" anchor="t"/>
          <a:lstStyle/>
          <a:p>
            <a:pPr indent="0" marL="0">
              <a:buNone/>
            </a:pPr>
            <a:r>
              <a:rPr lang="en-US" sz="2100" dirty="0">
                <a:solidFill>
                  <a:srgbClr val="13123D"/>
                </a:solidFill>
                <a:latin typeface="Calibri" pitchFamily="34" charset="0"/>
                <a:ea typeface="Calibri" pitchFamily="34" charset="-122"/>
                <a:cs typeface="Calibri" pitchFamily="34" charset="-120"/>
              </a:rPr>
              <a:t>Menyimpan dan mengolah daftar data.</a:t>
            </a:r>
            <a:endParaRPr lang="en-US" sz="2100" dirty="0"/>
          </a:p>
        </p:txBody>
      </p:sp>
      <p:sp>
        <p:nvSpPr>
          <p:cNvPr id="22" name="Shape 14"/>
          <p:cNvSpPr/>
          <p:nvPr/>
        </p:nvSpPr>
        <p:spPr>
          <a:xfrm>
            <a:off x="914400" y="7086600"/>
            <a:ext cx="5212080" cy="2468880"/>
          </a:xfrm>
          <a:prstGeom prst="roundRect">
            <a:avLst>
              <a:gd name="adj" fmla="val 5556"/>
            </a:avLst>
          </a:prstGeom>
          <a:solidFill>
            <a:srgbClr val="EEF1FC"/>
          </a:solidFill>
          <a:ln w="12700">
            <a:solidFill>
              <a:srgbClr val="D3DAF5"/>
            </a:solidFill>
            <a:prstDash val="solid"/>
          </a:ln>
        </p:spPr>
      </p:sp>
      <p:sp>
        <p:nvSpPr>
          <p:cNvPr id="23" name="Shape 15"/>
          <p:cNvSpPr/>
          <p:nvPr/>
        </p:nvSpPr>
        <p:spPr>
          <a:xfrm>
            <a:off x="1188720" y="7360920"/>
            <a:ext cx="914400" cy="914400"/>
          </a:xfrm>
          <a:prstGeom prst="ellipse">
            <a:avLst/>
          </a:prstGeom>
          <a:solidFill>
            <a:srgbClr val="162CA2"/>
          </a:solidFill>
          <a:ln w="12700">
            <a:solidFill>
              <a:srgbClr val="162CA2"/>
            </a:solidFill>
            <a:prstDash val="solid"/>
          </a:ln>
        </p:spPr>
      </p:sp>
      <p:pic>
        <p:nvPicPr>
          <p:cNvPr id="24" name="Image 5" descr="preencoded.png">    </p:cNvPr>
          <p:cNvPicPr>
            <a:picLocks noChangeAspect="1"/>
          </p:cNvPicPr>
          <p:nvPr/>
        </p:nvPicPr>
        <p:blipFill>
          <a:blip r:embed="rId6"/>
          <a:stretch>
            <a:fillRect/>
          </a:stretch>
        </p:blipFill>
        <p:spPr>
          <a:xfrm>
            <a:off x="1408176" y="7580376"/>
            <a:ext cx="475488" cy="475488"/>
          </a:xfrm>
          <a:prstGeom prst="rect">
            <a:avLst/>
          </a:prstGeom>
        </p:spPr>
      </p:pic>
      <p:sp>
        <p:nvSpPr>
          <p:cNvPr id="25" name="Text 16"/>
          <p:cNvSpPr txBox="1"/>
          <p:nvPr/>
        </p:nvSpPr>
        <p:spPr>
          <a:xfrm>
            <a:off x="2286000" y="7360920"/>
            <a:ext cx="3657600" cy="914400"/>
          </a:xfrm>
          <a:prstGeom prst="rect">
            <a:avLst/>
          </a:prstGeom>
          <a:noFill/>
          <a:ln/>
        </p:spPr>
        <p:txBody>
          <a:bodyPr wrap="square" lIns="0" tIns="0" rIns="0" bIns="0" rtlCol="0" anchor="ctr"/>
          <a:lstStyle/>
          <a:p>
            <a:pPr indent="0" marL="0">
              <a:buNone/>
            </a:pPr>
            <a:r>
              <a:rPr lang="en-US" sz="2500" b="1" dirty="0">
                <a:solidFill>
                  <a:srgbClr val="162CA2"/>
                </a:solidFill>
                <a:latin typeface="Calibri" pitchFamily="34" charset="0"/>
                <a:ea typeface="Calibri" pitchFamily="34" charset="-122"/>
                <a:cs typeface="Calibri" pitchFamily="34" charset="-120"/>
              </a:rPr>
              <a:t>Map</a:t>
            </a:r>
            <a:endParaRPr lang="en-US" sz="2500" dirty="0"/>
          </a:p>
        </p:txBody>
      </p:sp>
      <p:sp>
        <p:nvSpPr>
          <p:cNvPr id="26" name="Text 17"/>
          <p:cNvSpPr txBox="1"/>
          <p:nvPr/>
        </p:nvSpPr>
        <p:spPr>
          <a:xfrm>
            <a:off x="1188720" y="8458200"/>
            <a:ext cx="4663440" cy="1005840"/>
          </a:xfrm>
          <a:prstGeom prst="rect">
            <a:avLst/>
          </a:prstGeom>
          <a:noFill/>
          <a:ln/>
        </p:spPr>
        <p:txBody>
          <a:bodyPr wrap="square" lIns="0" tIns="0" rIns="0" bIns="0" rtlCol="0" anchor="t"/>
          <a:lstStyle/>
          <a:p>
            <a:pPr indent="0" marL="0">
              <a:buNone/>
            </a:pPr>
            <a:r>
              <a:rPr lang="en-US" sz="2100" dirty="0">
                <a:solidFill>
                  <a:srgbClr val="13123D"/>
                </a:solidFill>
                <a:latin typeface="Calibri" pitchFamily="34" charset="0"/>
                <a:ea typeface="Calibri" pitchFamily="34" charset="-122"/>
                <a:cs typeface="Calibri" pitchFamily="34" charset="-120"/>
              </a:rPr>
              <a:t>Menyimpan pasangan kunci dan nilai.</a:t>
            </a:r>
            <a:endParaRPr lang="en-US" sz="2100" dirty="0"/>
          </a:p>
        </p:txBody>
      </p:sp>
      <p:sp>
        <p:nvSpPr>
          <p:cNvPr id="27" name="Shape 18"/>
          <p:cNvSpPr/>
          <p:nvPr/>
        </p:nvSpPr>
        <p:spPr>
          <a:xfrm>
            <a:off x="6537960" y="7086600"/>
            <a:ext cx="5212080" cy="2468880"/>
          </a:xfrm>
          <a:prstGeom prst="roundRect">
            <a:avLst>
              <a:gd name="adj" fmla="val 5556"/>
            </a:avLst>
          </a:prstGeom>
          <a:solidFill>
            <a:srgbClr val="EEF1FC"/>
          </a:solidFill>
          <a:ln w="12700">
            <a:solidFill>
              <a:srgbClr val="D3DAF5"/>
            </a:solidFill>
            <a:prstDash val="solid"/>
          </a:ln>
        </p:spPr>
      </p:sp>
      <p:sp>
        <p:nvSpPr>
          <p:cNvPr id="28" name="Shape 19"/>
          <p:cNvSpPr/>
          <p:nvPr/>
        </p:nvSpPr>
        <p:spPr>
          <a:xfrm>
            <a:off x="6812280" y="7360920"/>
            <a:ext cx="914400" cy="914400"/>
          </a:xfrm>
          <a:prstGeom prst="ellipse">
            <a:avLst/>
          </a:prstGeom>
          <a:solidFill>
            <a:srgbClr val="162CA2"/>
          </a:solidFill>
          <a:ln w="12700">
            <a:solidFill>
              <a:srgbClr val="162CA2"/>
            </a:solidFill>
            <a:prstDash val="solid"/>
          </a:ln>
        </p:spPr>
      </p:sp>
      <p:pic>
        <p:nvPicPr>
          <p:cNvPr id="29" name="Image 6" descr="preencoded.png">    </p:cNvPr>
          <p:cNvPicPr>
            <a:picLocks noChangeAspect="1"/>
          </p:cNvPicPr>
          <p:nvPr/>
        </p:nvPicPr>
        <p:blipFill>
          <a:blip r:embed="rId7"/>
          <a:stretch>
            <a:fillRect/>
          </a:stretch>
        </p:blipFill>
        <p:spPr>
          <a:xfrm>
            <a:off x="7031736" y="7580376"/>
            <a:ext cx="475488" cy="475488"/>
          </a:xfrm>
          <a:prstGeom prst="rect">
            <a:avLst/>
          </a:prstGeom>
        </p:spPr>
      </p:pic>
      <p:sp>
        <p:nvSpPr>
          <p:cNvPr id="30" name="Text 20"/>
          <p:cNvSpPr txBox="1"/>
          <p:nvPr/>
        </p:nvSpPr>
        <p:spPr>
          <a:xfrm>
            <a:off x="7909560" y="7360920"/>
            <a:ext cx="3657600" cy="914400"/>
          </a:xfrm>
          <a:prstGeom prst="rect">
            <a:avLst/>
          </a:prstGeom>
          <a:noFill/>
          <a:ln/>
        </p:spPr>
        <p:txBody>
          <a:bodyPr wrap="square" lIns="0" tIns="0" rIns="0" bIns="0" rtlCol="0" anchor="ctr"/>
          <a:lstStyle/>
          <a:p>
            <a:pPr indent="0" marL="0">
              <a:buNone/>
            </a:pPr>
            <a:r>
              <a:rPr lang="en-US" sz="2500" b="1" dirty="0">
                <a:solidFill>
                  <a:srgbClr val="162CA2"/>
                </a:solidFill>
                <a:latin typeface="Calibri" pitchFamily="34" charset="0"/>
                <a:ea typeface="Calibri" pitchFamily="34" charset="-122"/>
                <a:cs typeface="Calibri" pitchFamily="34" charset="-120"/>
              </a:rPr>
              <a:t>Struct</a:t>
            </a:r>
            <a:endParaRPr lang="en-US" sz="2500" dirty="0"/>
          </a:p>
        </p:txBody>
      </p:sp>
      <p:sp>
        <p:nvSpPr>
          <p:cNvPr id="31" name="Text 21"/>
          <p:cNvSpPr txBox="1"/>
          <p:nvPr/>
        </p:nvSpPr>
        <p:spPr>
          <a:xfrm>
            <a:off x="6812280" y="8458200"/>
            <a:ext cx="4663440" cy="1005840"/>
          </a:xfrm>
          <a:prstGeom prst="rect">
            <a:avLst/>
          </a:prstGeom>
          <a:noFill/>
          <a:ln/>
        </p:spPr>
        <p:txBody>
          <a:bodyPr wrap="square" lIns="0" tIns="0" rIns="0" bIns="0" rtlCol="0" anchor="t"/>
          <a:lstStyle/>
          <a:p>
            <a:pPr indent="0" marL="0">
              <a:buNone/>
            </a:pPr>
            <a:r>
              <a:rPr lang="en-US" sz="2100" dirty="0">
                <a:solidFill>
                  <a:srgbClr val="13123D"/>
                </a:solidFill>
                <a:latin typeface="Calibri" pitchFamily="34" charset="0"/>
                <a:ea typeface="Calibri" pitchFamily="34" charset="-122"/>
                <a:cs typeface="Calibri" pitchFamily="34" charset="-120"/>
              </a:rPr>
              <a:t>Mengelompokkan data satu entitas.</a:t>
            </a:r>
            <a:endParaRPr lang="en-US" sz="2100" dirty="0"/>
          </a:p>
        </p:txBody>
      </p:sp>
      <p:sp>
        <p:nvSpPr>
          <p:cNvPr id="32" name="Shape 22"/>
          <p:cNvSpPr/>
          <p:nvPr/>
        </p:nvSpPr>
        <p:spPr>
          <a:xfrm>
            <a:off x="12161520" y="7086600"/>
            <a:ext cx="5212080" cy="2468880"/>
          </a:xfrm>
          <a:prstGeom prst="roundRect">
            <a:avLst>
              <a:gd name="adj" fmla="val 5556"/>
            </a:avLst>
          </a:prstGeom>
          <a:solidFill>
            <a:srgbClr val="EEF1FC"/>
          </a:solidFill>
          <a:ln w="12700">
            <a:solidFill>
              <a:srgbClr val="D3DAF5"/>
            </a:solidFill>
            <a:prstDash val="solid"/>
          </a:ln>
        </p:spPr>
      </p:sp>
      <p:sp>
        <p:nvSpPr>
          <p:cNvPr id="33" name="Shape 23"/>
          <p:cNvSpPr/>
          <p:nvPr/>
        </p:nvSpPr>
        <p:spPr>
          <a:xfrm>
            <a:off x="12435840" y="7360920"/>
            <a:ext cx="914400" cy="914400"/>
          </a:xfrm>
          <a:prstGeom prst="ellipse">
            <a:avLst/>
          </a:prstGeom>
          <a:solidFill>
            <a:srgbClr val="162CA2"/>
          </a:solidFill>
          <a:ln w="12700">
            <a:solidFill>
              <a:srgbClr val="162CA2"/>
            </a:solidFill>
            <a:prstDash val="solid"/>
          </a:ln>
        </p:spPr>
      </p:sp>
      <p:pic>
        <p:nvPicPr>
          <p:cNvPr id="34" name="Image 7" descr="preencoded.png">    </p:cNvPr>
          <p:cNvPicPr>
            <a:picLocks noChangeAspect="1"/>
          </p:cNvPicPr>
          <p:nvPr/>
        </p:nvPicPr>
        <p:blipFill>
          <a:blip r:embed="rId8"/>
          <a:stretch>
            <a:fillRect/>
          </a:stretch>
        </p:blipFill>
        <p:spPr>
          <a:xfrm>
            <a:off x="12655296" y="7580376"/>
            <a:ext cx="475488" cy="475488"/>
          </a:xfrm>
          <a:prstGeom prst="rect">
            <a:avLst/>
          </a:prstGeom>
        </p:spPr>
      </p:pic>
      <p:sp>
        <p:nvSpPr>
          <p:cNvPr id="35" name="Text 24"/>
          <p:cNvSpPr txBox="1"/>
          <p:nvPr/>
        </p:nvSpPr>
        <p:spPr>
          <a:xfrm>
            <a:off x="13533120" y="7360920"/>
            <a:ext cx="3657600" cy="914400"/>
          </a:xfrm>
          <a:prstGeom prst="rect">
            <a:avLst/>
          </a:prstGeom>
          <a:noFill/>
          <a:ln/>
        </p:spPr>
        <p:txBody>
          <a:bodyPr wrap="square" lIns="0" tIns="0" rIns="0" bIns="0" rtlCol="0" anchor="ctr"/>
          <a:lstStyle/>
          <a:p>
            <a:pPr indent="0" marL="0">
              <a:buNone/>
            </a:pPr>
            <a:r>
              <a:rPr lang="en-US" sz="2500" b="1" dirty="0">
                <a:solidFill>
                  <a:srgbClr val="162CA2"/>
                </a:solidFill>
                <a:latin typeface="Calibri" pitchFamily="34" charset="0"/>
                <a:ea typeface="Calibri" pitchFamily="34" charset="-122"/>
                <a:cs typeface="Calibri" pitchFamily="34" charset="-120"/>
              </a:rPr>
              <a:t>Komunikasi</a:t>
            </a:r>
            <a:endParaRPr lang="en-US" sz="2500" dirty="0"/>
          </a:p>
        </p:txBody>
      </p:sp>
      <p:sp>
        <p:nvSpPr>
          <p:cNvPr id="36" name="Text 25"/>
          <p:cNvSpPr txBox="1"/>
          <p:nvPr/>
        </p:nvSpPr>
        <p:spPr>
          <a:xfrm>
            <a:off x="12435840" y="8458200"/>
            <a:ext cx="4663440" cy="1005840"/>
          </a:xfrm>
          <a:prstGeom prst="rect">
            <a:avLst/>
          </a:prstGeom>
          <a:noFill/>
          <a:ln/>
        </p:spPr>
        <p:txBody>
          <a:bodyPr wrap="square" lIns="0" tIns="0" rIns="0" bIns="0" rtlCol="0" anchor="t"/>
          <a:lstStyle/>
          <a:p>
            <a:pPr indent="0" marL="0">
              <a:buNone/>
            </a:pPr>
            <a:r>
              <a:rPr lang="en-US" sz="2100" dirty="0">
                <a:solidFill>
                  <a:srgbClr val="13123D"/>
                </a:solidFill>
                <a:latin typeface="Calibri" pitchFamily="34" charset="0"/>
                <a:ea typeface="Calibri" pitchFamily="34" charset="-122"/>
                <a:cs typeface="Calibri" pitchFamily="34" charset="-120"/>
              </a:rPr>
              <a:t>Memakai komunikasi verbal dan non-verbal secara selaras.</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PEMBUKAAN · 10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Review Tugas Sesi 2</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BMI dengan float64</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Detik menjadi jam, menit, detik</a:t>
            </a:r>
            <a:endParaRPr lang="en-US" sz="2600" dirty="0"/>
          </a:p>
        </p:txBody>
      </p:sp>
      <p:sp>
        <p:nvSpPr>
          <p:cNvPr id="8" name="Text 3"/>
          <p:cNvSpPr txBox="1"/>
          <p:nvPr/>
        </p:nvSpPr>
        <p:spPr>
          <a:xfrm>
            <a:off x="8229600" y="640080"/>
            <a:ext cx="914400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BMI</a:t>
            </a:r>
            <a:endParaRPr lang="en-US" sz="2600" dirty="0"/>
          </a:p>
        </p:txBody>
      </p:sp>
      <p:sp>
        <p:nvSpPr>
          <p:cNvPr id="9" name="Shape 4"/>
          <p:cNvSpPr/>
          <p:nvPr/>
        </p:nvSpPr>
        <p:spPr>
          <a:xfrm>
            <a:off x="8229600" y="1188720"/>
            <a:ext cx="9418320" cy="1726184"/>
          </a:xfrm>
          <a:prstGeom prst="roundRect">
            <a:avLst>
              <a:gd name="adj" fmla="val 7946"/>
            </a:avLst>
          </a:prstGeom>
          <a:solidFill>
            <a:srgbClr val="13123D"/>
          </a:solidFill>
          <a:ln w="12700">
            <a:solidFill>
              <a:srgbClr val="13123D"/>
            </a:solidFill>
            <a:prstDash val="solid"/>
          </a:ln>
        </p:spPr>
      </p:sp>
      <p:sp>
        <p:nvSpPr>
          <p:cNvPr id="10" name="Text 5"/>
          <p:cNvSpPr txBox="1"/>
          <p:nvPr/>
        </p:nvSpPr>
        <p:spPr>
          <a:xfrm>
            <a:off x="8503920" y="1444752"/>
            <a:ext cx="8869680" cy="1268984"/>
          </a:xfrm>
          <a:prstGeom prst="rect">
            <a:avLst/>
          </a:prstGeom>
          <a:noFill/>
          <a:ln/>
        </p:spPr>
        <p:txBody>
          <a:bodyPr wrap="square" lIns="0" tIns="0" rIns="0" bIns="0" rtlCol="0" anchor="t"/>
          <a:lstStyle/>
          <a:p>
            <a:pPr indent="0" marL="0">
              <a:buNone/>
            </a:pPr>
            <a:r>
              <a:rPr lang="en-US" sz="1900" dirty="0">
                <a:solidFill>
                  <a:srgbClr val="E8ECFF"/>
                </a:solidFill>
                <a:latin typeface="Courier New" pitchFamily="34" charset="0"/>
                <a:ea typeface="Courier New" pitchFamily="34" charset="-122"/>
                <a:cs typeface="Courier New" pitchFamily="34" charset="-120"/>
              </a:rPr>
              <a:t>berat := </a:t>
            </a:r>
            <a:pPr indent="0" marL="0">
              <a:buNone/>
            </a:pPr>
            <a:r>
              <a:rPr lang="en-US" sz="1900" dirty="0">
                <a:solidFill>
                  <a:srgbClr val="FFC58A"/>
                </a:solidFill>
                <a:latin typeface="Courier New" pitchFamily="34" charset="0"/>
                <a:ea typeface="Courier New" pitchFamily="34" charset="-122"/>
                <a:cs typeface="Courier New" pitchFamily="34" charset="-120"/>
              </a:rPr>
              <a:t>65.0</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tinggi := </a:t>
            </a:r>
            <a:pPr indent="0" marL="0">
              <a:buNone/>
            </a:pPr>
            <a:r>
              <a:rPr lang="en-US" sz="1900" dirty="0">
                <a:solidFill>
                  <a:srgbClr val="FFC58A"/>
                </a:solidFill>
                <a:latin typeface="Courier New" pitchFamily="34" charset="0"/>
                <a:ea typeface="Courier New" pitchFamily="34" charset="-122"/>
                <a:cs typeface="Courier New" pitchFamily="34" charset="-120"/>
              </a:rPr>
              <a:t>1.70</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bmi := berat / (tinggi * tinggi)</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fmt.Printf(</a:t>
            </a:r>
            <a:pPr indent="0" marL="0">
              <a:buNone/>
            </a:pPr>
            <a:r>
              <a:rPr lang="en-US" sz="1900" dirty="0">
                <a:solidFill>
                  <a:srgbClr val="A8E6CF"/>
                </a:solidFill>
                <a:latin typeface="Courier New" pitchFamily="34" charset="0"/>
                <a:ea typeface="Courier New" pitchFamily="34" charset="-122"/>
                <a:cs typeface="Courier New" pitchFamily="34" charset="-120"/>
              </a:rPr>
              <a:t>"BMI: %.1f\n"</a:t>
            </a:r>
            <a:pPr indent="0" marL="0">
              <a:buNone/>
            </a:pPr>
            <a:r>
              <a:rPr lang="en-US" sz="1900" dirty="0">
                <a:solidFill>
                  <a:srgbClr val="E8ECFF"/>
                </a:solidFill>
                <a:latin typeface="Courier New" pitchFamily="34" charset="0"/>
                <a:ea typeface="Courier New" pitchFamily="34" charset="-122"/>
                <a:cs typeface="Courier New" pitchFamily="34" charset="-120"/>
              </a:rPr>
              <a:t>, bmi)</a:t>
            </a:r>
            <a:endParaRPr lang="en-US" sz="1900" dirty="0"/>
          </a:p>
        </p:txBody>
      </p:sp>
      <p:sp>
        <p:nvSpPr>
          <p:cNvPr id="11" name="Text 6"/>
          <p:cNvSpPr txBox="1"/>
          <p:nvPr/>
        </p:nvSpPr>
        <p:spPr>
          <a:xfrm>
            <a:off x="8229600" y="3108960"/>
            <a:ext cx="9144000" cy="457200"/>
          </a:xfrm>
          <a:prstGeom prst="rect">
            <a:avLst/>
          </a:prstGeom>
          <a:noFill/>
          <a:ln/>
        </p:spPr>
        <p:txBody>
          <a:bodyPr wrap="square" lIns="0" tIns="0" rIns="0" bIns="0" rtlCol="0" anchor="t"/>
          <a:lstStyle/>
          <a:p>
            <a:pPr indent="0" marL="0">
              <a:buNone/>
            </a:pPr>
            <a:r>
              <a:rPr lang="en-US" sz="2200" dirty="0">
                <a:solidFill>
                  <a:srgbClr val="13123D"/>
                </a:solidFill>
                <a:latin typeface="Courier New" pitchFamily="34" charset="0"/>
                <a:ea typeface="Courier New" pitchFamily="34" charset="-122"/>
                <a:cs typeface="Courier New" pitchFamily="34" charset="-120"/>
              </a:rPr>
              <a:t>Output: BMI: 22.5</a:t>
            </a:r>
            <a:endParaRPr lang="en-US" sz="2200" dirty="0"/>
          </a:p>
        </p:txBody>
      </p:sp>
      <p:sp>
        <p:nvSpPr>
          <p:cNvPr id="12" name="Text 7"/>
          <p:cNvSpPr txBox="1"/>
          <p:nvPr/>
        </p:nvSpPr>
        <p:spPr>
          <a:xfrm>
            <a:off x="8229600" y="3840480"/>
            <a:ext cx="914400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Detik menjadi jam, menit, detik</a:t>
            </a:r>
            <a:endParaRPr lang="en-US" sz="2600" dirty="0"/>
          </a:p>
        </p:txBody>
      </p:sp>
      <p:sp>
        <p:nvSpPr>
          <p:cNvPr id="13" name="Shape 8"/>
          <p:cNvSpPr/>
          <p:nvPr/>
        </p:nvSpPr>
        <p:spPr>
          <a:xfrm>
            <a:off x="8229600" y="4389120"/>
            <a:ext cx="9418320" cy="2221992"/>
          </a:xfrm>
          <a:prstGeom prst="roundRect">
            <a:avLst>
              <a:gd name="adj" fmla="val 6173"/>
            </a:avLst>
          </a:prstGeom>
          <a:solidFill>
            <a:srgbClr val="13123D"/>
          </a:solidFill>
          <a:ln w="12700">
            <a:solidFill>
              <a:srgbClr val="13123D"/>
            </a:solidFill>
            <a:prstDash val="solid"/>
          </a:ln>
        </p:spPr>
      </p:sp>
      <p:sp>
        <p:nvSpPr>
          <p:cNvPr id="14" name="Text 9"/>
          <p:cNvSpPr txBox="1"/>
          <p:nvPr/>
        </p:nvSpPr>
        <p:spPr>
          <a:xfrm>
            <a:off x="8503920" y="4645152"/>
            <a:ext cx="8869680" cy="1764792"/>
          </a:xfrm>
          <a:prstGeom prst="rect">
            <a:avLst/>
          </a:prstGeom>
          <a:noFill/>
          <a:ln/>
        </p:spPr>
        <p:txBody>
          <a:bodyPr wrap="square" lIns="0" tIns="0" rIns="0" bIns="0" rtlCol="0" anchor="t"/>
          <a:lstStyle/>
          <a:p>
            <a:pPr indent="0" marL="0">
              <a:buNone/>
            </a:pPr>
            <a:r>
              <a:rPr lang="en-US" sz="1800" dirty="0">
                <a:solidFill>
                  <a:srgbClr val="E8ECFF"/>
                </a:solidFill>
                <a:latin typeface="Courier New" pitchFamily="34" charset="0"/>
                <a:ea typeface="Courier New" pitchFamily="34" charset="-122"/>
                <a:cs typeface="Courier New" pitchFamily="34" charset="-120"/>
              </a:rPr>
              <a:t>detik := </a:t>
            </a:r>
            <a:pPr indent="0" marL="0">
              <a:buNone/>
            </a:pPr>
            <a:r>
              <a:rPr lang="en-US" sz="1800" dirty="0">
                <a:solidFill>
                  <a:srgbClr val="FFC58A"/>
                </a:solidFill>
                <a:latin typeface="Courier New" pitchFamily="34" charset="0"/>
                <a:ea typeface="Courier New" pitchFamily="34" charset="-122"/>
                <a:cs typeface="Courier New" pitchFamily="34" charset="-120"/>
              </a:rPr>
              <a:t>3725</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jam := detik / </a:t>
            </a:r>
            <a:pPr indent="0" marL="0">
              <a:buNone/>
            </a:pPr>
            <a:r>
              <a:rPr lang="en-US" sz="1800" dirty="0">
                <a:solidFill>
                  <a:srgbClr val="FFC58A"/>
                </a:solidFill>
                <a:latin typeface="Courier New" pitchFamily="34" charset="0"/>
                <a:ea typeface="Courier New" pitchFamily="34" charset="-122"/>
                <a:cs typeface="Courier New" pitchFamily="34" charset="-120"/>
              </a:rPr>
              <a:t>3600</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menit := (detik % </a:t>
            </a:r>
            <a:pPr indent="0" marL="0">
              <a:buNone/>
            </a:pPr>
            <a:r>
              <a:rPr lang="en-US" sz="1800" dirty="0">
                <a:solidFill>
                  <a:srgbClr val="FFC58A"/>
                </a:solidFill>
                <a:latin typeface="Courier New" pitchFamily="34" charset="0"/>
                <a:ea typeface="Courier New" pitchFamily="34" charset="-122"/>
                <a:cs typeface="Courier New" pitchFamily="34" charset="-120"/>
              </a:rPr>
              <a:t>3600</a:t>
            </a:r>
            <a:pPr indent="0" marL="0">
              <a:buNone/>
            </a:pPr>
            <a:r>
              <a:rPr lang="en-US" sz="1800" dirty="0">
                <a:solidFill>
                  <a:srgbClr val="E8ECFF"/>
                </a:solidFill>
                <a:latin typeface="Courier New" pitchFamily="34" charset="0"/>
                <a:ea typeface="Courier New" pitchFamily="34" charset="-122"/>
                <a:cs typeface="Courier New" pitchFamily="34" charset="-120"/>
              </a:rPr>
              <a:t>) / </a:t>
            </a:r>
            <a:pPr indent="0" marL="0">
              <a:buNone/>
            </a:pPr>
            <a:r>
              <a:rPr lang="en-US" sz="1800" dirty="0">
                <a:solidFill>
                  <a:srgbClr val="FFC58A"/>
                </a:solidFill>
                <a:latin typeface="Courier New" pitchFamily="34" charset="0"/>
                <a:ea typeface="Courier New" pitchFamily="34" charset="-122"/>
                <a:cs typeface="Courier New" pitchFamily="34" charset="-120"/>
              </a:rPr>
              <a:t>60</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sisa := detik % </a:t>
            </a:r>
            <a:pPr indent="0" marL="0">
              <a:buNone/>
            </a:pPr>
            <a:r>
              <a:rPr lang="en-US" sz="1800" dirty="0">
                <a:solidFill>
                  <a:srgbClr val="FFC58A"/>
                </a:solidFill>
                <a:latin typeface="Courier New" pitchFamily="34" charset="0"/>
                <a:ea typeface="Courier New" pitchFamily="34" charset="-122"/>
                <a:cs typeface="Courier New" pitchFamily="34" charset="-120"/>
              </a:rPr>
              <a:t>60</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fmt.Printf(</a:t>
            </a:r>
            <a:pPr indent="0" marL="0">
              <a:buNone/>
            </a:pPr>
            <a:r>
              <a:rPr lang="en-US" sz="1800" dirty="0">
                <a:solidFill>
                  <a:srgbClr val="A8E6CF"/>
                </a:solidFill>
                <a:latin typeface="Courier New" pitchFamily="34" charset="0"/>
                <a:ea typeface="Courier New" pitchFamily="34" charset="-122"/>
                <a:cs typeface="Courier New" pitchFamily="34" charset="-120"/>
              </a:rPr>
              <a:t>"%d jam %d menit %d detik\n"</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jam, menit, sisa)</a:t>
            </a:r>
            <a:endParaRPr lang="en-US" sz="1800" dirty="0"/>
          </a:p>
        </p:txBody>
      </p:sp>
      <p:sp>
        <p:nvSpPr>
          <p:cNvPr id="15" name="Text 10"/>
          <p:cNvSpPr txBox="1"/>
          <p:nvPr/>
        </p:nvSpPr>
        <p:spPr>
          <a:xfrm>
            <a:off x="8229600" y="6903720"/>
            <a:ext cx="9144000" cy="457200"/>
          </a:xfrm>
          <a:prstGeom prst="rect">
            <a:avLst/>
          </a:prstGeom>
          <a:noFill/>
          <a:ln/>
        </p:spPr>
        <p:txBody>
          <a:bodyPr wrap="square" lIns="0" tIns="0" rIns="0" bIns="0" rtlCol="0" anchor="t"/>
          <a:lstStyle/>
          <a:p>
            <a:pPr indent="0" marL="0">
              <a:buNone/>
            </a:pPr>
            <a:r>
              <a:rPr lang="en-US" sz="2200" dirty="0">
                <a:solidFill>
                  <a:srgbClr val="13123D"/>
                </a:solidFill>
                <a:latin typeface="Courier New" pitchFamily="34" charset="0"/>
                <a:ea typeface="Courier New" pitchFamily="34" charset="-122"/>
                <a:cs typeface="Courier New" pitchFamily="34" charset="-120"/>
              </a:rPr>
              <a:t>Output: 1 jam 2 menit 5 detik</a:t>
            </a:r>
            <a:endParaRPr lang="en-US" sz="2200" dirty="0"/>
          </a:p>
        </p:txBody>
      </p:sp>
      <p:sp>
        <p:nvSpPr>
          <p:cNvPr id="16" name="Shape 11"/>
          <p:cNvSpPr/>
          <p:nvPr/>
        </p:nvSpPr>
        <p:spPr>
          <a:xfrm>
            <a:off x="8229600" y="7772400"/>
            <a:ext cx="9418320" cy="1737360"/>
          </a:xfrm>
          <a:prstGeom prst="roundRect">
            <a:avLst>
              <a:gd name="adj" fmla="val 7895"/>
            </a:avLst>
          </a:prstGeom>
          <a:solidFill>
            <a:srgbClr val="FFF3BF"/>
          </a:solidFill>
          <a:ln w="12700">
            <a:solidFill>
              <a:srgbClr val="FFF3BF"/>
            </a:solidFill>
            <a:prstDash val="solid"/>
          </a:ln>
        </p:spPr>
      </p:sp>
      <p:sp>
        <p:nvSpPr>
          <p:cNvPr id="17" name="Text 12"/>
          <p:cNvSpPr txBox="1"/>
          <p:nvPr/>
        </p:nvSpPr>
        <p:spPr>
          <a:xfrm>
            <a:off x="8503920" y="7772400"/>
            <a:ext cx="8869680" cy="173736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Ingat</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int / int menghasilkan int, dan % memberi sisa bagi. Keduanya dipakai bersama pada soal detik.</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1 · 15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Percabangan</a:t>
            </a:r>
            <a:endParaRPr lang="en-US" sz="4400" dirty="0"/>
          </a:p>
          <a:p>
            <a:pPr indent="0" marL="0">
              <a:buNone/>
            </a:pPr>
            <a:r>
              <a:rPr lang="en-US" sz="4400" b="1" dirty="0">
                <a:solidFill>
                  <a:srgbClr val="FDFBFB"/>
                </a:solidFill>
                <a:latin typeface="Arial" pitchFamily="34" charset="0"/>
                <a:ea typeface="Arial" pitchFamily="34" charset="-122"/>
                <a:cs typeface="Arial" pitchFamily="34" charset="-120"/>
              </a:rPr>
              <a:t>if – else</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Kondisi tanpa kurung</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Kurung kurawal wajib</a:t>
            </a:r>
            <a:endParaRPr lang="en-US" sz="2600" dirty="0"/>
          </a:p>
        </p:txBody>
      </p:sp>
      <p:sp>
        <p:nvSpPr>
          <p:cNvPr id="8" name="Shape 3"/>
          <p:cNvSpPr/>
          <p:nvPr/>
        </p:nvSpPr>
        <p:spPr>
          <a:xfrm>
            <a:off x="8229600" y="731520"/>
            <a:ext cx="9418320" cy="3027680"/>
          </a:xfrm>
          <a:prstGeom prst="roundRect">
            <a:avLst>
              <a:gd name="adj" fmla="val 4530"/>
            </a:avLst>
          </a:prstGeom>
          <a:solidFill>
            <a:srgbClr val="13123D"/>
          </a:solidFill>
          <a:ln w="12700">
            <a:solidFill>
              <a:srgbClr val="13123D"/>
            </a:solidFill>
            <a:prstDash val="solid"/>
          </a:ln>
        </p:spPr>
      </p:sp>
      <p:sp>
        <p:nvSpPr>
          <p:cNvPr id="9" name="Text 4"/>
          <p:cNvSpPr txBox="1"/>
          <p:nvPr/>
        </p:nvSpPr>
        <p:spPr>
          <a:xfrm>
            <a:off x="8503920" y="987552"/>
            <a:ext cx="8869680" cy="2570480"/>
          </a:xfrm>
          <a:prstGeom prst="rect">
            <a:avLst/>
          </a:prstGeom>
          <a:noFill/>
          <a:ln/>
        </p:spPr>
        <p:txBody>
          <a:bodyPr wrap="square" lIns="0" tIns="0" rIns="0" bIns="0" rtlCol="0" anchor="t"/>
          <a:lstStyle/>
          <a:p>
            <a:pPr indent="0" marL="0">
              <a:buNone/>
            </a:pPr>
            <a:r>
              <a:rPr lang="en-US" sz="2000" dirty="0">
                <a:solidFill>
                  <a:srgbClr val="E8ECFF"/>
                </a:solidFill>
                <a:latin typeface="Courier New" pitchFamily="34" charset="0"/>
                <a:ea typeface="Courier New" pitchFamily="34" charset="-122"/>
                <a:cs typeface="Courier New" pitchFamily="34" charset="-120"/>
              </a:rPr>
              <a:t>nilai := </a:t>
            </a:r>
            <a:pPr indent="0" marL="0">
              <a:buNone/>
            </a:pPr>
            <a:r>
              <a:rPr lang="en-US" sz="2000" dirty="0">
                <a:solidFill>
                  <a:srgbClr val="FFC58A"/>
                </a:solidFill>
                <a:latin typeface="Courier New" pitchFamily="34" charset="0"/>
                <a:ea typeface="Courier New" pitchFamily="34" charset="-122"/>
                <a:cs typeface="Courier New" pitchFamily="34" charset="-120"/>
              </a:rPr>
              <a:t>78</a:t>
            </a:r>
            <a:endParaRPr lang="en-US" sz="2000" dirty="0"/>
          </a:p>
          <a:p>
            <a:pPr indent="0" marL="0">
              <a:buNone/>
            </a:pPr>
            <a:r>
              <a:rPr lang="en-US" sz="2000" dirty="0">
                <a:solidFill>
                  <a:srgbClr val="FCDF59"/>
                </a:solidFill>
                <a:latin typeface="Courier New" pitchFamily="34" charset="0"/>
                <a:ea typeface="Courier New" pitchFamily="34" charset="-122"/>
                <a:cs typeface="Courier New" pitchFamily="34" charset="-120"/>
              </a:rPr>
              <a:t>if</a:t>
            </a:r>
            <a:pPr indent="0" marL="0">
              <a:buNone/>
            </a:pPr>
            <a:r>
              <a:rPr lang="en-US" sz="2000" dirty="0">
                <a:solidFill>
                  <a:srgbClr val="E8ECFF"/>
                </a:solidFill>
                <a:latin typeface="Courier New" pitchFamily="34" charset="0"/>
                <a:ea typeface="Courier New" pitchFamily="34" charset="-122"/>
                <a:cs typeface="Courier New" pitchFamily="34" charset="-120"/>
              </a:rPr>
              <a:t> nilai &gt;= </a:t>
            </a:r>
            <a:pPr indent="0" marL="0">
              <a:buNone/>
            </a:pPr>
            <a:r>
              <a:rPr lang="en-US" sz="2000" dirty="0">
                <a:solidFill>
                  <a:srgbClr val="FFC58A"/>
                </a:solidFill>
                <a:latin typeface="Courier New" pitchFamily="34" charset="0"/>
                <a:ea typeface="Courier New" pitchFamily="34" charset="-122"/>
                <a:cs typeface="Courier New" pitchFamily="34" charset="-120"/>
              </a:rPr>
              <a:t>85</a:t>
            </a:r>
            <a:pPr indent="0" marL="0">
              <a:buNone/>
            </a:pPr>
            <a:r>
              <a:rPr lang="en-US" sz="2000" dirty="0">
                <a:solidFill>
                  <a:srgbClr val="E8ECFF"/>
                </a:solidFill>
                <a:latin typeface="Courier New" pitchFamily="34" charset="0"/>
                <a:ea typeface="Courier New" pitchFamily="34" charset="-122"/>
                <a:cs typeface="Courier New" pitchFamily="34" charset="-120"/>
              </a:rPr>
              <a:t> {</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    fmt.Println(</a:t>
            </a:r>
            <a:pPr indent="0" marL="0">
              <a:buNone/>
            </a:pPr>
            <a:r>
              <a:rPr lang="en-US" sz="2000" dirty="0">
                <a:solidFill>
                  <a:srgbClr val="A8E6CF"/>
                </a:solidFill>
                <a:latin typeface="Courier New" pitchFamily="34" charset="0"/>
                <a:ea typeface="Courier New" pitchFamily="34" charset="-122"/>
                <a:cs typeface="Courier New" pitchFamily="34" charset="-120"/>
              </a:rPr>
              <a:t>"A"</a:t>
            </a:r>
            <a:pPr indent="0" marL="0">
              <a:buNone/>
            </a:pPr>
            <a:r>
              <a:rPr lang="en-US" sz="2000" dirty="0">
                <a:solidFill>
                  <a:srgbClr val="E8ECFF"/>
                </a:solidFill>
                <a:latin typeface="Courier New" pitchFamily="34" charset="0"/>
                <a:ea typeface="Courier New" pitchFamily="34" charset="-122"/>
                <a:cs typeface="Courier New" pitchFamily="34" charset="-120"/>
              </a:rPr>
              <a:t>)</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 </a:t>
            </a:r>
            <a:pPr indent="0" marL="0">
              <a:buNone/>
            </a:pPr>
            <a:r>
              <a:rPr lang="en-US" sz="2000" dirty="0">
                <a:solidFill>
                  <a:srgbClr val="FCDF59"/>
                </a:solidFill>
                <a:latin typeface="Courier New" pitchFamily="34" charset="0"/>
                <a:ea typeface="Courier New" pitchFamily="34" charset="-122"/>
                <a:cs typeface="Courier New" pitchFamily="34" charset="-120"/>
              </a:rPr>
              <a:t>else</a:t>
            </a:r>
            <a:pPr indent="0" marL="0">
              <a:buNone/>
            </a:pPr>
            <a:r>
              <a:rPr lang="en-US" sz="2000" dirty="0">
                <a:solidFill>
                  <a:srgbClr val="E8ECFF"/>
                </a:solidFill>
                <a:latin typeface="Courier New" pitchFamily="34" charset="0"/>
                <a:ea typeface="Courier New" pitchFamily="34" charset="-122"/>
                <a:cs typeface="Courier New" pitchFamily="34" charset="-120"/>
              </a:rPr>
              <a:t> </a:t>
            </a:r>
            <a:pPr indent="0" marL="0">
              <a:buNone/>
            </a:pPr>
            <a:r>
              <a:rPr lang="en-US" sz="2000" dirty="0">
                <a:solidFill>
                  <a:srgbClr val="FCDF59"/>
                </a:solidFill>
                <a:latin typeface="Courier New" pitchFamily="34" charset="0"/>
                <a:ea typeface="Courier New" pitchFamily="34" charset="-122"/>
                <a:cs typeface="Courier New" pitchFamily="34" charset="-120"/>
              </a:rPr>
              <a:t>if</a:t>
            </a:r>
            <a:pPr indent="0" marL="0">
              <a:buNone/>
            </a:pPr>
            <a:r>
              <a:rPr lang="en-US" sz="2000" dirty="0">
                <a:solidFill>
                  <a:srgbClr val="E8ECFF"/>
                </a:solidFill>
                <a:latin typeface="Courier New" pitchFamily="34" charset="0"/>
                <a:ea typeface="Courier New" pitchFamily="34" charset="-122"/>
                <a:cs typeface="Courier New" pitchFamily="34" charset="-120"/>
              </a:rPr>
              <a:t> nilai &gt;= </a:t>
            </a:r>
            <a:pPr indent="0" marL="0">
              <a:buNone/>
            </a:pPr>
            <a:r>
              <a:rPr lang="en-US" sz="2000" dirty="0">
                <a:solidFill>
                  <a:srgbClr val="FFC58A"/>
                </a:solidFill>
                <a:latin typeface="Courier New" pitchFamily="34" charset="0"/>
                <a:ea typeface="Courier New" pitchFamily="34" charset="-122"/>
                <a:cs typeface="Courier New" pitchFamily="34" charset="-120"/>
              </a:rPr>
              <a:t>70</a:t>
            </a:r>
            <a:pPr indent="0" marL="0">
              <a:buNone/>
            </a:pPr>
            <a:r>
              <a:rPr lang="en-US" sz="2000" dirty="0">
                <a:solidFill>
                  <a:srgbClr val="E8ECFF"/>
                </a:solidFill>
                <a:latin typeface="Courier New" pitchFamily="34" charset="0"/>
                <a:ea typeface="Courier New" pitchFamily="34" charset="-122"/>
                <a:cs typeface="Courier New" pitchFamily="34" charset="-120"/>
              </a:rPr>
              <a:t> {</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    fmt.Println(</a:t>
            </a:r>
            <a:pPr indent="0" marL="0">
              <a:buNone/>
            </a:pPr>
            <a:r>
              <a:rPr lang="en-US" sz="2000" dirty="0">
                <a:solidFill>
                  <a:srgbClr val="A8E6CF"/>
                </a:solidFill>
                <a:latin typeface="Courier New" pitchFamily="34" charset="0"/>
                <a:ea typeface="Courier New" pitchFamily="34" charset="-122"/>
                <a:cs typeface="Courier New" pitchFamily="34" charset="-120"/>
              </a:rPr>
              <a:t>"B"</a:t>
            </a:r>
            <a:pPr indent="0" marL="0">
              <a:buNone/>
            </a:pPr>
            <a:r>
              <a:rPr lang="en-US" sz="2000" dirty="0">
                <a:solidFill>
                  <a:srgbClr val="E8ECFF"/>
                </a:solidFill>
                <a:latin typeface="Courier New" pitchFamily="34" charset="0"/>
                <a:ea typeface="Courier New" pitchFamily="34" charset="-122"/>
                <a:cs typeface="Courier New" pitchFamily="34" charset="-120"/>
              </a:rPr>
              <a:t>)</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 </a:t>
            </a:r>
            <a:pPr indent="0" marL="0">
              <a:buNone/>
            </a:pPr>
            <a:r>
              <a:rPr lang="en-US" sz="2000" dirty="0">
                <a:solidFill>
                  <a:srgbClr val="FCDF59"/>
                </a:solidFill>
                <a:latin typeface="Courier New" pitchFamily="34" charset="0"/>
                <a:ea typeface="Courier New" pitchFamily="34" charset="-122"/>
                <a:cs typeface="Courier New" pitchFamily="34" charset="-120"/>
              </a:rPr>
              <a:t>else</a:t>
            </a:r>
            <a:pPr indent="0" marL="0">
              <a:buNone/>
            </a:pPr>
            <a:r>
              <a:rPr lang="en-US" sz="2000" dirty="0">
                <a:solidFill>
                  <a:srgbClr val="E8ECFF"/>
                </a:solidFill>
                <a:latin typeface="Courier New" pitchFamily="34" charset="0"/>
                <a:ea typeface="Courier New" pitchFamily="34" charset="-122"/>
                <a:cs typeface="Courier New" pitchFamily="34" charset="-120"/>
              </a:rPr>
              <a:t> {</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    fmt.Println(</a:t>
            </a:r>
            <a:pPr indent="0" marL="0">
              <a:buNone/>
            </a:pPr>
            <a:r>
              <a:rPr lang="en-US" sz="2000" dirty="0">
                <a:solidFill>
                  <a:srgbClr val="A8E6CF"/>
                </a:solidFill>
                <a:latin typeface="Courier New" pitchFamily="34" charset="0"/>
                <a:ea typeface="Courier New" pitchFamily="34" charset="-122"/>
                <a:cs typeface="Courier New" pitchFamily="34" charset="-120"/>
              </a:rPr>
              <a:t>"C atau di bawahnya"</a:t>
            </a:r>
            <a:pPr indent="0" marL="0">
              <a:buNone/>
            </a:pPr>
            <a:r>
              <a:rPr lang="en-US" sz="2000" dirty="0">
                <a:solidFill>
                  <a:srgbClr val="E8ECFF"/>
                </a:solidFill>
                <a:latin typeface="Courier New" pitchFamily="34" charset="0"/>
                <a:ea typeface="Courier New" pitchFamily="34" charset="-122"/>
                <a:cs typeface="Courier New" pitchFamily="34" charset="-120"/>
              </a:rPr>
              <a:t>)</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a:t>
            </a:r>
            <a:endParaRPr lang="en-US" sz="2000" dirty="0"/>
          </a:p>
        </p:txBody>
      </p:sp>
      <p:sp>
        <p:nvSpPr>
          <p:cNvPr id="10" name="Text 5"/>
          <p:cNvSpPr txBox="1"/>
          <p:nvPr/>
        </p:nvSpPr>
        <p:spPr>
          <a:xfrm>
            <a:off x="8229600" y="3977640"/>
            <a:ext cx="3291840" cy="731520"/>
          </a:xfrm>
          <a:prstGeom prst="roundRect">
            <a:avLst>
              <a:gd name="adj" fmla="val 15000"/>
            </a:avLst>
          </a:prstGeom>
          <a:solidFill>
            <a:srgbClr val="FCDF59"/>
          </a:solidFill>
          <a:ln>
            <a:solidFill>
              <a:srgbClr val="FCDF59"/>
            </a:solidFill>
          </a:ln>
        </p:spPr>
        <p:txBody>
          <a:bodyPr wrap="square" lIns="635" tIns="635" rIns="635" bIns="635" rtlCol="0" anchor="ctr"/>
          <a:lstStyle/>
          <a:p>
            <a:pPr algn="ctr" indent="0" marL="0">
              <a:buNone/>
            </a:pPr>
            <a:r>
              <a:rPr lang="en-US" sz="2400" b="1" dirty="0">
                <a:solidFill>
                  <a:srgbClr val="13123D"/>
                </a:solidFill>
                <a:latin typeface="Courier New" pitchFamily="34" charset="0"/>
                <a:ea typeface="Courier New" pitchFamily="34" charset="-122"/>
                <a:cs typeface="Courier New" pitchFamily="34" charset="-120"/>
              </a:rPr>
              <a:t>Output: B</a:t>
            </a:r>
            <a:endParaRPr lang="en-US" sz="2400" dirty="0"/>
          </a:p>
        </p:txBody>
      </p:sp>
      <p:sp>
        <p:nvSpPr>
          <p:cNvPr id="11" name="Shape 6"/>
          <p:cNvSpPr/>
          <p:nvPr/>
        </p:nvSpPr>
        <p:spPr>
          <a:xfrm>
            <a:off x="8229600" y="4937760"/>
            <a:ext cx="9418320" cy="1280160"/>
          </a:xfrm>
          <a:prstGeom prst="roundRect">
            <a:avLst>
              <a:gd name="adj" fmla="val 10714"/>
            </a:avLst>
          </a:prstGeom>
          <a:solidFill>
            <a:srgbClr val="EEF1FC"/>
          </a:solidFill>
          <a:ln w="12700">
            <a:solidFill>
              <a:srgbClr val="D3DAF5"/>
            </a:solidFill>
            <a:prstDash val="solid"/>
          </a:ln>
        </p:spPr>
      </p:sp>
      <p:sp>
        <p:nvSpPr>
          <p:cNvPr id="12" name="Text 7"/>
          <p:cNvSpPr txBox="1"/>
          <p:nvPr/>
        </p:nvSpPr>
        <p:spPr>
          <a:xfrm>
            <a:off x="8458200" y="523494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1</a:t>
            </a:r>
            <a:endParaRPr lang="en-US" sz="2400" dirty="0"/>
          </a:p>
        </p:txBody>
      </p:sp>
      <p:sp>
        <p:nvSpPr>
          <p:cNvPr id="13" name="Text 8"/>
          <p:cNvSpPr txBox="1"/>
          <p:nvPr/>
        </p:nvSpPr>
        <p:spPr>
          <a:xfrm>
            <a:off x="9326880" y="4937760"/>
            <a:ext cx="8138160" cy="128016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Tanpa kurung</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Kondisi tidak dibungkus ( )</a:t>
            </a:r>
            <a:endParaRPr lang="en-US" sz="2400" dirty="0"/>
          </a:p>
        </p:txBody>
      </p:sp>
      <p:sp>
        <p:nvSpPr>
          <p:cNvPr id="14" name="Shape 9"/>
          <p:cNvSpPr/>
          <p:nvPr/>
        </p:nvSpPr>
        <p:spPr>
          <a:xfrm>
            <a:off x="8229600" y="6400800"/>
            <a:ext cx="9418320" cy="1280160"/>
          </a:xfrm>
          <a:prstGeom prst="roundRect">
            <a:avLst>
              <a:gd name="adj" fmla="val 10714"/>
            </a:avLst>
          </a:prstGeom>
          <a:solidFill>
            <a:srgbClr val="EEF1FC"/>
          </a:solidFill>
          <a:ln w="12700">
            <a:solidFill>
              <a:srgbClr val="D3DAF5"/>
            </a:solidFill>
            <a:prstDash val="solid"/>
          </a:ln>
        </p:spPr>
      </p:sp>
      <p:sp>
        <p:nvSpPr>
          <p:cNvPr id="15" name="Text 10"/>
          <p:cNvSpPr txBox="1"/>
          <p:nvPr/>
        </p:nvSpPr>
        <p:spPr>
          <a:xfrm>
            <a:off x="8458200" y="669798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2</a:t>
            </a:r>
            <a:endParaRPr lang="en-US" sz="2400" dirty="0"/>
          </a:p>
        </p:txBody>
      </p:sp>
      <p:sp>
        <p:nvSpPr>
          <p:cNvPr id="16" name="Text 11"/>
          <p:cNvSpPr txBox="1"/>
          <p:nvPr/>
        </p:nvSpPr>
        <p:spPr>
          <a:xfrm>
            <a:off x="9326880" y="6400800"/>
            <a:ext cx="8138160" cy="128016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Kurung kurawal wajib</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Walaupun hanya satu baris</a:t>
            </a:r>
            <a:endParaRPr lang="en-US" sz="2400" dirty="0"/>
          </a:p>
        </p:txBody>
      </p:sp>
      <p:sp>
        <p:nvSpPr>
          <p:cNvPr id="17" name="Shape 12"/>
          <p:cNvSpPr/>
          <p:nvPr/>
        </p:nvSpPr>
        <p:spPr>
          <a:xfrm>
            <a:off x="8229600" y="7863840"/>
            <a:ext cx="9418320" cy="1280160"/>
          </a:xfrm>
          <a:prstGeom prst="roundRect">
            <a:avLst>
              <a:gd name="adj" fmla="val 10714"/>
            </a:avLst>
          </a:prstGeom>
          <a:solidFill>
            <a:srgbClr val="EEF1FC"/>
          </a:solidFill>
          <a:ln w="12700">
            <a:solidFill>
              <a:srgbClr val="D3DAF5"/>
            </a:solidFill>
            <a:prstDash val="solid"/>
          </a:ln>
        </p:spPr>
      </p:sp>
      <p:sp>
        <p:nvSpPr>
          <p:cNvPr id="18" name="Text 13"/>
          <p:cNvSpPr txBox="1"/>
          <p:nvPr/>
        </p:nvSpPr>
        <p:spPr>
          <a:xfrm>
            <a:off x="8458200" y="816102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3</a:t>
            </a:r>
            <a:endParaRPr lang="en-US" sz="2400" dirty="0"/>
          </a:p>
        </p:txBody>
      </p:sp>
      <p:sp>
        <p:nvSpPr>
          <p:cNvPr id="19" name="Text 14"/>
          <p:cNvSpPr txBox="1"/>
          <p:nvPr/>
        </p:nvSpPr>
        <p:spPr>
          <a:xfrm>
            <a:off x="9326880" y="7863840"/>
            <a:ext cx="8138160" cy="128016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 else { sebaris</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else di baris yang sama dengan }</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BAGIAN 1 · 15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if dengan Operator Logika</a:t>
            </a:r>
            <a:endParaRPr lang="en-US" sz="4800" dirty="0"/>
          </a:p>
        </p:txBody>
      </p:sp>
      <p:sp>
        <p:nvSpPr>
          <p:cNvPr id="7" name="Text 2"/>
          <p:cNvSpPr txBox="1"/>
          <p:nvPr/>
        </p:nvSpPr>
        <p:spPr>
          <a:xfrm>
            <a:off x="914400" y="4160520"/>
            <a:ext cx="795528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Kondisi gabungan</a:t>
            </a:r>
            <a:endParaRPr lang="en-US" sz="2600" dirty="0"/>
          </a:p>
        </p:txBody>
      </p:sp>
      <p:sp>
        <p:nvSpPr>
          <p:cNvPr id="8" name="Shape 3"/>
          <p:cNvSpPr/>
          <p:nvPr/>
        </p:nvSpPr>
        <p:spPr>
          <a:xfrm>
            <a:off x="914400" y="4709160"/>
            <a:ext cx="7955280" cy="2098040"/>
          </a:xfrm>
          <a:prstGeom prst="roundRect">
            <a:avLst>
              <a:gd name="adj" fmla="val 6538"/>
            </a:avLst>
          </a:prstGeom>
          <a:solidFill>
            <a:srgbClr val="13123D"/>
          </a:solidFill>
          <a:ln w="12700">
            <a:solidFill>
              <a:srgbClr val="13123D"/>
            </a:solidFill>
            <a:prstDash val="solid"/>
          </a:ln>
        </p:spPr>
      </p:sp>
      <p:sp>
        <p:nvSpPr>
          <p:cNvPr id="9" name="Text 4"/>
          <p:cNvSpPr txBox="1"/>
          <p:nvPr/>
        </p:nvSpPr>
        <p:spPr>
          <a:xfrm>
            <a:off x="1188720" y="4965192"/>
            <a:ext cx="7406640" cy="1640840"/>
          </a:xfrm>
          <a:prstGeom prst="rect">
            <a:avLst/>
          </a:prstGeom>
          <a:noFill/>
          <a:ln/>
        </p:spPr>
        <p:txBody>
          <a:bodyPr wrap="square" lIns="0" tIns="0" rIns="0" bIns="0" rtlCol="0" anchor="t"/>
          <a:lstStyle/>
          <a:p>
            <a:pPr indent="0" marL="0">
              <a:buNone/>
            </a:pPr>
            <a:r>
              <a:rPr lang="en-US" sz="2000" dirty="0">
                <a:solidFill>
                  <a:srgbClr val="E8ECFF"/>
                </a:solidFill>
                <a:latin typeface="Courier New" pitchFamily="34" charset="0"/>
                <a:ea typeface="Courier New" pitchFamily="34" charset="-122"/>
                <a:cs typeface="Courier New" pitchFamily="34" charset="-120"/>
              </a:rPr>
              <a:t>umur := </a:t>
            </a:r>
            <a:pPr indent="0" marL="0">
              <a:buNone/>
            </a:pPr>
            <a:r>
              <a:rPr lang="en-US" sz="2000" dirty="0">
                <a:solidFill>
                  <a:srgbClr val="FFC58A"/>
                </a:solidFill>
                <a:latin typeface="Courier New" pitchFamily="34" charset="0"/>
                <a:ea typeface="Courier New" pitchFamily="34" charset="-122"/>
                <a:cs typeface="Courier New" pitchFamily="34" charset="-120"/>
              </a:rPr>
              <a:t>20</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punyaKTP := </a:t>
            </a:r>
            <a:pPr indent="0" marL="0">
              <a:buNone/>
            </a:pPr>
            <a:r>
              <a:rPr lang="en-US" sz="2000" dirty="0">
                <a:solidFill>
                  <a:srgbClr val="FCDF59"/>
                </a:solidFill>
                <a:latin typeface="Courier New" pitchFamily="34" charset="0"/>
                <a:ea typeface="Courier New" pitchFamily="34" charset="-122"/>
                <a:cs typeface="Courier New" pitchFamily="34" charset="-120"/>
              </a:rPr>
              <a:t>true</a:t>
            </a:r>
            <a:endParaRPr lang="en-US" sz="2000" dirty="0"/>
          </a:p>
          <a:p>
            <a:pPr indent="0" marL="0">
              <a:buNone/>
            </a:pPr>
            <a:r>
              <a:rPr lang="en-US" sz="2000" dirty="0">
                <a:solidFill>
                  <a:srgbClr val="FCDF59"/>
                </a:solidFill>
                <a:latin typeface="Courier New" pitchFamily="34" charset="0"/>
                <a:ea typeface="Courier New" pitchFamily="34" charset="-122"/>
                <a:cs typeface="Courier New" pitchFamily="34" charset="-120"/>
              </a:rPr>
              <a:t>if</a:t>
            </a:r>
            <a:pPr indent="0" marL="0">
              <a:buNone/>
            </a:pPr>
            <a:r>
              <a:rPr lang="en-US" sz="2000" dirty="0">
                <a:solidFill>
                  <a:srgbClr val="E8ECFF"/>
                </a:solidFill>
                <a:latin typeface="Courier New" pitchFamily="34" charset="0"/>
                <a:ea typeface="Courier New" pitchFamily="34" charset="-122"/>
                <a:cs typeface="Courier New" pitchFamily="34" charset="-120"/>
              </a:rPr>
              <a:t> umur &gt;= </a:t>
            </a:r>
            <a:pPr indent="0" marL="0">
              <a:buNone/>
            </a:pPr>
            <a:r>
              <a:rPr lang="en-US" sz="2000" dirty="0">
                <a:solidFill>
                  <a:srgbClr val="FFC58A"/>
                </a:solidFill>
                <a:latin typeface="Courier New" pitchFamily="34" charset="0"/>
                <a:ea typeface="Courier New" pitchFamily="34" charset="-122"/>
                <a:cs typeface="Courier New" pitchFamily="34" charset="-120"/>
              </a:rPr>
              <a:t>17</a:t>
            </a:r>
            <a:pPr indent="0" marL="0">
              <a:buNone/>
            </a:pPr>
            <a:r>
              <a:rPr lang="en-US" sz="2000" dirty="0">
                <a:solidFill>
                  <a:srgbClr val="E8ECFF"/>
                </a:solidFill>
                <a:latin typeface="Courier New" pitchFamily="34" charset="0"/>
                <a:ea typeface="Courier New" pitchFamily="34" charset="-122"/>
                <a:cs typeface="Courier New" pitchFamily="34" charset="-120"/>
              </a:rPr>
              <a:t> &amp;&amp; punyaKTP {</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    fmt.Println(</a:t>
            </a:r>
            <a:pPr indent="0" marL="0">
              <a:buNone/>
            </a:pPr>
            <a:r>
              <a:rPr lang="en-US" sz="2000" dirty="0">
                <a:solidFill>
                  <a:srgbClr val="A8E6CF"/>
                </a:solidFill>
                <a:latin typeface="Courier New" pitchFamily="34" charset="0"/>
                <a:ea typeface="Courier New" pitchFamily="34" charset="-122"/>
                <a:cs typeface="Courier New" pitchFamily="34" charset="-120"/>
              </a:rPr>
              <a:t>"Boleh daftar"</a:t>
            </a:r>
            <a:pPr indent="0" marL="0">
              <a:buNone/>
            </a:pPr>
            <a:r>
              <a:rPr lang="en-US" sz="2000" dirty="0">
                <a:solidFill>
                  <a:srgbClr val="E8ECFF"/>
                </a:solidFill>
                <a:latin typeface="Courier New" pitchFamily="34" charset="0"/>
                <a:ea typeface="Courier New" pitchFamily="34" charset="-122"/>
                <a:cs typeface="Courier New" pitchFamily="34" charset="-120"/>
              </a:rPr>
              <a:t>)</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a:t>
            </a:r>
            <a:endParaRPr lang="en-US" sz="2000" dirty="0"/>
          </a:p>
        </p:txBody>
      </p:sp>
      <p:sp>
        <p:nvSpPr>
          <p:cNvPr id="10" name="Text 5"/>
          <p:cNvSpPr txBox="1"/>
          <p:nvPr/>
        </p:nvSpPr>
        <p:spPr>
          <a:xfrm>
            <a:off x="9418320" y="4160520"/>
            <a:ext cx="795528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Pernyataan singkat di if</a:t>
            </a:r>
            <a:endParaRPr lang="en-US" sz="2600" dirty="0"/>
          </a:p>
        </p:txBody>
      </p:sp>
      <p:sp>
        <p:nvSpPr>
          <p:cNvPr id="11" name="Shape 6"/>
          <p:cNvSpPr/>
          <p:nvPr/>
        </p:nvSpPr>
        <p:spPr>
          <a:xfrm>
            <a:off x="9418320" y="4709160"/>
            <a:ext cx="7955280" cy="2103120"/>
          </a:xfrm>
          <a:prstGeom prst="roundRect">
            <a:avLst>
              <a:gd name="adj" fmla="val 6522"/>
            </a:avLst>
          </a:prstGeom>
          <a:solidFill>
            <a:srgbClr val="13123D"/>
          </a:solidFill>
          <a:ln w="12700">
            <a:solidFill>
              <a:srgbClr val="13123D"/>
            </a:solidFill>
            <a:prstDash val="solid"/>
          </a:ln>
        </p:spPr>
      </p:sp>
      <p:sp>
        <p:nvSpPr>
          <p:cNvPr id="12" name="Text 7"/>
          <p:cNvSpPr txBox="1"/>
          <p:nvPr/>
        </p:nvSpPr>
        <p:spPr>
          <a:xfrm>
            <a:off x="9692640" y="4965192"/>
            <a:ext cx="7406640" cy="1645920"/>
          </a:xfrm>
          <a:prstGeom prst="rect">
            <a:avLst/>
          </a:prstGeom>
          <a:noFill/>
          <a:ln/>
        </p:spPr>
        <p:txBody>
          <a:bodyPr wrap="square" lIns="0" tIns="0" rIns="0" bIns="0" rtlCol="0" anchor="t"/>
          <a:lstStyle/>
          <a:p>
            <a:pPr indent="0" marL="0">
              <a:buNone/>
            </a:pPr>
            <a:r>
              <a:rPr lang="en-US" sz="2000" dirty="0">
                <a:solidFill>
                  <a:srgbClr val="FCDF59"/>
                </a:solidFill>
                <a:latin typeface="Courier New" pitchFamily="34" charset="0"/>
                <a:ea typeface="Courier New" pitchFamily="34" charset="-122"/>
                <a:cs typeface="Courier New" pitchFamily="34" charset="-120"/>
              </a:rPr>
              <a:t>if</a:t>
            </a:r>
            <a:pPr indent="0" marL="0">
              <a:buNone/>
            </a:pPr>
            <a:r>
              <a:rPr lang="en-US" sz="2000" dirty="0">
                <a:solidFill>
                  <a:srgbClr val="E8ECFF"/>
                </a:solidFill>
                <a:latin typeface="Courier New" pitchFamily="34" charset="0"/>
                <a:ea typeface="Courier New" pitchFamily="34" charset="-122"/>
                <a:cs typeface="Courier New" pitchFamily="34" charset="-120"/>
              </a:rPr>
              <a:t> n := len(</a:t>
            </a:r>
            <a:pPr indent="0" marL="0">
              <a:buNone/>
            </a:pPr>
            <a:r>
              <a:rPr lang="en-US" sz="2000" dirty="0">
                <a:solidFill>
                  <a:srgbClr val="A8E6CF"/>
                </a:solidFill>
                <a:latin typeface="Courier New" pitchFamily="34" charset="0"/>
                <a:ea typeface="Courier New" pitchFamily="34" charset="-122"/>
                <a:cs typeface="Courier New" pitchFamily="34" charset="-120"/>
              </a:rPr>
              <a:t>"Go"</a:t>
            </a:r>
            <a:pPr indent="0" marL="0">
              <a:buNone/>
            </a:pPr>
            <a:r>
              <a:rPr lang="en-US" sz="2000" dirty="0">
                <a:solidFill>
                  <a:srgbClr val="E8ECFF"/>
                </a:solidFill>
                <a:latin typeface="Courier New" pitchFamily="34" charset="0"/>
                <a:ea typeface="Courier New" pitchFamily="34" charset="-122"/>
                <a:cs typeface="Courier New" pitchFamily="34" charset="-120"/>
              </a:rPr>
              <a:t>); n &gt; </a:t>
            </a:r>
            <a:pPr indent="0" marL="0">
              <a:buNone/>
            </a:pPr>
            <a:r>
              <a:rPr lang="en-US" sz="2000" dirty="0">
                <a:solidFill>
                  <a:srgbClr val="FFC58A"/>
                </a:solidFill>
                <a:latin typeface="Courier New" pitchFamily="34" charset="0"/>
                <a:ea typeface="Courier New" pitchFamily="34" charset="-122"/>
                <a:cs typeface="Courier New" pitchFamily="34" charset="-120"/>
              </a:rPr>
              <a:t>1</a:t>
            </a:r>
            <a:pPr indent="0" marL="0">
              <a:buNone/>
            </a:pPr>
            <a:r>
              <a:rPr lang="en-US" sz="2000" dirty="0">
                <a:solidFill>
                  <a:srgbClr val="E8ECFF"/>
                </a:solidFill>
                <a:latin typeface="Courier New" pitchFamily="34" charset="0"/>
                <a:ea typeface="Courier New" pitchFamily="34" charset="-122"/>
                <a:cs typeface="Courier New" pitchFamily="34" charset="-120"/>
              </a:rPr>
              <a:t> {</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    fmt.Println(</a:t>
            </a:r>
            <a:pPr indent="0" marL="0">
              <a:buNone/>
            </a:pPr>
            <a:r>
              <a:rPr lang="en-US" sz="2000" dirty="0">
                <a:solidFill>
                  <a:srgbClr val="A8E6CF"/>
                </a:solidFill>
                <a:latin typeface="Courier New" pitchFamily="34" charset="0"/>
                <a:ea typeface="Courier New" pitchFamily="34" charset="-122"/>
                <a:cs typeface="Courier New" pitchFamily="34" charset="-120"/>
              </a:rPr>
              <a:t>"Panjang:"</a:t>
            </a:r>
            <a:pPr indent="0" marL="0">
              <a:buNone/>
            </a:pPr>
            <a:r>
              <a:rPr lang="en-US" sz="2000" dirty="0">
                <a:solidFill>
                  <a:srgbClr val="E8ECFF"/>
                </a:solidFill>
                <a:latin typeface="Courier New" pitchFamily="34" charset="0"/>
                <a:ea typeface="Courier New" pitchFamily="34" charset="-122"/>
                <a:cs typeface="Courier New" pitchFamily="34" charset="-120"/>
              </a:rPr>
              <a:t>, n)</a:t>
            </a:r>
            <a:endParaRPr lang="en-US" sz="2000" dirty="0"/>
          </a:p>
          <a:p>
            <a:pPr indent="0" marL="0">
              <a:buNone/>
            </a:pPr>
            <a:r>
              <a:rPr lang="en-US" sz="2000" dirty="0">
                <a:solidFill>
                  <a:srgbClr val="E8ECFF"/>
                </a:solidFill>
                <a:latin typeface="Courier New" pitchFamily="34" charset="0"/>
                <a:ea typeface="Courier New" pitchFamily="34" charset="-122"/>
                <a:cs typeface="Courier New" pitchFamily="34" charset="-120"/>
              </a:rPr>
              <a:t>}</a:t>
            </a:r>
            <a:endParaRPr lang="en-US" sz="2000" dirty="0"/>
          </a:p>
        </p:txBody>
      </p:sp>
      <p:sp>
        <p:nvSpPr>
          <p:cNvPr id="13" name="Shape 8"/>
          <p:cNvSpPr/>
          <p:nvPr/>
        </p:nvSpPr>
        <p:spPr>
          <a:xfrm>
            <a:off x="914400" y="7315200"/>
            <a:ext cx="7955280" cy="2194560"/>
          </a:xfrm>
          <a:prstGeom prst="roundRect">
            <a:avLst>
              <a:gd name="adj" fmla="val 6250"/>
            </a:avLst>
          </a:prstGeom>
          <a:solidFill>
            <a:srgbClr val="EEF1FC"/>
          </a:solidFill>
          <a:ln w="12700">
            <a:solidFill>
              <a:srgbClr val="D3DAF5"/>
            </a:solidFill>
            <a:prstDash val="solid"/>
          </a:ln>
        </p:spPr>
      </p:sp>
      <p:sp>
        <p:nvSpPr>
          <p:cNvPr id="14" name="Text 9"/>
          <p:cNvSpPr txBox="1"/>
          <p:nvPr/>
        </p:nvSpPr>
        <p:spPr>
          <a:xfrm>
            <a:off x="1188720" y="7315200"/>
            <a:ext cx="7406640" cy="219456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Kondisi harus bool</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if 1 { } adalah error di Go. Pakai ekspresi yang menghasilkan true atau false.</a:t>
            </a:r>
            <a:endParaRPr lang="en-US" sz="2400" dirty="0"/>
          </a:p>
        </p:txBody>
      </p:sp>
      <p:sp>
        <p:nvSpPr>
          <p:cNvPr id="15" name="Shape 10"/>
          <p:cNvSpPr/>
          <p:nvPr/>
        </p:nvSpPr>
        <p:spPr>
          <a:xfrm>
            <a:off x="9418320" y="7315200"/>
            <a:ext cx="7955280" cy="2194560"/>
          </a:xfrm>
          <a:prstGeom prst="roundRect">
            <a:avLst>
              <a:gd name="adj" fmla="val 6250"/>
            </a:avLst>
          </a:prstGeom>
          <a:solidFill>
            <a:srgbClr val="FFF3BF"/>
          </a:solidFill>
          <a:ln w="12700">
            <a:solidFill>
              <a:srgbClr val="FFF3BF"/>
            </a:solidFill>
            <a:prstDash val="solid"/>
          </a:ln>
        </p:spPr>
      </p:sp>
      <p:sp>
        <p:nvSpPr>
          <p:cNvPr id="16" name="Text 11"/>
          <p:cNvSpPr txBox="1"/>
          <p:nvPr/>
        </p:nvSpPr>
        <p:spPr>
          <a:xfrm>
            <a:off x="9692640" y="7315200"/>
            <a:ext cx="7406640" cy="219456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Ruang lingkup variabel</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n hanya berlaku di dalam blok if dan else-nya.</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2 · 10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Percabangan</a:t>
            </a:r>
            <a:endParaRPr lang="en-US" sz="4400" dirty="0"/>
          </a:p>
          <a:p>
            <a:pPr indent="0" marL="0">
              <a:buNone/>
            </a:pPr>
            <a:r>
              <a:rPr lang="en-US" sz="4400" b="1" dirty="0">
                <a:solidFill>
                  <a:srgbClr val="FDFBFB"/>
                </a:solidFill>
                <a:latin typeface="Arial" pitchFamily="34" charset="0"/>
                <a:ea typeface="Arial" pitchFamily="34" charset="-122"/>
                <a:cs typeface="Arial" pitchFamily="34" charset="-120"/>
              </a:rPr>
              <a:t>switch</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Tanpa break</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Hanya case yang cocok dijalankan</a:t>
            </a:r>
            <a:endParaRPr lang="en-US" sz="2600" dirty="0"/>
          </a:p>
        </p:txBody>
      </p:sp>
      <p:sp>
        <p:nvSpPr>
          <p:cNvPr id="8" name="Shape 3"/>
          <p:cNvSpPr/>
          <p:nvPr/>
        </p:nvSpPr>
        <p:spPr>
          <a:xfrm>
            <a:off x="8229600" y="731520"/>
            <a:ext cx="9418320" cy="3616452"/>
          </a:xfrm>
          <a:prstGeom prst="roundRect">
            <a:avLst>
              <a:gd name="adj" fmla="val 3793"/>
            </a:avLst>
          </a:prstGeom>
          <a:solidFill>
            <a:srgbClr val="13123D"/>
          </a:solidFill>
          <a:ln w="12700">
            <a:solidFill>
              <a:srgbClr val="13123D"/>
            </a:solidFill>
            <a:prstDash val="solid"/>
          </a:ln>
        </p:spPr>
      </p:sp>
      <p:sp>
        <p:nvSpPr>
          <p:cNvPr id="9" name="Text 4"/>
          <p:cNvSpPr txBox="1"/>
          <p:nvPr/>
        </p:nvSpPr>
        <p:spPr>
          <a:xfrm>
            <a:off x="8503920" y="987552"/>
            <a:ext cx="8869680" cy="3159252"/>
          </a:xfrm>
          <a:prstGeom prst="rect">
            <a:avLst/>
          </a:prstGeom>
          <a:noFill/>
          <a:ln/>
        </p:spPr>
        <p:txBody>
          <a:bodyPr wrap="square" lIns="0" tIns="0" rIns="0" bIns="0" rtlCol="0" anchor="t"/>
          <a:lstStyle/>
          <a:p>
            <a:pPr indent="0" marL="0">
              <a:buNone/>
            </a:pPr>
            <a:r>
              <a:rPr lang="en-US" sz="1800" dirty="0">
                <a:solidFill>
                  <a:srgbClr val="E8ECFF"/>
                </a:solidFill>
                <a:latin typeface="Courier New" pitchFamily="34" charset="0"/>
                <a:ea typeface="Courier New" pitchFamily="34" charset="-122"/>
                <a:cs typeface="Courier New" pitchFamily="34" charset="-120"/>
              </a:rPr>
              <a:t>hari := </a:t>
            </a:r>
            <a:pPr indent="0" marL="0">
              <a:buNone/>
            </a:pPr>
            <a:r>
              <a:rPr lang="en-US" sz="1800" dirty="0">
                <a:solidFill>
                  <a:srgbClr val="FFC58A"/>
                </a:solidFill>
                <a:latin typeface="Courier New" pitchFamily="34" charset="0"/>
                <a:ea typeface="Courier New" pitchFamily="34" charset="-122"/>
                <a:cs typeface="Courier New" pitchFamily="34" charset="-120"/>
              </a:rPr>
              <a:t>3</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switch</a:t>
            </a:r>
            <a:pPr indent="0" marL="0">
              <a:buNone/>
            </a:pPr>
            <a:r>
              <a:rPr lang="en-US" sz="1800" dirty="0">
                <a:solidFill>
                  <a:srgbClr val="E8ECFF"/>
                </a:solidFill>
                <a:latin typeface="Courier New" pitchFamily="34" charset="0"/>
                <a:ea typeface="Courier New" pitchFamily="34" charset="-122"/>
                <a:cs typeface="Courier New" pitchFamily="34" charset="-120"/>
              </a:rPr>
              <a:t> hari {</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case</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1</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fmt.Println(</a:t>
            </a:r>
            <a:pPr indent="0" marL="0">
              <a:buNone/>
            </a:pPr>
            <a:r>
              <a:rPr lang="en-US" sz="1800" dirty="0">
                <a:solidFill>
                  <a:srgbClr val="A8E6CF"/>
                </a:solidFill>
                <a:latin typeface="Courier New" pitchFamily="34" charset="0"/>
                <a:ea typeface="Courier New" pitchFamily="34" charset="-122"/>
                <a:cs typeface="Courier New" pitchFamily="34" charset="-120"/>
              </a:rPr>
              <a:t>"Senin"</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case</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2</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fmt.Println(</a:t>
            </a:r>
            <a:pPr indent="0" marL="0">
              <a:buNone/>
            </a:pPr>
            <a:r>
              <a:rPr lang="en-US" sz="1800" dirty="0">
                <a:solidFill>
                  <a:srgbClr val="A8E6CF"/>
                </a:solidFill>
                <a:latin typeface="Courier New" pitchFamily="34" charset="0"/>
                <a:ea typeface="Courier New" pitchFamily="34" charset="-122"/>
                <a:cs typeface="Courier New" pitchFamily="34" charset="-120"/>
              </a:rPr>
              <a:t>"Selasa"</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case</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3</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fmt.Println(</a:t>
            </a:r>
            <a:pPr indent="0" marL="0">
              <a:buNone/>
            </a:pPr>
            <a:r>
              <a:rPr lang="en-US" sz="1800" dirty="0">
                <a:solidFill>
                  <a:srgbClr val="A8E6CF"/>
                </a:solidFill>
                <a:latin typeface="Courier New" pitchFamily="34" charset="0"/>
                <a:ea typeface="Courier New" pitchFamily="34" charset="-122"/>
                <a:cs typeface="Courier New" pitchFamily="34" charset="-120"/>
              </a:rPr>
              <a:t>"Rabu"</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default</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fmt.Println(</a:t>
            </a:r>
            <a:pPr indent="0" marL="0">
              <a:buNone/>
            </a:pPr>
            <a:r>
              <a:rPr lang="en-US" sz="1800" dirty="0">
                <a:solidFill>
                  <a:srgbClr val="A8E6CF"/>
                </a:solidFill>
                <a:latin typeface="Courier New" pitchFamily="34" charset="0"/>
                <a:ea typeface="Courier New" pitchFamily="34" charset="-122"/>
                <a:cs typeface="Courier New" pitchFamily="34" charset="-120"/>
              </a:rPr>
              <a:t>"Tidak valid"</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p:txBody>
      </p:sp>
      <p:sp>
        <p:nvSpPr>
          <p:cNvPr id="10" name="Text 5"/>
          <p:cNvSpPr txBox="1"/>
          <p:nvPr/>
        </p:nvSpPr>
        <p:spPr>
          <a:xfrm>
            <a:off x="8229600" y="4526280"/>
            <a:ext cx="3474720" cy="731520"/>
          </a:xfrm>
          <a:prstGeom prst="roundRect">
            <a:avLst>
              <a:gd name="adj" fmla="val 15000"/>
            </a:avLst>
          </a:prstGeom>
          <a:solidFill>
            <a:srgbClr val="FCDF59"/>
          </a:solidFill>
          <a:ln>
            <a:solidFill>
              <a:srgbClr val="FCDF59"/>
            </a:solidFill>
          </a:ln>
        </p:spPr>
        <p:txBody>
          <a:bodyPr wrap="square" lIns="635" tIns="635" rIns="635" bIns="635" rtlCol="0" anchor="ctr"/>
          <a:lstStyle/>
          <a:p>
            <a:pPr algn="ctr" indent="0" marL="0">
              <a:buNone/>
            </a:pPr>
            <a:r>
              <a:rPr lang="en-US" sz="2400" b="1" dirty="0">
                <a:solidFill>
                  <a:srgbClr val="13123D"/>
                </a:solidFill>
                <a:latin typeface="Courier New" pitchFamily="34" charset="0"/>
                <a:ea typeface="Courier New" pitchFamily="34" charset="-122"/>
                <a:cs typeface="Courier New" pitchFamily="34" charset="-120"/>
              </a:rPr>
              <a:t>Output: Rabu</a:t>
            </a:r>
            <a:endParaRPr lang="en-US" sz="2400" dirty="0"/>
          </a:p>
        </p:txBody>
      </p:sp>
      <p:sp>
        <p:nvSpPr>
          <p:cNvPr id="11" name="Shape 6"/>
          <p:cNvSpPr/>
          <p:nvPr/>
        </p:nvSpPr>
        <p:spPr>
          <a:xfrm>
            <a:off x="8229600" y="5577840"/>
            <a:ext cx="9418320" cy="1737360"/>
          </a:xfrm>
          <a:prstGeom prst="roundRect">
            <a:avLst>
              <a:gd name="adj" fmla="val 7895"/>
            </a:avLst>
          </a:prstGeom>
          <a:solidFill>
            <a:srgbClr val="EEF1FC"/>
          </a:solidFill>
          <a:ln w="12700">
            <a:solidFill>
              <a:srgbClr val="D3DAF5"/>
            </a:solidFill>
            <a:prstDash val="solid"/>
          </a:ln>
        </p:spPr>
      </p:sp>
      <p:sp>
        <p:nvSpPr>
          <p:cNvPr id="12" name="Text 7"/>
          <p:cNvSpPr txBox="1"/>
          <p:nvPr/>
        </p:nvSpPr>
        <p:spPr>
          <a:xfrm>
            <a:off x="8503920" y="5577840"/>
            <a:ext cx="8869680" cy="173736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Tanpa break</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Hanya case yang cocok yang dijalankan. Tidak jatuh ke case berikutnya.</a:t>
            </a:r>
            <a:endParaRPr lang="en-US" sz="2400" dirty="0"/>
          </a:p>
        </p:txBody>
      </p:sp>
      <p:sp>
        <p:nvSpPr>
          <p:cNvPr id="13" name="Shape 8"/>
          <p:cNvSpPr/>
          <p:nvPr/>
        </p:nvSpPr>
        <p:spPr>
          <a:xfrm>
            <a:off x="8229600" y="7543800"/>
            <a:ext cx="9418320" cy="1920240"/>
          </a:xfrm>
          <a:prstGeom prst="roundRect">
            <a:avLst>
              <a:gd name="adj" fmla="val 7143"/>
            </a:avLst>
          </a:prstGeom>
          <a:solidFill>
            <a:srgbClr val="FFF3BF"/>
          </a:solidFill>
          <a:ln w="12700">
            <a:solidFill>
              <a:srgbClr val="FFF3BF"/>
            </a:solidFill>
            <a:prstDash val="solid"/>
          </a:ln>
        </p:spPr>
      </p:sp>
      <p:sp>
        <p:nvSpPr>
          <p:cNvPr id="14" name="Text 9"/>
          <p:cNvSpPr txBox="1"/>
          <p:nvPr/>
        </p:nvSpPr>
        <p:spPr>
          <a:xfrm>
            <a:off x="8503920" y="7543800"/>
            <a:ext cx="8869680" cy="192024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default</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Menangani semua nilai yang tidak cocok dengan case mana pun.</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BAGIAN 2 · 10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Varian switch di Go</a:t>
            </a:r>
            <a:endParaRPr lang="en-US" sz="4800" dirty="0"/>
          </a:p>
        </p:txBody>
      </p:sp>
      <p:sp>
        <p:nvSpPr>
          <p:cNvPr id="7" name="Text 2"/>
          <p:cNvSpPr txBox="1"/>
          <p:nvPr/>
        </p:nvSpPr>
        <p:spPr>
          <a:xfrm>
            <a:off x="914400" y="4160520"/>
            <a:ext cx="795528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Banyak nilai dalam satu case</a:t>
            </a:r>
            <a:endParaRPr lang="en-US" sz="2600" dirty="0"/>
          </a:p>
        </p:txBody>
      </p:sp>
      <p:sp>
        <p:nvSpPr>
          <p:cNvPr id="8" name="Shape 3"/>
          <p:cNvSpPr/>
          <p:nvPr/>
        </p:nvSpPr>
        <p:spPr>
          <a:xfrm>
            <a:off x="914400" y="4709160"/>
            <a:ext cx="7955280" cy="2314956"/>
          </a:xfrm>
          <a:prstGeom prst="roundRect">
            <a:avLst>
              <a:gd name="adj" fmla="val 5925"/>
            </a:avLst>
          </a:prstGeom>
          <a:solidFill>
            <a:srgbClr val="13123D"/>
          </a:solidFill>
          <a:ln w="12700">
            <a:solidFill>
              <a:srgbClr val="13123D"/>
            </a:solidFill>
            <a:prstDash val="solid"/>
          </a:ln>
        </p:spPr>
      </p:sp>
      <p:sp>
        <p:nvSpPr>
          <p:cNvPr id="9" name="Text 4"/>
          <p:cNvSpPr txBox="1"/>
          <p:nvPr/>
        </p:nvSpPr>
        <p:spPr>
          <a:xfrm>
            <a:off x="1188720" y="4965192"/>
            <a:ext cx="7406640" cy="1857756"/>
          </a:xfrm>
          <a:prstGeom prst="rect">
            <a:avLst/>
          </a:prstGeom>
          <a:noFill/>
          <a:ln/>
        </p:spPr>
        <p:txBody>
          <a:bodyPr wrap="square" lIns="0" tIns="0" rIns="0" bIns="0" rtlCol="0" anchor="t"/>
          <a:lstStyle/>
          <a:p>
            <a:pPr indent="0" marL="0">
              <a:buNone/>
            </a:pPr>
            <a:r>
              <a:rPr lang="en-US" sz="1900" dirty="0">
                <a:solidFill>
                  <a:srgbClr val="FCDF59"/>
                </a:solidFill>
                <a:latin typeface="Courier New" pitchFamily="34" charset="0"/>
                <a:ea typeface="Courier New" pitchFamily="34" charset="-122"/>
                <a:cs typeface="Courier New" pitchFamily="34" charset="-120"/>
              </a:rPr>
              <a:t>switch</a:t>
            </a:r>
            <a:pPr indent="0" marL="0">
              <a:buNone/>
            </a:pPr>
            <a:r>
              <a:rPr lang="en-US" sz="1900" dirty="0">
                <a:solidFill>
                  <a:srgbClr val="E8ECFF"/>
                </a:solidFill>
                <a:latin typeface="Courier New" pitchFamily="34" charset="0"/>
                <a:ea typeface="Courier New" pitchFamily="34" charset="-122"/>
                <a:cs typeface="Courier New" pitchFamily="34" charset="-120"/>
              </a:rPr>
              <a:t> hari {</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case</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6</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7</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"Akhir pekan"</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default</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"Hari kerja"</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p:txBody>
      </p:sp>
      <p:sp>
        <p:nvSpPr>
          <p:cNvPr id="10" name="Text 5"/>
          <p:cNvSpPr txBox="1"/>
          <p:nvPr/>
        </p:nvSpPr>
        <p:spPr>
          <a:xfrm>
            <a:off x="9418320" y="4160520"/>
            <a:ext cx="795528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switch tanpa ekspresi</a:t>
            </a:r>
            <a:endParaRPr lang="en-US" sz="2600" dirty="0"/>
          </a:p>
        </p:txBody>
      </p:sp>
      <p:sp>
        <p:nvSpPr>
          <p:cNvPr id="11" name="Shape 6"/>
          <p:cNvSpPr/>
          <p:nvPr/>
        </p:nvSpPr>
        <p:spPr>
          <a:xfrm>
            <a:off x="9418320" y="4709160"/>
            <a:ext cx="7955280" cy="2903728"/>
          </a:xfrm>
          <a:prstGeom prst="roundRect">
            <a:avLst>
              <a:gd name="adj" fmla="val 4724"/>
            </a:avLst>
          </a:prstGeom>
          <a:solidFill>
            <a:srgbClr val="13123D"/>
          </a:solidFill>
          <a:ln w="12700">
            <a:solidFill>
              <a:srgbClr val="13123D"/>
            </a:solidFill>
            <a:prstDash val="solid"/>
          </a:ln>
        </p:spPr>
      </p:sp>
      <p:sp>
        <p:nvSpPr>
          <p:cNvPr id="12" name="Text 7"/>
          <p:cNvSpPr txBox="1"/>
          <p:nvPr/>
        </p:nvSpPr>
        <p:spPr>
          <a:xfrm>
            <a:off x="9692640" y="4965192"/>
            <a:ext cx="7406640" cy="2446528"/>
          </a:xfrm>
          <a:prstGeom prst="rect">
            <a:avLst/>
          </a:prstGeom>
          <a:noFill/>
          <a:ln/>
        </p:spPr>
        <p:txBody>
          <a:bodyPr wrap="square" lIns="0" tIns="0" rIns="0" bIns="0" rtlCol="0" anchor="t"/>
          <a:lstStyle/>
          <a:p>
            <a:pPr indent="0" marL="0">
              <a:buNone/>
            </a:pPr>
            <a:r>
              <a:rPr lang="en-US" sz="1900" dirty="0">
                <a:solidFill>
                  <a:srgbClr val="FCDF59"/>
                </a:solidFill>
                <a:latin typeface="Courier New" pitchFamily="34" charset="0"/>
                <a:ea typeface="Courier New" pitchFamily="34" charset="-122"/>
                <a:cs typeface="Courier New" pitchFamily="34" charset="-120"/>
              </a:rPr>
              <a:t>switch</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case</a:t>
            </a:r>
            <a:pPr indent="0" marL="0">
              <a:buNone/>
            </a:pPr>
            <a:r>
              <a:rPr lang="en-US" sz="1900" dirty="0">
                <a:solidFill>
                  <a:srgbClr val="E8ECFF"/>
                </a:solidFill>
                <a:latin typeface="Courier New" pitchFamily="34" charset="0"/>
                <a:ea typeface="Courier New" pitchFamily="34" charset="-122"/>
                <a:cs typeface="Courier New" pitchFamily="34" charset="-120"/>
              </a:rPr>
              <a:t> nilai &gt;= </a:t>
            </a:r>
            <a:pPr indent="0" marL="0">
              <a:buNone/>
            </a:pPr>
            <a:r>
              <a:rPr lang="en-US" sz="1900" dirty="0">
                <a:solidFill>
                  <a:srgbClr val="FFC58A"/>
                </a:solidFill>
                <a:latin typeface="Courier New" pitchFamily="34" charset="0"/>
                <a:ea typeface="Courier New" pitchFamily="34" charset="-122"/>
                <a:cs typeface="Courier New" pitchFamily="34" charset="-120"/>
              </a:rPr>
              <a:t>85</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"A"</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case</a:t>
            </a:r>
            <a:pPr indent="0" marL="0">
              <a:buNone/>
            </a:pPr>
            <a:r>
              <a:rPr lang="en-US" sz="1900" dirty="0">
                <a:solidFill>
                  <a:srgbClr val="E8ECFF"/>
                </a:solidFill>
                <a:latin typeface="Courier New" pitchFamily="34" charset="0"/>
                <a:ea typeface="Courier New" pitchFamily="34" charset="-122"/>
                <a:cs typeface="Courier New" pitchFamily="34" charset="-120"/>
              </a:rPr>
              <a:t> nilai &gt;= </a:t>
            </a:r>
            <a:pPr indent="0" marL="0">
              <a:buNone/>
            </a:pPr>
            <a:r>
              <a:rPr lang="en-US" sz="1900" dirty="0">
                <a:solidFill>
                  <a:srgbClr val="FFC58A"/>
                </a:solidFill>
                <a:latin typeface="Courier New" pitchFamily="34" charset="0"/>
                <a:ea typeface="Courier New" pitchFamily="34" charset="-122"/>
                <a:cs typeface="Courier New" pitchFamily="34" charset="-120"/>
              </a:rPr>
              <a:t>70</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"B"</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default</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"C"</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p:txBody>
      </p:sp>
      <p:sp>
        <p:nvSpPr>
          <p:cNvPr id="13" name="Shape 8"/>
          <p:cNvSpPr/>
          <p:nvPr/>
        </p:nvSpPr>
        <p:spPr>
          <a:xfrm>
            <a:off x="914400" y="7452360"/>
            <a:ext cx="7955280" cy="2057400"/>
          </a:xfrm>
          <a:prstGeom prst="roundRect">
            <a:avLst>
              <a:gd name="adj" fmla="val 6667"/>
            </a:avLst>
          </a:prstGeom>
          <a:solidFill>
            <a:srgbClr val="EEF1FC"/>
          </a:solidFill>
          <a:ln w="12700">
            <a:solidFill>
              <a:srgbClr val="D3DAF5"/>
            </a:solidFill>
            <a:prstDash val="solid"/>
          </a:ln>
        </p:spPr>
      </p:sp>
      <p:sp>
        <p:nvSpPr>
          <p:cNvPr id="14" name="Text 9"/>
          <p:cNvSpPr txBox="1"/>
          <p:nvPr/>
        </p:nvSpPr>
        <p:spPr>
          <a:xfrm>
            <a:off x="1188720" y="7452360"/>
            <a:ext cx="7406640" cy="205740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Kapan dipakai</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Beberapa nilai memberi hasil yang sama.</a:t>
            </a:r>
            <a:endParaRPr lang="en-US" sz="2400" dirty="0"/>
          </a:p>
        </p:txBody>
      </p:sp>
      <p:sp>
        <p:nvSpPr>
          <p:cNvPr id="15" name="Shape 10"/>
          <p:cNvSpPr/>
          <p:nvPr/>
        </p:nvSpPr>
        <p:spPr>
          <a:xfrm>
            <a:off x="9418320" y="7909560"/>
            <a:ext cx="7955280" cy="1600200"/>
          </a:xfrm>
          <a:prstGeom prst="roundRect">
            <a:avLst>
              <a:gd name="adj" fmla="val 8571"/>
            </a:avLst>
          </a:prstGeom>
          <a:solidFill>
            <a:srgbClr val="FFF3BF"/>
          </a:solidFill>
          <a:ln w="12700">
            <a:solidFill>
              <a:srgbClr val="FFF3BF"/>
            </a:solidFill>
            <a:prstDash val="solid"/>
          </a:ln>
        </p:spPr>
      </p:sp>
      <p:sp>
        <p:nvSpPr>
          <p:cNvPr id="16" name="Text 11"/>
          <p:cNvSpPr txBox="1"/>
          <p:nvPr/>
        </p:nvSpPr>
        <p:spPr>
          <a:xfrm>
            <a:off x="9692640" y="7909560"/>
            <a:ext cx="7406640" cy="160020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Rentang nilai</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Pengganti if-else if yang lebih rapi.</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BAGIAN 3 · 20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Perulangan: Satu Kata Kunci, Tiga Bentuk</a:t>
            </a:r>
            <a:endParaRPr lang="en-US" sz="4800" dirty="0"/>
          </a:p>
        </p:txBody>
      </p:sp>
      <p:sp>
        <p:nvSpPr>
          <p:cNvPr id="7" name="Shape 2"/>
          <p:cNvSpPr/>
          <p:nvPr/>
        </p:nvSpPr>
        <p:spPr>
          <a:xfrm>
            <a:off x="914400" y="4297680"/>
            <a:ext cx="16459200" cy="1600200"/>
          </a:xfrm>
          <a:prstGeom prst="roundRect">
            <a:avLst>
              <a:gd name="adj" fmla="val 8571"/>
            </a:avLst>
          </a:prstGeom>
          <a:solidFill>
            <a:srgbClr val="EEF1FC"/>
          </a:solidFill>
          <a:ln w="12700">
            <a:solidFill>
              <a:srgbClr val="D3DAF5"/>
            </a:solidFill>
            <a:prstDash val="solid"/>
          </a:ln>
        </p:spPr>
      </p:sp>
      <p:sp>
        <p:nvSpPr>
          <p:cNvPr id="8" name="Text 3"/>
          <p:cNvSpPr txBox="1"/>
          <p:nvPr/>
        </p:nvSpPr>
        <p:spPr>
          <a:xfrm>
            <a:off x="1188720" y="4732020"/>
            <a:ext cx="3108960" cy="731520"/>
          </a:xfrm>
          <a:prstGeom prst="roundRect">
            <a:avLst>
              <a:gd name="adj" fmla="val 15000"/>
            </a:avLst>
          </a:prstGeom>
          <a:solidFill>
            <a:srgbClr val="162CA2"/>
          </a:solidFill>
          <a:ln>
            <a:solidFill>
              <a:srgbClr val="162CA2"/>
            </a:solidFill>
          </a:ln>
        </p:spPr>
        <p:txBody>
          <a:bodyPr wrap="square" lIns="635" tIns="635" rIns="635" bIns="635" rtlCol="0" anchor="ctr"/>
          <a:lstStyle/>
          <a:p>
            <a:pPr algn="ctr" indent="0" marL="0">
              <a:buNone/>
            </a:pPr>
            <a:r>
              <a:rPr lang="en-US" sz="2400" b="1" dirty="0">
                <a:solidFill>
                  <a:srgbClr val="FDFBFB"/>
                </a:solidFill>
                <a:latin typeface="Calibri" pitchFamily="34" charset="0"/>
                <a:ea typeface="Calibri" pitchFamily="34" charset="-122"/>
                <a:cs typeface="Calibri" pitchFamily="34" charset="-120"/>
              </a:rPr>
              <a:t>Klasik</a:t>
            </a:r>
            <a:endParaRPr lang="en-US" sz="2400" dirty="0"/>
          </a:p>
        </p:txBody>
      </p:sp>
      <p:sp>
        <p:nvSpPr>
          <p:cNvPr id="9" name="Shape 4"/>
          <p:cNvSpPr/>
          <p:nvPr/>
        </p:nvSpPr>
        <p:spPr>
          <a:xfrm>
            <a:off x="4663440" y="4389120"/>
            <a:ext cx="6949440" cy="1417320"/>
          </a:xfrm>
          <a:prstGeom prst="roundRect">
            <a:avLst>
              <a:gd name="adj" fmla="val 9677"/>
            </a:avLst>
          </a:prstGeom>
          <a:solidFill>
            <a:srgbClr val="13123D"/>
          </a:solidFill>
          <a:ln w="12700">
            <a:solidFill>
              <a:srgbClr val="13123D"/>
            </a:solidFill>
            <a:prstDash val="solid"/>
          </a:ln>
        </p:spPr>
      </p:sp>
      <p:sp>
        <p:nvSpPr>
          <p:cNvPr id="10" name="Text 5"/>
          <p:cNvSpPr txBox="1"/>
          <p:nvPr/>
        </p:nvSpPr>
        <p:spPr>
          <a:xfrm>
            <a:off x="4937760" y="4645152"/>
            <a:ext cx="6400800" cy="960120"/>
          </a:xfrm>
          <a:prstGeom prst="rect">
            <a:avLst/>
          </a:prstGeom>
          <a:noFill/>
          <a:ln/>
        </p:spPr>
        <p:txBody>
          <a:bodyPr wrap="square" lIns="0" tIns="0" rIns="0" bIns="0" rtlCol="0" anchor="t"/>
          <a:lstStyle/>
          <a:p>
            <a:pPr indent="0" marL="0">
              <a:buNone/>
            </a:pPr>
            <a:r>
              <a:rPr lang="en-US" sz="1800" dirty="0">
                <a:solidFill>
                  <a:srgbClr val="FCDF59"/>
                </a:solidFill>
                <a:latin typeface="Courier New" pitchFamily="34" charset="0"/>
                <a:ea typeface="Courier New" pitchFamily="34" charset="-122"/>
                <a:cs typeface="Courier New" pitchFamily="34" charset="-120"/>
              </a:rPr>
              <a:t>for</a:t>
            </a:r>
            <a:pPr indent="0" marL="0">
              <a:buNone/>
            </a:pPr>
            <a:r>
              <a:rPr lang="en-US" sz="1800" dirty="0">
                <a:solidFill>
                  <a:srgbClr val="E8ECFF"/>
                </a:solidFill>
                <a:latin typeface="Courier New" pitchFamily="34" charset="0"/>
                <a:ea typeface="Courier New" pitchFamily="34" charset="-122"/>
                <a:cs typeface="Courier New" pitchFamily="34" charset="-120"/>
              </a:rPr>
              <a:t> i := </a:t>
            </a:r>
            <a:pPr indent="0" marL="0">
              <a:buNone/>
            </a:pPr>
            <a:r>
              <a:rPr lang="en-US" sz="1800" dirty="0">
                <a:solidFill>
                  <a:srgbClr val="FFC58A"/>
                </a:solidFill>
                <a:latin typeface="Courier New" pitchFamily="34" charset="0"/>
                <a:ea typeface="Courier New" pitchFamily="34" charset="-122"/>
                <a:cs typeface="Courier New" pitchFamily="34" charset="-120"/>
              </a:rPr>
              <a:t>1</a:t>
            </a:r>
            <a:pPr indent="0" marL="0">
              <a:buNone/>
            </a:pPr>
            <a:r>
              <a:rPr lang="en-US" sz="1800" dirty="0">
                <a:solidFill>
                  <a:srgbClr val="E8ECFF"/>
                </a:solidFill>
                <a:latin typeface="Courier New" pitchFamily="34" charset="0"/>
                <a:ea typeface="Courier New" pitchFamily="34" charset="-122"/>
                <a:cs typeface="Courier New" pitchFamily="34" charset="-120"/>
              </a:rPr>
              <a:t>; i &lt;= </a:t>
            </a:r>
            <a:pPr indent="0" marL="0">
              <a:buNone/>
            </a:pPr>
            <a:r>
              <a:rPr lang="en-US" sz="1800" dirty="0">
                <a:solidFill>
                  <a:srgbClr val="FFC58A"/>
                </a:solidFill>
                <a:latin typeface="Courier New" pitchFamily="34" charset="0"/>
                <a:ea typeface="Courier New" pitchFamily="34" charset="-122"/>
                <a:cs typeface="Courier New" pitchFamily="34" charset="-120"/>
              </a:rPr>
              <a:t>5</a:t>
            </a:r>
            <a:pPr indent="0" marL="0">
              <a:buNone/>
            </a:pPr>
            <a:r>
              <a:rPr lang="en-US" sz="1800" dirty="0">
                <a:solidFill>
                  <a:srgbClr val="E8ECFF"/>
                </a:solidFill>
                <a:latin typeface="Courier New" pitchFamily="34" charset="0"/>
                <a:ea typeface="Courier New" pitchFamily="34" charset="-122"/>
                <a:cs typeface="Courier New" pitchFamily="34" charset="-120"/>
              </a:rPr>
              <a:t>; i++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fmt.Println(i)</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p:txBody>
      </p:sp>
      <p:sp>
        <p:nvSpPr>
          <p:cNvPr id="11" name="Text 6"/>
          <p:cNvSpPr txBox="1"/>
          <p:nvPr/>
        </p:nvSpPr>
        <p:spPr>
          <a:xfrm>
            <a:off x="11887200" y="4297680"/>
            <a:ext cx="5303520" cy="1600200"/>
          </a:xfrm>
          <a:prstGeom prst="rect">
            <a:avLst/>
          </a:prstGeom>
          <a:noFill/>
          <a:ln/>
        </p:spPr>
        <p:txBody>
          <a:bodyPr wrap="square" lIns="0" tIns="0" rIns="0" bIns="0" rtlCol="0" anchor="ctr"/>
          <a:lstStyle/>
          <a:p>
            <a:pPr indent="0" marL="0">
              <a:buNone/>
            </a:pPr>
            <a:r>
              <a:rPr lang="en-US" sz="2200" dirty="0">
                <a:solidFill>
                  <a:srgbClr val="13123D"/>
                </a:solidFill>
                <a:latin typeface="Calibri" pitchFamily="34" charset="0"/>
                <a:ea typeface="Calibri" pitchFamily="34" charset="-122"/>
                <a:cs typeface="Calibri" pitchFamily="34" charset="-120"/>
              </a:rPr>
              <a:t>Jumlah putaran diketahui. Output: 1 2 3 4 5</a:t>
            </a:r>
            <a:endParaRPr lang="en-US" sz="2200" dirty="0"/>
          </a:p>
        </p:txBody>
      </p:sp>
      <p:sp>
        <p:nvSpPr>
          <p:cNvPr id="12" name="Shape 7"/>
          <p:cNvSpPr/>
          <p:nvPr/>
        </p:nvSpPr>
        <p:spPr>
          <a:xfrm>
            <a:off x="914400" y="6035040"/>
            <a:ext cx="16459200" cy="1828800"/>
          </a:xfrm>
          <a:prstGeom prst="roundRect">
            <a:avLst>
              <a:gd name="adj" fmla="val 7500"/>
            </a:avLst>
          </a:prstGeom>
          <a:solidFill>
            <a:srgbClr val="EEF1FC"/>
          </a:solidFill>
          <a:ln w="12700">
            <a:solidFill>
              <a:srgbClr val="D3DAF5"/>
            </a:solidFill>
            <a:prstDash val="solid"/>
          </a:ln>
        </p:spPr>
      </p:sp>
      <p:sp>
        <p:nvSpPr>
          <p:cNvPr id="13" name="Text 8"/>
          <p:cNvSpPr txBox="1"/>
          <p:nvPr/>
        </p:nvSpPr>
        <p:spPr>
          <a:xfrm>
            <a:off x="1188720" y="6583680"/>
            <a:ext cx="3108960" cy="731520"/>
          </a:xfrm>
          <a:prstGeom prst="roundRect">
            <a:avLst>
              <a:gd name="adj" fmla="val 15000"/>
            </a:avLst>
          </a:prstGeom>
          <a:solidFill>
            <a:srgbClr val="162CA2"/>
          </a:solidFill>
          <a:ln>
            <a:solidFill>
              <a:srgbClr val="162CA2"/>
            </a:solidFill>
          </a:ln>
        </p:spPr>
        <p:txBody>
          <a:bodyPr wrap="square" lIns="635" tIns="635" rIns="635" bIns="635" rtlCol="0" anchor="ctr"/>
          <a:lstStyle/>
          <a:p>
            <a:pPr algn="ctr" indent="0" marL="0">
              <a:buNone/>
            </a:pPr>
            <a:r>
              <a:rPr lang="en-US" sz="2400" b="1" dirty="0">
                <a:solidFill>
                  <a:srgbClr val="FDFBFB"/>
                </a:solidFill>
                <a:latin typeface="Calibri" pitchFamily="34" charset="0"/>
                <a:ea typeface="Calibri" pitchFamily="34" charset="-122"/>
                <a:cs typeface="Calibri" pitchFamily="34" charset="-120"/>
              </a:rPr>
              <a:t>Seperti while</a:t>
            </a:r>
            <a:endParaRPr lang="en-US" sz="2400" dirty="0"/>
          </a:p>
        </p:txBody>
      </p:sp>
      <p:sp>
        <p:nvSpPr>
          <p:cNvPr id="14" name="Shape 9"/>
          <p:cNvSpPr/>
          <p:nvPr/>
        </p:nvSpPr>
        <p:spPr>
          <a:xfrm>
            <a:off x="4663440" y="6126480"/>
            <a:ext cx="6949440" cy="1645920"/>
          </a:xfrm>
          <a:prstGeom prst="roundRect">
            <a:avLst>
              <a:gd name="adj" fmla="val 8333"/>
            </a:avLst>
          </a:prstGeom>
          <a:solidFill>
            <a:srgbClr val="13123D"/>
          </a:solidFill>
          <a:ln w="12700">
            <a:solidFill>
              <a:srgbClr val="13123D"/>
            </a:solidFill>
            <a:prstDash val="solid"/>
          </a:ln>
        </p:spPr>
      </p:sp>
      <p:sp>
        <p:nvSpPr>
          <p:cNvPr id="15" name="Text 10"/>
          <p:cNvSpPr txBox="1"/>
          <p:nvPr/>
        </p:nvSpPr>
        <p:spPr>
          <a:xfrm>
            <a:off x="4937760" y="6382512"/>
            <a:ext cx="6400800" cy="1188720"/>
          </a:xfrm>
          <a:prstGeom prst="rect">
            <a:avLst/>
          </a:prstGeom>
          <a:noFill/>
          <a:ln/>
        </p:spPr>
        <p:txBody>
          <a:bodyPr wrap="square" lIns="0" tIns="0" rIns="0" bIns="0" rtlCol="0" anchor="t"/>
          <a:lstStyle/>
          <a:p>
            <a:pPr indent="0" marL="0">
              <a:buNone/>
            </a:pPr>
            <a:r>
              <a:rPr lang="en-US" sz="1800" dirty="0">
                <a:solidFill>
                  <a:srgbClr val="E8ECFF"/>
                </a:solidFill>
                <a:latin typeface="Courier New" pitchFamily="34" charset="0"/>
                <a:ea typeface="Courier New" pitchFamily="34" charset="-122"/>
                <a:cs typeface="Courier New" pitchFamily="34" charset="-120"/>
              </a:rPr>
              <a:t>n := </a:t>
            </a:r>
            <a:pPr indent="0" marL="0">
              <a:buNone/>
            </a:pPr>
            <a:r>
              <a:rPr lang="en-US" sz="1800" dirty="0">
                <a:solidFill>
                  <a:srgbClr val="FFC58A"/>
                </a:solidFill>
                <a:latin typeface="Courier New" pitchFamily="34" charset="0"/>
                <a:ea typeface="Courier New" pitchFamily="34" charset="-122"/>
                <a:cs typeface="Courier New" pitchFamily="34" charset="-120"/>
              </a:rPr>
              <a:t>3</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for</a:t>
            </a:r>
            <a:pPr indent="0" marL="0">
              <a:buNone/>
            </a:pPr>
            <a:r>
              <a:rPr lang="en-US" sz="1800" dirty="0">
                <a:solidFill>
                  <a:srgbClr val="E8ECFF"/>
                </a:solidFill>
                <a:latin typeface="Courier New" pitchFamily="34" charset="0"/>
                <a:ea typeface="Courier New" pitchFamily="34" charset="-122"/>
                <a:cs typeface="Courier New" pitchFamily="34" charset="-120"/>
              </a:rPr>
              <a:t> n &gt; </a:t>
            </a:r>
            <a:pPr indent="0" marL="0">
              <a:buNone/>
            </a:pPr>
            <a:r>
              <a:rPr lang="en-US" sz="1800" dirty="0">
                <a:solidFill>
                  <a:srgbClr val="FFC58A"/>
                </a:solidFill>
                <a:latin typeface="Courier New" pitchFamily="34" charset="0"/>
                <a:ea typeface="Courier New" pitchFamily="34" charset="-122"/>
                <a:cs typeface="Courier New" pitchFamily="34" charset="-120"/>
              </a:rPr>
              <a:t>0</a:t>
            </a:r>
            <a:pPr indent="0" marL="0">
              <a:buNone/>
            </a:pPr>
            <a:r>
              <a:rPr lang="en-US" sz="1800" dirty="0">
                <a:solidFill>
                  <a:srgbClr val="E8ECFF"/>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n--</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p:txBody>
      </p:sp>
      <p:sp>
        <p:nvSpPr>
          <p:cNvPr id="16" name="Text 11"/>
          <p:cNvSpPr txBox="1"/>
          <p:nvPr/>
        </p:nvSpPr>
        <p:spPr>
          <a:xfrm>
            <a:off x="11887200" y="6035040"/>
            <a:ext cx="5303520" cy="1828800"/>
          </a:xfrm>
          <a:prstGeom prst="rect">
            <a:avLst/>
          </a:prstGeom>
          <a:noFill/>
          <a:ln/>
        </p:spPr>
        <p:txBody>
          <a:bodyPr wrap="square" lIns="0" tIns="0" rIns="0" bIns="0" rtlCol="0" anchor="ctr"/>
          <a:lstStyle/>
          <a:p>
            <a:pPr indent="0" marL="0">
              <a:buNone/>
            </a:pPr>
            <a:r>
              <a:rPr lang="en-US" sz="2200" dirty="0">
                <a:solidFill>
                  <a:srgbClr val="13123D"/>
                </a:solidFill>
                <a:latin typeface="Calibri" pitchFamily="34" charset="0"/>
                <a:ea typeface="Calibri" pitchFamily="34" charset="-122"/>
                <a:cs typeface="Calibri" pitchFamily="34" charset="-120"/>
              </a:rPr>
              <a:t>Hanya kondisi. n turun 3, 2, 1, lalu berhenti.</a:t>
            </a:r>
            <a:endParaRPr lang="en-US" sz="2200" dirty="0"/>
          </a:p>
        </p:txBody>
      </p:sp>
      <p:sp>
        <p:nvSpPr>
          <p:cNvPr id="17" name="Shape 12"/>
          <p:cNvSpPr/>
          <p:nvPr/>
        </p:nvSpPr>
        <p:spPr>
          <a:xfrm>
            <a:off x="914400" y="8001000"/>
            <a:ext cx="16459200" cy="1828800"/>
          </a:xfrm>
          <a:prstGeom prst="roundRect">
            <a:avLst>
              <a:gd name="adj" fmla="val 7500"/>
            </a:avLst>
          </a:prstGeom>
          <a:solidFill>
            <a:srgbClr val="EEF1FC"/>
          </a:solidFill>
          <a:ln w="12700">
            <a:solidFill>
              <a:srgbClr val="D3DAF5"/>
            </a:solidFill>
            <a:prstDash val="solid"/>
          </a:ln>
        </p:spPr>
      </p:sp>
      <p:sp>
        <p:nvSpPr>
          <p:cNvPr id="18" name="Text 13"/>
          <p:cNvSpPr txBox="1"/>
          <p:nvPr/>
        </p:nvSpPr>
        <p:spPr>
          <a:xfrm>
            <a:off x="1188720" y="8549640"/>
            <a:ext cx="3108960" cy="731520"/>
          </a:xfrm>
          <a:prstGeom prst="roundRect">
            <a:avLst>
              <a:gd name="adj" fmla="val 15000"/>
            </a:avLst>
          </a:prstGeom>
          <a:solidFill>
            <a:srgbClr val="162CA2"/>
          </a:solidFill>
          <a:ln>
            <a:solidFill>
              <a:srgbClr val="162CA2"/>
            </a:solidFill>
          </a:ln>
        </p:spPr>
        <p:txBody>
          <a:bodyPr wrap="square" lIns="635" tIns="635" rIns="635" bIns="635" rtlCol="0" anchor="ctr"/>
          <a:lstStyle/>
          <a:p>
            <a:pPr algn="ctr" indent="0" marL="0">
              <a:buNone/>
            </a:pPr>
            <a:r>
              <a:rPr lang="en-US" sz="2400" b="1" dirty="0">
                <a:solidFill>
                  <a:srgbClr val="FDFBFB"/>
                </a:solidFill>
                <a:latin typeface="Calibri" pitchFamily="34" charset="0"/>
                <a:ea typeface="Calibri" pitchFamily="34" charset="-122"/>
                <a:cs typeface="Calibri" pitchFamily="34" charset="-120"/>
              </a:rPr>
              <a:t>Tak hingga</a:t>
            </a:r>
            <a:endParaRPr lang="en-US" sz="2400" dirty="0"/>
          </a:p>
        </p:txBody>
      </p:sp>
      <p:sp>
        <p:nvSpPr>
          <p:cNvPr id="19" name="Shape 14"/>
          <p:cNvSpPr/>
          <p:nvPr/>
        </p:nvSpPr>
        <p:spPr>
          <a:xfrm>
            <a:off x="4663440" y="8092440"/>
            <a:ext cx="6949440" cy="1645920"/>
          </a:xfrm>
          <a:prstGeom prst="roundRect">
            <a:avLst>
              <a:gd name="adj" fmla="val 8333"/>
            </a:avLst>
          </a:prstGeom>
          <a:solidFill>
            <a:srgbClr val="13123D"/>
          </a:solidFill>
          <a:ln w="12700">
            <a:solidFill>
              <a:srgbClr val="13123D"/>
            </a:solidFill>
            <a:prstDash val="solid"/>
          </a:ln>
        </p:spPr>
      </p:sp>
      <p:sp>
        <p:nvSpPr>
          <p:cNvPr id="20" name="Text 15"/>
          <p:cNvSpPr txBox="1"/>
          <p:nvPr/>
        </p:nvSpPr>
        <p:spPr>
          <a:xfrm>
            <a:off x="4937760" y="8348472"/>
            <a:ext cx="6400800" cy="1188720"/>
          </a:xfrm>
          <a:prstGeom prst="rect">
            <a:avLst/>
          </a:prstGeom>
          <a:noFill/>
          <a:ln/>
        </p:spPr>
        <p:txBody>
          <a:bodyPr wrap="square" lIns="0" tIns="0" rIns="0" bIns="0" rtlCol="0" anchor="t"/>
          <a:lstStyle/>
          <a:p>
            <a:pPr indent="0" marL="0">
              <a:buNone/>
            </a:pPr>
            <a:r>
              <a:rPr lang="en-US" sz="1800" dirty="0">
                <a:solidFill>
                  <a:srgbClr val="FCDF59"/>
                </a:solidFill>
                <a:latin typeface="Courier New" pitchFamily="34" charset="0"/>
                <a:ea typeface="Courier New" pitchFamily="34" charset="-122"/>
                <a:cs typeface="Courier New" pitchFamily="34" charset="-120"/>
              </a:rPr>
              <a:t>for</a:t>
            </a:r>
            <a:pPr indent="0" marL="0">
              <a:buNone/>
            </a:pPr>
            <a:r>
              <a:rPr lang="en-US" sz="1800" dirty="0">
                <a:solidFill>
                  <a:srgbClr val="E8ECFF"/>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CDF59"/>
                </a:solidFill>
                <a:latin typeface="Courier New" pitchFamily="34" charset="0"/>
                <a:ea typeface="Courier New" pitchFamily="34" charset="-122"/>
                <a:cs typeface="Courier New" pitchFamily="34" charset="-120"/>
              </a:rPr>
              <a:t>if</a:t>
            </a:r>
            <a:pPr indent="0" marL="0">
              <a:buNone/>
            </a:pPr>
            <a:r>
              <a:rPr lang="en-US" sz="1800" dirty="0">
                <a:solidFill>
                  <a:srgbClr val="E8ECFF"/>
                </a:solidFill>
                <a:latin typeface="Courier New" pitchFamily="34" charset="0"/>
                <a:ea typeface="Courier New" pitchFamily="34" charset="-122"/>
                <a:cs typeface="Courier New" pitchFamily="34" charset="-120"/>
              </a:rPr>
              <a:t> selesai { break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p:txBody>
      </p:sp>
      <p:sp>
        <p:nvSpPr>
          <p:cNvPr id="21" name="Text 16"/>
          <p:cNvSpPr txBox="1"/>
          <p:nvPr/>
        </p:nvSpPr>
        <p:spPr>
          <a:xfrm>
            <a:off x="11887200" y="8001000"/>
            <a:ext cx="5303520" cy="1828800"/>
          </a:xfrm>
          <a:prstGeom prst="rect">
            <a:avLst/>
          </a:prstGeom>
          <a:noFill/>
          <a:ln/>
        </p:spPr>
        <p:txBody>
          <a:bodyPr wrap="square" lIns="0" tIns="0" rIns="0" bIns="0" rtlCol="0" anchor="ctr"/>
          <a:lstStyle/>
          <a:p>
            <a:pPr indent="0" marL="0">
              <a:buNone/>
            </a:pPr>
            <a:r>
              <a:rPr lang="en-US" sz="2200" dirty="0">
                <a:solidFill>
                  <a:srgbClr val="13123D"/>
                </a:solidFill>
                <a:latin typeface="Calibri" pitchFamily="34" charset="0"/>
                <a:ea typeface="Calibri" pitchFamily="34" charset="-122"/>
                <a:cs typeface="Calibri" pitchFamily="34" charset="-120"/>
              </a:rPr>
              <a:t>Berulang sampai break. Awas infinite loop.</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3 · 20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Anatomi for Klasik</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Tiga bagian: init, kondisi, post</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i++ adalah pernyataan</a:t>
            </a:r>
            <a:endParaRPr lang="en-US" sz="2600" dirty="0"/>
          </a:p>
        </p:txBody>
      </p:sp>
      <p:sp>
        <p:nvSpPr>
          <p:cNvPr id="8" name="Shape 3"/>
          <p:cNvSpPr/>
          <p:nvPr/>
        </p:nvSpPr>
        <p:spPr>
          <a:xfrm>
            <a:off x="8229600" y="731520"/>
            <a:ext cx="9418320" cy="1757172"/>
          </a:xfrm>
          <a:prstGeom prst="roundRect">
            <a:avLst>
              <a:gd name="adj" fmla="val 7806"/>
            </a:avLst>
          </a:prstGeom>
          <a:solidFill>
            <a:srgbClr val="13123D"/>
          </a:solidFill>
          <a:ln w="12700">
            <a:solidFill>
              <a:srgbClr val="13123D"/>
            </a:solidFill>
            <a:prstDash val="solid"/>
          </a:ln>
        </p:spPr>
      </p:sp>
      <p:sp>
        <p:nvSpPr>
          <p:cNvPr id="9" name="Text 4"/>
          <p:cNvSpPr txBox="1"/>
          <p:nvPr/>
        </p:nvSpPr>
        <p:spPr>
          <a:xfrm>
            <a:off x="8503920" y="987552"/>
            <a:ext cx="8869680" cy="1299972"/>
          </a:xfrm>
          <a:prstGeom prst="rect">
            <a:avLst/>
          </a:prstGeom>
          <a:noFill/>
          <a:ln/>
        </p:spPr>
        <p:txBody>
          <a:bodyPr wrap="square" lIns="0" tIns="0" rIns="0" bIns="0" rtlCol="0" anchor="t"/>
          <a:lstStyle/>
          <a:p>
            <a:pPr indent="0" marL="0">
              <a:buNone/>
            </a:pPr>
            <a:r>
              <a:rPr lang="en-US" sz="2600" dirty="0">
                <a:solidFill>
                  <a:srgbClr val="FCDF59"/>
                </a:solidFill>
                <a:latin typeface="Courier New" pitchFamily="34" charset="0"/>
                <a:ea typeface="Courier New" pitchFamily="34" charset="-122"/>
                <a:cs typeface="Courier New" pitchFamily="34" charset="-120"/>
              </a:rPr>
              <a:t>for</a:t>
            </a:r>
            <a:pPr indent="0" marL="0">
              <a:buNone/>
            </a:pPr>
            <a:r>
              <a:rPr lang="en-US" sz="2600" dirty="0">
                <a:solidFill>
                  <a:srgbClr val="E8ECFF"/>
                </a:solidFill>
                <a:latin typeface="Courier New" pitchFamily="34" charset="0"/>
                <a:ea typeface="Courier New" pitchFamily="34" charset="-122"/>
                <a:cs typeface="Courier New" pitchFamily="34" charset="-120"/>
              </a:rPr>
              <a:t> i := </a:t>
            </a:r>
            <a:pPr indent="0" marL="0">
              <a:buNone/>
            </a:pPr>
            <a:r>
              <a:rPr lang="en-US" sz="2600" dirty="0">
                <a:solidFill>
                  <a:srgbClr val="FFC58A"/>
                </a:solidFill>
                <a:latin typeface="Courier New" pitchFamily="34" charset="0"/>
                <a:ea typeface="Courier New" pitchFamily="34" charset="-122"/>
                <a:cs typeface="Courier New" pitchFamily="34" charset="-120"/>
              </a:rPr>
              <a:t>1</a:t>
            </a:r>
            <a:pPr indent="0" marL="0">
              <a:buNone/>
            </a:pPr>
            <a:r>
              <a:rPr lang="en-US" sz="2600" dirty="0">
                <a:solidFill>
                  <a:srgbClr val="E8ECFF"/>
                </a:solidFill>
                <a:latin typeface="Courier New" pitchFamily="34" charset="0"/>
                <a:ea typeface="Courier New" pitchFamily="34" charset="-122"/>
                <a:cs typeface="Courier New" pitchFamily="34" charset="-120"/>
              </a:rPr>
              <a:t>; i &lt;= </a:t>
            </a:r>
            <a:pPr indent="0" marL="0">
              <a:buNone/>
            </a:pPr>
            <a:r>
              <a:rPr lang="en-US" sz="2600" dirty="0">
                <a:solidFill>
                  <a:srgbClr val="FFC58A"/>
                </a:solidFill>
                <a:latin typeface="Courier New" pitchFamily="34" charset="0"/>
                <a:ea typeface="Courier New" pitchFamily="34" charset="-122"/>
                <a:cs typeface="Courier New" pitchFamily="34" charset="-120"/>
              </a:rPr>
              <a:t>5</a:t>
            </a:r>
            <a:pPr indent="0" marL="0">
              <a:buNone/>
            </a:pPr>
            <a:r>
              <a:rPr lang="en-US" sz="2600" dirty="0">
                <a:solidFill>
                  <a:srgbClr val="E8ECFF"/>
                </a:solidFill>
                <a:latin typeface="Courier New" pitchFamily="34" charset="0"/>
                <a:ea typeface="Courier New" pitchFamily="34" charset="-122"/>
                <a:cs typeface="Courier New" pitchFamily="34" charset="-120"/>
              </a:rPr>
              <a:t>; i++ {</a:t>
            </a:r>
            <a:endParaRPr lang="en-US" sz="2600" dirty="0"/>
          </a:p>
          <a:p>
            <a:pPr indent="0" marL="0">
              <a:buNone/>
            </a:pPr>
            <a:r>
              <a:rPr lang="en-US" sz="2600" dirty="0">
                <a:solidFill>
                  <a:srgbClr val="E8ECFF"/>
                </a:solidFill>
                <a:latin typeface="Courier New" pitchFamily="34" charset="0"/>
                <a:ea typeface="Courier New" pitchFamily="34" charset="-122"/>
                <a:cs typeface="Courier New" pitchFamily="34" charset="-120"/>
              </a:rPr>
              <a:t>    fmt.Println(i)</a:t>
            </a:r>
            <a:endParaRPr lang="en-US" sz="2600" dirty="0"/>
          </a:p>
          <a:p>
            <a:pPr indent="0" marL="0">
              <a:buNone/>
            </a:pPr>
            <a:r>
              <a:rPr lang="en-US" sz="2600" dirty="0">
                <a:solidFill>
                  <a:srgbClr val="E8ECFF"/>
                </a:solidFill>
                <a:latin typeface="Courier New" pitchFamily="34" charset="0"/>
                <a:ea typeface="Courier New" pitchFamily="34" charset="-122"/>
                <a:cs typeface="Courier New" pitchFamily="34" charset="-120"/>
              </a:rPr>
              <a:t>}</a:t>
            </a:r>
            <a:endParaRPr lang="en-US" sz="2600" dirty="0"/>
          </a:p>
        </p:txBody>
      </p:sp>
      <p:sp>
        <p:nvSpPr>
          <p:cNvPr id="10" name="Text 5"/>
          <p:cNvSpPr txBox="1"/>
          <p:nvPr/>
        </p:nvSpPr>
        <p:spPr>
          <a:xfrm>
            <a:off x="8229600" y="2743200"/>
            <a:ext cx="914400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Nilai i tiap putaran</a:t>
            </a:r>
            <a:endParaRPr lang="en-US" sz="2600" dirty="0"/>
          </a:p>
        </p:txBody>
      </p:sp>
      <p:sp>
        <p:nvSpPr>
          <p:cNvPr id="11" name="Text 6"/>
          <p:cNvSpPr txBox="1"/>
          <p:nvPr/>
        </p:nvSpPr>
        <p:spPr>
          <a:xfrm>
            <a:off x="8229600" y="3337560"/>
            <a:ext cx="1783080" cy="868680"/>
          </a:xfrm>
          <a:prstGeom prst="roundRect">
            <a:avLst>
              <a:gd name="adj" fmla="val 12632"/>
            </a:avLst>
          </a:prstGeom>
          <a:solidFill>
            <a:srgbClr val="162CA2"/>
          </a:solidFill>
          <a:ln>
            <a:solidFill>
              <a:srgbClr val="162CA2"/>
            </a:solidFill>
          </a:ln>
        </p:spPr>
        <p:txBody>
          <a:bodyPr wrap="square" lIns="635" tIns="635" rIns="635" bIns="635" rtlCol="0" anchor="ctr"/>
          <a:lstStyle/>
          <a:p>
            <a:pPr algn="ctr" indent="0" marL="0">
              <a:buNone/>
            </a:pPr>
            <a:r>
              <a:rPr lang="en-US" sz="3000" b="1" dirty="0">
                <a:solidFill>
                  <a:srgbClr val="FDFBFB"/>
                </a:solidFill>
                <a:latin typeface="Calibri" pitchFamily="34" charset="0"/>
                <a:ea typeface="Calibri" pitchFamily="34" charset="-122"/>
                <a:cs typeface="Calibri" pitchFamily="34" charset="-120"/>
              </a:rPr>
              <a:t>1</a:t>
            </a:r>
            <a:endParaRPr lang="en-US" sz="3000" dirty="0"/>
          </a:p>
        </p:txBody>
      </p:sp>
      <p:sp>
        <p:nvSpPr>
          <p:cNvPr id="12" name="Text 7"/>
          <p:cNvSpPr txBox="1"/>
          <p:nvPr/>
        </p:nvSpPr>
        <p:spPr>
          <a:xfrm>
            <a:off x="10149840" y="3337560"/>
            <a:ext cx="1783080" cy="868680"/>
          </a:xfrm>
          <a:prstGeom prst="roundRect">
            <a:avLst>
              <a:gd name="adj" fmla="val 12632"/>
            </a:avLst>
          </a:prstGeom>
          <a:solidFill>
            <a:srgbClr val="162CA2"/>
          </a:solidFill>
          <a:ln>
            <a:solidFill>
              <a:srgbClr val="162CA2"/>
            </a:solidFill>
          </a:ln>
        </p:spPr>
        <p:txBody>
          <a:bodyPr wrap="square" lIns="635" tIns="635" rIns="635" bIns="635" rtlCol="0" anchor="ctr"/>
          <a:lstStyle/>
          <a:p>
            <a:pPr algn="ctr" indent="0" marL="0">
              <a:buNone/>
            </a:pPr>
            <a:r>
              <a:rPr lang="en-US" sz="3000" b="1" dirty="0">
                <a:solidFill>
                  <a:srgbClr val="FDFBFB"/>
                </a:solidFill>
                <a:latin typeface="Calibri" pitchFamily="34" charset="0"/>
                <a:ea typeface="Calibri" pitchFamily="34" charset="-122"/>
                <a:cs typeface="Calibri" pitchFamily="34" charset="-120"/>
              </a:rPr>
              <a:t>2</a:t>
            </a:r>
            <a:endParaRPr lang="en-US" sz="3000" dirty="0"/>
          </a:p>
        </p:txBody>
      </p:sp>
      <p:sp>
        <p:nvSpPr>
          <p:cNvPr id="13" name="Text 8"/>
          <p:cNvSpPr txBox="1"/>
          <p:nvPr/>
        </p:nvSpPr>
        <p:spPr>
          <a:xfrm>
            <a:off x="12070080" y="3337560"/>
            <a:ext cx="1783080" cy="868680"/>
          </a:xfrm>
          <a:prstGeom prst="roundRect">
            <a:avLst>
              <a:gd name="adj" fmla="val 12632"/>
            </a:avLst>
          </a:prstGeom>
          <a:solidFill>
            <a:srgbClr val="162CA2"/>
          </a:solidFill>
          <a:ln>
            <a:solidFill>
              <a:srgbClr val="162CA2"/>
            </a:solidFill>
          </a:ln>
        </p:spPr>
        <p:txBody>
          <a:bodyPr wrap="square" lIns="635" tIns="635" rIns="635" bIns="635" rtlCol="0" anchor="ctr"/>
          <a:lstStyle/>
          <a:p>
            <a:pPr algn="ctr" indent="0" marL="0">
              <a:buNone/>
            </a:pPr>
            <a:r>
              <a:rPr lang="en-US" sz="3000" b="1" dirty="0">
                <a:solidFill>
                  <a:srgbClr val="FDFBFB"/>
                </a:solidFill>
                <a:latin typeface="Calibri" pitchFamily="34" charset="0"/>
                <a:ea typeface="Calibri" pitchFamily="34" charset="-122"/>
                <a:cs typeface="Calibri" pitchFamily="34" charset="-120"/>
              </a:rPr>
              <a:t>3</a:t>
            </a:r>
            <a:endParaRPr lang="en-US" sz="3000" dirty="0"/>
          </a:p>
        </p:txBody>
      </p:sp>
      <p:sp>
        <p:nvSpPr>
          <p:cNvPr id="14" name="Text 9"/>
          <p:cNvSpPr txBox="1"/>
          <p:nvPr/>
        </p:nvSpPr>
        <p:spPr>
          <a:xfrm>
            <a:off x="13990320" y="3337560"/>
            <a:ext cx="1783080" cy="868680"/>
          </a:xfrm>
          <a:prstGeom prst="roundRect">
            <a:avLst>
              <a:gd name="adj" fmla="val 12632"/>
            </a:avLst>
          </a:prstGeom>
          <a:solidFill>
            <a:srgbClr val="162CA2"/>
          </a:solidFill>
          <a:ln>
            <a:solidFill>
              <a:srgbClr val="162CA2"/>
            </a:solidFill>
          </a:ln>
        </p:spPr>
        <p:txBody>
          <a:bodyPr wrap="square" lIns="635" tIns="635" rIns="635" bIns="635" rtlCol="0" anchor="ctr"/>
          <a:lstStyle/>
          <a:p>
            <a:pPr algn="ctr" indent="0" marL="0">
              <a:buNone/>
            </a:pPr>
            <a:r>
              <a:rPr lang="en-US" sz="3000" b="1" dirty="0">
                <a:solidFill>
                  <a:srgbClr val="FDFBFB"/>
                </a:solidFill>
                <a:latin typeface="Calibri" pitchFamily="34" charset="0"/>
                <a:ea typeface="Calibri" pitchFamily="34" charset="-122"/>
                <a:cs typeface="Calibri" pitchFamily="34" charset="-120"/>
              </a:rPr>
              <a:t>4</a:t>
            </a:r>
            <a:endParaRPr lang="en-US" sz="3000" dirty="0"/>
          </a:p>
        </p:txBody>
      </p:sp>
      <p:sp>
        <p:nvSpPr>
          <p:cNvPr id="15" name="Text 10"/>
          <p:cNvSpPr txBox="1"/>
          <p:nvPr/>
        </p:nvSpPr>
        <p:spPr>
          <a:xfrm>
            <a:off x="15910560" y="3337560"/>
            <a:ext cx="1783080" cy="868680"/>
          </a:xfrm>
          <a:prstGeom prst="roundRect">
            <a:avLst>
              <a:gd name="adj" fmla="val 12632"/>
            </a:avLst>
          </a:prstGeom>
          <a:solidFill>
            <a:srgbClr val="162CA2"/>
          </a:solidFill>
          <a:ln>
            <a:solidFill>
              <a:srgbClr val="162CA2"/>
            </a:solidFill>
          </a:ln>
        </p:spPr>
        <p:txBody>
          <a:bodyPr wrap="square" lIns="635" tIns="635" rIns="635" bIns="635" rtlCol="0" anchor="ctr"/>
          <a:lstStyle/>
          <a:p>
            <a:pPr algn="ctr" indent="0" marL="0">
              <a:buNone/>
            </a:pPr>
            <a:r>
              <a:rPr lang="en-US" sz="3000" b="1" dirty="0">
                <a:solidFill>
                  <a:srgbClr val="FDFBFB"/>
                </a:solidFill>
                <a:latin typeface="Calibri" pitchFamily="34" charset="0"/>
                <a:ea typeface="Calibri" pitchFamily="34" charset="-122"/>
                <a:cs typeface="Calibri" pitchFamily="34" charset="-120"/>
              </a:rPr>
              <a:t>5</a:t>
            </a:r>
            <a:endParaRPr lang="en-US" sz="3000" dirty="0"/>
          </a:p>
        </p:txBody>
      </p:sp>
      <p:sp>
        <p:nvSpPr>
          <p:cNvPr id="16" name="Text 11"/>
          <p:cNvSpPr txBox="1"/>
          <p:nvPr/>
        </p:nvSpPr>
        <p:spPr>
          <a:xfrm>
            <a:off x="8229600" y="4434840"/>
            <a:ext cx="9418320" cy="640080"/>
          </a:xfrm>
          <a:prstGeom prst="rect">
            <a:avLst/>
          </a:prstGeom>
          <a:noFill/>
          <a:ln/>
        </p:spPr>
        <p:txBody>
          <a:bodyPr wrap="square" lIns="0" tIns="0" rIns="0" bIns="0" rtlCol="0" anchor="t"/>
          <a:lstStyle/>
          <a:p>
            <a:pPr indent="0" marL="0">
              <a:buNone/>
            </a:pPr>
            <a:r>
              <a:rPr lang="en-US" sz="2200" dirty="0">
                <a:solidFill>
                  <a:srgbClr val="13123D"/>
                </a:solidFill>
                <a:latin typeface="Calibri" pitchFamily="34" charset="0"/>
                <a:ea typeface="Calibri" pitchFamily="34" charset="-122"/>
                <a:cs typeface="Calibri" pitchFamily="34" charset="-120"/>
              </a:rPr>
              <a:t>Saat i = 6, kondisi i &lt;= 5 salah dan perulangan berhenti.</a:t>
            </a:r>
            <a:endParaRPr lang="en-US" sz="2200" dirty="0"/>
          </a:p>
        </p:txBody>
      </p:sp>
      <p:sp>
        <p:nvSpPr>
          <p:cNvPr id="17" name="Shape 12"/>
          <p:cNvSpPr/>
          <p:nvPr/>
        </p:nvSpPr>
        <p:spPr>
          <a:xfrm>
            <a:off x="8229600" y="5303520"/>
            <a:ext cx="9418320" cy="1234440"/>
          </a:xfrm>
          <a:prstGeom prst="roundRect">
            <a:avLst>
              <a:gd name="adj" fmla="val 11111"/>
            </a:avLst>
          </a:prstGeom>
          <a:solidFill>
            <a:srgbClr val="EEF1FC"/>
          </a:solidFill>
          <a:ln w="12700">
            <a:solidFill>
              <a:srgbClr val="D3DAF5"/>
            </a:solidFill>
            <a:prstDash val="solid"/>
          </a:ln>
        </p:spPr>
      </p:sp>
      <p:sp>
        <p:nvSpPr>
          <p:cNvPr id="18" name="Text 13"/>
          <p:cNvSpPr txBox="1"/>
          <p:nvPr/>
        </p:nvSpPr>
        <p:spPr>
          <a:xfrm>
            <a:off x="8458200" y="557784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1</a:t>
            </a:r>
            <a:endParaRPr lang="en-US" sz="2400" dirty="0"/>
          </a:p>
        </p:txBody>
      </p:sp>
      <p:sp>
        <p:nvSpPr>
          <p:cNvPr id="19" name="Text 14"/>
          <p:cNvSpPr txBox="1"/>
          <p:nvPr/>
        </p:nvSpPr>
        <p:spPr>
          <a:xfrm>
            <a:off x="9326880" y="5303520"/>
            <a:ext cx="8138160" cy="1234440"/>
          </a:xfrm>
          <a:prstGeom prst="rect">
            <a:avLst/>
          </a:prstGeom>
          <a:noFill/>
          <a:ln/>
        </p:spPr>
        <p:txBody>
          <a:bodyPr wrap="square" lIns="0" tIns="0" rIns="0" bIns="0" rtlCol="0" anchor="ctr"/>
          <a:lstStyle/>
          <a:p>
            <a:pPr indent="0" marL="0">
              <a:buNone/>
            </a:pPr>
            <a:r>
              <a:rPr lang="en-US" sz="2200" b="1" dirty="0">
                <a:solidFill>
                  <a:srgbClr val="13123D"/>
                </a:solidFill>
                <a:latin typeface="Courier New" pitchFamily="34" charset="0"/>
                <a:ea typeface="Courier New" pitchFamily="34" charset="-122"/>
                <a:cs typeface="Courier New" pitchFamily="34" charset="-120"/>
              </a:rPr>
              <a:t>i := 1</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Init: dijalankan sekali di awal</a:t>
            </a:r>
            <a:endParaRPr lang="en-US" sz="2400" dirty="0"/>
          </a:p>
        </p:txBody>
      </p:sp>
      <p:sp>
        <p:nvSpPr>
          <p:cNvPr id="20" name="Shape 15"/>
          <p:cNvSpPr/>
          <p:nvPr/>
        </p:nvSpPr>
        <p:spPr>
          <a:xfrm>
            <a:off x="8229600" y="6720840"/>
            <a:ext cx="9418320" cy="1234440"/>
          </a:xfrm>
          <a:prstGeom prst="roundRect">
            <a:avLst>
              <a:gd name="adj" fmla="val 11111"/>
            </a:avLst>
          </a:prstGeom>
          <a:solidFill>
            <a:srgbClr val="EEF1FC"/>
          </a:solidFill>
          <a:ln w="12700">
            <a:solidFill>
              <a:srgbClr val="D3DAF5"/>
            </a:solidFill>
            <a:prstDash val="solid"/>
          </a:ln>
        </p:spPr>
      </p:sp>
      <p:sp>
        <p:nvSpPr>
          <p:cNvPr id="21" name="Text 16"/>
          <p:cNvSpPr txBox="1"/>
          <p:nvPr/>
        </p:nvSpPr>
        <p:spPr>
          <a:xfrm>
            <a:off x="8458200" y="699516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2</a:t>
            </a:r>
            <a:endParaRPr lang="en-US" sz="2400" dirty="0"/>
          </a:p>
        </p:txBody>
      </p:sp>
      <p:sp>
        <p:nvSpPr>
          <p:cNvPr id="22" name="Text 17"/>
          <p:cNvSpPr txBox="1"/>
          <p:nvPr/>
        </p:nvSpPr>
        <p:spPr>
          <a:xfrm>
            <a:off x="9326880" y="6720840"/>
            <a:ext cx="8138160" cy="1234440"/>
          </a:xfrm>
          <a:prstGeom prst="rect">
            <a:avLst/>
          </a:prstGeom>
          <a:noFill/>
          <a:ln/>
        </p:spPr>
        <p:txBody>
          <a:bodyPr wrap="square" lIns="0" tIns="0" rIns="0" bIns="0" rtlCol="0" anchor="ctr"/>
          <a:lstStyle/>
          <a:p>
            <a:pPr indent="0" marL="0">
              <a:buNone/>
            </a:pPr>
            <a:r>
              <a:rPr lang="en-US" sz="2200" b="1" dirty="0">
                <a:solidFill>
                  <a:srgbClr val="13123D"/>
                </a:solidFill>
                <a:latin typeface="Courier New" pitchFamily="34" charset="0"/>
                <a:ea typeface="Courier New" pitchFamily="34" charset="-122"/>
                <a:cs typeface="Courier New" pitchFamily="34" charset="-120"/>
              </a:rPr>
              <a:t>i &lt;= 5</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Kondisi: dicek sebelum tiap putaran</a:t>
            </a:r>
            <a:endParaRPr lang="en-US" sz="2400" dirty="0"/>
          </a:p>
        </p:txBody>
      </p:sp>
      <p:sp>
        <p:nvSpPr>
          <p:cNvPr id="23" name="Shape 18"/>
          <p:cNvSpPr/>
          <p:nvPr/>
        </p:nvSpPr>
        <p:spPr>
          <a:xfrm>
            <a:off x="8229600" y="8138160"/>
            <a:ext cx="9418320" cy="1234440"/>
          </a:xfrm>
          <a:prstGeom prst="roundRect">
            <a:avLst>
              <a:gd name="adj" fmla="val 11111"/>
            </a:avLst>
          </a:prstGeom>
          <a:solidFill>
            <a:srgbClr val="EEF1FC"/>
          </a:solidFill>
          <a:ln w="12700">
            <a:solidFill>
              <a:srgbClr val="D3DAF5"/>
            </a:solidFill>
            <a:prstDash val="solid"/>
          </a:ln>
        </p:spPr>
      </p:sp>
      <p:sp>
        <p:nvSpPr>
          <p:cNvPr id="24" name="Text 19"/>
          <p:cNvSpPr txBox="1"/>
          <p:nvPr/>
        </p:nvSpPr>
        <p:spPr>
          <a:xfrm>
            <a:off x="8458200" y="841248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3</a:t>
            </a:r>
            <a:endParaRPr lang="en-US" sz="2400" dirty="0"/>
          </a:p>
        </p:txBody>
      </p:sp>
      <p:sp>
        <p:nvSpPr>
          <p:cNvPr id="25" name="Text 20"/>
          <p:cNvSpPr txBox="1"/>
          <p:nvPr/>
        </p:nvSpPr>
        <p:spPr>
          <a:xfrm>
            <a:off x="9326880" y="8138160"/>
            <a:ext cx="8138160" cy="1234440"/>
          </a:xfrm>
          <a:prstGeom prst="rect">
            <a:avLst/>
          </a:prstGeom>
          <a:noFill/>
          <a:ln/>
        </p:spPr>
        <p:txBody>
          <a:bodyPr wrap="square" lIns="0" tIns="0" rIns="0" bIns="0" rtlCol="0" anchor="ctr"/>
          <a:lstStyle/>
          <a:p>
            <a:pPr indent="0" marL="0">
              <a:buNone/>
            </a:pPr>
            <a:r>
              <a:rPr lang="en-US" sz="2200" b="1" dirty="0">
                <a:solidFill>
                  <a:srgbClr val="13123D"/>
                </a:solidFill>
                <a:latin typeface="Courier New" pitchFamily="34" charset="0"/>
                <a:ea typeface="Courier New" pitchFamily="34" charset="-122"/>
                <a:cs typeface="Courier New" pitchFamily="34" charset="-120"/>
              </a:rPr>
              <a:t>i++</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Post: dijalankan setelah tiap putaran</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3 · 20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break dan continue</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break: keluar dari loop</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continue: lanjut ke putaran berikutnya</a:t>
            </a:r>
            <a:endParaRPr lang="en-US" sz="2600" dirty="0"/>
          </a:p>
        </p:txBody>
      </p:sp>
      <p:sp>
        <p:nvSpPr>
          <p:cNvPr id="8" name="Shape 3"/>
          <p:cNvSpPr/>
          <p:nvPr/>
        </p:nvSpPr>
        <p:spPr>
          <a:xfrm>
            <a:off x="8229600" y="731520"/>
            <a:ext cx="9418320" cy="3198114"/>
          </a:xfrm>
          <a:prstGeom prst="roundRect">
            <a:avLst>
              <a:gd name="adj" fmla="val 4289"/>
            </a:avLst>
          </a:prstGeom>
          <a:solidFill>
            <a:srgbClr val="13123D"/>
          </a:solidFill>
          <a:ln w="12700">
            <a:solidFill>
              <a:srgbClr val="13123D"/>
            </a:solidFill>
            <a:prstDash val="solid"/>
          </a:ln>
        </p:spPr>
      </p:sp>
      <p:sp>
        <p:nvSpPr>
          <p:cNvPr id="9" name="Text 4"/>
          <p:cNvSpPr txBox="1"/>
          <p:nvPr/>
        </p:nvSpPr>
        <p:spPr>
          <a:xfrm>
            <a:off x="8503920" y="987552"/>
            <a:ext cx="8869680" cy="2740914"/>
          </a:xfrm>
          <a:prstGeom prst="rect">
            <a:avLst/>
          </a:prstGeom>
          <a:noFill/>
          <a:ln/>
        </p:spPr>
        <p:txBody>
          <a:bodyPr wrap="square" lIns="0" tIns="0" rIns="0" bIns="0" rtlCol="0" anchor="t"/>
          <a:lstStyle/>
          <a:p>
            <a:pPr indent="0" marL="0">
              <a:buNone/>
            </a:pPr>
            <a:r>
              <a:rPr lang="en-US" sz="1900" dirty="0">
                <a:solidFill>
                  <a:srgbClr val="FCDF59"/>
                </a:solidFill>
                <a:latin typeface="Courier New" pitchFamily="34" charset="0"/>
                <a:ea typeface="Courier New" pitchFamily="34" charset="-122"/>
                <a:cs typeface="Courier New" pitchFamily="34" charset="-120"/>
              </a:rPr>
              <a:t>for</a:t>
            </a:r>
            <a:pPr indent="0" marL="0">
              <a:buNone/>
            </a:pPr>
            <a:r>
              <a:rPr lang="en-US" sz="1900" dirty="0">
                <a:solidFill>
                  <a:srgbClr val="E8ECFF"/>
                </a:solidFill>
                <a:latin typeface="Courier New" pitchFamily="34" charset="0"/>
                <a:ea typeface="Courier New" pitchFamily="34" charset="-122"/>
                <a:cs typeface="Courier New" pitchFamily="34" charset="-120"/>
              </a:rPr>
              <a:t> i := </a:t>
            </a:r>
            <a:pPr indent="0" marL="0">
              <a:buNone/>
            </a:pPr>
            <a:r>
              <a:rPr lang="en-US" sz="1900" dirty="0">
                <a:solidFill>
                  <a:srgbClr val="FFC58A"/>
                </a:solidFill>
                <a:latin typeface="Courier New" pitchFamily="34" charset="0"/>
                <a:ea typeface="Courier New" pitchFamily="34" charset="-122"/>
                <a:cs typeface="Courier New" pitchFamily="34" charset="-120"/>
              </a:rPr>
              <a:t>1</a:t>
            </a:r>
            <a:pPr indent="0" marL="0">
              <a:buNone/>
            </a:pPr>
            <a:r>
              <a:rPr lang="en-US" sz="1900" dirty="0">
                <a:solidFill>
                  <a:srgbClr val="E8ECFF"/>
                </a:solidFill>
                <a:latin typeface="Courier New" pitchFamily="34" charset="0"/>
                <a:ea typeface="Courier New" pitchFamily="34" charset="-122"/>
                <a:cs typeface="Courier New" pitchFamily="34" charset="-120"/>
              </a:rPr>
              <a:t>; i &lt;= </a:t>
            </a:r>
            <a:pPr indent="0" marL="0">
              <a:buNone/>
            </a:pPr>
            <a:r>
              <a:rPr lang="en-US" sz="1900" dirty="0">
                <a:solidFill>
                  <a:srgbClr val="FFC58A"/>
                </a:solidFill>
                <a:latin typeface="Courier New" pitchFamily="34" charset="0"/>
                <a:ea typeface="Courier New" pitchFamily="34" charset="-122"/>
                <a:cs typeface="Courier New" pitchFamily="34" charset="-120"/>
              </a:rPr>
              <a:t>10</a:t>
            </a:r>
            <a:pPr indent="0" marL="0">
              <a:buNone/>
            </a:pPr>
            <a:r>
              <a:rPr lang="en-US" sz="1900" dirty="0">
                <a:solidFill>
                  <a:srgbClr val="E8ECFF"/>
                </a:solidFill>
                <a:latin typeface="Courier New" pitchFamily="34" charset="0"/>
                <a:ea typeface="Courier New" pitchFamily="34" charset="-122"/>
                <a:cs typeface="Courier New" pitchFamily="34" charset="-120"/>
              </a:rPr>
              <a:t>; i++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CDF59"/>
                </a:solidFill>
                <a:latin typeface="Courier New" pitchFamily="34" charset="0"/>
                <a:ea typeface="Courier New" pitchFamily="34" charset="-122"/>
                <a:cs typeface="Courier New" pitchFamily="34" charset="-120"/>
              </a:rPr>
              <a:t>if</a:t>
            </a:r>
            <a:pPr indent="0" marL="0">
              <a:buNone/>
            </a:pPr>
            <a:r>
              <a:rPr lang="en-US" sz="1900" dirty="0">
                <a:solidFill>
                  <a:srgbClr val="E8ECFF"/>
                </a:solidFill>
                <a:latin typeface="Courier New" pitchFamily="34" charset="0"/>
                <a:ea typeface="Courier New" pitchFamily="34" charset="-122"/>
                <a:cs typeface="Courier New" pitchFamily="34" charset="-120"/>
              </a:rPr>
              <a:t> i%</a:t>
            </a:r>
            <a:pPr indent="0" marL="0">
              <a:buNone/>
            </a:pPr>
            <a:r>
              <a:rPr lang="en-US" sz="1900" dirty="0">
                <a:solidFill>
                  <a:srgbClr val="FFC58A"/>
                </a:solidFill>
                <a:latin typeface="Courier New" pitchFamily="34" charset="0"/>
                <a:ea typeface="Courier New" pitchFamily="34" charset="-122"/>
                <a:cs typeface="Courier New" pitchFamily="34" charset="-120"/>
              </a:rPr>
              <a:t>2</a:t>
            </a:r>
            <a:pPr indent="0" marL="0">
              <a:buNone/>
            </a:pPr>
            <a:r>
              <a:rPr lang="en-US" sz="1900" dirty="0">
                <a:solidFill>
                  <a:srgbClr val="E8ECFF"/>
                </a:solidFill>
                <a:latin typeface="Courier New" pitchFamily="34" charset="0"/>
                <a:ea typeface="Courier New" pitchFamily="34" charset="-122"/>
                <a:cs typeface="Courier New" pitchFamily="34" charset="-120"/>
              </a:rPr>
              <a:t> == </a:t>
            </a:r>
            <a:pPr indent="0" marL="0">
              <a:buNone/>
            </a:pPr>
            <a:r>
              <a:rPr lang="en-US" sz="1900" dirty="0">
                <a:solidFill>
                  <a:srgbClr val="FFC58A"/>
                </a:solidFill>
                <a:latin typeface="Courier New" pitchFamily="34" charset="0"/>
                <a:ea typeface="Courier New" pitchFamily="34" charset="-122"/>
                <a:cs typeface="Courier New" pitchFamily="34" charset="-120"/>
              </a:rPr>
              <a:t>0</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continue </a:t>
            </a:r>
            <a:pPr indent="0" marL="0">
              <a:buNone/>
            </a:pPr>
            <a:r>
              <a:rPr lang="en-US" sz="1900" dirty="0">
                <a:solidFill>
                  <a:srgbClr val="8C93C9"/>
                </a:solidFill>
                <a:latin typeface="Courier New" pitchFamily="34" charset="0"/>
                <a:ea typeface="Courier New" pitchFamily="34" charset="-122"/>
                <a:cs typeface="Courier New" pitchFamily="34" charset="-120"/>
              </a:rPr>
              <a:t>// lewati genap</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CDF59"/>
                </a:solidFill>
                <a:latin typeface="Courier New" pitchFamily="34" charset="0"/>
                <a:ea typeface="Courier New" pitchFamily="34" charset="-122"/>
                <a:cs typeface="Courier New" pitchFamily="34" charset="-120"/>
              </a:rPr>
              <a:t>if</a:t>
            </a:r>
            <a:pPr indent="0" marL="0">
              <a:buNone/>
            </a:pPr>
            <a:r>
              <a:rPr lang="en-US" sz="1900" dirty="0">
                <a:solidFill>
                  <a:srgbClr val="E8ECFF"/>
                </a:solidFill>
                <a:latin typeface="Courier New" pitchFamily="34" charset="0"/>
                <a:ea typeface="Courier New" pitchFamily="34" charset="-122"/>
                <a:cs typeface="Courier New" pitchFamily="34" charset="-120"/>
              </a:rPr>
              <a:t> i &gt; </a:t>
            </a:r>
            <a:pPr indent="0" marL="0">
              <a:buNone/>
            </a:pPr>
            <a:r>
              <a:rPr lang="en-US" sz="1900" dirty="0">
                <a:solidFill>
                  <a:srgbClr val="FFC58A"/>
                </a:solidFill>
                <a:latin typeface="Courier New" pitchFamily="34" charset="0"/>
                <a:ea typeface="Courier New" pitchFamily="34" charset="-122"/>
                <a:cs typeface="Courier New" pitchFamily="34" charset="-120"/>
              </a:rPr>
              <a:t>7</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break </a:t>
            </a:r>
            <a:pPr indent="0" marL="0">
              <a:buNone/>
            </a:pPr>
            <a:r>
              <a:rPr lang="en-US" sz="1900" dirty="0">
                <a:solidFill>
                  <a:srgbClr val="8C93C9"/>
                </a:solidFill>
                <a:latin typeface="Courier New" pitchFamily="34" charset="0"/>
                <a:ea typeface="Courier New" pitchFamily="34" charset="-122"/>
                <a:cs typeface="Courier New" pitchFamily="34" charset="-120"/>
              </a:rPr>
              <a:t>// berhenti</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fmt.Println(i)</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p:txBody>
      </p:sp>
      <p:sp>
        <p:nvSpPr>
          <p:cNvPr id="10" name="Text 5"/>
          <p:cNvSpPr txBox="1"/>
          <p:nvPr/>
        </p:nvSpPr>
        <p:spPr>
          <a:xfrm>
            <a:off x="8229600" y="4160520"/>
            <a:ext cx="4206240" cy="777240"/>
          </a:xfrm>
          <a:prstGeom prst="roundRect">
            <a:avLst>
              <a:gd name="adj" fmla="val 14118"/>
            </a:avLst>
          </a:prstGeom>
          <a:solidFill>
            <a:srgbClr val="FCDF59"/>
          </a:solidFill>
          <a:ln>
            <a:solidFill>
              <a:srgbClr val="FCDF59"/>
            </a:solidFill>
          </a:ln>
        </p:spPr>
        <p:txBody>
          <a:bodyPr wrap="square" lIns="635" tIns="635" rIns="635" bIns="635" rtlCol="0" anchor="ctr"/>
          <a:lstStyle/>
          <a:p>
            <a:pPr algn="ctr" indent="0" marL="0">
              <a:buNone/>
            </a:pPr>
            <a:r>
              <a:rPr lang="en-US" sz="2400" b="1" dirty="0">
                <a:solidFill>
                  <a:srgbClr val="13123D"/>
                </a:solidFill>
                <a:latin typeface="Courier New" pitchFamily="34" charset="0"/>
                <a:ea typeface="Courier New" pitchFamily="34" charset="-122"/>
                <a:cs typeface="Courier New" pitchFamily="34" charset="-120"/>
              </a:rPr>
              <a:t>Output: 1 3 5 7</a:t>
            </a:r>
            <a:endParaRPr lang="en-US" sz="2400" dirty="0"/>
          </a:p>
        </p:txBody>
      </p:sp>
      <p:sp>
        <p:nvSpPr>
          <p:cNvPr id="11" name="Shape 6"/>
          <p:cNvSpPr/>
          <p:nvPr/>
        </p:nvSpPr>
        <p:spPr>
          <a:xfrm>
            <a:off x="8229600" y="5303520"/>
            <a:ext cx="9418320" cy="1828800"/>
          </a:xfrm>
          <a:prstGeom prst="roundRect">
            <a:avLst>
              <a:gd name="adj" fmla="val 7500"/>
            </a:avLst>
          </a:prstGeom>
          <a:solidFill>
            <a:srgbClr val="EEF1FC"/>
          </a:solidFill>
          <a:ln w="12700">
            <a:solidFill>
              <a:srgbClr val="D3DAF5"/>
            </a:solidFill>
            <a:prstDash val="solid"/>
          </a:ln>
        </p:spPr>
      </p:sp>
      <p:sp>
        <p:nvSpPr>
          <p:cNvPr id="12" name="Text 7"/>
          <p:cNvSpPr txBox="1"/>
          <p:nvPr/>
        </p:nvSpPr>
        <p:spPr>
          <a:xfrm>
            <a:off x="8503920" y="5303520"/>
            <a:ext cx="8869680" cy="182880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break</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Keluar dari perulangan sepenuhnya.</a:t>
            </a:r>
            <a:endParaRPr lang="en-US" sz="2400" dirty="0"/>
          </a:p>
        </p:txBody>
      </p:sp>
      <p:sp>
        <p:nvSpPr>
          <p:cNvPr id="13" name="Shape 8"/>
          <p:cNvSpPr/>
          <p:nvPr/>
        </p:nvSpPr>
        <p:spPr>
          <a:xfrm>
            <a:off x="8229600" y="7360920"/>
            <a:ext cx="9418320" cy="2103120"/>
          </a:xfrm>
          <a:prstGeom prst="roundRect">
            <a:avLst>
              <a:gd name="adj" fmla="val 6522"/>
            </a:avLst>
          </a:prstGeom>
          <a:solidFill>
            <a:srgbClr val="FFF3BF"/>
          </a:solidFill>
          <a:ln w="12700">
            <a:solidFill>
              <a:srgbClr val="FFF3BF"/>
            </a:solidFill>
            <a:prstDash val="solid"/>
          </a:ln>
        </p:spPr>
      </p:sp>
      <p:sp>
        <p:nvSpPr>
          <p:cNvPr id="14" name="Text 9"/>
          <p:cNvSpPr txBox="1"/>
          <p:nvPr/>
        </p:nvSpPr>
        <p:spPr>
          <a:xfrm>
            <a:off x="8503920" y="7360920"/>
            <a:ext cx="8869680" cy="210312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continue</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Lewati sisa putaran ini, lanjut ke putaran berikutnya.</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2194560"/>
            <a:ext cx="5943600" cy="1188720"/>
          </a:xfrm>
          <a:prstGeom prst="rect">
            <a:avLst/>
          </a:prstGeom>
          <a:noFill/>
          <a:ln/>
        </p:spPr>
        <p:txBody>
          <a:bodyPr wrap="square" lIns="0" tIns="0" rIns="0" bIns="0" rtlCol="0" anchor="t"/>
          <a:lstStyle/>
          <a:p>
            <a:pPr indent="0" marL="0">
              <a:buNone/>
            </a:pPr>
            <a:r>
              <a:rPr lang="en-US" sz="6000" b="1" dirty="0">
                <a:solidFill>
                  <a:srgbClr val="FDFBFB"/>
                </a:solidFill>
                <a:latin typeface="Arial" pitchFamily="34" charset="0"/>
                <a:ea typeface="Arial" pitchFamily="34" charset="-122"/>
                <a:cs typeface="Arial" pitchFamily="34" charset="-120"/>
              </a:rPr>
              <a:t>Istirahat</a:t>
            </a:r>
            <a:endParaRPr lang="en-US" sz="6000" dirty="0"/>
          </a:p>
        </p:txBody>
      </p:sp>
      <p:sp>
        <p:nvSpPr>
          <p:cNvPr id="5" name="Text 1"/>
          <p:cNvSpPr txBox="1"/>
          <p:nvPr/>
        </p:nvSpPr>
        <p:spPr>
          <a:xfrm>
            <a:off x="1024128" y="3566160"/>
            <a:ext cx="5760720" cy="822960"/>
          </a:xfrm>
          <a:prstGeom prst="rect">
            <a:avLst/>
          </a:prstGeom>
          <a:noFill/>
          <a:ln/>
        </p:spPr>
        <p:txBody>
          <a:bodyPr wrap="square" lIns="0" tIns="0" rIns="0" bIns="0" rtlCol="0" anchor="t"/>
          <a:lstStyle/>
          <a:p>
            <a:pPr indent="0" marL="0">
              <a:buNone/>
            </a:pPr>
            <a:r>
              <a:rPr lang="en-US" sz="4000" b="1" dirty="0">
                <a:solidFill>
                  <a:srgbClr val="FCDF59"/>
                </a:solidFill>
                <a:latin typeface="Arial" pitchFamily="34" charset="0"/>
                <a:ea typeface="Arial" pitchFamily="34" charset="-122"/>
                <a:cs typeface="Arial" pitchFamily="34" charset="-120"/>
              </a:rPr>
              <a:t>10 menit</a:t>
            </a:r>
            <a:endParaRPr lang="en-US" sz="4000" dirty="0"/>
          </a:p>
        </p:txBody>
      </p:sp>
      <p:sp>
        <p:nvSpPr>
          <p:cNvPr id="6" name="Shape 2"/>
          <p:cNvSpPr/>
          <p:nvPr/>
        </p:nvSpPr>
        <p:spPr>
          <a:xfrm>
            <a:off x="11430000" y="2377440"/>
            <a:ext cx="3291840" cy="3291840"/>
          </a:xfrm>
          <a:prstGeom prst="ellipse">
            <a:avLst/>
          </a:prstGeom>
          <a:solidFill>
            <a:srgbClr val="FCDF59"/>
          </a:solidFill>
          <a:ln w="12700">
            <a:solidFill>
              <a:srgbClr val="FCDF59"/>
            </a:solidFill>
            <a:prstDash val="solid"/>
          </a:ln>
        </p:spPr>
      </p:sp>
      <p:pic>
        <p:nvPicPr>
          <p:cNvPr id="7" name="Image 2" descr="preencoded.png">    </p:cNvPr>
          <p:cNvPicPr>
            <a:picLocks noChangeAspect="1"/>
          </p:cNvPicPr>
          <p:nvPr/>
        </p:nvPicPr>
        <p:blipFill>
          <a:blip r:embed="rId3"/>
          <a:stretch>
            <a:fillRect/>
          </a:stretch>
        </p:blipFill>
        <p:spPr>
          <a:xfrm>
            <a:off x="12435840" y="3383280"/>
            <a:ext cx="1280160" cy="1280160"/>
          </a:xfrm>
          <a:prstGeom prst="rect">
            <a:avLst/>
          </a:prstGeom>
        </p:spPr>
      </p:pic>
      <p:sp>
        <p:nvSpPr>
          <p:cNvPr id="8" name="Text 3"/>
          <p:cNvSpPr txBox="1"/>
          <p:nvPr/>
        </p:nvSpPr>
        <p:spPr>
          <a:xfrm>
            <a:off x="8229600" y="6309360"/>
            <a:ext cx="9418320" cy="1463040"/>
          </a:xfrm>
          <a:prstGeom prst="rect">
            <a:avLst/>
          </a:prstGeom>
          <a:noFill/>
          <a:ln/>
        </p:spPr>
        <p:txBody>
          <a:bodyPr wrap="square" lIns="0" tIns="0" rIns="0" bIns="0" rtlCol="0" anchor="t"/>
          <a:lstStyle/>
          <a:p>
            <a:pPr algn="ctr" indent="0" marL="0">
              <a:buNone/>
            </a:pPr>
            <a:r>
              <a:rPr lang="en-US" sz="3200" b="1" dirty="0">
                <a:solidFill>
                  <a:srgbClr val="162CA2"/>
                </a:solidFill>
                <a:latin typeface="Calibri" pitchFamily="34" charset="0"/>
                <a:ea typeface="Calibri" pitchFamily="34" charset="-122"/>
                <a:cs typeface="Calibri" pitchFamily="34" charset="-120"/>
              </a:rPr>
              <a:t>Setelah ini: array, slice, map, dan struct</a:t>
            </a:r>
            <a:endParaRPr lang="en-US" sz="3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BAGIAN 4 · 10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Array</a:t>
            </a:r>
            <a:endParaRPr lang="en-US" sz="4800" dirty="0"/>
          </a:p>
        </p:txBody>
      </p:sp>
      <p:sp>
        <p:nvSpPr>
          <p:cNvPr id="7" name="Text 2"/>
          <p:cNvSpPr txBox="1"/>
          <p:nvPr/>
        </p:nvSpPr>
        <p:spPr>
          <a:xfrm>
            <a:off x="914400" y="4160520"/>
            <a:ext cx="5486400" cy="457200"/>
          </a:xfrm>
          <a:prstGeom prst="rect">
            <a:avLst/>
          </a:prstGeom>
          <a:noFill/>
          <a:ln/>
        </p:spPr>
        <p:txBody>
          <a:bodyPr wrap="square" lIns="0" tIns="0" rIns="0" bIns="0" rtlCol="0" anchor="t"/>
          <a:lstStyle/>
          <a:p>
            <a:pPr indent="0" marL="0">
              <a:buNone/>
            </a:pPr>
            <a:r>
              <a:rPr lang="en-US" sz="2400" b="1" dirty="0">
                <a:solidFill>
                  <a:srgbClr val="5A5F86"/>
                </a:solidFill>
                <a:latin typeface="Courier New" pitchFamily="34" charset="0"/>
                <a:ea typeface="Courier New" pitchFamily="34" charset="-122"/>
                <a:cs typeface="Courier New" pitchFamily="34" charset="-120"/>
              </a:rPr>
              <a:t>nilai  [3]int</a:t>
            </a:r>
            <a:endParaRPr lang="en-US" sz="2400" dirty="0"/>
          </a:p>
        </p:txBody>
      </p:sp>
      <p:sp>
        <p:nvSpPr>
          <p:cNvPr id="8" name="Text 3"/>
          <p:cNvSpPr txBox="1"/>
          <p:nvPr/>
        </p:nvSpPr>
        <p:spPr>
          <a:xfrm>
            <a:off x="914400" y="4709160"/>
            <a:ext cx="1645920" cy="1097280"/>
          </a:xfrm>
          <a:prstGeom prst="rect">
            <a:avLst/>
          </a:prstGeom>
          <a:solidFill>
            <a:srgbClr val="162CA2"/>
          </a:solidFill>
          <a:ln w="25400">
            <a:solidFill>
              <a:srgbClr val="FDFBFB"/>
            </a:solidFill>
          </a:ln>
        </p:spPr>
        <p:txBody>
          <a:bodyPr wrap="square" lIns="0" tIns="0" rIns="0" bIns="0" rtlCol="0" anchor="ctr"/>
          <a:lstStyle/>
          <a:p>
            <a:pPr algn="ctr" indent="0" marL="0">
              <a:buNone/>
            </a:pPr>
            <a:r>
              <a:rPr lang="en-US" sz="3200" b="1" dirty="0">
                <a:solidFill>
                  <a:srgbClr val="FDFBFB"/>
                </a:solidFill>
                <a:latin typeface="Arial" pitchFamily="34" charset="0"/>
                <a:ea typeface="Arial" pitchFamily="34" charset="-122"/>
                <a:cs typeface="Arial" pitchFamily="34" charset="-120"/>
              </a:rPr>
              <a:t>80</a:t>
            </a:r>
            <a:endParaRPr lang="en-US" sz="3200" dirty="0"/>
          </a:p>
        </p:txBody>
      </p:sp>
      <p:sp>
        <p:nvSpPr>
          <p:cNvPr id="9" name="Text 4"/>
          <p:cNvSpPr txBox="1"/>
          <p:nvPr/>
        </p:nvSpPr>
        <p:spPr>
          <a:xfrm>
            <a:off x="914400" y="5852160"/>
            <a:ext cx="1645920" cy="411480"/>
          </a:xfrm>
          <a:prstGeom prst="rect">
            <a:avLst/>
          </a:prstGeom>
          <a:noFill/>
          <a:ln/>
        </p:spPr>
        <p:txBody>
          <a:bodyPr wrap="square" lIns="0" tIns="0" rIns="0" bIns="0" rtlCol="0" anchor="t"/>
          <a:lstStyle/>
          <a:p>
            <a:pPr algn="ctr" indent="0" marL="0">
              <a:buNone/>
            </a:pPr>
            <a:r>
              <a:rPr lang="en-US" sz="2200" dirty="0">
                <a:solidFill>
                  <a:srgbClr val="5A5F86"/>
                </a:solidFill>
                <a:latin typeface="Courier New" pitchFamily="34" charset="0"/>
                <a:ea typeface="Courier New" pitchFamily="34" charset="-122"/>
                <a:cs typeface="Courier New" pitchFamily="34" charset="-120"/>
              </a:rPr>
              <a:t>0</a:t>
            </a:r>
            <a:endParaRPr lang="en-US" sz="2200" dirty="0"/>
          </a:p>
        </p:txBody>
      </p:sp>
      <p:sp>
        <p:nvSpPr>
          <p:cNvPr id="10" name="Text 5"/>
          <p:cNvSpPr txBox="1"/>
          <p:nvPr/>
        </p:nvSpPr>
        <p:spPr>
          <a:xfrm>
            <a:off x="2606040" y="4709160"/>
            <a:ext cx="1645920" cy="1097280"/>
          </a:xfrm>
          <a:prstGeom prst="rect">
            <a:avLst/>
          </a:prstGeom>
          <a:solidFill>
            <a:srgbClr val="162CA2"/>
          </a:solidFill>
          <a:ln w="25400">
            <a:solidFill>
              <a:srgbClr val="FDFBFB"/>
            </a:solidFill>
          </a:ln>
        </p:spPr>
        <p:txBody>
          <a:bodyPr wrap="square" lIns="0" tIns="0" rIns="0" bIns="0" rtlCol="0" anchor="ctr"/>
          <a:lstStyle/>
          <a:p>
            <a:pPr algn="ctr" indent="0" marL="0">
              <a:buNone/>
            </a:pPr>
            <a:r>
              <a:rPr lang="en-US" sz="3200" b="1" dirty="0">
                <a:solidFill>
                  <a:srgbClr val="FDFBFB"/>
                </a:solidFill>
                <a:latin typeface="Arial" pitchFamily="34" charset="0"/>
                <a:ea typeface="Arial" pitchFamily="34" charset="-122"/>
                <a:cs typeface="Arial" pitchFamily="34" charset="-120"/>
              </a:rPr>
              <a:t>65</a:t>
            </a:r>
            <a:endParaRPr lang="en-US" sz="3200" dirty="0"/>
          </a:p>
        </p:txBody>
      </p:sp>
      <p:sp>
        <p:nvSpPr>
          <p:cNvPr id="11" name="Text 6"/>
          <p:cNvSpPr txBox="1"/>
          <p:nvPr/>
        </p:nvSpPr>
        <p:spPr>
          <a:xfrm>
            <a:off x="2606040" y="5852160"/>
            <a:ext cx="1645920" cy="411480"/>
          </a:xfrm>
          <a:prstGeom prst="rect">
            <a:avLst/>
          </a:prstGeom>
          <a:noFill/>
          <a:ln/>
        </p:spPr>
        <p:txBody>
          <a:bodyPr wrap="square" lIns="0" tIns="0" rIns="0" bIns="0" rtlCol="0" anchor="t"/>
          <a:lstStyle/>
          <a:p>
            <a:pPr algn="ctr" indent="0" marL="0">
              <a:buNone/>
            </a:pPr>
            <a:r>
              <a:rPr lang="en-US" sz="2200" dirty="0">
                <a:solidFill>
                  <a:srgbClr val="5A5F86"/>
                </a:solidFill>
                <a:latin typeface="Courier New" pitchFamily="34" charset="0"/>
                <a:ea typeface="Courier New" pitchFamily="34" charset="-122"/>
                <a:cs typeface="Courier New" pitchFamily="34" charset="-120"/>
              </a:rPr>
              <a:t>1</a:t>
            </a:r>
            <a:endParaRPr lang="en-US" sz="2200" dirty="0"/>
          </a:p>
        </p:txBody>
      </p:sp>
      <p:sp>
        <p:nvSpPr>
          <p:cNvPr id="12" name="Text 7"/>
          <p:cNvSpPr txBox="1"/>
          <p:nvPr/>
        </p:nvSpPr>
        <p:spPr>
          <a:xfrm>
            <a:off x="4297680" y="4709160"/>
            <a:ext cx="1645920" cy="1097280"/>
          </a:xfrm>
          <a:prstGeom prst="rect">
            <a:avLst/>
          </a:prstGeom>
          <a:solidFill>
            <a:srgbClr val="162CA2"/>
          </a:solidFill>
          <a:ln w="25400">
            <a:solidFill>
              <a:srgbClr val="FDFBFB"/>
            </a:solidFill>
          </a:ln>
        </p:spPr>
        <p:txBody>
          <a:bodyPr wrap="square" lIns="0" tIns="0" rIns="0" bIns="0" rtlCol="0" anchor="ctr"/>
          <a:lstStyle/>
          <a:p>
            <a:pPr algn="ctr" indent="0" marL="0">
              <a:buNone/>
            </a:pPr>
            <a:r>
              <a:rPr lang="en-US" sz="3200" b="1" dirty="0">
                <a:solidFill>
                  <a:srgbClr val="FDFBFB"/>
                </a:solidFill>
                <a:latin typeface="Arial" pitchFamily="34" charset="0"/>
                <a:ea typeface="Arial" pitchFamily="34" charset="-122"/>
                <a:cs typeface="Arial" pitchFamily="34" charset="-120"/>
              </a:rPr>
              <a:t>90</a:t>
            </a:r>
            <a:endParaRPr lang="en-US" sz="3200" dirty="0"/>
          </a:p>
        </p:txBody>
      </p:sp>
      <p:sp>
        <p:nvSpPr>
          <p:cNvPr id="13" name="Text 8"/>
          <p:cNvSpPr txBox="1"/>
          <p:nvPr/>
        </p:nvSpPr>
        <p:spPr>
          <a:xfrm>
            <a:off x="4297680" y="5852160"/>
            <a:ext cx="1645920" cy="411480"/>
          </a:xfrm>
          <a:prstGeom prst="rect">
            <a:avLst/>
          </a:prstGeom>
          <a:noFill/>
          <a:ln/>
        </p:spPr>
        <p:txBody>
          <a:bodyPr wrap="square" lIns="0" tIns="0" rIns="0" bIns="0" rtlCol="0" anchor="t"/>
          <a:lstStyle/>
          <a:p>
            <a:pPr algn="ctr" indent="0" marL="0">
              <a:buNone/>
            </a:pPr>
            <a:r>
              <a:rPr lang="en-US" sz="2200" dirty="0">
                <a:solidFill>
                  <a:srgbClr val="5A5F86"/>
                </a:solidFill>
                <a:latin typeface="Courier New" pitchFamily="34" charset="0"/>
                <a:ea typeface="Courier New" pitchFamily="34" charset="-122"/>
                <a:cs typeface="Courier New" pitchFamily="34" charset="-120"/>
              </a:rPr>
              <a:t>2</a:t>
            </a:r>
            <a:endParaRPr lang="en-US" sz="2200" dirty="0"/>
          </a:p>
        </p:txBody>
      </p:sp>
      <p:sp>
        <p:nvSpPr>
          <p:cNvPr id="14" name="Shape 9"/>
          <p:cNvSpPr/>
          <p:nvPr/>
        </p:nvSpPr>
        <p:spPr>
          <a:xfrm>
            <a:off x="6766560" y="4343400"/>
            <a:ext cx="10607040" cy="2011680"/>
          </a:xfrm>
          <a:prstGeom prst="roundRect">
            <a:avLst>
              <a:gd name="adj" fmla="val 6818"/>
            </a:avLst>
          </a:prstGeom>
          <a:solidFill>
            <a:srgbClr val="FFF3BF"/>
          </a:solidFill>
          <a:ln w="12700">
            <a:solidFill>
              <a:srgbClr val="FFF3BF"/>
            </a:solidFill>
            <a:prstDash val="solid"/>
          </a:ln>
        </p:spPr>
      </p:sp>
      <p:sp>
        <p:nvSpPr>
          <p:cNvPr id="15" name="Text 10"/>
          <p:cNvSpPr txBox="1"/>
          <p:nvPr/>
        </p:nvSpPr>
        <p:spPr>
          <a:xfrm>
            <a:off x="7040880" y="4343400"/>
            <a:ext cx="10058400" cy="201168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Ukuran tetap</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[3]int dan [4]int adalah dua tipe yang berbeda.</a:t>
            </a:r>
            <a:endParaRPr lang="en-US" sz="2400" dirty="0"/>
          </a:p>
        </p:txBody>
      </p:sp>
      <p:sp>
        <p:nvSpPr>
          <p:cNvPr id="16" name="Shape 11"/>
          <p:cNvSpPr/>
          <p:nvPr/>
        </p:nvSpPr>
        <p:spPr>
          <a:xfrm>
            <a:off x="914400" y="6675120"/>
            <a:ext cx="10241280" cy="2314956"/>
          </a:xfrm>
          <a:prstGeom prst="roundRect">
            <a:avLst>
              <a:gd name="adj" fmla="val 5925"/>
            </a:avLst>
          </a:prstGeom>
          <a:solidFill>
            <a:srgbClr val="13123D"/>
          </a:solidFill>
          <a:ln w="12700">
            <a:solidFill>
              <a:srgbClr val="13123D"/>
            </a:solidFill>
            <a:prstDash val="solid"/>
          </a:ln>
        </p:spPr>
      </p:sp>
      <p:sp>
        <p:nvSpPr>
          <p:cNvPr id="17" name="Text 12"/>
          <p:cNvSpPr txBox="1"/>
          <p:nvPr/>
        </p:nvSpPr>
        <p:spPr>
          <a:xfrm>
            <a:off x="1188720" y="6931152"/>
            <a:ext cx="9692640" cy="1857756"/>
          </a:xfrm>
          <a:prstGeom prst="rect">
            <a:avLst/>
          </a:prstGeom>
          <a:noFill/>
          <a:ln/>
        </p:spPr>
        <p:txBody>
          <a:bodyPr wrap="square" lIns="0" tIns="0" rIns="0" bIns="0" rtlCol="0" anchor="t"/>
          <a:lstStyle/>
          <a:p>
            <a:pPr indent="0" marL="0">
              <a:buNone/>
            </a:pPr>
            <a:r>
              <a:rPr lang="en-US" sz="1900" dirty="0">
                <a:solidFill>
                  <a:srgbClr val="FCDF59"/>
                </a:solidFill>
                <a:latin typeface="Courier New" pitchFamily="34" charset="0"/>
                <a:ea typeface="Courier New" pitchFamily="34" charset="-122"/>
                <a:cs typeface="Courier New" pitchFamily="34" charset="-120"/>
              </a:rPr>
              <a:t>var</a:t>
            </a:r>
            <a:pPr indent="0" marL="0">
              <a:buNone/>
            </a:pPr>
            <a:r>
              <a:rPr lang="en-US" sz="1900" dirty="0">
                <a:solidFill>
                  <a:srgbClr val="E8ECFF"/>
                </a:solidFill>
                <a:latin typeface="Courier New" pitchFamily="34" charset="0"/>
                <a:ea typeface="Courier New" pitchFamily="34" charset="-122"/>
                <a:cs typeface="Courier New" pitchFamily="34" charset="-120"/>
              </a:rPr>
              <a:t> nilai [</a:t>
            </a:r>
            <a:pPr indent="0" marL="0">
              <a:buNone/>
            </a:pPr>
            <a:r>
              <a:rPr lang="en-US" sz="1900" dirty="0">
                <a:solidFill>
                  <a:srgbClr val="FFC58A"/>
                </a:solidFill>
                <a:latin typeface="Courier New" pitchFamily="34" charset="0"/>
                <a:ea typeface="Courier New" pitchFamily="34" charset="-122"/>
                <a:cs typeface="Courier New" pitchFamily="34" charset="-120"/>
              </a:rPr>
              <a:t>3</a:t>
            </a:r>
            <a:pPr indent="0" marL="0">
              <a:buNone/>
            </a:pPr>
            <a:r>
              <a:rPr lang="en-US" sz="1900" dirty="0">
                <a:solidFill>
                  <a:srgbClr val="E8ECFF"/>
                </a:solidFill>
                <a:latin typeface="Courier New" pitchFamily="34" charset="0"/>
                <a:ea typeface="Courier New" pitchFamily="34" charset="-122"/>
                <a:cs typeface="Courier New" pitchFamily="34" charset="-120"/>
              </a:rPr>
              <a:t>]</a:t>
            </a:r>
            <a:pPr indent="0" marL="0">
              <a:buNone/>
            </a:pPr>
            <a:r>
              <a:rPr lang="en-US" sz="1900" dirty="0">
                <a:solidFill>
                  <a:srgbClr val="A5C8FF"/>
                </a:solidFill>
                <a:latin typeface="Courier New" pitchFamily="34" charset="0"/>
                <a:ea typeface="Courier New" pitchFamily="34" charset="-122"/>
                <a:cs typeface="Courier New" pitchFamily="34" charset="-120"/>
              </a:rPr>
              <a:t>int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nilai[</a:t>
            </a:r>
            <a:pPr indent="0" marL="0">
              <a:buNone/>
            </a:pPr>
            <a:r>
              <a:rPr lang="en-US" sz="1900" dirty="0">
                <a:solidFill>
                  <a:srgbClr val="FFC58A"/>
                </a:solidFill>
                <a:latin typeface="Courier New" pitchFamily="34" charset="0"/>
                <a:ea typeface="Courier New" pitchFamily="34" charset="-122"/>
                <a:cs typeface="Courier New" pitchFamily="34" charset="-120"/>
              </a:rPr>
              <a:t>0</a:t>
            </a:r>
            <a:pPr indent="0" marL="0">
              <a:buNone/>
            </a:pPr>
            <a:r>
              <a:rPr lang="en-US" sz="1900" dirty="0">
                <a:solidFill>
                  <a:srgbClr val="E8ECFF"/>
                </a:solidFill>
                <a:latin typeface="Courier New" pitchFamily="34" charset="0"/>
                <a:ea typeface="Courier New" pitchFamily="34" charset="-122"/>
                <a:cs typeface="Courier New" pitchFamily="34" charset="-120"/>
              </a:rPr>
              <a:t>] = </a:t>
            </a:r>
            <a:pPr indent="0" marL="0">
              <a:buNone/>
            </a:pPr>
            <a:r>
              <a:rPr lang="en-US" sz="1900" dirty="0">
                <a:solidFill>
                  <a:srgbClr val="FFC58A"/>
                </a:solidFill>
                <a:latin typeface="Courier New" pitchFamily="34" charset="0"/>
                <a:ea typeface="Courier New" pitchFamily="34" charset="-122"/>
                <a:cs typeface="Courier New" pitchFamily="34" charset="-120"/>
              </a:rPr>
              <a:t>80</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nilai[</a:t>
            </a:r>
            <a:pPr indent="0" marL="0">
              <a:buNone/>
            </a:pPr>
            <a:r>
              <a:rPr lang="en-US" sz="1900" dirty="0">
                <a:solidFill>
                  <a:srgbClr val="FFC58A"/>
                </a:solidFill>
                <a:latin typeface="Courier New" pitchFamily="34" charset="0"/>
                <a:ea typeface="Courier New" pitchFamily="34" charset="-122"/>
                <a:cs typeface="Courier New" pitchFamily="34" charset="-120"/>
              </a:rPr>
              <a:t>1</a:t>
            </a:r>
            <a:pPr indent="0" marL="0">
              <a:buNone/>
            </a:pPr>
            <a:r>
              <a:rPr lang="en-US" sz="1900" dirty="0">
                <a:solidFill>
                  <a:srgbClr val="E8ECFF"/>
                </a:solidFill>
                <a:latin typeface="Courier New" pitchFamily="34" charset="0"/>
                <a:ea typeface="Courier New" pitchFamily="34" charset="-122"/>
                <a:cs typeface="Courier New" pitchFamily="34" charset="-120"/>
              </a:rPr>
              <a:t>] = </a:t>
            </a:r>
            <a:pPr indent="0" marL="0">
              <a:buNone/>
            </a:pPr>
            <a:r>
              <a:rPr lang="en-US" sz="1900" dirty="0">
                <a:solidFill>
                  <a:srgbClr val="FFC58A"/>
                </a:solidFill>
                <a:latin typeface="Courier New" pitchFamily="34" charset="0"/>
                <a:ea typeface="Courier New" pitchFamily="34" charset="-122"/>
                <a:cs typeface="Courier New" pitchFamily="34" charset="-120"/>
              </a:rPr>
              <a:t>65</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nilai[</a:t>
            </a:r>
            <a:pPr indent="0" marL="0">
              <a:buNone/>
            </a:pPr>
            <a:r>
              <a:rPr lang="en-US" sz="1900" dirty="0">
                <a:solidFill>
                  <a:srgbClr val="FFC58A"/>
                </a:solidFill>
                <a:latin typeface="Courier New" pitchFamily="34" charset="0"/>
                <a:ea typeface="Courier New" pitchFamily="34" charset="-122"/>
                <a:cs typeface="Courier New" pitchFamily="34" charset="-120"/>
              </a:rPr>
              <a:t>2</a:t>
            </a:r>
            <a:pPr indent="0" marL="0">
              <a:buNone/>
            </a:pPr>
            <a:r>
              <a:rPr lang="en-US" sz="1900" dirty="0">
                <a:solidFill>
                  <a:srgbClr val="E8ECFF"/>
                </a:solidFill>
                <a:latin typeface="Courier New" pitchFamily="34" charset="0"/>
                <a:ea typeface="Courier New" pitchFamily="34" charset="-122"/>
                <a:cs typeface="Courier New" pitchFamily="34" charset="-120"/>
              </a:rPr>
              <a:t>] = </a:t>
            </a:r>
            <a:pPr indent="0" marL="0">
              <a:buNone/>
            </a:pPr>
            <a:r>
              <a:rPr lang="en-US" sz="1900" dirty="0">
                <a:solidFill>
                  <a:srgbClr val="FFC58A"/>
                </a:solidFill>
                <a:latin typeface="Courier New" pitchFamily="34" charset="0"/>
                <a:ea typeface="Courier New" pitchFamily="34" charset="-122"/>
                <a:cs typeface="Courier New" pitchFamily="34" charset="-120"/>
              </a:rPr>
              <a:t>90</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hari := [</a:t>
            </a:r>
            <a:pPr indent="0" marL="0">
              <a:buNone/>
            </a:pPr>
            <a:r>
              <a:rPr lang="en-US" sz="1900" dirty="0">
                <a:solidFill>
                  <a:srgbClr val="FFC58A"/>
                </a:solidFill>
                <a:latin typeface="Courier New" pitchFamily="34" charset="0"/>
                <a:ea typeface="Courier New" pitchFamily="34" charset="-122"/>
                <a:cs typeface="Courier New" pitchFamily="34" charset="-120"/>
              </a:rPr>
              <a:t>3</a:t>
            </a:r>
            <a:pPr indent="0" marL="0">
              <a:buNone/>
            </a:pPr>
            <a:r>
              <a:rPr lang="en-US" sz="1900" dirty="0">
                <a:solidFill>
                  <a:srgbClr val="E8ECFF"/>
                </a:solidFill>
                <a:latin typeface="Courier New" pitchFamily="34" charset="0"/>
                <a:ea typeface="Courier New" pitchFamily="34" charset="-122"/>
                <a:cs typeface="Courier New" pitchFamily="34" charset="-120"/>
              </a:rPr>
              <a:t>]</a:t>
            </a:r>
            <a:pPr indent="0" marL="0">
              <a:buNone/>
            </a:pPr>
            <a:r>
              <a:rPr lang="en-US" sz="1900" dirty="0">
                <a:solidFill>
                  <a:srgbClr val="A5C8FF"/>
                </a:solidFill>
                <a:latin typeface="Courier New" pitchFamily="34" charset="0"/>
                <a:ea typeface="Courier New" pitchFamily="34" charset="-122"/>
                <a:cs typeface="Courier New" pitchFamily="34" charset="-120"/>
              </a:rPr>
              <a:t>string</a:t>
            </a:r>
            <a:pPr indent="0" marL="0">
              <a:buNone/>
            </a:pPr>
            <a:r>
              <a:rPr lang="en-US" sz="1900" dirty="0">
                <a:solidFill>
                  <a:srgbClr val="E8ECFF"/>
                </a:solidFill>
                <a:latin typeface="Courier New" pitchFamily="34" charset="0"/>
                <a:ea typeface="Courier New" pitchFamily="34" charset="-122"/>
                <a:cs typeface="Courier New" pitchFamily="34" charset="-120"/>
              </a:rPr>
              <a:t>{</a:t>
            </a:r>
            <a:pPr indent="0" marL="0">
              <a:buNone/>
            </a:pPr>
            <a:r>
              <a:rPr lang="en-US" sz="1900" dirty="0">
                <a:solidFill>
                  <a:srgbClr val="A8E6CF"/>
                </a:solidFill>
                <a:latin typeface="Courier New" pitchFamily="34" charset="0"/>
                <a:ea typeface="Courier New" pitchFamily="34" charset="-122"/>
                <a:cs typeface="Courier New" pitchFamily="34" charset="-120"/>
              </a:rPr>
              <a:t>"Sen"</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"Sel"</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"Rab"</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fmt.Println(len(nilai), hari[</a:t>
            </a:r>
            <a:pPr indent="0" marL="0">
              <a:buNone/>
            </a:pPr>
            <a:r>
              <a:rPr lang="en-US" sz="1900" dirty="0">
                <a:solidFill>
                  <a:srgbClr val="FFC58A"/>
                </a:solidFill>
                <a:latin typeface="Courier New" pitchFamily="34" charset="0"/>
                <a:ea typeface="Courier New" pitchFamily="34" charset="-122"/>
                <a:cs typeface="Courier New" pitchFamily="34" charset="-120"/>
              </a:rPr>
              <a:t>1</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8C93C9"/>
                </a:solidFill>
                <a:latin typeface="Courier New" pitchFamily="34" charset="0"/>
                <a:ea typeface="Courier New" pitchFamily="34" charset="-122"/>
                <a:cs typeface="Courier New" pitchFamily="34" charset="-120"/>
              </a:rPr>
              <a:t>// 3 Sel</a:t>
            </a:r>
            <a:endParaRPr lang="en-US" sz="1900" dirty="0"/>
          </a:p>
        </p:txBody>
      </p:sp>
      <p:sp>
        <p:nvSpPr>
          <p:cNvPr id="18" name="Shape 13"/>
          <p:cNvSpPr/>
          <p:nvPr/>
        </p:nvSpPr>
        <p:spPr>
          <a:xfrm>
            <a:off x="11430000" y="6675120"/>
            <a:ext cx="5943600" cy="2834640"/>
          </a:xfrm>
          <a:prstGeom prst="roundRect">
            <a:avLst>
              <a:gd name="adj" fmla="val 4839"/>
            </a:avLst>
          </a:prstGeom>
          <a:solidFill>
            <a:srgbClr val="EEF1FC"/>
          </a:solidFill>
          <a:ln w="12700">
            <a:solidFill>
              <a:srgbClr val="D3DAF5"/>
            </a:solidFill>
            <a:prstDash val="solid"/>
          </a:ln>
        </p:spPr>
      </p:sp>
      <p:sp>
        <p:nvSpPr>
          <p:cNvPr id="19" name="Text 14"/>
          <p:cNvSpPr txBox="1"/>
          <p:nvPr/>
        </p:nvSpPr>
        <p:spPr>
          <a:xfrm>
            <a:off x="11704320" y="6812280"/>
            <a:ext cx="5486400" cy="457200"/>
          </a:xfrm>
          <a:prstGeom prst="rect">
            <a:avLst/>
          </a:prstGeom>
          <a:noFill/>
          <a:ln/>
        </p:spPr>
        <p:txBody>
          <a:bodyPr wrap="square" lIns="0" tIns="0" rIns="0" bIns="0" rtlCol="0" anchor="t"/>
          <a:lstStyle/>
          <a:p>
            <a:pPr indent="0" marL="0">
              <a:buNone/>
            </a:pPr>
            <a:r>
              <a:rPr lang="en-US" sz="2500" b="1" dirty="0">
                <a:solidFill>
                  <a:srgbClr val="162CA2"/>
                </a:solidFill>
                <a:latin typeface="Calibri" pitchFamily="34" charset="0"/>
                <a:ea typeface="Calibri" pitchFamily="34" charset="-122"/>
                <a:cs typeface="Calibri" pitchFamily="34" charset="-120"/>
              </a:rPr>
              <a:t>Sifat array</a:t>
            </a:r>
            <a:endParaRPr lang="en-US" sz="2500" dirty="0"/>
          </a:p>
        </p:txBody>
      </p:sp>
      <p:sp>
        <p:nvSpPr>
          <p:cNvPr id="20" name="Text 15"/>
          <p:cNvSpPr txBox="1"/>
          <p:nvPr/>
        </p:nvSpPr>
        <p:spPr>
          <a:xfrm>
            <a:off x="11704320" y="7406640"/>
            <a:ext cx="5486400" cy="2011680"/>
          </a:xfrm>
          <a:prstGeom prst="rect">
            <a:avLst/>
          </a:prstGeom>
          <a:noFill/>
          <a:ln/>
        </p:spPr>
        <p:txBody>
          <a:bodyPr wrap="square" lIns="0" tIns="0" rIns="0" bIns="0" rtlCol="0" anchor="t"/>
          <a:lstStyle/>
          <a:p>
            <a:pPr marL="342900" indent="-342900">
              <a:spcAft>
                <a:spcPts val="600"/>
              </a:spcAft>
              <a:buSzPct val="100000"/>
              <a:buChar char="•"/>
            </a:pPr>
            <a:r>
              <a:rPr lang="en-US" sz="2100" dirty="0">
                <a:solidFill>
                  <a:srgbClr val="13123D"/>
                </a:solidFill>
                <a:latin typeface="Calibri" pitchFamily="34" charset="0"/>
                <a:ea typeface="Calibri" pitchFamily="34" charset="-122"/>
                <a:cs typeface="Calibri" pitchFamily="34" charset="-120"/>
              </a:rPr>
              <a:t>Indeks mulai dari 0</a:t>
            </a:r>
            <a:endParaRPr lang="en-US" sz="2100" dirty="0"/>
          </a:p>
          <a:p>
            <a:pPr marL="342900" indent="-342900">
              <a:spcAft>
                <a:spcPts val="600"/>
              </a:spcAft>
              <a:buSzPct val="100000"/>
              <a:buChar char="•"/>
            </a:pPr>
            <a:r>
              <a:rPr lang="en-US" sz="2100" dirty="0">
                <a:solidFill>
                  <a:srgbClr val="13123D"/>
                </a:solidFill>
                <a:latin typeface="Calibri" pitchFamily="34" charset="0"/>
                <a:ea typeface="Calibri" pitchFamily="34" charset="-122"/>
                <a:cs typeface="Calibri" pitchFamily="34" charset="-120"/>
              </a:rPr>
              <a:t>Ukuran tetap saat dibuat</a:t>
            </a:r>
            <a:endParaRPr lang="en-US" sz="2100" dirty="0"/>
          </a:p>
          <a:p>
            <a:pPr marL="342900" indent="-342900">
              <a:spcAft>
                <a:spcPts val="600"/>
              </a:spcAft>
              <a:buSzPct val="100000"/>
              <a:buChar char="•"/>
            </a:pPr>
            <a:r>
              <a:rPr lang="en-US" sz="2100" dirty="0">
                <a:solidFill>
                  <a:srgbClr val="13123D"/>
                </a:solidFill>
                <a:latin typeface="Calibri" pitchFamily="34" charset="0"/>
                <a:ea typeface="Calibri" pitchFamily="34" charset="-122"/>
                <a:cs typeface="Calibri" pitchFamily="34" charset="-120"/>
              </a:rPr>
              <a:t>Disalin penuh saat di-assign</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5 · 15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Slice: Array yang Dapat Bertambah</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Ukuran dinamis</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append menambah elemen</a:t>
            </a:r>
            <a:endParaRPr lang="en-US" sz="2600" dirty="0"/>
          </a:p>
        </p:txBody>
      </p:sp>
      <p:sp>
        <p:nvSpPr>
          <p:cNvPr id="8" name="Shape 3"/>
          <p:cNvSpPr/>
          <p:nvPr/>
        </p:nvSpPr>
        <p:spPr>
          <a:xfrm>
            <a:off x="8229600" y="731520"/>
            <a:ext cx="9418320" cy="1865630"/>
          </a:xfrm>
          <a:prstGeom prst="roundRect">
            <a:avLst>
              <a:gd name="adj" fmla="val 7352"/>
            </a:avLst>
          </a:prstGeom>
          <a:solidFill>
            <a:srgbClr val="13123D"/>
          </a:solidFill>
          <a:ln w="12700">
            <a:solidFill>
              <a:srgbClr val="13123D"/>
            </a:solidFill>
            <a:prstDash val="solid"/>
          </a:ln>
        </p:spPr>
      </p:sp>
      <p:sp>
        <p:nvSpPr>
          <p:cNvPr id="9" name="Text 4"/>
          <p:cNvSpPr txBox="1"/>
          <p:nvPr/>
        </p:nvSpPr>
        <p:spPr>
          <a:xfrm>
            <a:off x="8503920" y="987552"/>
            <a:ext cx="8869680" cy="1408430"/>
          </a:xfrm>
          <a:prstGeom prst="rect">
            <a:avLst/>
          </a:prstGeom>
          <a:noFill/>
          <a:ln/>
        </p:spPr>
        <p:txBody>
          <a:bodyPr wrap="square" lIns="0" tIns="0" rIns="0" bIns="0" rtlCol="0" anchor="t"/>
          <a:lstStyle/>
          <a:p>
            <a:pPr indent="0" marL="0">
              <a:buNone/>
            </a:pPr>
            <a:r>
              <a:rPr lang="en-US" sz="1700" dirty="0">
                <a:solidFill>
                  <a:srgbClr val="E8ECFF"/>
                </a:solidFill>
                <a:latin typeface="Courier New" pitchFamily="34" charset="0"/>
                <a:ea typeface="Courier New" pitchFamily="34" charset="-122"/>
                <a:cs typeface="Courier New" pitchFamily="34" charset="-120"/>
              </a:rPr>
              <a:t>buah := []</a:t>
            </a:r>
            <a:pPr indent="0" marL="0">
              <a:buNone/>
            </a:pPr>
            <a:r>
              <a:rPr lang="en-US" sz="1700" dirty="0">
                <a:solidFill>
                  <a:srgbClr val="A5C8FF"/>
                </a:solidFill>
                <a:latin typeface="Courier New" pitchFamily="34" charset="0"/>
                <a:ea typeface="Courier New" pitchFamily="34" charset="-122"/>
                <a:cs typeface="Courier New" pitchFamily="34" charset="-120"/>
              </a:rPr>
              <a:t>string</a:t>
            </a:r>
            <a:pPr indent="0" marL="0">
              <a:buNone/>
            </a:pPr>
            <a:r>
              <a:rPr lang="en-US" sz="1700" dirty="0">
                <a:solidFill>
                  <a:srgbClr val="E8ECFF"/>
                </a:solidFill>
                <a:latin typeface="Courier New" pitchFamily="34" charset="0"/>
                <a:ea typeface="Courier New" pitchFamily="34" charset="-122"/>
                <a:cs typeface="Courier New" pitchFamily="34" charset="-120"/>
              </a:rPr>
              <a:t>{</a:t>
            </a:r>
            <a:pPr indent="0" marL="0">
              <a:buNone/>
            </a:pPr>
            <a:r>
              <a:rPr lang="en-US" sz="1700" dirty="0">
                <a:solidFill>
                  <a:srgbClr val="A8E6CF"/>
                </a:solidFill>
                <a:latin typeface="Courier New" pitchFamily="34" charset="0"/>
                <a:ea typeface="Courier New" pitchFamily="34" charset="-122"/>
                <a:cs typeface="Courier New" pitchFamily="34" charset="-120"/>
              </a:rPr>
              <a:t>"apel"</a:t>
            </a:r>
            <a:pPr indent="0" marL="0">
              <a:buNone/>
            </a:pPr>
            <a:r>
              <a:rPr lang="en-US" sz="1700" dirty="0">
                <a:solidFill>
                  <a:srgbClr val="E8ECFF"/>
                </a:solidFill>
                <a:latin typeface="Courier New" pitchFamily="34" charset="0"/>
                <a:ea typeface="Courier New" pitchFamily="34" charset="-122"/>
                <a:cs typeface="Courier New" pitchFamily="34" charset="-120"/>
              </a:rPr>
              <a:t>, </a:t>
            </a:r>
            <a:pPr indent="0" marL="0">
              <a:buNone/>
            </a:pPr>
            <a:r>
              <a:rPr lang="en-US" sz="1700" dirty="0">
                <a:solidFill>
                  <a:srgbClr val="A8E6CF"/>
                </a:solidFill>
                <a:latin typeface="Courier New" pitchFamily="34" charset="0"/>
                <a:ea typeface="Courier New" pitchFamily="34" charset="-122"/>
                <a:cs typeface="Courier New" pitchFamily="34" charset="-120"/>
              </a:rPr>
              <a:t>"jeruk"</a:t>
            </a:r>
            <a:pPr indent="0" marL="0">
              <a:buNone/>
            </a:pPr>
            <a:r>
              <a:rPr lang="en-US" sz="1700" dirty="0">
                <a:solidFill>
                  <a:srgbClr val="E8ECFF"/>
                </a:solidFill>
                <a:latin typeface="Courier New" pitchFamily="34" charset="0"/>
                <a:ea typeface="Courier New" pitchFamily="34" charset="-122"/>
                <a:cs typeface="Courier New" pitchFamily="34" charset="-120"/>
              </a:rPr>
              <a:t>}</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buah = append(buah, </a:t>
            </a:r>
            <a:pPr indent="0" marL="0">
              <a:buNone/>
            </a:pPr>
            <a:r>
              <a:rPr lang="en-US" sz="1700" dirty="0">
                <a:solidFill>
                  <a:srgbClr val="A8E6CF"/>
                </a:solidFill>
                <a:latin typeface="Courier New" pitchFamily="34" charset="0"/>
                <a:ea typeface="Courier New" pitchFamily="34" charset="-122"/>
                <a:cs typeface="Courier New" pitchFamily="34" charset="-120"/>
              </a:rPr>
              <a:t>"mangga"</a:t>
            </a:r>
            <a:pPr indent="0" marL="0">
              <a:buNone/>
            </a:pPr>
            <a:r>
              <a:rPr lang="en-US" sz="1700" dirty="0">
                <a:solidFill>
                  <a:srgbClr val="E8ECFF"/>
                </a:solidFill>
                <a:latin typeface="Courier New" pitchFamily="34" charset="0"/>
                <a:ea typeface="Courier New" pitchFamily="34" charset="-122"/>
                <a:cs typeface="Courier New" pitchFamily="34" charset="-120"/>
              </a:rPr>
              <a:t>)</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fmt.Println(len(buah), buah[</a:t>
            </a:r>
            <a:pPr indent="0" marL="0">
              <a:buNone/>
            </a:pPr>
            <a:r>
              <a:rPr lang="en-US" sz="1700" dirty="0">
                <a:solidFill>
                  <a:srgbClr val="FFC58A"/>
                </a:solidFill>
                <a:latin typeface="Courier New" pitchFamily="34" charset="0"/>
                <a:ea typeface="Courier New" pitchFamily="34" charset="-122"/>
                <a:cs typeface="Courier New" pitchFamily="34" charset="-120"/>
              </a:rPr>
              <a:t>2</a:t>
            </a:r>
            <a:pPr indent="0" marL="0">
              <a:buNone/>
            </a:pPr>
            <a:r>
              <a:rPr lang="en-US" sz="1700" dirty="0">
                <a:solidFill>
                  <a:srgbClr val="E8ECFF"/>
                </a:solidFill>
                <a:latin typeface="Courier New" pitchFamily="34" charset="0"/>
                <a:ea typeface="Courier New" pitchFamily="34" charset="-122"/>
                <a:cs typeface="Courier New" pitchFamily="34" charset="-120"/>
              </a:rPr>
              <a:t>]) </a:t>
            </a:r>
            <a:pPr indent="0" marL="0">
              <a:buNone/>
            </a:pPr>
            <a:r>
              <a:rPr lang="en-US" sz="1700" dirty="0">
                <a:solidFill>
                  <a:srgbClr val="8C93C9"/>
                </a:solidFill>
                <a:latin typeface="Courier New" pitchFamily="34" charset="0"/>
                <a:ea typeface="Courier New" pitchFamily="34" charset="-122"/>
                <a:cs typeface="Courier New" pitchFamily="34" charset="-120"/>
              </a:rPr>
              <a:t>// 3 mangga</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fmt.Println(buah[</a:t>
            </a:r>
            <a:pPr indent="0" marL="0">
              <a:buNone/>
            </a:pPr>
            <a:r>
              <a:rPr lang="en-US" sz="1700" dirty="0">
                <a:solidFill>
                  <a:srgbClr val="FFC58A"/>
                </a:solidFill>
                <a:latin typeface="Courier New" pitchFamily="34" charset="0"/>
                <a:ea typeface="Courier New" pitchFamily="34" charset="-122"/>
                <a:cs typeface="Courier New" pitchFamily="34" charset="-120"/>
              </a:rPr>
              <a:t>1</a:t>
            </a:r>
            <a:pPr indent="0" marL="0">
              <a:buNone/>
            </a:pPr>
            <a:r>
              <a:rPr lang="en-US" sz="1700" dirty="0">
                <a:solidFill>
                  <a:srgbClr val="E8ECFF"/>
                </a:solidFill>
                <a:latin typeface="Courier New" pitchFamily="34" charset="0"/>
                <a:ea typeface="Courier New" pitchFamily="34" charset="-122"/>
                <a:cs typeface="Courier New" pitchFamily="34" charset="-120"/>
              </a:rPr>
              <a:t>:</a:t>
            </a:r>
            <a:pPr indent="0" marL="0">
              <a:buNone/>
            </a:pPr>
            <a:r>
              <a:rPr lang="en-US" sz="1700" dirty="0">
                <a:solidFill>
                  <a:srgbClr val="FFC58A"/>
                </a:solidFill>
                <a:latin typeface="Courier New" pitchFamily="34" charset="0"/>
                <a:ea typeface="Courier New" pitchFamily="34" charset="-122"/>
                <a:cs typeface="Courier New" pitchFamily="34" charset="-120"/>
              </a:rPr>
              <a:t>3</a:t>
            </a:r>
            <a:pPr indent="0" marL="0">
              <a:buNone/>
            </a:pPr>
            <a:r>
              <a:rPr lang="en-US" sz="1700" dirty="0">
                <a:solidFill>
                  <a:srgbClr val="E8ECFF"/>
                </a:solidFill>
                <a:latin typeface="Courier New" pitchFamily="34" charset="0"/>
                <a:ea typeface="Courier New" pitchFamily="34" charset="-122"/>
                <a:cs typeface="Courier New" pitchFamily="34" charset="-120"/>
              </a:rPr>
              <a:t>])          </a:t>
            </a:r>
            <a:pPr indent="0" marL="0">
              <a:buNone/>
            </a:pPr>
            <a:r>
              <a:rPr lang="en-US" sz="1700" dirty="0">
                <a:solidFill>
                  <a:srgbClr val="8C93C9"/>
                </a:solidFill>
                <a:latin typeface="Courier New" pitchFamily="34" charset="0"/>
                <a:ea typeface="Courier New" pitchFamily="34" charset="-122"/>
                <a:cs typeface="Courier New" pitchFamily="34" charset="-120"/>
              </a:rPr>
              <a:t>// [jeruk mangga]</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kosong := make([]</a:t>
            </a:r>
            <a:pPr indent="0" marL="0">
              <a:buNone/>
            </a:pPr>
            <a:r>
              <a:rPr lang="en-US" sz="1700" dirty="0">
                <a:solidFill>
                  <a:srgbClr val="A5C8FF"/>
                </a:solidFill>
                <a:latin typeface="Courier New" pitchFamily="34" charset="0"/>
                <a:ea typeface="Courier New" pitchFamily="34" charset="-122"/>
                <a:cs typeface="Courier New" pitchFamily="34" charset="-120"/>
              </a:rPr>
              <a:t>int</a:t>
            </a:r>
            <a:pPr indent="0" marL="0">
              <a:buNone/>
            </a:pPr>
            <a:r>
              <a:rPr lang="en-US" sz="1700" dirty="0">
                <a:solidFill>
                  <a:srgbClr val="E8ECFF"/>
                </a:solidFill>
                <a:latin typeface="Courier New" pitchFamily="34" charset="0"/>
                <a:ea typeface="Courier New" pitchFamily="34" charset="-122"/>
                <a:cs typeface="Courier New" pitchFamily="34" charset="-120"/>
              </a:rPr>
              <a:t>, </a:t>
            </a:r>
            <a:pPr indent="0" marL="0">
              <a:buNone/>
            </a:pPr>
            <a:r>
              <a:rPr lang="en-US" sz="1700" dirty="0">
                <a:solidFill>
                  <a:srgbClr val="FFC58A"/>
                </a:solidFill>
                <a:latin typeface="Courier New" pitchFamily="34" charset="0"/>
                <a:ea typeface="Courier New" pitchFamily="34" charset="-122"/>
                <a:cs typeface="Courier New" pitchFamily="34" charset="-120"/>
              </a:rPr>
              <a:t>0</a:t>
            </a:r>
            <a:pPr indent="0" marL="0">
              <a:buNone/>
            </a:pPr>
            <a:r>
              <a:rPr lang="en-US" sz="1700" dirty="0">
                <a:solidFill>
                  <a:srgbClr val="E8ECFF"/>
                </a:solidFill>
                <a:latin typeface="Courier New" pitchFamily="34" charset="0"/>
                <a:ea typeface="Courier New" pitchFamily="34" charset="-122"/>
                <a:cs typeface="Courier New" pitchFamily="34" charset="-120"/>
              </a:rPr>
              <a:t>, </a:t>
            </a:r>
            <a:pPr indent="0" marL="0">
              <a:buNone/>
            </a:pPr>
            <a:r>
              <a:rPr lang="en-US" sz="1700" dirty="0">
                <a:solidFill>
                  <a:srgbClr val="FFC58A"/>
                </a:solidFill>
                <a:latin typeface="Courier New" pitchFamily="34" charset="0"/>
                <a:ea typeface="Courier New" pitchFamily="34" charset="-122"/>
                <a:cs typeface="Courier New" pitchFamily="34" charset="-120"/>
              </a:rPr>
              <a:t>5</a:t>
            </a:r>
            <a:pPr indent="0" marL="0">
              <a:buNone/>
            </a:pPr>
            <a:r>
              <a:rPr lang="en-US" sz="1700" dirty="0">
                <a:solidFill>
                  <a:srgbClr val="E8ECFF"/>
                </a:solidFill>
                <a:latin typeface="Courier New" pitchFamily="34" charset="0"/>
                <a:ea typeface="Courier New" pitchFamily="34" charset="-122"/>
                <a:cs typeface="Courier New" pitchFamily="34" charset="-120"/>
              </a:rPr>
              <a:t>)</a:t>
            </a:r>
            <a:endParaRPr lang="en-US" sz="1700" dirty="0"/>
          </a:p>
        </p:txBody>
      </p:sp>
      <p:sp>
        <p:nvSpPr>
          <p:cNvPr id="10" name="Shape 5"/>
          <p:cNvSpPr/>
          <p:nvPr/>
        </p:nvSpPr>
        <p:spPr>
          <a:xfrm>
            <a:off x="8229600" y="3108960"/>
            <a:ext cx="9418320" cy="1463040"/>
          </a:xfrm>
          <a:prstGeom prst="roundRect">
            <a:avLst>
              <a:gd name="adj" fmla="val 9375"/>
            </a:avLst>
          </a:prstGeom>
          <a:solidFill>
            <a:srgbClr val="FFF3BF"/>
          </a:solidFill>
          <a:ln w="12700">
            <a:solidFill>
              <a:srgbClr val="FFF3BF"/>
            </a:solidFill>
            <a:prstDash val="solid"/>
          </a:ln>
        </p:spPr>
      </p:sp>
      <p:sp>
        <p:nvSpPr>
          <p:cNvPr id="11" name="Text 6"/>
          <p:cNvSpPr txBox="1"/>
          <p:nvPr/>
        </p:nvSpPr>
        <p:spPr>
          <a:xfrm>
            <a:off x="8503920" y="3108960"/>
            <a:ext cx="8869680" cy="146304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Awas</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append mengembalikan slice baru. Tulis buah = append(buah, ...).</a:t>
            </a:r>
            <a:endParaRPr lang="en-US" sz="2400" dirty="0"/>
          </a:p>
        </p:txBody>
      </p:sp>
      <p:sp>
        <p:nvSpPr>
          <p:cNvPr id="12" name="Shape 7"/>
          <p:cNvSpPr/>
          <p:nvPr/>
        </p:nvSpPr>
        <p:spPr>
          <a:xfrm>
            <a:off x="8229600" y="4800600"/>
            <a:ext cx="9418320" cy="1371600"/>
          </a:xfrm>
          <a:prstGeom prst="roundRect">
            <a:avLst>
              <a:gd name="adj" fmla="val 10000"/>
            </a:avLst>
          </a:prstGeom>
          <a:solidFill>
            <a:srgbClr val="EEF1FC"/>
          </a:solidFill>
          <a:ln w="12700">
            <a:solidFill>
              <a:srgbClr val="D3DAF5"/>
            </a:solidFill>
            <a:prstDash val="solid"/>
          </a:ln>
        </p:spPr>
      </p:sp>
      <p:sp>
        <p:nvSpPr>
          <p:cNvPr id="13" name="Text 8"/>
          <p:cNvSpPr txBox="1"/>
          <p:nvPr/>
        </p:nvSpPr>
        <p:spPr>
          <a:xfrm>
            <a:off x="8503920" y="4800600"/>
            <a:ext cx="8869680" cy="137160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Ukuran dinamis</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Bertambah lewat append.</a:t>
            </a:r>
            <a:endParaRPr lang="en-US" sz="2400" dirty="0"/>
          </a:p>
        </p:txBody>
      </p:sp>
      <p:sp>
        <p:nvSpPr>
          <p:cNvPr id="14" name="Shape 9"/>
          <p:cNvSpPr/>
          <p:nvPr/>
        </p:nvSpPr>
        <p:spPr>
          <a:xfrm>
            <a:off x="8229600" y="6355080"/>
            <a:ext cx="9418320" cy="1371600"/>
          </a:xfrm>
          <a:prstGeom prst="roundRect">
            <a:avLst>
              <a:gd name="adj" fmla="val 10000"/>
            </a:avLst>
          </a:prstGeom>
          <a:solidFill>
            <a:srgbClr val="EEF1FC"/>
          </a:solidFill>
          <a:ln w="12700">
            <a:solidFill>
              <a:srgbClr val="D3DAF5"/>
            </a:solidFill>
            <a:prstDash val="solid"/>
          </a:ln>
        </p:spPr>
      </p:sp>
      <p:sp>
        <p:nvSpPr>
          <p:cNvPr id="15" name="Text 10"/>
          <p:cNvSpPr txBox="1"/>
          <p:nvPr/>
        </p:nvSpPr>
        <p:spPr>
          <a:xfrm>
            <a:off x="8503920" y="6355080"/>
            <a:ext cx="8869680" cy="137160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s[a:b]</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Ambil dari indeks a sampai sebelum b.</a:t>
            </a:r>
            <a:endParaRPr lang="en-US" sz="2400" dirty="0"/>
          </a:p>
        </p:txBody>
      </p:sp>
      <p:sp>
        <p:nvSpPr>
          <p:cNvPr id="16" name="Shape 11"/>
          <p:cNvSpPr/>
          <p:nvPr/>
        </p:nvSpPr>
        <p:spPr>
          <a:xfrm>
            <a:off x="8229600" y="7909560"/>
            <a:ext cx="9418320" cy="1554480"/>
          </a:xfrm>
          <a:prstGeom prst="roundRect">
            <a:avLst>
              <a:gd name="adj" fmla="val 8824"/>
            </a:avLst>
          </a:prstGeom>
          <a:solidFill>
            <a:srgbClr val="EEF1FC"/>
          </a:solidFill>
          <a:ln w="12700">
            <a:solidFill>
              <a:srgbClr val="D3DAF5"/>
            </a:solidFill>
            <a:prstDash val="solid"/>
          </a:ln>
        </p:spPr>
      </p:sp>
      <p:sp>
        <p:nvSpPr>
          <p:cNvPr id="17" name="Text 12"/>
          <p:cNvSpPr txBox="1"/>
          <p:nvPr/>
        </p:nvSpPr>
        <p:spPr>
          <a:xfrm>
            <a:off x="8503920" y="7909560"/>
            <a:ext cx="8869680" cy="155448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make([]T, 0, n)</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Slice kosong berkapasitas n.</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5 · 15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Menghapus Elemen &amp; Array vs Slice</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len dan cap</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Slice paling umum dipakai</a:t>
            </a:r>
            <a:endParaRPr lang="en-US" sz="2600" dirty="0"/>
          </a:p>
        </p:txBody>
      </p:sp>
      <p:sp>
        <p:nvSpPr>
          <p:cNvPr id="8" name="Shape 3"/>
          <p:cNvSpPr/>
          <p:nvPr/>
        </p:nvSpPr>
        <p:spPr>
          <a:xfrm>
            <a:off x="8229600" y="731520"/>
            <a:ext cx="9418320" cy="1664208"/>
          </a:xfrm>
          <a:prstGeom prst="roundRect">
            <a:avLst>
              <a:gd name="adj" fmla="val 8242"/>
            </a:avLst>
          </a:prstGeom>
          <a:solidFill>
            <a:srgbClr val="13123D"/>
          </a:solidFill>
          <a:ln w="12700">
            <a:solidFill>
              <a:srgbClr val="13123D"/>
            </a:solidFill>
            <a:prstDash val="solid"/>
          </a:ln>
        </p:spPr>
      </p:sp>
      <p:sp>
        <p:nvSpPr>
          <p:cNvPr id="9" name="Text 4"/>
          <p:cNvSpPr txBox="1"/>
          <p:nvPr/>
        </p:nvSpPr>
        <p:spPr>
          <a:xfrm>
            <a:off x="8503920" y="987552"/>
            <a:ext cx="8869680" cy="1207008"/>
          </a:xfrm>
          <a:prstGeom prst="rect">
            <a:avLst/>
          </a:prstGeom>
          <a:noFill/>
          <a:ln/>
        </p:spPr>
        <p:txBody>
          <a:bodyPr wrap="square" lIns="0" tIns="0" rIns="0" bIns="0" rtlCol="0" anchor="t"/>
          <a:lstStyle/>
          <a:p>
            <a:pPr indent="0" marL="0">
              <a:buNone/>
            </a:pPr>
            <a:r>
              <a:rPr lang="en-US" sz="1800" dirty="0">
                <a:solidFill>
                  <a:srgbClr val="E8ECFF"/>
                </a:solidFill>
                <a:latin typeface="Courier New" pitchFamily="34" charset="0"/>
                <a:ea typeface="Courier New" pitchFamily="34" charset="-122"/>
                <a:cs typeface="Courier New" pitchFamily="34" charset="-120"/>
              </a:rPr>
              <a:t>s := []</a:t>
            </a:r>
            <a:pPr indent="0" marL="0">
              <a:buNone/>
            </a:pPr>
            <a:r>
              <a:rPr lang="en-US" sz="1800" dirty="0">
                <a:solidFill>
                  <a:srgbClr val="A5C8FF"/>
                </a:solidFill>
                <a:latin typeface="Courier New" pitchFamily="34" charset="0"/>
                <a:ea typeface="Courier New" pitchFamily="34" charset="-122"/>
                <a:cs typeface="Courier New" pitchFamily="34" charset="-120"/>
              </a:rPr>
              <a:t>int</a:t>
            </a:r>
            <a:pPr indent="0" marL="0">
              <a:buNone/>
            </a:pPr>
            <a:r>
              <a:rPr lang="en-US" sz="1800" dirty="0">
                <a:solidFill>
                  <a:srgbClr val="E8ECFF"/>
                </a:solidFill>
                <a:latin typeface="Courier New" pitchFamily="34" charset="0"/>
                <a:ea typeface="Courier New" pitchFamily="34" charset="-122"/>
                <a:cs typeface="Courier New" pitchFamily="34" charset="-120"/>
              </a:rPr>
              <a:t>{</a:t>
            </a:r>
            <a:pPr indent="0" marL="0">
              <a:buNone/>
            </a:pPr>
            <a:r>
              <a:rPr lang="en-US" sz="1800" dirty="0">
                <a:solidFill>
                  <a:srgbClr val="FFC58A"/>
                </a:solidFill>
                <a:latin typeface="Courier New" pitchFamily="34" charset="0"/>
                <a:ea typeface="Courier New" pitchFamily="34" charset="-122"/>
                <a:cs typeface="Courier New" pitchFamily="34" charset="-120"/>
              </a:rPr>
              <a:t>10</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20</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30</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40</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fmt.Println(len(s), cap(s)) </a:t>
            </a:r>
            <a:pPr indent="0" marL="0">
              <a:buNone/>
            </a:pPr>
            <a:r>
              <a:rPr lang="en-US" sz="1800" dirty="0">
                <a:solidFill>
                  <a:srgbClr val="8C93C9"/>
                </a:solidFill>
                <a:latin typeface="Courier New" pitchFamily="34" charset="0"/>
                <a:ea typeface="Courier New" pitchFamily="34" charset="-122"/>
                <a:cs typeface="Courier New" pitchFamily="34" charset="-120"/>
              </a:rPr>
              <a:t>// 4 4</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s = append(s[:</a:t>
            </a:r>
            <a:pPr indent="0" marL="0">
              <a:buNone/>
            </a:pPr>
            <a:r>
              <a:rPr lang="en-US" sz="1800" dirty="0">
                <a:solidFill>
                  <a:srgbClr val="FFC58A"/>
                </a:solidFill>
                <a:latin typeface="Courier New" pitchFamily="34" charset="0"/>
                <a:ea typeface="Courier New" pitchFamily="34" charset="-122"/>
                <a:cs typeface="Courier New" pitchFamily="34" charset="-120"/>
              </a:rPr>
              <a:t>1</a:t>
            </a:r>
            <a:pPr indent="0" marL="0">
              <a:buNone/>
            </a:pPr>
            <a:r>
              <a:rPr lang="en-US" sz="1800" dirty="0">
                <a:solidFill>
                  <a:srgbClr val="E8ECFF"/>
                </a:solidFill>
                <a:latin typeface="Courier New" pitchFamily="34" charset="0"/>
                <a:ea typeface="Courier New" pitchFamily="34" charset="-122"/>
                <a:cs typeface="Courier New" pitchFamily="34" charset="-120"/>
              </a:rPr>
              <a:t>], s[</a:t>
            </a:r>
            <a:pPr indent="0" marL="0">
              <a:buNone/>
            </a:pPr>
            <a:r>
              <a:rPr lang="en-US" sz="1800" dirty="0">
                <a:solidFill>
                  <a:srgbClr val="FFC58A"/>
                </a:solidFill>
                <a:latin typeface="Courier New" pitchFamily="34" charset="0"/>
                <a:ea typeface="Courier New" pitchFamily="34" charset="-122"/>
                <a:cs typeface="Courier New" pitchFamily="34" charset="-120"/>
              </a:rPr>
              <a:t>2</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8C93C9"/>
                </a:solidFill>
                <a:latin typeface="Courier New" pitchFamily="34" charset="0"/>
                <a:ea typeface="Courier New" pitchFamily="34" charset="-122"/>
                <a:cs typeface="Courier New" pitchFamily="34" charset="-120"/>
              </a:rPr>
              <a:t>// hapus [1]</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fmt.Println(s)              </a:t>
            </a:r>
            <a:pPr indent="0" marL="0">
              <a:buNone/>
            </a:pPr>
            <a:r>
              <a:rPr lang="en-US" sz="1800" dirty="0">
                <a:solidFill>
                  <a:srgbClr val="8C93C9"/>
                </a:solidFill>
                <a:latin typeface="Courier New" pitchFamily="34" charset="0"/>
                <a:ea typeface="Courier New" pitchFamily="34" charset="-122"/>
                <a:cs typeface="Courier New" pitchFamily="34" charset="-120"/>
              </a:rPr>
              <a:t>// [10 30 40]</a:t>
            </a:r>
            <a:endParaRPr lang="en-US" sz="1800" dirty="0"/>
          </a:p>
        </p:txBody>
      </p:sp>
      <p:sp>
        <p:nvSpPr>
          <p:cNvPr id="10" name="Shape 5"/>
          <p:cNvSpPr/>
          <p:nvPr/>
        </p:nvSpPr>
        <p:spPr>
          <a:xfrm>
            <a:off x="8229600" y="2834640"/>
            <a:ext cx="9418320" cy="1737360"/>
          </a:xfrm>
          <a:prstGeom prst="roundRect">
            <a:avLst>
              <a:gd name="adj" fmla="val 7895"/>
            </a:avLst>
          </a:prstGeom>
          <a:solidFill>
            <a:srgbClr val="FFF3BF"/>
          </a:solidFill>
          <a:ln w="12700">
            <a:solidFill>
              <a:srgbClr val="FFF3BF"/>
            </a:solidFill>
            <a:prstDash val="solid"/>
          </a:ln>
        </p:spPr>
      </p:sp>
      <p:sp>
        <p:nvSpPr>
          <p:cNvPr id="11" name="Text 6"/>
          <p:cNvSpPr txBox="1"/>
          <p:nvPr/>
        </p:nvSpPr>
        <p:spPr>
          <a:xfrm>
            <a:off x="8503920" y="2834640"/>
            <a:ext cx="8869680" cy="173736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len dan cap</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len = jumlah elemen. cap = kapasitas sebelum perlu alokasi ulang.</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0" y="4937760"/>
          <a:ext cx="9418320" cy="914400"/>
        </p:xfrm>
        <a:graphic>
          <a:graphicData uri="http://schemas.openxmlformats.org/drawingml/2006/table">
            <a:tbl>
              <a:tblPr/>
              <a:tblGrid>
                <a:gridCol w="2926080"/>
                <a:gridCol w="3200400"/>
                <a:gridCol w="3291840"/>
              </a:tblGrid>
              <a:tr h="777240">
                <a:tc>
                  <a:txBody>
                    <a:bodyPr/>
                    <a:lstStyle/>
                    <a:p>
                      <a:pPr indent="0" marL="0">
                        <a:buNone/>
                      </a:pPr>
                      <a:r>
                        <a:rPr lang="en-US" sz="2100" b="1" dirty="0">
                          <a:solidFill>
                            <a:srgbClr val="FDFBFB"/>
                          </a:solidFill>
                          <a:latin typeface="Calibri" pitchFamily="34" charset="0"/>
                          <a:ea typeface="Calibri" pitchFamily="34" charset="-122"/>
                          <a:cs typeface="Calibri" pitchFamily="34" charset="-120"/>
                        </a:rPr>
                        <a:t>Aspek</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c>
                  <a:txBody>
                    <a:bodyPr/>
                    <a:lstStyle/>
                    <a:p>
                      <a:pPr indent="0" marL="0">
                        <a:buNone/>
                      </a:pPr>
                      <a:r>
                        <a:rPr lang="en-US" sz="2100" b="1" dirty="0">
                          <a:solidFill>
                            <a:srgbClr val="FDFBFB"/>
                          </a:solidFill>
                          <a:latin typeface="Calibri" pitchFamily="34" charset="0"/>
                          <a:ea typeface="Calibri" pitchFamily="34" charset="-122"/>
                          <a:cs typeface="Calibri" pitchFamily="34" charset="-120"/>
                        </a:rPr>
                        <a:t>Array</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c>
                  <a:txBody>
                    <a:bodyPr/>
                    <a:lstStyle/>
                    <a:p>
                      <a:pPr indent="0" marL="0">
                        <a:buNone/>
                      </a:pPr>
                      <a:r>
                        <a:rPr lang="en-US" sz="2100" b="1" dirty="0">
                          <a:solidFill>
                            <a:srgbClr val="FDFBFB"/>
                          </a:solidFill>
                          <a:latin typeface="Calibri" pitchFamily="34" charset="0"/>
                          <a:ea typeface="Calibri" pitchFamily="34" charset="-122"/>
                          <a:cs typeface="Calibri" pitchFamily="34" charset="-120"/>
                        </a:rPr>
                        <a:t>Slice</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r>
              <a:tr h="777240">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Ukuran</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Tetap</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Dinamis</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777240">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Deklarasi</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200" dirty="0">
                          <a:solidFill>
                            <a:srgbClr val="13123D"/>
                          </a:solidFill>
                          <a:latin typeface="Courier New" pitchFamily="34" charset="0"/>
                          <a:ea typeface="Courier New" pitchFamily="34" charset="-122"/>
                          <a:cs typeface="Courier New" pitchFamily="34" charset="-120"/>
                        </a:rPr>
                        <a:t>[3]int</a:t>
                      </a:r>
                      <a:endParaRPr lang="en-US" sz="22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200" dirty="0">
                          <a:solidFill>
                            <a:srgbClr val="13123D"/>
                          </a:solidFill>
                          <a:latin typeface="Courier New" pitchFamily="34" charset="0"/>
                          <a:ea typeface="Courier New" pitchFamily="34" charset="-122"/>
                          <a:cs typeface="Courier New" pitchFamily="34" charset="-120"/>
                        </a:rPr>
                        <a:t>[]int</a:t>
                      </a:r>
                      <a:endParaRPr lang="en-US" sz="22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777240">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Saat di-assign</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Disalin penuh</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Berbagi data dasar</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777240">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Pemakaian</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Jarang</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Paling umum</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5 · 15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Menelusuri Data dengan range</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range memberi indeks dan nilai</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_ mengabaikan nilai yang tidak dipakai</a:t>
            </a:r>
            <a:endParaRPr lang="en-US" sz="2600" dirty="0"/>
          </a:p>
        </p:txBody>
      </p:sp>
      <p:sp>
        <p:nvSpPr>
          <p:cNvPr id="8" name="Shape 3"/>
          <p:cNvSpPr/>
          <p:nvPr/>
        </p:nvSpPr>
        <p:spPr>
          <a:xfrm>
            <a:off x="8229600" y="731520"/>
            <a:ext cx="9418320" cy="3058668"/>
          </a:xfrm>
          <a:prstGeom prst="roundRect">
            <a:avLst>
              <a:gd name="adj" fmla="val 4484"/>
            </a:avLst>
          </a:prstGeom>
          <a:solidFill>
            <a:srgbClr val="13123D"/>
          </a:solidFill>
          <a:ln w="12700">
            <a:solidFill>
              <a:srgbClr val="13123D"/>
            </a:solidFill>
            <a:prstDash val="solid"/>
          </a:ln>
        </p:spPr>
      </p:sp>
      <p:sp>
        <p:nvSpPr>
          <p:cNvPr id="9" name="Text 4"/>
          <p:cNvSpPr txBox="1"/>
          <p:nvPr/>
        </p:nvSpPr>
        <p:spPr>
          <a:xfrm>
            <a:off x="8503920" y="987552"/>
            <a:ext cx="8869680" cy="2601468"/>
          </a:xfrm>
          <a:prstGeom prst="rect">
            <a:avLst/>
          </a:prstGeom>
          <a:noFill/>
          <a:ln/>
        </p:spPr>
        <p:txBody>
          <a:bodyPr wrap="square" lIns="0" tIns="0" rIns="0" bIns="0" rtlCol="0" anchor="t"/>
          <a:lstStyle/>
          <a:p>
            <a:pPr indent="0" marL="0">
              <a:buNone/>
            </a:pPr>
            <a:r>
              <a:rPr lang="en-US" sz="1800" dirty="0">
                <a:solidFill>
                  <a:srgbClr val="E8ECFF"/>
                </a:solidFill>
                <a:latin typeface="Courier New" pitchFamily="34" charset="0"/>
                <a:ea typeface="Courier New" pitchFamily="34" charset="-122"/>
                <a:cs typeface="Courier New" pitchFamily="34" charset="-120"/>
              </a:rPr>
              <a:t>buah := []</a:t>
            </a:r>
            <a:pPr indent="0" marL="0">
              <a:buNone/>
            </a:pPr>
            <a:r>
              <a:rPr lang="en-US" sz="1800" dirty="0">
                <a:solidFill>
                  <a:srgbClr val="A5C8FF"/>
                </a:solidFill>
                <a:latin typeface="Courier New" pitchFamily="34" charset="0"/>
                <a:ea typeface="Courier New" pitchFamily="34" charset="-122"/>
                <a:cs typeface="Courier New" pitchFamily="34" charset="-120"/>
              </a:rPr>
              <a:t>string</a:t>
            </a:r>
            <a:pPr indent="0" marL="0">
              <a:buNone/>
            </a:pPr>
            <a:r>
              <a:rPr lang="en-US" sz="1800" dirty="0">
                <a:solidFill>
                  <a:srgbClr val="E8ECFF"/>
                </a:solidFill>
                <a:latin typeface="Courier New" pitchFamily="34" charset="0"/>
                <a:ea typeface="Courier New" pitchFamily="34" charset="-122"/>
                <a:cs typeface="Courier New" pitchFamily="34" charset="-120"/>
              </a:rPr>
              <a:t>{</a:t>
            </a:r>
            <a:pPr indent="0" marL="0">
              <a:buNone/>
            </a:pPr>
            <a:r>
              <a:rPr lang="en-US" sz="1800" dirty="0">
                <a:solidFill>
                  <a:srgbClr val="A8E6CF"/>
                </a:solidFill>
                <a:latin typeface="Courier New" pitchFamily="34" charset="0"/>
                <a:ea typeface="Courier New" pitchFamily="34" charset="-122"/>
                <a:cs typeface="Courier New" pitchFamily="34" charset="-120"/>
              </a:rPr>
              <a:t>"apel"</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A8E6CF"/>
                </a:solidFill>
                <a:latin typeface="Courier New" pitchFamily="34" charset="0"/>
                <a:ea typeface="Courier New" pitchFamily="34" charset="-122"/>
                <a:cs typeface="Courier New" pitchFamily="34" charset="-120"/>
              </a:rPr>
              <a:t>"jeruk"</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A8E6CF"/>
                </a:solidFill>
                <a:latin typeface="Courier New" pitchFamily="34" charset="0"/>
                <a:ea typeface="Courier New" pitchFamily="34" charset="-122"/>
                <a:cs typeface="Courier New" pitchFamily="34" charset="-120"/>
              </a:rPr>
              <a:t>"mangga"</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for</a:t>
            </a:r>
            <a:pPr indent="0" marL="0">
              <a:buNone/>
            </a:pPr>
            <a:r>
              <a:rPr lang="en-US" sz="1800" dirty="0">
                <a:solidFill>
                  <a:srgbClr val="E8ECFF"/>
                </a:solidFill>
                <a:latin typeface="Courier New" pitchFamily="34" charset="0"/>
                <a:ea typeface="Courier New" pitchFamily="34" charset="-122"/>
                <a:cs typeface="Courier New" pitchFamily="34" charset="-120"/>
              </a:rPr>
              <a:t> i, b := </a:t>
            </a:r>
            <a:pPr indent="0" marL="0">
              <a:buNone/>
            </a:pPr>
            <a:r>
              <a:rPr lang="en-US" sz="1800" dirty="0">
                <a:solidFill>
                  <a:srgbClr val="FCDF59"/>
                </a:solidFill>
                <a:latin typeface="Courier New" pitchFamily="34" charset="0"/>
                <a:ea typeface="Courier New" pitchFamily="34" charset="-122"/>
                <a:cs typeface="Courier New" pitchFamily="34" charset="-120"/>
              </a:rPr>
              <a:t>range</a:t>
            </a:r>
            <a:pPr indent="0" marL="0">
              <a:buNone/>
            </a:pPr>
            <a:r>
              <a:rPr lang="en-US" sz="1800" dirty="0">
                <a:solidFill>
                  <a:srgbClr val="E8ECFF"/>
                </a:solidFill>
                <a:latin typeface="Courier New" pitchFamily="34" charset="0"/>
                <a:ea typeface="Courier New" pitchFamily="34" charset="-122"/>
                <a:cs typeface="Courier New" pitchFamily="34" charset="-120"/>
              </a:rPr>
              <a:t> buah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fmt.Println(i, b)</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000000"/>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for</a:t>
            </a:r>
            <a:pPr indent="0" marL="0">
              <a:buNone/>
            </a:pPr>
            <a:r>
              <a:rPr lang="en-US" sz="1800" dirty="0">
                <a:solidFill>
                  <a:srgbClr val="E8ECFF"/>
                </a:solidFill>
                <a:latin typeface="Courier New" pitchFamily="34" charset="0"/>
                <a:ea typeface="Courier New" pitchFamily="34" charset="-122"/>
                <a:cs typeface="Courier New" pitchFamily="34" charset="-120"/>
              </a:rPr>
              <a:t> _, b := </a:t>
            </a:r>
            <a:pPr indent="0" marL="0">
              <a:buNone/>
            </a:pPr>
            <a:r>
              <a:rPr lang="en-US" sz="1800" dirty="0">
                <a:solidFill>
                  <a:srgbClr val="FCDF59"/>
                </a:solidFill>
                <a:latin typeface="Courier New" pitchFamily="34" charset="0"/>
                <a:ea typeface="Courier New" pitchFamily="34" charset="-122"/>
                <a:cs typeface="Courier New" pitchFamily="34" charset="-120"/>
              </a:rPr>
              <a:t>range</a:t>
            </a:r>
            <a:pPr indent="0" marL="0">
              <a:buNone/>
            </a:pPr>
            <a:r>
              <a:rPr lang="en-US" sz="1800" dirty="0">
                <a:solidFill>
                  <a:srgbClr val="E8ECFF"/>
                </a:solidFill>
                <a:latin typeface="Courier New" pitchFamily="34" charset="0"/>
                <a:ea typeface="Courier New" pitchFamily="34" charset="-122"/>
                <a:cs typeface="Courier New" pitchFamily="34" charset="-120"/>
              </a:rPr>
              <a:t> buah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fmt.Println(b)</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p:txBody>
      </p:sp>
      <p:sp>
        <p:nvSpPr>
          <p:cNvPr id="10" name="Shape 5"/>
          <p:cNvSpPr/>
          <p:nvPr/>
        </p:nvSpPr>
        <p:spPr>
          <a:xfrm>
            <a:off x="8229600" y="4023360"/>
            <a:ext cx="9418320" cy="868680"/>
          </a:xfrm>
          <a:prstGeom prst="roundRect">
            <a:avLst>
              <a:gd name="adj" fmla="val 15789"/>
            </a:avLst>
          </a:prstGeom>
          <a:solidFill>
            <a:srgbClr val="FFF3BF"/>
          </a:solidFill>
          <a:ln w="12700">
            <a:solidFill>
              <a:srgbClr val="FFF3BF"/>
            </a:solidFill>
            <a:prstDash val="solid"/>
          </a:ln>
        </p:spPr>
      </p:sp>
      <p:sp>
        <p:nvSpPr>
          <p:cNvPr id="11" name="Text 6"/>
          <p:cNvSpPr txBox="1"/>
          <p:nvPr/>
        </p:nvSpPr>
        <p:spPr>
          <a:xfrm>
            <a:off x="8503920" y="4023360"/>
            <a:ext cx="8869680" cy="868680"/>
          </a:xfrm>
          <a:prstGeom prst="rect">
            <a:avLst/>
          </a:prstGeom>
          <a:noFill/>
          <a:ln/>
        </p:spPr>
        <p:txBody>
          <a:bodyPr wrap="square" lIns="0" tIns="0" rIns="0" bIns="0" rtlCol="0" anchor="ctr"/>
          <a:lstStyle/>
          <a:p>
            <a:pPr indent="0" marL="0">
              <a:buNone/>
            </a:pPr>
            <a:r>
              <a:rPr lang="en-US" sz="1900" dirty="0">
                <a:solidFill>
                  <a:srgbClr val="13123D"/>
                </a:solidFill>
                <a:latin typeface="Courier New" pitchFamily="34" charset="0"/>
                <a:ea typeface="Courier New" pitchFamily="34" charset="-122"/>
                <a:cs typeface="Courier New" pitchFamily="34" charset="-120"/>
              </a:rPr>
              <a:t>Output: 0 apel, 1 jeruk, 2 mangga, lalu tanpa indeks</a:t>
            </a:r>
            <a:endParaRPr lang="en-US" sz="1900" dirty="0"/>
          </a:p>
        </p:txBody>
      </p:sp>
      <p:sp>
        <p:nvSpPr>
          <p:cNvPr id="12" name="Shape 7"/>
          <p:cNvSpPr/>
          <p:nvPr/>
        </p:nvSpPr>
        <p:spPr>
          <a:xfrm>
            <a:off x="8229600" y="5166360"/>
            <a:ext cx="9418320" cy="2011680"/>
          </a:xfrm>
          <a:prstGeom prst="roundRect">
            <a:avLst>
              <a:gd name="adj" fmla="val 6818"/>
            </a:avLst>
          </a:prstGeom>
          <a:solidFill>
            <a:srgbClr val="EEF1FC"/>
          </a:solidFill>
          <a:ln w="12700">
            <a:solidFill>
              <a:srgbClr val="D3DAF5"/>
            </a:solidFill>
            <a:prstDash val="solid"/>
          </a:ln>
        </p:spPr>
      </p:sp>
      <p:sp>
        <p:nvSpPr>
          <p:cNvPr id="13" name="Text 8"/>
          <p:cNvSpPr txBox="1"/>
          <p:nvPr/>
        </p:nvSpPr>
        <p:spPr>
          <a:xfrm>
            <a:off x="8503920" y="5166360"/>
            <a:ext cx="8869680" cy="201168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range: indeks dan nilai</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Pada slice, range memberi indeks lalu nilai elemen.</a:t>
            </a:r>
            <a:endParaRPr lang="en-US" sz="2400" dirty="0"/>
          </a:p>
        </p:txBody>
      </p:sp>
      <p:sp>
        <p:nvSpPr>
          <p:cNvPr id="14" name="Shape 9"/>
          <p:cNvSpPr/>
          <p:nvPr/>
        </p:nvSpPr>
        <p:spPr>
          <a:xfrm>
            <a:off x="8229600" y="7406640"/>
            <a:ext cx="9418320" cy="2103120"/>
          </a:xfrm>
          <a:prstGeom prst="roundRect">
            <a:avLst>
              <a:gd name="adj" fmla="val 6522"/>
            </a:avLst>
          </a:prstGeom>
          <a:solidFill>
            <a:srgbClr val="FFF3BF"/>
          </a:solidFill>
          <a:ln w="12700">
            <a:solidFill>
              <a:srgbClr val="FFF3BF"/>
            </a:solidFill>
            <a:prstDash val="solid"/>
          </a:ln>
        </p:spPr>
      </p:sp>
      <p:sp>
        <p:nvSpPr>
          <p:cNvPr id="15" name="Text 10"/>
          <p:cNvSpPr txBox="1"/>
          <p:nvPr/>
        </p:nvSpPr>
        <p:spPr>
          <a:xfrm>
            <a:off x="8503920" y="7406640"/>
            <a:ext cx="8869680" cy="210312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_ (blank identifier)</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Abaikan nilai yang tidak dipakai. Variabel tak terpakai = error.</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6 · 15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Map: Pasangan Kunci dan Nilai</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Kunci → nilai</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Pencarian cepat lewat kunci</a:t>
            </a:r>
            <a:endParaRPr lang="en-US" sz="2600" dirty="0"/>
          </a:p>
        </p:txBody>
      </p:sp>
      <p:sp>
        <p:nvSpPr>
          <p:cNvPr id="8" name="Shape 3"/>
          <p:cNvSpPr/>
          <p:nvPr/>
        </p:nvSpPr>
        <p:spPr>
          <a:xfrm>
            <a:off x="8229600" y="731520"/>
            <a:ext cx="9418320" cy="2903728"/>
          </a:xfrm>
          <a:prstGeom prst="roundRect">
            <a:avLst>
              <a:gd name="adj" fmla="val 4724"/>
            </a:avLst>
          </a:prstGeom>
          <a:solidFill>
            <a:srgbClr val="13123D"/>
          </a:solidFill>
          <a:ln w="12700">
            <a:solidFill>
              <a:srgbClr val="13123D"/>
            </a:solidFill>
            <a:prstDash val="solid"/>
          </a:ln>
        </p:spPr>
      </p:sp>
      <p:sp>
        <p:nvSpPr>
          <p:cNvPr id="9" name="Text 4"/>
          <p:cNvSpPr txBox="1"/>
          <p:nvPr/>
        </p:nvSpPr>
        <p:spPr>
          <a:xfrm>
            <a:off x="8503920" y="987552"/>
            <a:ext cx="8869680" cy="2446528"/>
          </a:xfrm>
          <a:prstGeom prst="rect">
            <a:avLst/>
          </a:prstGeom>
          <a:noFill/>
          <a:ln/>
        </p:spPr>
        <p:txBody>
          <a:bodyPr wrap="square" lIns="0" tIns="0" rIns="0" bIns="0" rtlCol="0" anchor="t"/>
          <a:lstStyle/>
          <a:p>
            <a:pPr indent="0" marL="0">
              <a:buNone/>
            </a:pPr>
            <a:r>
              <a:rPr lang="en-US" sz="1900" dirty="0">
                <a:solidFill>
                  <a:srgbClr val="E8ECFF"/>
                </a:solidFill>
                <a:latin typeface="Courier New" pitchFamily="34" charset="0"/>
                <a:ea typeface="Courier New" pitchFamily="34" charset="-122"/>
                <a:cs typeface="Courier New" pitchFamily="34" charset="-120"/>
              </a:rPr>
              <a:t>umur := map[</a:t>
            </a:r>
            <a:pPr indent="0" marL="0">
              <a:buNone/>
            </a:pPr>
            <a:r>
              <a:rPr lang="en-US" sz="1900" dirty="0">
                <a:solidFill>
                  <a:srgbClr val="A5C8FF"/>
                </a:solidFill>
                <a:latin typeface="Courier New" pitchFamily="34" charset="0"/>
                <a:ea typeface="Courier New" pitchFamily="34" charset="-122"/>
                <a:cs typeface="Courier New" pitchFamily="34" charset="-120"/>
              </a:rPr>
              <a:t>string</a:t>
            </a:r>
            <a:pPr indent="0" marL="0">
              <a:buNone/>
            </a:pPr>
            <a:r>
              <a:rPr lang="en-US" sz="1900" dirty="0">
                <a:solidFill>
                  <a:srgbClr val="E8ECFF"/>
                </a:solidFill>
                <a:latin typeface="Courier New" pitchFamily="34" charset="0"/>
                <a:ea typeface="Courier New" pitchFamily="34" charset="-122"/>
                <a:cs typeface="Courier New" pitchFamily="34" charset="-120"/>
              </a:rPr>
              <a:t>]</a:t>
            </a:r>
            <a:pPr indent="0" marL="0">
              <a:buNone/>
            </a:pPr>
            <a:r>
              <a:rPr lang="en-US" sz="1900" dirty="0">
                <a:solidFill>
                  <a:srgbClr val="A5C8FF"/>
                </a:solidFill>
                <a:latin typeface="Courier New" pitchFamily="34" charset="0"/>
                <a:ea typeface="Courier New" pitchFamily="34" charset="-122"/>
                <a:cs typeface="Courier New" pitchFamily="34" charset="-120"/>
              </a:rPr>
              <a:t>int</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"Budi"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20</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"Sari"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22</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umur[</a:t>
            </a:r>
            <a:pPr indent="0" marL="0">
              <a:buNone/>
            </a:pPr>
            <a:r>
              <a:rPr lang="en-US" sz="1900" dirty="0">
                <a:solidFill>
                  <a:srgbClr val="A8E6CF"/>
                </a:solidFill>
                <a:latin typeface="Courier New" pitchFamily="34" charset="0"/>
                <a:ea typeface="Courier New" pitchFamily="34" charset="-122"/>
                <a:cs typeface="Courier New" pitchFamily="34" charset="-120"/>
              </a:rPr>
              <a:t>"Dewi"</a:t>
            </a:r>
            <a:pPr indent="0" marL="0">
              <a:buNone/>
            </a:pPr>
            <a:r>
              <a:rPr lang="en-US" sz="1900" dirty="0">
                <a:solidFill>
                  <a:srgbClr val="E8ECFF"/>
                </a:solidFill>
                <a:latin typeface="Courier New" pitchFamily="34" charset="0"/>
                <a:ea typeface="Courier New" pitchFamily="34" charset="-122"/>
                <a:cs typeface="Courier New" pitchFamily="34" charset="-120"/>
              </a:rPr>
              <a:t>] = </a:t>
            </a:r>
            <a:pPr indent="0" marL="0">
              <a:buNone/>
            </a:pPr>
            <a:r>
              <a:rPr lang="en-US" sz="1900" dirty="0">
                <a:solidFill>
                  <a:srgbClr val="FFC58A"/>
                </a:solidFill>
                <a:latin typeface="Courier New" pitchFamily="34" charset="0"/>
                <a:ea typeface="Courier New" pitchFamily="34" charset="-122"/>
                <a:cs typeface="Courier New" pitchFamily="34" charset="-120"/>
              </a:rPr>
              <a:t>21</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fmt.Println(umur[</a:t>
            </a:r>
            <a:pPr indent="0" marL="0">
              <a:buNone/>
            </a:pPr>
            <a:r>
              <a:rPr lang="en-US" sz="1900" dirty="0">
                <a:solidFill>
                  <a:srgbClr val="A8E6CF"/>
                </a:solidFill>
                <a:latin typeface="Courier New" pitchFamily="34" charset="0"/>
                <a:ea typeface="Courier New" pitchFamily="34" charset="-122"/>
                <a:cs typeface="Courier New" pitchFamily="34" charset="-120"/>
              </a:rPr>
              <a:t>"Budi"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8C93C9"/>
                </a:solidFill>
                <a:latin typeface="Courier New" pitchFamily="34" charset="0"/>
                <a:ea typeface="Courier New" pitchFamily="34" charset="-122"/>
                <a:cs typeface="Courier New" pitchFamily="34" charset="-120"/>
              </a:rPr>
              <a:t>// 20</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delete(umur, </a:t>
            </a:r>
            <a:pPr indent="0" marL="0">
              <a:buNone/>
            </a:pPr>
            <a:r>
              <a:rPr lang="en-US" sz="1900" dirty="0">
                <a:solidFill>
                  <a:srgbClr val="A8E6CF"/>
                </a:solidFill>
                <a:latin typeface="Courier New" pitchFamily="34" charset="0"/>
                <a:ea typeface="Courier New" pitchFamily="34" charset="-122"/>
                <a:cs typeface="Courier New" pitchFamily="34" charset="-120"/>
              </a:rPr>
              <a:t>"Sari"</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fmt.Println(len(umur))    </a:t>
            </a:r>
            <a:pPr indent="0" marL="0">
              <a:buNone/>
            </a:pPr>
            <a:r>
              <a:rPr lang="en-US" sz="1900" dirty="0">
                <a:solidFill>
                  <a:srgbClr val="8C93C9"/>
                </a:solidFill>
                <a:latin typeface="Courier New" pitchFamily="34" charset="0"/>
                <a:ea typeface="Courier New" pitchFamily="34" charset="-122"/>
                <a:cs typeface="Courier New" pitchFamily="34" charset="-120"/>
              </a:rPr>
              <a:t>// 2</a:t>
            </a:r>
            <a:endParaRPr lang="en-US" sz="1900" dirty="0"/>
          </a:p>
        </p:txBody>
      </p:sp>
      <p:sp>
        <p:nvSpPr>
          <p:cNvPr id="10" name="Shape 5"/>
          <p:cNvSpPr/>
          <p:nvPr/>
        </p:nvSpPr>
        <p:spPr>
          <a:xfrm>
            <a:off x="8229600" y="3977640"/>
            <a:ext cx="9418320" cy="1280160"/>
          </a:xfrm>
          <a:prstGeom prst="roundRect">
            <a:avLst>
              <a:gd name="adj" fmla="val 10714"/>
            </a:avLst>
          </a:prstGeom>
          <a:solidFill>
            <a:srgbClr val="EEF1FC"/>
          </a:solidFill>
          <a:ln w="12700">
            <a:solidFill>
              <a:srgbClr val="D3DAF5"/>
            </a:solidFill>
            <a:prstDash val="solid"/>
          </a:ln>
        </p:spPr>
      </p:sp>
      <p:sp>
        <p:nvSpPr>
          <p:cNvPr id="11" name="Text 6"/>
          <p:cNvSpPr txBox="1"/>
          <p:nvPr/>
        </p:nvSpPr>
        <p:spPr>
          <a:xfrm>
            <a:off x="8503920" y="3977640"/>
            <a:ext cx="8869680" cy="128016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Kunci → nilai</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Cari data lewat kunci, bukan indeks.</a:t>
            </a:r>
            <a:endParaRPr lang="en-US" sz="2400" dirty="0"/>
          </a:p>
        </p:txBody>
      </p:sp>
      <p:sp>
        <p:nvSpPr>
          <p:cNvPr id="12" name="Shape 7"/>
          <p:cNvSpPr/>
          <p:nvPr/>
        </p:nvSpPr>
        <p:spPr>
          <a:xfrm>
            <a:off x="8229600" y="5440680"/>
            <a:ext cx="9418320" cy="1280160"/>
          </a:xfrm>
          <a:prstGeom prst="roundRect">
            <a:avLst>
              <a:gd name="adj" fmla="val 10714"/>
            </a:avLst>
          </a:prstGeom>
          <a:solidFill>
            <a:srgbClr val="FFF3BF"/>
          </a:solidFill>
          <a:ln w="12700">
            <a:solidFill>
              <a:srgbClr val="FFF3BF"/>
            </a:solidFill>
            <a:prstDash val="solid"/>
          </a:ln>
        </p:spPr>
      </p:sp>
      <p:sp>
        <p:nvSpPr>
          <p:cNvPr id="13" name="Text 8"/>
          <p:cNvSpPr txBox="1"/>
          <p:nvPr/>
        </p:nvSpPr>
        <p:spPr>
          <a:xfrm>
            <a:off x="8503920" y="5440680"/>
            <a:ext cx="8869680" cy="128016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Kunci unik</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Menulis kunci yang sama menimpa nilai lama.</a:t>
            </a:r>
            <a:endParaRPr lang="en-US" sz="2400" dirty="0"/>
          </a:p>
        </p:txBody>
      </p:sp>
      <p:sp>
        <p:nvSpPr>
          <p:cNvPr id="14" name="Shape 9"/>
          <p:cNvSpPr/>
          <p:nvPr/>
        </p:nvSpPr>
        <p:spPr>
          <a:xfrm>
            <a:off x="8229600" y="6903720"/>
            <a:ext cx="9418320" cy="1280160"/>
          </a:xfrm>
          <a:prstGeom prst="roundRect">
            <a:avLst>
              <a:gd name="adj" fmla="val 10714"/>
            </a:avLst>
          </a:prstGeom>
          <a:solidFill>
            <a:srgbClr val="EEF1FC"/>
          </a:solidFill>
          <a:ln w="12700">
            <a:solidFill>
              <a:srgbClr val="D3DAF5"/>
            </a:solidFill>
            <a:prstDash val="solid"/>
          </a:ln>
        </p:spPr>
      </p:sp>
      <p:sp>
        <p:nvSpPr>
          <p:cNvPr id="15" name="Text 10"/>
          <p:cNvSpPr txBox="1"/>
          <p:nvPr/>
        </p:nvSpPr>
        <p:spPr>
          <a:xfrm>
            <a:off x="8503920" y="6903720"/>
            <a:ext cx="8869680" cy="128016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delete dan len</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Hapus dengan delete, hitung dengan len.</a:t>
            </a:r>
            <a:endParaRPr lang="en-US" sz="2400" dirty="0"/>
          </a:p>
        </p:txBody>
      </p:sp>
      <p:sp>
        <p:nvSpPr>
          <p:cNvPr id="16" name="Shape 11"/>
          <p:cNvSpPr/>
          <p:nvPr/>
        </p:nvSpPr>
        <p:spPr>
          <a:xfrm>
            <a:off x="8229600" y="8366760"/>
            <a:ext cx="9418320" cy="1143000"/>
          </a:xfrm>
          <a:prstGeom prst="roundRect">
            <a:avLst>
              <a:gd name="adj" fmla="val 12000"/>
            </a:avLst>
          </a:prstGeom>
          <a:solidFill>
            <a:srgbClr val="FFF3BF"/>
          </a:solidFill>
          <a:ln w="12700">
            <a:solidFill>
              <a:srgbClr val="FFF3BF"/>
            </a:solidFill>
            <a:prstDash val="solid"/>
          </a:ln>
        </p:spPr>
      </p:sp>
      <p:sp>
        <p:nvSpPr>
          <p:cNvPr id="17" name="Text 12"/>
          <p:cNvSpPr txBox="1"/>
          <p:nvPr/>
        </p:nvSpPr>
        <p:spPr>
          <a:xfrm>
            <a:off x="8503920" y="8366760"/>
            <a:ext cx="8869680" cy="1143000"/>
          </a:xfrm>
          <a:prstGeom prst="rect">
            <a:avLst/>
          </a:prstGeom>
          <a:noFill/>
          <a:ln/>
        </p:spPr>
        <p:txBody>
          <a:bodyPr wrap="square" lIns="0" tIns="0" rIns="0" bIns="0" rtlCol="0" anchor="ctr"/>
          <a:lstStyle/>
          <a:p>
            <a:pPr indent="0" marL="0">
              <a:buNone/>
            </a:pPr>
            <a:r>
              <a:rPr lang="en-US" sz="2300" b="1" dirty="0">
                <a:solidFill>
                  <a:srgbClr val="13123D"/>
                </a:solidFill>
                <a:latin typeface="Calibri" pitchFamily="34" charset="0"/>
                <a:ea typeface="Calibri" pitchFamily="34" charset="-122"/>
                <a:cs typeface="Calibri" pitchFamily="34" charset="-120"/>
              </a:rPr>
              <a:t>Cocok untuk</a:t>
            </a:r>
            <a:endParaRPr lang="en-US" sz="2400" dirty="0"/>
          </a:p>
          <a:p>
            <a:pPr indent="0" marL="0">
              <a:buNone/>
            </a:pPr>
            <a:r>
              <a:rPr lang="en-US" sz="2100" dirty="0">
                <a:solidFill>
                  <a:srgbClr val="13123D"/>
                </a:solidFill>
                <a:latin typeface="Calibri" pitchFamily="34" charset="0"/>
                <a:ea typeface="Calibri" pitchFamily="34" charset="-122"/>
                <a:cs typeface="Calibri" pitchFamily="34" charset="-120"/>
              </a:rPr>
              <a:t>Kamus, pencacah, dan pencarian berdasarkan nama.</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6 · 15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Cek Kunci &amp; Menelusuri Map</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Idiom , ok</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Urutan iterasi map acak</a:t>
            </a:r>
            <a:endParaRPr lang="en-US" sz="2600" dirty="0"/>
          </a:p>
        </p:txBody>
      </p:sp>
      <p:sp>
        <p:nvSpPr>
          <p:cNvPr id="8" name="Shape 3"/>
          <p:cNvSpPr/>
          <p:nvPr/>
        </p:nvSpPr>
        <p:spPr>
          <a:xfrm>
            <a:off x="8229600" y="731520"/>
            <a:ext cx="9418320" cy="2903728"/>
          </a:xfrm>
          <a:prstGeom prst="roundRect">
            <a:avLst>
              <a:gd name="adj" fmla="val 4724"/>
            </a:avLst>
          </a:prstGeom>
          <a:solidFill>
            <a:srgbClr val="13123D"/>
          </a:solidFill>
          <a:ln w="12700">
            <a:solidFill>
              <a:srgbClr val="13123D"/>
            </a:solidFill>
            <a:prstDash val="solid"/>
          </a:ln>
        </p:spPr>
      </p:sp>
      <p:sp>
        <p:nvSpPr>
          <p:cNvPr id="9" name="Text 4"/>
          <p:cNvSpPr txBox="1"/>
          <p:nvPr/>
        </p:nvSpPr>
        <p:spPr>
          <a:xfrm>
            <a:off x="8503920" y="987552"/>
            <a:ext cx="8869680" cy="2446528"/>
          </a:xfrm>
          <a:prstGeom prst="rect">
            <a:avLst/>
          </a:prstGeom>
          <a:noFill/>
          <a:ln/>
        </p:spPr>
        <p:txBody>
          <a:bodyPr wrap="square" lIns="0" tIns="0" rIns="0" bIns="0" rtlCol="0" anchor="t"/>
          <a:lstStyle/>
          <a:p>
            <a:pPr indent="0" marL="0">
              <a:buNone/>
            </a:pPr>
            <a:r>
              <a:rPr lang="en-US" sz="1900" dirty="0">
                <a:solidFill>
                  <a:srgbClr val="E8ECFF"/>
                </a:solidFill>
                <a:latin typeface="Courier New" pitchFamily="34" charset="0"/>
                <a:ea typeface="Courier New" pitchFamily="34" charset="-122"/>
                <a:cs typeface="Courier New" pitchFamily="34" charset="-120"/>
              </a:rPr>
              <a:t>_, ada := umur[</a:t>
            </a:r>
            <a:pPr indent="0" marL="0">
              <a:buNone/>
            </a:pPr>
            <a:r>
              <a:rPr lang="en-US" sz="1900" dirty="0">
                <a:solidFill>
                  <a:srgbClr val="A8E6CF"/>
                </a:solidFill>
                <a:latin typeface="Courier New" pitchFamily="34" charset="0"/>
                <a:ea typeface="Courier New" pitchFamily="34" charset="-122"/>
                <a:cs typeface="Courier New" pitchFamily="34" charset="-120"/>
              </a:rPr>
              <a:t>"Rudi"</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if</a:t>
            </a:r>
            <a:pPr indent="0" marL="0">
              <a:buNone/>
            </a:pPr>
            <a:r>
              <a:rPr lang="en-US" sz="1900" dirty="0">
                <a:solidFill>
                  <a:srgbClr val="E8ECFF"/>
                </a:solidFill>
                <a:latin typeface="Courier New" pitchFamily="34" charset="0"/>
                <a:ea typeface="Courier New" pitchFamily="34" charset="-122"/>
                <a:cs typeface="Courier New" pitchFamily="34" charset="-120"/>
              </a:rPr>
              <a:t> !ada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"Rudi tidak ada"</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000000"/>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for</a:t>
            </a:r>
            <a:pPr indent="0" marL="0">
              <a:buNone/>
            </a:pPr>
            <a:r>
              <a:rPr lang="en-US" sz="1900" dirty="0">
                <a:solidFill>
                  <a:srgbClr val="E8ECFF"/>
                </a:solidFill>
                <a:latin typeface="Courier New" pitchFamily="34" charset="0"/>
                <a:ea typeface="Courier New" pitchFamily="34" charset="-122"/>
                <a:cs typeface="Courier New" pitchFamily="34" charset="-120"/>
              </a:rPr>
              <a:t> nama, u := </a:t>
            </a:r>
            <a:pPr indent="0" marL="0">
              <a:buNone/>
            </a:pPr>
            <a:r>
              <a:rPr lang="en-US" sz="1900" dirty="0">
                <a:solidFill>
                  <a:srgbClr val="FCDF59"/>
                </a:solidFill>
                <a:latin typeface="Courier New" pitchFamily="34" charset="0"/>
                <a:ea typeface="Courier New" pitchFamily="34" charset="-122"/>
                <a:cs typeface="Courier New" pitchFamily="34" charset="-120"/>
              </a:rPr>
              <a:t>range</a:t>
            </a:r>
            <a:pPr indent="0" marL="0">
              <a:buNone/>
            </a:pPr>
            <a:r>
              <a:rPr lang="en-US" sz="1900" dirty="0">
                <a:solidFill>
                  <a:srgbClr val="E8ECFF"/>
                </a:solidFill>
                <a:latin typeface="Courier New" pitchFamily="34" charset="0"/>
                <a:ea typeface="Courier New" pitchFamily="34" charset="-122"/>
                <a:cs typeface="Courier New" pitchFamily="34" charset="-120"/>
              </a:rPr>
              <a:t> umur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fmt.Println(nama, u)</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p:txBody>
      </p:sp>
      <p:sp>
        <p:nvSpPr>
          <p:cNvPr id="10" name="Shape 5"/>
          <p:cNvSpPr/>
          <p:nvPr/>
        </p:nvSpPr>
        <p:spPr>
          <a:xfrm>
            <a:off x="8229600" y="3977640"/>
            <a:ext cx="9418320" cy="1188720"/>
          </a:xfrm>
          <a:prstGeom prst="roundRect">
            <a:avLst>
              <a:gd name="adj" fmla="val 11538"/>
            </a:avLst>
          </a:prstGeom>
          <a:solidFill>
            <a:srgbClr val="FFF3BF"/>
          </a:solidFill>
          <a:ln w="12700">
            <a:solidFill>
              <a:srgbClr val="FFF3BF"/>
            </a:solidFill>
            <a:prstDash val="solid"/>
          </a:ln>
        </p:spPr>
      </p:sp>
      <p:sp>
        <p:nvSpPr>
          <p:cNvPr id="11" name="Text 6"/>
          <p:cNvSpPr txBox="1"/>
          <p:nvPr/>
        </p:nvSpPr>
        <p:spPr>
          <a:xfrm>
            <a:off x="8503920" y="3977640"/>
            <a:ext cx="8869680" cy="1188720"/>
          </a:xfrm>
          <a:prstGeom prst="rect">
            <a:avLst/>
          </a:prstGeom>
          <a:noFill/>
          <a:ln/>
        </p:spPr>
        <p:txBody>
          <a:bodyPr wrap="square" lIns="0" tIns="0" rIns="0" bIns="0" rtlCol="0" anchor="ctr"/>
          <a:lstStyle/>
          <a:p>
            <a:pPr indent="0" marL="0">
              <a:buNone/>
            </a:pPr>
            <a:r>
              <a:rPr lang="en-US" sz="2300" b="1" dirty="0">
                <a:solidFill>
                  <a:srgbClr val="13123D"/>
                </a:solidFill>
                <a:latin typeface="Calibri" pitchFamily="34" charset="0"/>
                <a:ea typeface="Calibri" pitchFamily="34" charset="-122"/>
                <a:cs typeface="Calibri" pitchFamily="34" charset="-120"/>
              </a:rPr>
              <a:t>Pola</a:t>
            </a:r>
            <a:endParaRPr lang="en-US" sz="2400" dirty="0"/>
          </a:p>
          <a:p>
            <a:pPr indent="0" marL="0">
              <a:buNone/>
            </a:pPr>
            <a:r>
              <a:rPr lang="en-US" sz="2100" dirty="0">
                <a:solidFill>
                  <a:srgbClr val="13123D"/>
                </a:solidFill>
                <a:latin typeface="Calibri" pitchFamily="34" charset="0"/>
                <a:ea typeface="Calibri" pitchFamily="34" charset="-122"/>
                <a:cs typeface="Calibri" pitchFamily="34" charset="-120"/>
              </a:rPr>
              <a:t>nilai, ok := m[kunci] menandai apakah kunci ada.</a:t>
            </a:r>
            <a:endParaRPr lang="en-US" sz="2400" dirty="0"/>
          </a:p>
        </p:txBody>
      </p:sp>
      <p:sp>
        <p:nvSpPr>
          <p:cNvPr id="12" name="Shape 7"/>
          <p:cNvSpPr/>
          <p:nvPr/>
        </p:nvSpPr>
        <p:spPr>
          <a:xfrm>
            <a:off x="8229600" y="5394960"/>
            <a:ext cx="9418320" cy="1280160"/>
          </a:xfrm>
          <a:prstGeom prst="roundRect">
            <a:avLst>
              <a:gd name="adj" fmla="val 10714"/>
            </a:avLst>
          </a:prstGeom>
          <a:solidFill>
            <a:srgbClr val="EEF1FC"/>
          </a:solidFill>
          <a:ln w="12700">
            <a:solidFill>
              <a:srgbClr val="D3DAF5"/>
            </a:solidFill>
            <a:prstDash val="solid"/>
          </a:ln>
        </p:spPr>
      </p:sp>
      <p:sp>
        <p:nvSpPr>
          <p:cNvPr id="13" name="Text 8"/>
          <p:cNvSpPr txBox="1"/>
          <p:nvPr/>
        </p:nvSpPr>
        <p:spPr>
          <a:xfrm>
            <a:off x="8503920" y="5394960"/>
            <a:ext cx="8869680" cy="128016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Kunci tidak ada</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Hasilnya zero value (mis. 0). Pakai , ok untuk membedakan.</a:t>
            </a:r>
            <a:endParaRPr lang="en-US" sz="2400" dirty="0"/>
          </a:p>
        </p:txBody>
      </p:sp>
      <p:sp>
        <p:nvSpPr>
          <p:cNvPr id="14" name="Shape 9"/>
          <p:cNvSpPr/>
          <p:nvPr/>
        </p:nvSpPr>
        <p:spPr>
          <a:xfrm>
            <a:off x="8229600" y="6858000"/>
            <a:ext cx="9418320" cy="1188720"/>
          </a:xfrm>
          <a:prstGeom prst="roundRect">
            <a:avLst>
              <a:gd name="adj" fmla="val 11538"/>
            </a:avLst>
          </a:prstGeom>
          <a:solidFill>
            <a:srgbClr val="EEF1FC"/>
          </a:solidFill>
          <a:ln w="12700">
            <a:solidFill>
              <a:srgbClr val="D3DAF5"/>
            </a:solidFill>
            <a:prstDash val="solid"/>
          </a:ln>
        </p:spPr>
      </p:sp>
      <p:sp>
        <p:nvSpPr>
          <p:cNvPr id="15" name="Text 10"/>
          <p:cNvSpPr txBox="1"/>
          <p:nvPr/>
        </p:nvSpPr>
        <p:spPr>
          <a:xfrm>
            <a:off x="8503920" y="6858000"/>
            <a:ext cx="8869680" cy="1188720"/>
          </a:xfrm>
          <a:prstGeom prst="rect">
            <a:avLst/>
          </a:prstGeom>
          <a:noFill/>
          <a:ln/>
        </p:spPr>
        <p:txBody>
          <a:bodyPr wrap="square" lIns="0" tIns="0" rIns="0" bIns="0" rtlCol="0" anchor="ctr"/>
          <a:lstStyle/>
          <a:p>
            <a:pPr indent="0" marL="0">
              <a:buNone/>
            </a:pPr>
            <a:r>
              <a:rPr lang="en-US" sz="2300" b="1" dirty="0">
                <a:solidFill>
                  <a:srgbClr val="162CA2"/>
                </a:solidFill>
                <a:latin typeface="Calibri" pitchFamily="34" charset="0"/>
                <a:ea typeface="Calibri" pitchFamily="34" charset="-122"/>
                <a:cs typeface="Calibri" pitchFamily="34" charset="-120"/>
              </a:rPr>
              <a:t>Urutan acak</a:t>
            </a:r>
            <a:endParaRPr lang="en-US" sz="2400" dirty="0"/>
          </a:p>
          <a:p>
            <a:pPr indent="0" marL="0">
              <a:buNone/>
            </a:pPr>
            <a:r>
              <a:rPr lang="en-US" sz="2100" dirty="0">
                <a:solidFill>
                  <a:srgbClr val="13123D"/>
                </a:solidFill>
                <a:latin typeface="Calibri" pitchFamily="34" charset="0"/>
                <a:ea typeface="Calibri" pitchFamily="34" charset="-122"/>
                <a:cs typeface="Calibri" pitchFamily="34" charset="-120"/>
              </a:rPr>
              <a:t>Iterasi map tidak berurutan.</a:t>
            </a:r>
            <a:endParaRPr lang="en-US" sz="2400" dirty="0"/>
          </a:p>
        </p:txBody>
      </p:sp>
      <p:sp>
        <p:nvSpPr>
          <p:cNvPr id="16" name="Shape 11"/>
          <p:cNvSpPr/>
          <p:nvPr/>
        </p:nvSpPr>
        <p:spPr>
          <a:xfrm>
            <a:off x="8229600" y="8229600"/>
            <a:ext cx="9418320" cy="1280160"/>
          </a:xfrm>
          <a:prstGeom prst="roundRect">
            <a:avLst>
              <a:gd name="adj" fmla="val 10714"/>
            </a:avLst>
          </a:prstGeom>
          <a:solidFill>
            <a:srgbClr val="FFF3BF"/>
          </a:solidFill>
          <a:ln w="12700">
            <a:solidFill>
              <a:srgbClr val="FFF3BF"/>
            </a:solidFill>
            <a:prstDash val="solid"/>
          </a:ln>
        </p:spPr>
      </p:sp>
      <p:sp>
        <p:nvSpPr>
          <p:cNvPr id="17" name="Text 12"/>
          <p:cNvSpPr txBox="1"/>
          <p:nvPr/>
        </p:nvSpPr>
        <p:spPr>
          <a:xfrm>
            <a:off x="8503920" y="8229600"/>
            <a:ext cx="8869680" cy="1280160"/>
          </a:xfrm>
          <a:prstGeom prst="rect">
            <a:avLst/>
          </a:prstGeom>
          <a:noFill/>
          <a:ln/>
        </p:spPr>
        <p:txBody>
          <a:bodyPr wrap="square" lIns="0" tIns="0" rIns="0" bIns="0" rtlCol="0" anchor="ctr"/>
          <a:lstStyle/>
          <a:p>
            <a:pPr indent="0" marL="0">
              <a:buNone/>
            </a:pPr>
            <a:r>
              <a:rPr lang="en-US" sz="2300" b="1" dirty="0">
                <a:solidFill>
                  <a:srgbClr val="13123D"/>
                </a:solidFill>
                <a:latin typeface="Calibri" pitchFamily="34" charset="0"/>
                <a:ea typeface="Calibri" pitchFamily="34" charset="-122"/>
                <a:cs typeface="Calibri" pitchFamily="34" charset="-120"/>
              </a:rPr>
              <a:t>Buat dulu</a:t>
            </a:r>
            <a:endParaRPr lang="en-US" sz="2400" dirty="0"/>
          </a:p>
          <a:p>
            <a:pPr indent="0" marL="0">
              <a:buNone/>
            </a:pPr>
            <a:r>
              <a:rPr lang="en-US" sz="2100" dirty="0">
                <a:solidFill>
                  <a:srgbClr val="13123D"/>
                </a:solidFill>
                <a:latin typeface="Calibri" pitchFamily="34" charset="0"/>
                <a:ea typeface="Calibri" pitchFamily="34" charset="-122"/>
                <a:cs typeface="Calibri" pitchFamily="34" charset="-120"/>
              </a:rPr>
              <a:t>Map nil tidak bisa ditulis. Gunakan make atau literal.</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7 · 10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Struct: Membuat Tipe Sendiri</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Kumpulan field bernama</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Akses dengan titik</a:t>
            </a:r>
            <a:endParaRPr lang="en-US" sz="2600" dirty="0"/>
          </a:p>
        </p:txBody>
      </p:sp>
      <p:sp>
        <p:nvSpPr>
          <p:cNvPr id="8" name="Shape 3"/>
          <p:cNvSpPr/>
          <p:nvPr/>
        </p:nvSpPr>
        <p:spPr>
          <a:xfrm>
            <a:off x="8229600" y="731520"/>
            <a:ext cx="9418320" cy="3446018"/>
          </a:xfrm>
          <a:prstGeom prst="roundRect">
            <a:avLst>
              <a:gd name="adj" fmla="val 3980"/>
            </a:avLst>
          </a:prstGeom>
          <a:solidFill>
            <a:srgbClr val="13123D"/>
          </a:solidFill>
          <a:ln w="12700">
            <a:solidFill>
              <a:srgbClr val="13123D"/>
            </a:solidFill>
            <a:prstDash val="solid"/>
          </a:ln>
        </p:spPr>
      </p:sp>
      <p:sp>
        <p:nvSpPr>
          <p:cNvPr id="9" name="Text 4"/>
          <p:cNvSpPr txBox="1"/>
          <p:nvPr/>
        </p:nvSpPr>
        <p:spPr>
          <a:xfrm>
            <a:off x="8503920" y="987552"/>
            <a:ext cx="8869680" cy="2988818"/>
          </a:xfrm>
          <a:prstGeom prst="rect">
            <a:avLst/>
          </a:prstGeom>
          <a:noFill/>
          <a:ln/>
        </p:spPr>
        <p:txBody>
          <a:bodyPr wrap="square" lIns="0" tIns="0" rIns="0" bIns="0" rtlCol="0" anchor="t"/>
          <a:lstStyle/>
          <a:p>
            <a:pPr indent="0" marL="0">
              <a:buNone/>
            </a:pPr>
            <a:r>
              <a:rPr lang="en-US" sz="1700" dirty="0">
                <a:solidFill>
                  <a:srgbClr val="8C93C9"/>
                </a:solidFill>
                <a:latin typeface="Courier New" pitchFamily="34" charset="0"/>
                <a:ea typeface="Courier New" pitchFamily="34" charset="-122"/>
                <a:cs typeface="Courier New" pitchFamily="34" charset="-120"/>
              </a:rPr>
              <a:t>// di luar func main()</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type Siswa </a:t>
            </a:r>
            <a:pPr indent="0" marL="0">
              <a:buNone/>
            </a:pPr>
            <a:r>
              <a:rPr lang="en-US" sz="1700" dirty="0">
                <a:solidFill>
                  <a:srgbClr val="FCDF59"/>
                </a:solidFill>
                <a:latin typeface="Courier New" pitchFamily="34" charset="0"/>
                <a:ea typeface="Courier New" pitchFamily="34" charset="-122"/>
                <a:cs typeface="Courier New" pitchFamily="34" charset="-120"/>
              </a:rPr>
              <a:t>struct</a:t>
            </a:r>
            <a:pPr indent="0" marL="0">
              <a:buNone/>
            </a:pPr>
            <a:r>
              <a:rPr lang="en-US" sz="1700" dirty="0">
                <a:solidFill>
                  <a:srgbClr val="E8ECFF"/>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    Nama  </a:t>
            </a:r>
            <a:pPr indent="0" marL="0">
              <a:buNone/>
            </a:pPr>
            <a:r>
              <a:rPr lang="en-US" sz="1700" dirty="0">
                <a:solidFill>
                  <a:srgbClr val="A5C8FF"/>
                </a:solidFill>
                <a:latin typeface="Courier New" pitchFamily="34" charset="0"/>
                <a:ea typeface="Courier New" pitchFamily="34" charset="-122"/>
                <a:cs typeface="Courier New" pitchFamily="34" charset="-120"/>
              </a:rPr>
              <a:t>string</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    Nilai </a:t>
            </a:r>
            <a:pPr indent="0" marL="0">
              <a:buNone/>
            </a:pPr>
            <a:r>
              <a:rPr lang="en-US" sz="1700" dirty="0">
                <a:solidFill>
                  <a:srgbClr val="A5C8FF"/>
                </a:solidFill>
                <a:latin typeface="Courier New" pitchFamily="34" charset="0"/>
                <a:ea typeface="Courier New" pitchFamily="34" charset="-122"/>
                <a:cs typeface="Courier New" pitchFamily="34" charset="-120"/>
              </a:rPr>
              <a:t>int</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a:t>
            </a:r>
            <a:endParaRPr lang="en-US" sz="1700" dirty="0"/>
          </a:p>
          <a:p>
            <a:pPr indent="0" marL="0">
              <a:buNone/>
            </a:pPr>
            <a:r>
              <a:rPr lang="en-US" sz="1700" dirty="0">
                <a:solidFill>
                  <a:srgbClr val="000000"/>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8C93C9"/>
                </a:solidFill>
                <a:latin typeface="Courier New" pitchFamily="34" charset="0"/>
                <a:ea typeface="Courier New" pitchFamily="34" charset="-122"/>
                <a:cs typeface="Courier New" pitchFamily="34" charset="-120"/>
              </a:rPr>
              <a:t>// di dalam func main()</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s := Siswa{Nama: </a:t>
            </a:r>
            <a:pPr indent="0" marL="0">
              <a:buNone/>
            </a:pPr>
            <a:r>
              <a:rPr lang="en-US" sz="1700" dirty="0">
                <a:solidFill>
                  <a:srgbClr val="A8E6CF"/>
                </a:solidFill>
                <a:latin typeface="Courier New" pitchFamily="34" charset="0"/>
                <a:ea typeface="Courier New" pitchFamily="34" charset="-122"/>
                <a:cs typeface="Courier New" pitchFamily="34" charset="-120"/>
              </a:rPr>
              <a:t>"Budi"</a:t>
            </a:r>
            <a:pPr indent="0" marL="0">
              <a:buNone/>
            </a:pPr>
            <a:r>
              <a:rPr lang="en-US" sz="1700" dirty="0">
                <a:solidFill>
                  <a:srgbClr val="E8ECFF"/>
                </a:solidFill>
                <a:latin typeface="Courier New" pitchFamily="34" charset="0"/>
                <a:ea typeface="Courier New" pitchFamily="34" charset="-122"/>
                <a:cs typeface="Courier New" pitchFamily="34" charset="-120"/>
              </a:rPr>
              <a:t>, Nilai: </a:t>
            </a:r>
            <a:pPr indent="0" marL="0">
              <a:buNone/>
            </a:pPr>
            <a:r>
              <a:rPr lang="en-US" sz="1700" dirty="0">
                <a:solidFill>
                  <a:srgbClr val="FFC58A"/>
                </a:solidFill>
                <a:latin typeface="Courier New" pitchFamily="34" charset="0"/>
                <a:ea typeface="Courier New" pitchFamily="34" charset="-122"/>
                <a:cs typeface="Courier New" pitchFamily="34" charset="-120"/>
              </a:rPr>
              <a:t>80</a:t>
            </a:r>
            <a:pPr indent="0" marL="0">
              <a:buNone/>
            </a:pPr>
            <a:r>
              <a:rPr lang="en-US" sz="1700" dirty="0">
                <a:solidFill>
                  <a:srgbClr val="E8ECFF"/>
                </a:solidFill>
                <a:latin typeface="Courier New" pitchFamily="34" charset="0"/>
                <a:ea typeface="Courier New" pitchFamily="34" charset="-122"/>
                <a:cs typeface="Courier New" pitchFamily="34" charset="-120"/>
              </a:rPr>
              <a:t>}</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fmt.Println(s.Nama, s.Nilai) </a:t>
            </a:r>
            <a:pPr indent="0" marL="0">
              <a:buNone/>
            </a:pPr>
            <a:r>
              <a:rPr lang="en-US" sz="1700" dirty="0">
                <a:solidFill>
                  <a:srgbClr val="8C93C9"/>
                </a:solidFill>
                <a:latin typeface="Courier New" pitchFamily="34" charset="0"/>
                <a:ea typeface="Courier New" pitchFamily="34" charset="-122"/>
                <a:cs typeface="Courier New" pitchFamily="34" charset="-120"/>
              </a:rPr>
              <a:t>// Budi 80</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s.Nilai = </a:t>
            </a:r>
            <a:pPr indent="0" marL="0">
              <a:buNone/>
            </a:pPr>
            <a:r>
              <a:rPr lang="en-US" sz="1700" dirty="0">
                <a:solidFill>
                  <a:srgbClr val="FFC58A"/>
                </a:solidFill>
                <a:latin typeface="Courier New" pitchFamily="34" charset="0"/>
                <a:ea typeface="Courier New" pitchFamily="34" charset="-122"/>
                <a:cs typeface="Courier New" pitchFamily="34" charset="-120"/>
              </a:rPr>
              <a:t>85</a:t>
            </a:r>
            <a:endParaRPr lang="en-US" sz="1700" dirty="0"/>
          </a:p>
          <a:p>
            <a:pPr indent="0" marL="0">
              <a:buNone/>
            </a:pPr>
            <a:r>
              <a:rPr lang="en-US" sz="1700" dirty="0">
                <a:solidFill>
                  <a:srgbClr val="E8ECFF"/>
                </a:solidFill>
                <a:latin typeface="Courier New" pitchFamily="34" charset="0"/>
                <a:ea typeface="Courier New" pitchFamily="34" charset="-122"/>
                <a:cs typeface="Courier New" pitchFamily="34" charset="-120"/>
              </a:rPr>
              <a:t>fmt.Printf(</a:t>
            </a:r>
            <a:pPr indent="0" marL="0">
              <a:buNone/>
            </a:pPr>
            <a:r>
              <a:rPr lang="en-US" sz="1700" dirty="0">
                <a:solidFill>
                  <a:srgbClr val="A8E6CF"/>
                </a:solidFill>
                <a:latin typeface="Courier New" pitchFamily="34" charset="0"/>
                <a:ea typeface="Courier New" pitchFamily="34" charset="-122"/>
                <a:cs typeface="Courier New" pitchFamily="34" charset="-120"/>
              </a:rPr>
              <a:t>"%+v\n"</a:t>
            </a:r>
            <a:pPr indent="0" marL="0">
              <a:buNone/>
            </a:pPr>
            <a:r>
              <a:rPr lang="en-US" sz="1700" dirty="0">
                <a:solidFill>
                  <a:srgbClr val="E8ECFF"/>
                </a:solidFill>
                <a:latin typeface="Courier New" pitchFamily="34" charset="0"/>
                <a:ea typeface="Courier New" pitchFamily="34" charset="-122"/>
                <a:cs typeface="Courier New" pitchFamily="34" charset="-120"/>
              </a:rPr>
              <a:t>, s) </a:t>
            </a:r>
            <a:pPr indent="0" marL="0">
              <a:buNone/>
            </a:pPr>
            <a:r>
              <a:rPr lang="en-US" sz="1700" dirty="0">
                <a:solidFill>
                  <a:srgbClr val="8C93C9"/>
                </a:solidFill>
                <a:latin typeface="Courier New" pitchFamily="34" charset="0"/>
                <a:ea typeface="Courier New" pitchFamily="34" charset="-122"/>
                <a:cs typeface="Courier New" pitchFamily="34" charset="-120"/>
              </a:rPr>
              <a:t>// {Nama:Budi Nilai:85}</a:t>
            </a:r>
            <a:endParaRPr lang="en-US" sz="1700" dirty="0"/>
          </a:p>
        </p:txBody>
      </p:sp>
      <p:sp>
        <p:nvSpPr>
          <p:cNvPr id="10" name="Shape 5"/>
          <p:cNvSpPr/>
          <p:nvPr/>
        </p:nvSpPr>
        <p:spPr>
          <a:xfrm>
            <a:off x="8229600" y="4754880"/>
            <a:ext cx="9418320" cy="1371600"/>
          </a:xfrm>
          <a:prstGeom prst="roundRect">
            <a:avLst>
              <a:gd name="adj" fmla="val 10000"/>
            </a:avLst>
          </a:prstGeom>
          <a:solidFill>
            <a:srgbClr val="EEF1FC"/>
          </a:solidFill>
          <a:ln w="12700">
            <a:solidFill>
              <a:srgbClr val="D3DAF5"/>
            </a:solidFill>
            <a:prstDash val="solid"/>
          </a:ln>
        </p:spPr>
      </p:sp>
      <p:sp>
        <p:nvSpPr>
          <p:cNvPr id="11" name="Text 6"/>
          <p:cNvSpPr txBox="1"/>
          <p:nvPr/>
        </p:nvSpPr>
        <p:spPr>
          <a:xfrm>
            <a:off x="8503920" y="4754880"/>
            <a:ext cx="8869680" cy="137160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Kumpulan field</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Satu tipe, banyak atribut bernama.</a:t>
            </a:r>
            <a:endParaRPr lang="en-US" sz="2400" dirty="0"/>
          </a:p>
        </p:txBody>
      </p:sp>
      <p:sp>
        <p:nvSpPr>
          <p:cNvPr id="12" name="Shape 7"/>
          <p:cNvSpPr/>
          <p:nvPr/>
        </p:nvSpPr>
        <p:spPr>
          <a:xfrm>
            <a:off x="8229600" y="6309360"/>
            <a:ext cx="9418320" cy="1371600"/>
          </a:xfrm>
          <a:prstGeom prst="roundRect">
            <a:avLst>
              <a:gd name="adj" fmla="val 10000"/>
            </a:avLst>
          </a:prstGeom>
          <a:solidFill>
            <a:srgbClr val="FFF3BF"/>
          </a:solidFill>
          <a:ln w="12700">
            <a:solidFill>
              <a:srgbClr val="FFF3BF"/>
            </a:solidFill>
            <a:prstDash val="solid"/>
          </a:ln>
        </p:spPr>
      </p:sp>
      <p:sp>
        <p:nvSpPr>
          <p:cNvPr id="13" name="Text 8"/>
          <p:cNvSpPr txBox="1"/>
          <p:nvPr/>
        </p:nvSpPr>
        <p:spPr>
          <a:xfrm>
            <a:off x="8503920" y="6309360"/>
            <a:ext cx="8869680" cy="137160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Akses dengan titik</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s.Nama, s.Nilai</a:t>
            </a:r>
            <a:endParaRPr lang="en-US" sz="2400" dirty="0"/>
          </a:p>
        </p:txBody>
      </p:sp>
      <p:sp>
        <p:nvSpPr>
          <p:cNvPr id="14" name="Shape 9"/>
          <p:cNvSpPr/>
          <p:nvPr/>
        </p:nvSpPr>
        <p:spPr>
          <a:xfrm>
            <a:off x="8229600" y="7863840"/>
            <a:ext cx="9418320" cy="1554480"/>
          </a:xfrm>
          <a:prstGeom prst="roundRect">
            <a:avLst>
              <a:gd name="adj" fmla="val 8824"/>
            </a:avLst>
          </a:prstGeom>
          <a:solidFill>
            <a:srgbClr val="EEF1FC"/>
          </a:solidFill>
          <a:ln w="12700">
            <a:solidFill>
              <a:srgbClr val="D3DAF5"/>
            </a:solidFill>
            <a:prstDash val="solid"/>
          </a:ln>
        </p:spPr>
      </p:sp>
      <p:sp>
        <p:nvSpPr>
          <p:cNvPr id="15" name="Text 10"/>
          <p:cNvSpPr txBox="1"/>
          <p:nvPr/>
        </p:nvSpPr>
        <p:spPr>
          <a:xfrm>
            <a:off x="8503920" y="7863840"/>
            <a:ext cx="8869680" cy="155448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Huruf besar</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Field berhuruf besar dapat diakses package lain.</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BAGIAN 7 · 10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Menggabungkan Struct dan Slice</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Slice of struct</a:t>
            </a:r>
            <a:endParaRPr lang="en-US" sz="2600" dirty="0"/>
          </a:p>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Pola umum aplikasi Go</a:t>
            </a:r>
            <a:endParaRPr lang="en-US" sz="2600" dirty="0"/>
          </a:p>
        </p:txBody>
      </p:sp>
      <p:sp>
        <p:nvSpPr>
          <p:cNvPr id="8" name="Shape 3"/>
          <p:cNvSpPr/>
          <p:nvPr/>
        </p:nvSpPr>
        <p:spPr>
          <a:xfrm>
            <a:off x="8229600" y="731520"/>
            <a:ext cx="9418320" cy="2903728"/>
          </a:xfrm>
          <a:prstGeom prst="roundRect">
            <a:avLst>
              <a:gd name="adj" fmla="val 4724"/>
            </a:avLst>
          </a:prstGeom>
          <a:solidFill>
            <a:srgbClr val="13123D"/>
          </a:solidFill>
          <a:ln w="12700">
            <a:solidFill>
              <a:srgbClr val="13123D"/>
            </a:solidFill>
            <a:prstDash val="solid"/>
          </a:ln>
        </p:spPr>
      </p:sp>
      <p:sp>
        <p:nvSpPr>
          <p:cNvPr id="9" name="Text 4"/>
          <p:cNvSpPr txBox="1"/>
          <p:nvPr/>
        </p:nvSpPr>
        <p:spPr>
          <a:xfrm>
            <a:off x="8503920" y="987552"/>
            <a:ext cx="8869680" cy="2446528"/>
          </a:xfrm>
          <a:prstGeom prst="rect">
            <a:avLst/>
          </a:prstGeom>
          <a:noFill/>
          <a:ln/>
        </p:spPr>
        <p:txBody>
          <a:bodyPr wrap="square" lIns="0" tIns="0" rIns="0" bIns="0" rtlCol="0" anchor="t"/>
          <a:lstStyle/>
          <a:p>
            <a:pPr indent="0" marL="0">
              <a:buNone/>
            </a:pPr>
            <a:r>
              <a:rPr lang="en-US" sz="1900" dirty="0">
                <a:solidFill>
                  <a:srgbClr val="E8ECFF"/>
                </a:solidFill>
                <a:latin typeface="Courier New" pitchFamily="34" charset="0"/>
                <a:ea typeface="Courier New" pitchFamily="34" charset="-122"/>
                <a:cs typeface="Courier New" pitchFamily="34" charset="-120"/>
              </a:rPr>
              <a:t>siswa := []Siswa{</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"Budi"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80</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"Sari"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65</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siswa = append(siswa, Siswa{</a:t>
            </a:r>
            <a:pPr indent="0" marL="0">
              <a:buNone/>
            </a:pPr>
            <a:r>
              <a:rPr lang="en-US" sz="1900" dirty="0">
                <a:solidFill>
                  <a:srgbClr val="A8E6CF"/>
                </a:solidFill>
                <a:latin typeface="Courier New" pitchFamily="34" charset="0"/>
                <a:ea typeface="Courier New" pitchFamily="34" charset="-122"/>
                <a:cs typeface="Courier New" pitchFamily="34" charset="-120"/>
              </a:rPr>
              <a:t>"Dewi"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90</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for</a:t>
            </a:r>
            <a:pPr indent="0" marL="0">
              <a:buNone/>
            </a:pPr>
            <a:r>
              <a:rPr lang="en-US" sz="1900" dirty="0">
                <a:solidFill>
                  <a:srgbClr val="E8ECFF"/>
                </a:solidFill>
                <a:latin typeface="Courier New" pitchFamily="34" charset="0"/>
                <a:ea typeface="Courier New" pitchFamily="34" charset="-122"/>
                <a:cs typeface="Courier New" pitchFamily="34" charset="-120"/>
              </a:rPr>
              <a:t> _, s := </a:t>
            </a:r>
            <a:pPr indent="0" marL="0">
              <a:buNone/>
            </a:pPr>
            <a:r>
              <a:rPr lang="en-US" sz="1900" dirty="0">
                <a:solidFill>
                  <a:srgbClr val="FCDF59"/>
                </a:solidFill>
                <a:latin typeface="Courier New" pitchFamily="34" charset="0"/>
                <a:ea typeface="Courier New" pitchFamily="34" charset="-122"/>
                <a:cs typeface="Courier New" pitchFamily="34" charset="-120"/>
              </a:rPr>
              <a:t>range</a:t>
            </a:r>
            <a:pPr indent="0" marL="0">
              <a:buNone/>
            </a:pPr>
            <a:r>
              <a:rPr lang="en-US" sz="1900" dirty="0">
                <a:solidFill>
                  <a:srgbClr val="E8ECFF"/>
                </a:solidFill>
                <a:latin typeface="Courier New" pitchFamily="34" charset="0"/>
                <a:ea typeface="Courier New" pitchFamily="34" charset="-122"/>
                <a:cs typeface="Courier New" pitchFamily="34" charset="-120"/>
              </a:rPr>
              <a:t> siswa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fmt.Println(s.Nama, s.Nilai)</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p:txBody>
      </p:sp>
      <p:sp>
        <p:nvSpPr>
          <p:cNvPr id="10" name="Text 5"/>
          <p:cNvSpPr txBox="1"/>
          <p:nvPr/>
        </p:nvSpPr>
        <p:spPr>
          <a:xfrm>
            <a:off x="8229600" y="3840480"/>
            <a:ext cx="9418320" cy="457200"/>
          </a:xfrm>
          <a:prstGeom prst="rect">
            <a:avLst/>
          </a:prstGeom>
          <a:noFill/>
          <a:ln/>
        </p:spPr>
        <p:txBody>
          <a:bodyPr wrap="square" lIns="0" tIns="0" rIns="0" bIns="0" rtlCol="0" anchor="t"/>
          <a:lstStyle/>
          <a:p>
            <a:pPr indent="0" marL="0">
              <a:buNone/>
            </a:pPr>
            <a:r>
              <a:rPr lang="en-US" sz="2100" dirty="0">
                <a:solidFill>
                  <a:srgbClr val="13123D"/>
                </a:solidFill>
                <a:latin typeface="Courier New" pitchFamily="34" charset="0"/>
                <a:ea typeface="Courier New" pitchFamily="34" charset="-122"/>
                <a:cs typeface="Courier New" pitchFamily="34" charset="-120"/>
              </a:rPr>
              <a:t>Output: Budi 80, Sari 65, Dewi 90</a:t>
            </a:r>
            <a:endParaRPr lang="en-US" sz="2100" dirty="0"/>
          </a:p>
        </p:txBody>
      </p:sp>
      <p:sp>
        <p:nvSpPr>
          <p:cNvPr id="11" name="Text 6"/>
          <p:cNvSpPr txBox="1"/>
          <p:nvPr/>
        </p:nvSpPr>
        <p:spPr>
          <a:xfrm>
            <a:off x="8229600" y="4572000"/>
            <a:ext cx="914400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Kapan memakai apa?</a:t>
            </a:r>
            <a:endParaRPr lang="en-US" sz="2600" dirty="0"/>
          </a:p>
        </p:txBody>
      </p:sp>
      <p:sp>
        <p:nvSpPr>
          <p:cNvPr id="12" name="Shape 7"/>
          <p:cNvSpPr/>
          <p:nvPr/>
        </p:nvSpPr>
        <p:spPr>
          <a:xfrm>
            <a:off x="8229600" y="5166360"/>
            <a:ext cx="9418320" cy="960120"/>
          </a:xfrm>
          <a:prstGeom prst="roundRect">
            <a:avLst>
              <a:gd name="adj" fmla="val 14286"/>
            </a:avLst>
          </a:prstGeom>
          <a:solidFill>
            <a:srgbClr val="EEF1FC"/>
          </a:solidFill>
          <a:ln w="12700">
            <a:solidFill>
              <a:srgbClr val="D3DAF5"/>
            </a:solidFill>
            <a:prstDash val="solid"/>
          </a:ln>
        </p:spPr>
      </p:sp>
      <p:sp>
        <p:nvSpPr>
          <p:cNvPr id="13" name="Text 8"/>
          <p:cNvSpPr txBox="1"/>
          <p:nvPr/>
        </p:nvSpPr>
        <p:spPr>
          <a:xfrm>
            <a:off x="8458200" y="5349240"/>
            <a:ext cx="2194560" cy="594360"/>
          </a:xfrm>
          <a:prstGeom prst="roundRect">
            <a:avLst>
              <a:gd name="adj" fmla="val 18462"/>
            </a:avLst>
          </a:prstGeom>
          <a:solidFill>
            <a:srgbClr val="162CA2"/>
          </a:solidFill>
          <a:ln>
            <a:solidFill>
              <a:srgbClr val="162CA2"/>
            </a:solidFill>
          </a:ln>
        </p:spPr>
        <p:txBody>
          <a:bodyPr wrap="square" lIns="635" tIns="635" rIns="635" bIns="635" rtlCol="0" anchor="ctr"/>
          <a:lstStyle/>
          <a:p>
            <a:pPr algn="ctr" indent="0" marL="0">
              <a:buNone/>
            </a:pPr>
            <a:r>
              <a:rPr lang="en-US" sz="2200" b="1" dirty="0">
                <a:solidFill>
                  <a:srgbClr val="FDFBFB"/>
                </a:solidFill>
                <a:latin typeface="Calibri" pitchFamily="34" charset="0"/>
                <a:ea typeface="Calibri" pitchFamily="34" charset="-122"/>
                <a:cs typeface="Calibri" pitchFamily="34" charset="-120"/>
              </a:rPr>
              <a:t>Array</a:t>
            </a:r>
            <a:endParaRPr lang="en-US" sz="2200" dirty="0"/>
          </a:p>
        </p:txBody>
      </p:sp>
      <p:sp>
        <p:nvSpPr>
          <p:cNvPr id="14" name="Text 9"/>
          <p:cNvSpPr txBox="1"/>
          <p:nvPr/>
        </p:nvSpPr>
        <p:spPr>
          <a:xfrm>
            <a:off x="10972800" y="5166360"/>
            <a:ext cx="6492240" cy="960120"/>
          </a:xfrm>
          <a:prstGeom prst="rect">
            <a:avLst/>
          </a:prstGeom>
          <a:noFill/>
          <a:ln/>
        </p:spPr>
        <p:txBody>
          <a:bodyPr wrap="square" lIns="0" tIns="0" rIns="0" bIns="0" rtlCol="0" anchor="ctr"/>
          <a:lstStyle/>
          <a:p>
            <a:pPr indent="0" marL="0">
              <a:buNone/>
            </a:pPr>
            <a:r>
              <a:rPr lang="en-US" sz="2400" dirty="0">
                <a:solidFill>
                  <a:srgbClr val="13123D"/>
                </a:solidFill>
                <a:latin typeface="Calibri" pitchFamily="34" charset="0"/>
                <a:ea typeface="Calibri" pitchFamily="34" charset="-122"/>
                <a:cs typeface="Calibri" pitchFamily="34" charset="-120"/>
              </a:rPr>
              <a:t>Ukuran tetap dan kecil</a:t>
            </a:r>
            <a:endParaRPr lang="en-US" sz="2400" dirty="0"/>
          </a:p>
        </p:txBody>
      </p:sp>
      <p:sp>
        <p:nvSpPr>
          <p:cNvPr id="15" name="Shape 10"/>
          <p:cNvSpPr/>
          <p:nvPr/>
        </p:nvSpPr>
        <p:spPr>
          <a:xfrm>
            <a:off x="8229600" y="6263640"/>
            <a:ext cx="9418320" cy="960120"/>
          </a:xfrm>
          <a:prstGeom prst="roundRect">
            <a:avLst>
              <a:gd name="adj" fmla="val 14286"/>
            </a:avLst>
          </a:prstGeom>
          <a:solidFill>
            <a:srgbClr val="EEF1FC"/>
          </a:solidFill>
          <a:ln w="12700">
            <a:solidFill>
              <a:srgbClr val="D3DAF5"/>
            </a:solidFill>
            <a:prstDash val="solid"/>
          </a:ln>
        </p:spPr>
      </p:sp>
      <p:sp>
        <p:nvSpPr>
          <p:cNvPr id="16" name="Text 11"/>
          <p:cNvSpPr txBox="1"/>
          <p:nvPr/>
        </p:nvSpPr>
        <p:spPr>
          <a:xfrm>
            <a:off x="8458200" y="6446520"/>
            <a:ext cx="2194560" cy="594360"/>
          </a:xfrm>
          <a:prstGeom prst="roundRect">
            <a:avLst>
              <a:gd name="adj" fmla="val 18462"/>
            </a:avLst>
          </a:prstGeom>
          <a:solidFill>
            <a:srgbClr val="162CA2"/>
          </a:solidFill>
          <a:ln>
            <a:solidFill>
              <a:srgbClr val="162CA2"/>
            </a:solidFill>
          </a:ln>
        </p:spPr>
        <p:txBody>
          <a:bodyPr wrap="square" lIns="635" tIns="635" rIns="635" bIns="635" rtlCol="0" anchor="ctr"/>
          <a:lstStyle/>
          <a:p>
            <a:pPr algn="ctr" indent="0" marL="0">
              <a:buNone/>
            </a:pPr>
            <a:r>
              <a:rPr lang="en-US" sz="2200" b="1" dirty="0">
                <a:solidFill>
                  <a:srgbClr val="FDFBFB"/>
                </a:solidFill>
                <a:latin typeface="Calibri" pitchFamily="34" charset="0"/>
                <a:ea typeface="Calibri" pitchFamily="34" charset="-122"/>
                <a:cs typeface="Calibri" pitchFamily="34" charset="-120"/>
              </a:rPr>
              <a:t>Slice</a:t>
            </a:r>
            <a:endParaRPr lang="en-US" sz="2200" dirty="0"/>
          </a:p>
        </p:txBody>
      </p:sp>
      <p:sp>
        <p:nvSpPr>
          <p:cNvPr id="17" name="Text 12"/>
          <p:cNvSpPr txBox="1"/>
          <p:nvPr/>
        </p:nvSpPr>
        <p:spPr>
          <a:xfrm>
            <a:off x="10972800" y="6263640"/>
            <a:ext cx="6492240" cy="960120"/>
          </a:xfrm>
          <a:prstGeom prst="rect">
            <a:avLst/>
          </a:prstGeom>
          <a:noFill/>
          <a:ln/>
        </p:spPr>
        <p:txBody>
          <a:bodyPr wrap="square" lIns="0" tIns="0" rIns="0" bIns="0" rtlCol="0" anchor="ctr"/>
          <a:lstStyle/>
          <a:p>
            <a:pPr indent="0" marL="0">
              <a:buNone/>
            </a:pPr>
            <a:r>
              <a:rPr lang="en-US" sz="2400" dirty="0">
                <a:solidFill>
                  <a:srgbClr val="13123D"/>
                </a:solidFill>
                <a:latin typeface="Calibri" pitchFamily="34" charset="0"/>
                <a:ea typeface="Calibri" pitchFamily="34" charset="-122"/>
                <a:cs typeface="Calibri" pitchFamily="34" charset="-120"/>
              </a:rPr>
              <a:t>Daftar yang dapat bertambah</a:t>
            </a:r>
            <a:endParaRPr lang="en-US" sz="2400" dirty="0"/>
          </a:p>
        </p:txBody>
      </p:sp>
      <p:sp>
        <p:nvSpPr>
          <p:cNvPr id="18" name="Shape 13"/>
          <p:cNvSpPr/>
          <p:nvPr/>
        </p:nvSpPr>
        <p:spPr>
          <a:xfrm>
            <a:off x="8229600" y="7360920"/>
            <a:ext cx="9418320" cy="960120"/>
          </a:xfrm>
          <a:prstGeom prst="roundRect">
            <a:avLst>
              <a:gd name="adj" fmla="val 14286"/>
            </a:avLst>
          </a:prstGeom>
          <a:solidFill>
            <a:srgbClr val="EEF1FC"/>
          </a:solidFill>
          <a:ln w="12700">
            <a:solidFill>
              <a:srgbClr val="D3DAF5"/>
            </a:solidFill>
            <a:prstDash val="solid"/>
          </a:ln>
        </p:spPr>
      </p:sp>
      <p:sp>
        <p:nvSpPr>
          <p:cNvPr id="19" name="Text 14"/>
          <p:cNvSpPr txBox="1"/>
          <p:nvPr/>
        </p:nvSpPr>
        <p:spPr>
          <a:xfrm>
            <a:off x="8458200" y="7543800"/>
            <a:ext cx="2194560" cy="594360"/>
          </a:xfrm>
          <a:prstGeom prst="roundRect">
            <a:avLst>
              <a:gd name="adj" fmla="val 18462"/>
            </a:avLst>
          </a:prstGeom>
          <a:solidFill>
            <a:srgbClr val="162CA2"/>
          </a:solidFill>
          <a:ln>
            <a:solidFill>
              <a:srgbClr val="162CA2"/>
            </a:solidFill>
          </a:ln>
        </p:spPr>
        <p:txBody>
          <a:bodyPr wrap="square" lIns="635" tIns="635" rIns="635" bIns="635" rtlCol="0" anchor="ctr"/>
          <a:lstStyle/>
          <a:p>
            <a:pPr algn="ctr" indent="0" marL="0">
              <a:buNone/>
            </a:pPr>
            <a:r>
              <a:rPr lang="en-US" sz="2200" b="1" dirty="0">
                <a:solidFill>
                  <a:srgbClr val="FDFBFB"/>
                </a:solidFill>
                <a:latin typeface="Calibri" pitchFamily="34" charset="0"/>
                <a:ea typeface="Calibri" pitchFamily="34" charset="-122"/>
                <a:cs typeface="Calibri" pitchFamily="34" charset="-120"/>
              </a:rPr>
              <a:t>Map</a:t>
            </a:r>
            <a:endParaRPr lang="en-US" sz="2200" dirty="0"/>
          </a:p>
        </p:txBody>
      </p:sp>
      <p:sp>
        <p:nvSpPr>
          <p:cNvPr id="20" name="Text 15"/>
          <p:cNvSpPr txBox="1"/>
          <p:nvPr/>
        </p:nvSpPr>
        <p:spPr>
          <a:xfrm>
            <a:off x="10972800" y="7360920"/>
            <a:ext cx="6492240" cy="960120"/>
          </a:xfrm>
          <a:prstGeom prst="rect">
            <a:avLst/>
          </a:prstGeom>
          <a:noFill/>
          <a:ln/>
        </p:spPr>
        <p:txBody>
          <a:bodyPr wrap="square" lIns="0" tIns="0" rIns="0" bIns="0" rtlCol="0" anchor="ctr"/>
          <a:lstStyle/>
          <a:p>
            <a:pPr indent="0" marL="0">
              <a:buNone/>
            </a:pPr>
            <a:r>
              <a:rPr lang="en-US" sz="2400" dirty="0">
                <a:solidFill>
                  <a:srgbClr val="13123D"/>
                </a:solidFill>
                <a:latin typeface="Calibri" pitchFamily="34" charset="0"/>
                <a:ea typeface="Calibri" pitchFamily="34" charset="-122"/>
                <a:cs typeface="Calibri" pitchFamily="34" charset="-120"/>
              </a:rPr>
              <a:t>Cari lewat kunci</a:t>
            </a:r>
            <a:endParaRPr lang="en-US" sz="2400" dirty="0"/>
          </a:p>
        </p:txBody>
      </p:sp>
      <p:sp>
        <p:nvSpPr>
          <p:cNvPr id="21" name="Shape 16"/>
          <p:cNvSpPr/>
          <p:nvPr/>
        </p:nvSpPr>
        <p:spPr>
          <a:xfrm>
            <a:off x="8229600" y="8458200"/>
            <a:ext cx="9418320" cy="960120"/>
          </a:xfrm>
          <a:prstGeom prst="roundRect">
            <a:avLst>
              <a:gd name="adj" fmla="val 14286"/>
            </a:avLst>
          </a:prstGeom>
          <a:solidFill>
            <a:srgbClr val="EEF1FC"/>
          </a:solidFill>
          <a:ln w="12700">
            <a:solidFill>
              <a:srgbClr val="D3DAF5"/>
            </a:solidFill>
            <a:prstDash val="solid"/>
          </a:ln>
        </p:spPr>
      </p:sp>
      <p:sp>
        <p:nvSpPr>
          <p:cNvPr id="22" name="Text 17"/>
          <p:cNvSpPr txBox="1"/>
          <p:nvPr/>
        </p:nvSpPr>
        <p:spPr>
          <a:xfrm>
            <a:off x="8458200" y="8641080"/>
            <a:ext cx="2194560" cy="594360"/>
          </a:xfrm>
          <a:prstGeom prst="roundRect">
            <a:avLst>
              <a:gd name="adj" fmla="val 18462"/>
            </a:avLst>
          </a:prstGeom>
          <a:solidFill>
            <a:srgbClr val="162CA2"/>
          </a:solidFill>
          <a:ln>
            <a:solidFill>
              <a:srgbClr val="162CA2"/>
            </a:solidFill>
          </a:ln>
        </p:spPr>
        <p:txBody>
          <a:bodyPr wrap="square" lIns="635" tIns="635" rIns="635" bIns="635" rtlCol="0" anchor="ctr"/>
          <a:lstStyle/>
          <a:p>
            <a:pPr algn="ctr" indent="0" marL="0">
              <a:buNone/>
            </a:pPr>
            <a:r>
              <a:rPr lang="en-US" sz="2200" b="1" dirty="0">
                <a:solidFill>
                  <a:srgbClr val="FDFBFB"/>
                </a:solidFill>
                <a:latin typeface="Calibri" pitchFamily="34" charset="0"/>
                <a:ea typeface="Calibri" pitchFamily="34" charset="-122"/>
                <a:cs typeface="Calibri" pitchFamily="34" charset="-120"/>
              </a:rPr>
              <a:t>Struct</a:t>
            </a:r>
            <a:endParaRPr lang="en-US" sz="2200" dirty="0"/>
          </a:p>
        </p:txBody>
      </p:sp>
      <p:sp>
        <p:nvSpPr>
          <p:cNvPr id="23" name="Text 18"/>
          <p:cNvSpPr txBox="1"/>
          <p:nvPr/>
        </p:nvSpPr>
        <p:spPr>
          <a:xfrm>
            <a:off x="10972800" y="8458200"/>
            <a:ext cx="6492240" cy="960120"/>
          </a:xfrm>
          <a:prstGeom prst="rect">
            <a:avLst/>
          </a:prstGeom>
          <a:noFill/>
          <a:ln/>
        </p:spPr>
        <p:txBody>
          <a:bodyPr wrap="square" lIns="0" tIns="0" rIns="0" bIns="0" rtlCol="0" anchor="ctr"/>
          <a:lstStyle/>
          <a:p>
            <a:pPr indent="0" marL="0">
              <a:buNone/>
            </a:pPr>
            <a:r>
              <a:rPr lang="en-US" sz="2400" dirty="0">
                <a:solidFill>
                  <a:srgbClr val="13123D"/>
                </a:solidFill>
                <a:latin typeface="Calibri" pitchFamily="34" charset="0"/>
                <a:ea typeface="Calibri" pitchFamily="34" charset="-122"/>
                <a:cs typeface="Calibri" pitchFamily="34" charset="-120"/>
              </a:rPr>
              <a:t>Satu entitas, banyak atribut</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BAGIAN 8 · LATIHAN 25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Latihan Hands-on</a:t>
            </a:r>
            <a:endParaRPr lang="en-US" sz="4800" dirty="0"/>
          </a:p>
        </p:txBody>
      </p:sp>
      <p:sp>
        <p:nvSpPr>
          <p:cNvPr id="7" name="Shape 2"/>
          <p:cNvSpPr/>
          <p:nvPr/>
        </p:nvSpPr>
        <p:spPr>
          <a:xfrm>
            <a:off x="914400" y="4343400"/>
            <a:ext cx="5212080" cy="3566160"/>
          </a:xfrm>
          <a:prstGeom prst="roundRect">
            <a:avLst>
              <a:gd name="adj" fmla="val 3846"/>
            </a:avLst>
          </a:prstGeom>
          <a:solidFill>
            <a:srgbClr val="EEF1FC"/>
          </a:solidFill>
          <a:ln w="12700">
            <a:solidFill>
              <a:srgbClr val="D3DAF5"/>
            </a:solidFill>
            <a:prstDash val="solid"/>
          </a:ln>
        </p:spPr>
      </p:sp>
      <p:sp>
        <p:nvSpPr>
          <p:cNvPr id="8" name="Text 3"/>
          <p:cNvSpPr txBox="1"/>
          <p:nvPr/>
        </p:nvSpPr>
        <p:spPr>
          <a:xfrm>
            <a:off x="1188720" y="4617720"/>
            <a:ext cx="3931920" cy="548640"/>
          </a:xfrm>
          <a:prstGeom prst="roundRect">
            <a:avLst>
              <a:gd name="adj" fmla="val 20000"/>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LATIHAN 1 · 7 MENIT</a:t>
            </a:r>
            <a:endParaRPr lang="en-US" sz="1800" dirty="0"/>
          </a:p>
        </p:txBody>
      </p:sp>
      <p:sp>
        <p:nvSpPr>
          <p:cNvPr id="9" name="Text 4"/>
          <p:cNvSpPr txBox="1"/>
          <p:nvPr/>
        </p:nvSpPr>
        <p:spPr>
          <a:xfrm>
            <a:off x="1188720" y="5440680"/>
            <a:ext cx="4663440" cy="731520"/>
          </a:xfrm>
          <a:prstGeom prst="rect">
            <a:avLst/>
          </a:prstGeom>
          <a:noFill/>
          <a:ln/>
        </p:spPr>
        <p:txBody>
          <a:bodyPr wrap="square" lIns="0" tIns="0" rIns="0" bIns="0" rtlCol="0" anchor="t"/>
          <a:lstStyle/>
          <a:p>
            <a:pPr indent="0" marL="0">
              <a:buNone/>
            </a:pPr>
            <a:r>
              <a:rPr lang="en-US" sz="3000" b="1" dirty="0">
                <a:solidFill>
                  <a:srgbClr val="162CA2"/>
                </a:solidFill>
                <a:latin typeface="Calibri" pitchFamily="34" charset="0"/>
                <a:ea typeface="Calibri" pitchFamily="34" charset="-122"/>
                <a:cs typeface="Calibri" pitchFamily="34" charset="-120"/>
              </a:rPr>
              <a:t>Grade Nilai</a:t>
            </a:r>
            <a:endParaRPr lang="en-US" sz="3000" dirty="0"/>
          </a:p>
        </p:txBody>
      </p:sp>
      <p:sp>
        <p:nvSpPr>
          <p:cNvPr id="10" name="Text 5"/>
          <p:cNvSpPr txBox="1"/>
          <p:nvPr/>
        </p:nvSpPr>
        <p:spPr>
          <a:xfrm>
            <a:off x="1188720" y="6309360"/>
            <a:ext cx="4663440" cy="1463040"/>
          </a:xfrm>
          <a:prstGeom prst="rect">
            <a:avLst/>
          </a:prstGeom>
          <a:noFill/>
          <a:ln/>
        </p:spPr>
        <p:txBody>
          <a:bodyPr wrap="square" lIns="0" tIns="0" rIns="0" bIns="0" rtlCol="0" anchor="t"/>
          <a:lstStyle/>
          <a:p>
            <a:pPr indent="0" marL="0">
              <a:buNone/>
            </a:pPr>
            <a:r>
              <a:rPr lang="en-US" sz="2400" dirty="0">
                <a:solidFill>
                  <a:srgbClr val="5A5F86"/>
                </a:solidFill>
                <a:latin typeface="Calibri" pitchFamily="34" charset="0"/>
                <a:ea typeface="Calibri" pitchFamily="34" charset="-122"/>
                <a:cs typeface="Calibri" pitchFamily="34" charset="-120"/>
              </a:rPr>
              <a:t>Konsep: if-else atau switch</a:t>
            </a:r>
            <a:endParaRPr lang="en-US" sz="2400" dirty="0"/>
          </a:p>
        </p:txBody>
      </p:sp>
      <p:sp>
        <p:nvSpPr>
          <p:cNvPr id="11" name="Shape 6"/>
          <p:cNvSpPr/>
          <p:nvPr/>
        </p:nvSpPr>
        <p:spPr>
          <a:xfrm>
            <a:off x="6537960" y="4343400"/>
            <a:ext cx="5212080" cy="3566160"/>
          </a:xfrm>
          <a:prstGeom prst="roundRect">
            <a:avLst>
              <a:gd name="adj" fmla="val 3846"/>
            </a:avLst>
          </a:prstGeom>
          <a:solidFill>
            <a:srgbClr val="EEF1FC"/>
          </a:solidFill>
          <a:ln w="12700">
            <a:solidFill>
              <a:srgbClr val="D3DAF5"/>
            </a:solidFill>
            <a:prstDash val="solid"/>
          </a:ln>
        </p:spPr>
      </p:sp>
      <p:sp>
        <p:nvSpPr>
          <p:cNvPr id="12" name="Text 7"/>
          <p:cNvSpPr txBox="1"/>
          <p:nvPr/>
        </p:nvSpPr>
        <p:spPr>
          <a:xfrm>
            <a:off x="6812280" y="4617720"/>
            <a:ext cx="3931920" cy="548640"/>
          </a:xfrm>
          <a:prstGeom prst="roundRect">
            <a:avLst>
              <a:gd name="adj" fmla="val 20000"/>
            </a:avLst>
          </a:prstGeom>
          <a:solidFill>
            <a:srgbClr val="0F2178"/>
          </a:solidFill>
          <a:ln>
            <a:solidFill>
              <a:srgbClr val="0F2178"/>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LATIHAN 2 · 8 MENIT</a:t>
            </a:r>
            <a:endParaRPr lang="en-US" sz="1800" dirty="0"/>
          </a:p>
        </p:txBody>
      </p:sp>
      <p:sp>
        <p:nvSpPr>
          <p:cNvPr id="13" name="Text 8"/>
          <p:cNvSpPr txBox="1"/>
          <p:nvPr/>
        </p:nvSpPr>
        <p:spPr>
          <a:xfrm>
            <a:off x="6812280" y="5440680"/>
            <a:ext cx="4663440" cy="731520"/>
          </a:xfrm>
          <a:prstGeom prst="rect">
            <a:avLst/>
          </a:prstGeom>
          <a:noFill/>
          <a:ln/>
        </p:spPr>
        <p:txBody>
          <a:bodyPr wrap="square" lIns="0" tIns="0" rIns="0" bIns="0" rtlCol="0" anchor="t"/>
          <a:lstStyle/>
          <a:p>
            <a:pPr indent="0" marL="0">
              <a:buNone/>
            </a:pPr>
            <a:r>
              <a:rPr lang="en-US" sz="3000" b="1" dirty="0">
                <a:solidFill>
                  <a:srgbClr val="162CA2"/>
                </a:solidFill>
                <a:latin typeface="Calibri" pitchFamily="34" charset="0"/>
                <a:ea typeface="Calibri" pitchFamily="34" charset="-122"/>
                <a:cs typeface="Calibri" pitchFamily="34" charset="-120"/>
              </a:rPr>
              <a:t>Statistik Nilai</a:t>
            </a:r>
            <a:endParaRPr lang="en-US" sz="3000" dirty="0"/>
          </a:p>
        </p:txBody>
      </p:sp>
      <p:sp>
        <p:nvSpPr>
          <p:cNvPr id="14" name="Text 9"/>
          <p:cNvSpPr txBox="1"/>
          <p:nvPr/>
        </p:nvSpPr>
        <p:spPr>
          <a:xfrm>
            <a:off x="6812280" y="6309360"/>
            <a:ext cx="4663440" cy="1463040"/>
          </a:xfrm>
          <a:prstGeom prst="rect">
            <a:avLst/>
          </a:prstGeom>
          <a:noFill/>
          <a:ln/>
        </p:spPr>
        <p:txBody>
          <a:bodyPr wrap="square" lIns="0" tIns="0" rIns="0" bIns="0" rtlCol="0" anchor="t"/>
          <a:lstStyle/>
          <a:p>
            <a:pPr indent="0" marL="0">
              <a:buNone/>
            </a:pPr>
            <a:r>
              <a:rPr lang="en-US" sz="2400" dirty="0">
                <a:solidFill>
                  <a:srgbClr val="5A5F86"/>
                </a:solidFill>
                <a:latin typeface="Calibri" pitchFamily="34" charset="0"/>
                <a:ea typeface="Calibri" pitchFamily="34" charset="-122"/>
                <a:cs typeface="Calibri" pitchFamily="34" charset="-120"/>
              </a:rPr>
              <a:t>Konsep: slice, for range, float64</a:t>
            </a:r>
            <a:endParaRPr lang="en-US" sz="2400" dirty="0"/>
          </a:p>
        </p:txBody>
      </p:sp>
      <p:sp>
        <p:nvSpPr>
          <p:cNvPr id="15" name="Shape 10"/>
          <p:cNvSpPr/>
          <p:nvPr/>
        </p:nvSpPr>
        <p:spPr>
          <a:xfrm>
            <a:off x="12161520" y="4343400"/>
            <a:ext cx="5212080" cy="3566160"/>
          </a:xfrm>
          <a:prstGeom prst="roundRect">
            <a:avLst>
              <a:gd name="adj" fmla="val 3846"/>
            </a:avLst>
          </a:prstGeom>
          <a:solidFill>
            <a:srgbClr val="EEF1FC"/>
          </a:solidFill>
          <a:ln w="12700">
            <a:solidFill>
              <a:srgbClr val="D3DAF5"/>
            </a:solidFill>
            <a:prstDash val="solid"/>
          </a:ln>
        </p:spPr>
      </p:sp>
      <p:sp>
        <p:nvSpPr>
          <p:cNvPr id="16" name="Text 11"/>
          <p:cNvSpPr txBox="1"/>
          <p:nvPr/>
        </p:nvSpPr>
        <p:spPr>
          <a:xfrm>
            <a:off x="12435840" y="4617720"/>
            <a:ext cx="3931920" cy="548640"/>
          </a:xfrm>
          <a:prstGeom prst="roundRect">
            <a:avLst>
              <a:gd name="adj" fmla="val 20000"/>
            </a:avLst>
          </a:prstGeom>
          <a:solidFill>
            <a:srgbClr val="13123D"/>
          </a:solidFill>
          <a:ln>
            <a:solidFill>
              <a:srgbClr val="13123D"/>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LATIHAN 3 · 10 MENIT</a:t>
            </a:r>
            <a:endParaRPr lang="en-US" sz="1800" dirty="0"/>
          </a:p>
        </p:txBody>
      </p:sp>
      <p:sp>
        <p:nvSpPr>
          <p:cNvPr id="17" name="Text 12"/>
          <p:cNvSpPr txBox="1"/>
          <p:nvPr/>
        </p:nvSpPr>
        <p:spPr>
          <a:xfrm>
            <a:off x="12435840" y="5440680"/>
            <a:ext cx="4663440" cy="731520"/>
          </a:xfrm>
          <a:prstGeom prst="rect">
            <a:avLst/>
          </a:prstGeom>
          <a:noFill/>
          <a:ln/>
        </p:spPr>
        <p:txBody>
          <a:bodyPr wrap="square" lIns="0" tIns="0" rIns="0" bIns="0" rtlCol="0" anchor="t"/>
          <a:lstStyle/>
          <a:p>
            <a:pPr indent="0" marL="0">
              <a:buNone/>
            </a:pPr>
            <a:r>
              <a:rPr lang="en-US" sz="3000" b="1" dirty="0">
                <a:solidFill>
                  <a:srgbClr val="162CA2"/>
                </a:solidFill>
                <a:latin typeface="Calibri" pitchFamily="34" charset="0"/>
                <a:ea typeface="Calibri" pitchFamily="34" charset="-122"/>
                <a:cs typeface="Calibri" pitchFamily="34" charset="-120"/>
              </a:rPr>
              <a:t>Daftar Siswa</a:t>
            </a:r>
            <a:endParaRPr lang="en-US" sz="3000" dirty="0"/>
          </a:p>
        </p:txBody>
      </p:sp>
      <p:sp>
        <p:nvSpPr>
          <p:cNvPr id="18" name="Text 13"/>
          <p:cNvSpPr txBox="1"/>
          <p:nvPr/>
        </p:nvSpPr>
        <p:spPr>
          <a:xfrm>
            <a:off x="12435840" y="6309360"/>
            <a:ext cx="4663440" cy="1463040"/>
          </a:xfrm>
          <a:prstGeom prst="rect">
            <a:avLst/>
          </a:prstGeom>
          <a:noFill/>
          <a:ln/>
        </p:spPr>
        <p:txBody>
          <a:bodyPr wrap="square" lIns="0" tIns="0" rIns="0" bIns="0" rtlCol="0" anchor="t"/>
          <a:lstStyle/>
          <a:p>
            <a:pPr indent="0" marL="0">
              <a:buNone/>
            </a:pPr>
            <a:r>
              <a:rPr lang="en-US" sz="2400" dirty="0">
                <a:solidFill>
                  <a:srgbClr val="5A5F86"/>
                </a:solidFill>
                <a:latin typeface="Calibri" pitchFamily="34" charset="0"/>
                <a:ea typeface="Calibri" pitchFamily="34" charset="-122"/>
                <a:cs typeface="Calibri" pitchFamily="34" charset="-120"/>
              </a:rPr>
              <a:t>Konsep: struct, slice, for range</a:t>
            </a:r>
            <a:endParaRPr lang="en-US" sz="2400" dirty="0"/>
          </a:p>
        </p:txBody>
      </p:sp>
      <p:sp>
        <p:nvSpPr>
          <p:cNvPr id="19" name="Shape 14"/>
          <p:cNvSpPr/>
          <p:nvPr/>
        </p:nvSpPr>
        <p:spPr>
          <a:xfrm>
            <a:off x="914400" y="8229600"/>
            <a:ext cx="16459200" cy="1280160"/>
          </a:xfrm>
          <a:prstGeom prst="roundRect">
            <a:avLst>
              <a:gd name="adj" fmla="val 10714"/>
            </a:avLst>
          </a:prstGeom>
          <a:solidFill>
            <a:srgbClr val="162CA2"/>
          </a:solidFill>
          <a:ln w="12700">
            <a:solidFill>
              <a:srgbClr val="162CA2"/>
            </a:solidFill>
            <a:prstDash val="solid"/>
          </a:ln>
        </p:spPr>
      </p:sp>
      <p:sp>
        <p:nvSpPr>
          <p:cNvPr id="20" name="Text 15"/>
          <p:cNvSpPr txBox="1"/>
          <p:nvPr/>
        </p:nvSpPr>
        <p:spPr>
          <a:xfrm>
            <a:off x="1188720" y="8229600"/>
            <a:ext cx="15910560" cy="1280160"/>
          </a:xfrm>
          <a:prstGeom prst="rect">
            <a:avLst/>
          </a:prstGeom>
          <a:noFill/>
          <a:ln/>
        </p:spPr>
        <p:txBody>
          <a:bodyPr wrap="square" lIns="0" tIns="0" rIns="0" bIns="0" rtlCol="0" anchor="ctr"/>
          <a:lstStyle/>
          <a:p>
            <a:pPr algn="ctr" indent="0" marL="0">
              <a:buNone/>
            </a:pPr>
            <a:r>
              <a:rPr lang="en-US" sz="2800" b="1" dirty="0">
                <a:solidFill>
                  <a:srgbClr val="FCDF59"/>
                </a:solidFill>
                <a:latin typeface="Calibri" pitchFamily="34" charset="0"/>
                <a:ea typeface="Calibri" pitchFamily="34" charset="-122"/>
                <a:cs typeface="Calibri" pitchFamily="34" charset="-120"/>
              </a:rPr>
              <a:t>Alur kerja: </a:t>
            </a:r>
            <a:pPr algn="ctr" indent="0" marL="0">
              <a:buNone/>
            </a:pPr>
            <a:r>
              <a:rPr lang="en-US" sz="2800" dirty="0">
                <a:solidFill>
                  <a:srgbClr val="FDFBFB"/>
                </a:solidFill>
                <a:latin typeface="Calibri" pitchFamily="34" charset="0"/>
                <a:ea typeface="Calibri" pitchFamily="34" charset="-122"/>
                <a:cs typeface="Calibri" pitchFamily="34" charset="-120"/>
              </a:rPr>
              <a:t>pseudocode  →  kode  →  uji dengan contoh</a:t>
            </a:r>
            <a:endParaRPr 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LATIHAN 1 · 7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Grade Nilai</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if-else atau switch</a:t>
            </a:r>
            <a:endParaRPr lang="en-US" sz="2600" dirty="0"/>
          </a:p>
        </p:txBody>
      </p:sp>
      <p:sp>
        <p:nvSpPr>
          <p:cNvPr id="8" name="Shape 3"/>
          <p:cNvSpPr/>
          <p:nvPr/>
        </p:nvSpPr>
        <p:spPr>
          <a:xfrm>
            <a:off x="8229600" y="731520"/>
            <a:ext cx="9418320" cy="2103120"/>
          </a:xfrm>
          <a:prstGeom prst="roundRect">
            <a:avLst>
              <a:gd name="adj" fmla="val 6522"/>
            </a:avLst>
          </a:prstGeom>
          <a:solidFill>
            <a:srgbClr val="EEF1FC"/>
          </a:solidFill>
          <a:ln w="12700">
            <a:solidFill>
              <a:srgbClr val="D3DAF5"/>
            </a:solidFill>
            <a:prstDash val="solid"/>
          </a:ln>
        </p:spPr>
      </p:sp>
      <p:sp>
        <p:nvSpPr>
          <p:cNvPr id="9" name="Text 4"/>
          <p:cNvSpPr txBox="1"/>
          <p:nvPr/>
        </p:nvSpPr>
        <p:spPr>
          <a:xfrm>
            <a:off x="8503920" y="914400"/>
            <a:ext cx="1280160" cy="457200"/>
          </a:xfrm>
          <a:prstGeom prst="roundRect">
            <a:avLst>
              <a:gd name="adj" fmla="val 24000"/>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SOAL</a:t>
            </a:r>
            <a:endParaRPr lang="en-US" sz="1800" dirty="0"/>
          </a:p>
        </p:txBody>
      </p:sp>
      <p:sp>
        <p:nvSpPr>
          <p:cNvPr id="10" name="Text 5"/>
          <p:cNvSpPr txBox="1"/>
          <p:nvPr/>
        </p:nvSpPr>
        <p:spPr>
          <a:xfrm>
            <a:off x="8503920" y="1508760"/>
            <a:ext cx="8869680" cy="1280160"/>
          </a:xfrm>
          <a:prstGeom prst="rect">
            <a:avLst/>
          </a:prstGeom>
          <a:noFill/>
          <a:ln/>
        </p:spPr>
        <p:txBody>
          <a:bodyPr wrap="square" lIns="0" tIns="0" rIns="0" bIns="0" rtlCol="0" anchor="t"/>
          <a:lstStyle/>
          <a:p>
            <a:pPr indent="0" marL="0">
              <a:buNone/>
            </a:pPr>
            <a:r>
              <a:rPr lang="en-US" sz="2400" dirty="0">
                <a:solidFill>
                  <a:srgbClr val="13123D"/>
                </a:solidFill>
                <a:latin typeface="Calibri" pitchFamily="34" charset="0"/>
                <a:ea typeface="Calibri" pitchFamily="34" charset="-122"/>
                <a:cs typeface="Calibri" pitchFamily="34" charset="-120"/>
              </a:rPr>
              <a:t>Buat program yang menentukan grade dari sebuah nilai: A (&gt;= 85), B (&gt;= 70), C (&gt;= 55), selain itu D.</a:t>
            </a:r>
            <a:endParaRPr lang="en-US" sz="2400" dirty="0"/>
          </a:p>
        </p:txBody>
      </p:sp>
      <p:sp>
        <p:nvSpPr>
          <p:cNvPr id="11" name="Shape 6"/>
          <p:cNvSpPr/>
          <p:nvPr/>
        </p:nvSpPr>
        <p:spPr>
          <a:xfrm>
            <a:off x="8229600" y="3017520"/>
            <a:ext cx="9418320" cy="1920240"/>
          </a:xfrm>
          <a:prstGeom prst="roundRect">
            <a:avLst>
              <a:gd name="adj" fmla="val 7143"/>
            </a:avLst>
          </a:prstGeom>
          <a:solidFill>
            <a:srgbClr val="FFF3BF"/>
          </a:solidFill>
          <a:ln w="12700">
            <a:solidFill>
              <a:srgbClr val="FFF3BF"/>
            </a:solidFill>
            <a:prstDash val="solid"/>
          </a:ln>
        </p:spPr>
      </p:sp>
      <p:pic>
        <p:nvPicPr>
          <p:cNvPr id="12" name="Image 2" descr="preencoded.png">    </p:cNvPr>
          <p:cNvPicPr>
            <a:picLocks noChangeAspect="1"/>
          </p:cNvPicPr>
          <p:nvPr/>
        </p:nvPicPr>
        <p:blipFill>
          <a:blip r:embed="rId3"/>
          <a:stretch>
            <a:fillRect/>
          </a:stretch>
        </p:blipFill>
        <p:spPr>
          <a:xfrm>
            <a:off x="8503920" y="3200400"/>
            <a:ext cx="457200" cy="457200"/>
          </a:xfrm>
          <a:prstGeom prst="rect">
            <a:avLst/>
          </a:prstGeom>
        </p:spPr>
      </p:pic>
      <p:sp>
        <p:nvSpPr>
          <p:cNvPr id="13" name="Text 7"/>
          <p:cNvSpPr txBox="1"/>
          <p:nvPr/>
        </p:nvSpPr>
        <p:spPr>
          <a:xfrm>
            <a:off x="9144000" y="3200400"/>
            <a:ext cx="4572000" cy="45720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Petunjuk</a:t>
            </a:r>
            <a:endParaRPr lang="en-US" sz="2400" dirty="0"/>
          </a:p>
        </p:txBody>
      </p:sp>
      <p:sp>
        <p:nvSpPr>
          <p:cNvPr id="14" name="Text 8"/>
          <p:cNvSpPr txBox="1"/>
          <p:nvPr/>
        </p:nvSpPr>
        <p:spPr>
          <a:xfrm>
            <a:off x="8503920" y="3794760"/>
            <a:ext cx="8869680" cy="1097280"/>
          </a:xfrm>
          <a:prstGeom prst="rect">
            <a:avLst/>
          </a:prstGeom>
          <a:noFill/>
          <a:ln/>
        </p:spPr>
        <p:txBody>
          <a:bodyPr wrap="square" lIns="0" tIns="0" rIns="0" bIns="0" rtlCol="0" anchor="t"/>
          <a:lstStyle/>
          <a:p>
            <a:pPr marL="342900" indent="-342900">
              <a:spcAft>
                <a:spcPts val="400"/>
              </a:spcAft>
              <a:buSzPct val="100000"/>
              <a:buChar char="•"/>
            </a:pPr>
            <a:r>
              <a:rPr lang="en-US" sz="2200" dirty="0">
                <a:solidFill>
                  <a:srgbClr val="13123D"/>
                </a:solidFill>
                <a:latin typeface="Calibri" pitchFamily="34" charset="0"/>
                <a:ea typeface="Calibri" pitchFamily="34" charset="-122"/>
                <a:cs typeface="Calibri" pitchFamily="34" charset="-120"/>
              </a:rPr>
              <a:t>Periksa dari batas terbesar ke terkecil.</a:t>
            </a:r>
            <a:endParaRPr lang="en-US" sz="2200" dirty="0"/>
          </a:p>
          <a:p>
            <a:pPr marL="342900" indent="-342900">
              <a:spcAft>
                <a:spcPts val="400"/>
              </a:spcAft>
              <a:buSzPct val="100000"/>
              <a:buChar char="•"/>
            </a:pPr>
            <a:r>
              <a:rPr lang="en-US" sz="2200" dirty="0">
                <a:solidFill>
                  <a:srgbClr val="13123D"/>
                </a:solidFill>
                <a:latin typeface="Calibri" pitchFamily="34" charset="0"/>
                <a:ea typeface="Calibri" pitchFamily="34" charset="-122"/>
                <a:cs typeface="Calibri" pitchFamily="34" charset="-120"/>
              </a:rPr>
              <a:t>Uji juga nilai batas: 85, 70, 55.</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229600" y="5166360"/>
          <a:ext cx="9418320" cy="914400"/>
        </p:xfrm>
        <a:graphic>
          <a:graphicData uri="http://schemas.openxmlformats.org/drawingml/2006/table">
            <a:tbl>
              <a:tblPr/>
              <a:tblGrid>
                <a:gridCol w="4709160"/>
                <a:gridCol w="4709160"/>
              </a:tblGrid>
              <a:tr h="475488">
                <a:tc>
                  <a:txBody>
                    <a:bodyPr/>
                    <a:lstStyle/>
                    <a:p>
                      <a:pPr indent="0" marL="0">
                        <a:buNone/>
                      </a:pPr>
                      <a:r>
                        <a:rPr lang="en-US" sz="2100" b="1" dirty="0">
                          <a:solidFill>
                            <a:srgbClr val="FDFBFB"/>
                          </a:solidFill>
                          <a:latin typeface="Calibri" pitchFamily="34" charset="0"/>
                          <a:ea typeface="Calibri" pitchFamily="34" charset="-122"/>
                          <a:cs typeface="Calibri" pitchFamily="34" charset="-120"/>
                        </a:rPr>
                        <a:t>Nilai</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c>
                  <a:txBody>
                    <a:bodyPr/>
                    <a:lstStyle/>
                    <a:p>
                      <a:pPr indent="0" marL="0">
                        <a:buNone/>
                      </a:pPr>
                      <a:r>
                        <a:rPr lang="en-US" sz="2100" b="1" dirty="0">
                          <a:solidFill>
                            <a:srgbClr val="FDFBFB"/>
                          </a:solidFill>
                          <a:latin typeface="Calibri" pitchFamily="34" charset="0"/>
                          <a:ea typeface="Calibri" pitchFamily="34" charset="-122"/>
                          <a:cs typeface="Calibri" pitchFamily="34" charset="-120"/>
                        </a:rPr>
                        <a:t>Grade</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r>
              <a:tr h="47548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90</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A</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47548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75</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B</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47548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60</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C</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47548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40</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D</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47548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85</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A</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bl>
          </a:graphicData>
        </a:graphic>
      </p:graphicFrame>
      <p:sp>
        <p:nvSpPr>
          <p:cNvPr id="16" name="Shape 9"/>
          <p:cNvSpPr/>
          <p:nvPr/>
        </p:nvSpPr>
        <p:spPr>
          <a:xfrm>
            <a:off x="8229600" y="8229600"/>
            <a:ext cx="9418320" cy="1280160"/>
          </a:xfrm>
          <a:prstGeom prst="roundRect">
            <a:avLst>
              <a:gd name="adj" fmla="val 10714"/>
            </a:avLst>
          </a:prstGeom>
          <a:solidFill>
            <a:srgbClr val="FFF3BF"/>
          </a:solidFill>
          <a:ln w="12700">
            <a:solidFill>
              <a:srgbClr val="FFF3BF"/>
            </a:solidFill>
            <a:prstDash val="solid"/>
          </a:ln>
        </p:spPr>
      </p:sp>
      <p:sp>
        <p:nvSpPr>
          <p:cNvPr id="17" name="Text 10"/>
          <p:cNvSpPr txBox="1"/>
          <p:nvPr/>
        </p:nvSpPr>
        <p:spPr>
          <a:xfrm>
            <a:off x="8503920" y="8229600"/>
            <a:ext cx="8869680" cy="128016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Bonus: </a:t>
            </a:r>
            <a:pPr indent="0" marL="0">
              <a:buNone/>
            </a:pPr>
            <a:r>
              <a:rPr lang="en-US" sz="2200" dirty="0">
                <a:solidFill>
                  <a:srgbClr val="13123D"/>
                </a:solidFill>
                <a:latin typeface="Calibri" pitchFamily="34" charset="0"/>
                <a:ea typeface="Calibri" pitchFamily="34" charset="-122"/>
                <a:cs typeface="Calibri" pitchFamily="34" charset="-120"/>
              </a:rPr>
              <a:t>pakai switch tanpa ekspresi.</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LATIHAN 2 · 8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Statistik Nilai</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slice dan for range</a:t>
            </a:r>
            <a:endParaRPr lang="en-US" sz="2600" dirty="0"/>
          </a:p>
        </p:txBody>
      </p:sp>
      <p:sp>
        <p:nvSpPr>
          <p:cNvPr id="8" name="Shape 3"/>
          <p:cNvSpPr/>
          <p:nvPr/>
        </p:nvSpPr>
        <p:spPr>
          <a:xfrm>
            <a:off x="8229600" y="731520"/>
            <a:ext cx="9418320" cy="2103120"/>
          </a:xfrm>
          <a:prstGeom prst="roundRect">
            <a:avLst>
              <a:gd name="adj" fmla="val 6522"/>
            </a:avLst>
          </a:prstGeom>
          <a:solidFill>
            <a:srgbClr val="EEF1FC"/>
          </a:solidFill>
          <a:ln w="12700">
            <a:solidFill>
              <a:srgbClr val="D3DAF5"/>
            </a:solidFill>
            <a:prstDash val="solid"/>
          </a:ln>
        </p:spPr>
      </p:sp>
      <p:sp>
        <p:nvSpPr>
          <p:cNvPr id="9" name="Text 4"/>
          <p:cNvSpPr txBox="1"/>
          <p:nvPr/>
        </p:nvSpPr>
        <p:spPr>
          <a:xfrm>
            <a:off x="8503920" y="914400"/>
            <a:ext cx="1280160" cy="457200"/>
          </a:xfrm>
          <a:prstGeom prst="roundRect">
            <a:avLst>
              <a:gd name="adj" fmla="val 24000"/>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SOAL</a:t>
            </a:r>
            <a:endParaRPr lang="en-US" sz="1800" dirty="0"/>
          </a:p>
        </p:txBody>
      </p:sp>
      <p:sp>
        <p:nvSpPr>
          <p:cNvPr id="10" name="Text 5"/>
          <p:cNvSpPr txBox="1"/>
          <p:nvPr/>
        </p:nvSpPr>
        <p:spPr>
          <a:xfrm>
            <a:off x="8503920" y="1508760"/>
            <a:ext cx="8869680" cy="1280160"/>
          </a:xfrm>
          <a:prstGeom prst="rect">
            <a:avLst/>
          </a:prstGeom>
          <a:noFill/>
          <a:ln/>
        </p:spPr>
        <p:txBody>
          <a:bodyPr wrap="square" lIns="0" tIns="0" rIns="0" bIns="0" rtlCol="0" anchor="t"/>
          <a:lstStyle/>
          <a:p>
            <a:pPr indent="0" marL="0">
              <a:buNone/>
            </a:pPr>
            <a:r>
              <a:rPr lang="en-US" sz="2400" dirty="0">
                <a:solidFill>
                  <a:srgbClr val="13123D"/>
                </a:solidFill>
                <a:latin typeface="Calibri" pitchFamily="34" charset="0"/>
                <a:ea typeface="Calibri" pitchFamily="34" charset="-122"/>
                <a:cs typeface="Calibri" pitchFamily="34" charset="-120"/>
              </a:rPr>
              <a:t>Dari slice nilai := []int{80, 65, 90, 75}, hitung total, rata-rata, dan nilai tertinggi.</a:t>
            </a:r>
            <a:endParaRPr lang="en-US" sz="2400" dirty="0"/>
          </a:p>
        </p:txBody>
      </p:sp>
      <p:sp>
        <p:nvSpPr>
          <p:cNvPr id="11" name="Shape 6"/>
          <p:cNvSpPr/>
          <p:nvPr/>
        </p:nvSpPr>
        <p:spPr>
          <a:xfrm>
            <a:off x="8229600" y="3017520"/>
            <a:ext cx="9418320" cy="1920240"/>
          </a:xfrm>
          <a:prstGeom prst="roundRect">
            <a:avLst>
              <a:gd name="adj" fmla="val 7143"/>
            </a:avLst>
          </a:prstGeom>
          <a:solidFill>
            <a:srgbClr val="FFF3BF"/>
          </a:solidFill>
          <a:ln w="12700">
            <a:solidFill>
              <a:srgbClr val="FFF3BF"/>
            </a:solidFill>
            <a:prstDash val="solid"/>
          </a:ln>
        </p:spPr>
      </p:sp>
      <p:pic>
        <p:nvPicPr>
          <p:cNvPr id="12" name="Image 2" descr="preencoded.png">    </p:cNvPr>
          <p:cNvPicPr>
            <a:picLocks noChangeAspect="1"/>
          </p:cNvPicPr>
          <p:nvPr/>
        </p:nvPicPr>
        <p:blipFill>
          <a:blip r:embed="rId3"/>
          <a:stretch>
            <a:fillRect/>
          </a:stretch>
        </p:blipFill>
        <p:spPr>
          <a:xfrm>
            <a:off x="8503920" y="3200400"/>
            <a:ext cx="457200" cy="457200"/>
          </a:xfrm>
          <a:prstGeom prst="rect">
            <a:avLst/>
          </a:prstGeom>
        </p:spPr>
      </p:pic>
      <p:sp>
        <p:nvSpPr>
          <p:cNvPr id="13" name="Text 7"/>
          <p:cNvSpPr txBox="1"/>
          <p:nvPr/>
        </p:nvSpPr>
        <p:spPr>
          <a:xfrm>
            <a:off x="9144000" y="3200400"/>
            <a:ext cx="4572000" cy="45720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Petunjuk</a:t>
            </a:r>
            <a:endParaRPr lang="en-US" sz="2400" dirty="0"/>
          </a:p>
        </p:txBody>
      </p:sp>
      <p:sp>
        <p:nvSpPr>
          <p:cNvPr id="14" name="Text 8"/>
          <p:cNvSpPr txBox="1"/>
          <p:nvPr/>
        </p:nvSpPr>
        <p:spPr>
          <a:xfrm>
            <a:off x="8503920" y="3794760"/>
            <a:ext cx="8869680" cy="1097280"/>
          </a:xfrm>
          <a:prstGeom prst="rect">
            <a:avLst/>
          </a:prstGeom>
          <a:noFill/>
          <a:ln/>
        </p:spPr>
        <p:txBody>
          <a:bodyPr wrap="square" lIns="0" tIns="0" rIns="0" bIns="0" rtlCol="0" anchor="t"/>
          <a:lstStyle/>
          <a:p>
            <a:pPr marL="342900" indent="-342900">
              <a:spcAft>
                <a:spcPts val="400"/>
              </a:spcAft>
              <a:buSzPct val="100000"/>
              <a:buChar char="•"/>
            </a:pPr>
            <a:r>
              <a:rPr lang="en-US" sz="2200" dirty="0">
                <a:solidFill>
                  <a:srgbClr val="13123D"/>
                </a:solidFill>
                <a:latin typeface="Calibri" pitchFamily="34" charset="0"/>
                <a:ea typeface="Calibri" pitchFamily="34" charset="-122"/>
                <a:cs typeface="Calibri" pitchFamily="34" charset="-120"/>
              </a:rPr>
              <a:t>Telusuri dengan for range.</a:t>
            </a:r>
            <a:endParaRPr lang="en-US" sz="2200" dirty="0"/>
          </a:p>
          <a:p>
            <a:pPr marL="342900" indent="-342900">
              <a:spcAft>
                <a:spcPts val="400"/>
              </a:spcAft>
              <a:buSzPct val="100000"/>
              <a:buChar char="•"/>
            </a:pPr>
            <a:r>
              <a:rPr lang="en-US" sz="2200" dirty="0">
                <a:solidFill>
                  <a:srgbClr val="13123D"/>
                </a:solidFill>
                <a:latin typeface="Calibri" pitchFamily="34" charset="0"/>
                <a:ea typeface="Calibri" pitchFamily="34" charset="-122"/>
                <a:cs typeface="Calibri" pitchFamily="34" charset="-120"/>
              </a:rPr>
              <a:t>Rata-rata: konversi ke float64 (ingat Sesi 2).</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8229600" y="5166360"/>
          <a:ext cx="9418320" cy="914400"/>
        </p:xfrm>
        <a:graphic>
          <a:graphicData uri="http://schemas.openxmlformats.org/drawingml/2006/table">
            <a:tbl>
              <a:tblPr/>
              <a:tblGrid>
                <a:gridCol w="4709160"/>
                <a:gridCol w="4709160"/>
              </a:tblGrid>
              <a:tr h="566928">
                <a:tc>
                  <a:txBody>
                    <a:bodyPr/>
                    <a:lstStyle/>
                    <a:p>
                      <a:pPr indent="0" marL="0">
                        <a:buNone/>
                      </a:pPr>
                      <a:r>
                        <a:rPr lang="en-US" sz="2100" b="1" dirty="0">
                          <a:solidFill>
                            <a:srgbClr val="FDFBFB"/>
                          </a:solidFill>
                          <a:latin typeface="Calibri" pitchFamily="34" charset="0"/>
                          <a:ea typeface="Calibri" pitchFamily="34" charset="-122"/>
                          <a:cs typeface="Calibri" pitchFamily="34" charset="-120"/>
                        </a:rPr>
                        <a:t>Hasil</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c>
                  <a:txBody>
                    <a:bodyPr/>
                    <a:lstStyle/>
                    <a:p>
                      <a:pPr indent="0" marL="0">
                        <a:buNone/>
                      </a:pPr>
                      <a:r>
                        <a:rPr lang="en-US" sz="2100" b="1" dirty="0">
                          <a:solidFill>
                            <a:srgbClr val="FDFBFB"/>
                          </a:solidFill>
                          <a:latin typeface="Calibri" pitchFamily="34" charset="0"/>
                          <a:ea typeface="Calibri" pitchFamily="34" charset="-122"/>
                          <a:cs typeface="Calibri" pitchFamily="34" charset="-120"/>
                        </a:rPr>
                        <a:t>Nilai</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r>
              <a:tr h="566928">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Total</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310</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566928">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Rata-rata</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77.5</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566928">
                <a:tc>
                  <a:txBody>
                    <a:bodyPr/>
                    <a:lstStyle/>
                    <a:p>
                      <a:pPr indent="0" marL="0">
                        <a:buNone/>
                      </a:pPr>
                      <a:r>
                        <a:rPr lang="en-US" sz="2100" dirty="0">
                          <a:solidFill>
                            <a:srgbClr val="13123D"/>
                          </a:solidFill>
                          <a:latin typeface="Calibri" pitchFamily="34" charset="0"/>
                          <a:ea typeface="Calibri" pitchFamily="34" charset="-122"/>
                          <a:cs typeface="Calibri" pitchFamily="34" charset="-120"/>
                        </a:rPr>
                        <a:t>Tertinggi</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90</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bl>
          </a:graphicData>
        </a:graphic>
      </p:graphicFrame>
      <p:sp>
        <p:nvSpPr>
          <p:cNvPr id="16" name="Shape 9"/>
          <p:cNvSpPr/>
          <p:nvPr/>
        </p:nvSpPr>
        <p:spPr>
          <a:xfrm>
            <a:off x="8229600" y="8229600"/>
            <a:ext cx="9418320" cy="1280160"/>
          </a:xfrm>
          <a:prstGeom prst="roundRect">
            <a:avLst>
              <a:gd name="adj" fmla="val 10714"/>
            </a:avLst>
          </a:prstGeom>
          <a:solidFill>
            <a:srgbClr val="FFF3BF"/>
          </a:solidFill>
          <a:ln w="12700">
            <a:solidFill>
              <a:srgbClr val="FFF3BF"/>
            </a:solidFill>
            <a:prstDash val="solid"/>
          </a:ln>
        </p:spPr>
      </p:sp>
      <p:sp>
        <p:nvSpPr>
          <p:cNvPr id="17" name="Text 10"/>
          <p:cNvSpPr txBox="1"/>
          <p:nvPr/>
        </p:nvSpPr>
        <p:spPr>
          <a:xfrm>
            <a:off x="8503920" y="8229600"/>
            <a:ext cx="8869680" cy="128016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Bonus: </a:t>
            </a:r>
            <a:pPr indent="0" marL="0">
              <a:buNone/>
            </a:pPr>
            <a:r>
              <a:rPr lang="en-US" sz="2200" dirty="0">
                <a:solidFill>
                  <a:srgbClr val="13123D"/>
                </a:solidFill>
                <a:latin typeface="Calibri" pitchFamily="34" charset="0"/>
                <a:ea typeface="Calibri" pitchFamily="34" charset="-122"/>
                <a:cs typeface="Calibri" pitchFamily="34" charset="-120"/>
              </a:rPr>
              <a:t>hitung berapa nilai yang &gt;= 70.</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home/claude/assets/image4.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024128" y="1554480"/>
            <a:ext cx="5852160" cy="365760"/>
          </a:xfrm>
          <a:prstGeom prst="rect">
            <a:avLst/>
          </a:prstGeom>
          <a:noFill/>
          <a:ln/>
        </p:spPr>
        <p:txBody>
          <a:bodyPr wrap="square" lIns="0" tIns="0" rIns="0" bIns="0" rtlCol="0" anchor="t"/>
          <a:lstStyle/>
          <a:p>
            <a:pPr indent="0" marL="0">
              <a:buNone/>
            </a:pPr>
            <a:r>
              <a:rPr lang="en-US" sz="1800" b="1" spc="200" kern="0" dirty="0">
                <a:solidFill>
                  <a:srgbClr val="FCDF59"/>
                </a:solidFill>
                <a:latin typeface="Arial" pitchFamily="34" charset="0"/>
                <a:ea typeface="Arial" pitchFamily="34" charset="-122"/>
                <a:cs typeface="Arial" pitchFamily="34" charset="-120"/>
              </a:rPr>
              <a:t>LATIHAN 3 · 10 MENIT</a:t>
            </a:r>
            <a:endParaRPr lang="en-US" sz="1800" dirty="0"/>
          </a:p>
        </p:txBody>
      </p:sp>
      <p:sp>
        <p:nvSpPr>
          <p:cNvPr id="5" name="Text 1"/>
          <p:cNvSpPr txBox="1"/>
          <p:nvPr/>
        </p:nvSpPr>
        <p:spPr>
          <a:xfrm>
            <a:off x="1024128" y="2011680"/>
            <a:ext cx="5760720" cy="2651760"/>
          </a:xfrm>
          <a:prstGeom prst="rect">
            <a:avLst/>
          </a:prstGeom>
          <a:noFill/>
          <a:ln/>
        </p:spPr>
        <p:txBody>
          <a:bodyPr wrap="square" lIns="0" tIns="0" rIns="0" bIns="0" rtlCol="0" anchor="t"/>
          <a:lstStyle/>
          <a:p>
            <a:pPr indent="0" marL="0">
              <a:buNone/>
            </a:pPr>
            <a:r>
              <a:rPr lang="en-US" sz="4400" b="1" dirty="0">
                <a:solidFill>
                  <a:srgbClr val="FDFBFB"/>
                </a:solidFill>
                <a:latin typeface="Arial" pitchFamily="34" charset="0"/>
                <a:ea typeface="Arial" pitchFamily="34" charset="-122"/>
                <a:cs typeface="Arial" pitchFamily="34" charset="-120"/>
              </a:rPr>
              <a:t>Daftar Siswa</a:t>
            </a:r>
            <a:endParaRPr lang="en-US" sz="4400" dirty="0"/>
          </a:p>
        </p:txBody>
      </p:sp>
      <p:sp>
        <p:nvSpPr>
          <p:cNvPr id="6" name="Text 2"/>
          <p:cNvSpPr txBox="1"/>
          <p:nvPr/>
        </p:nvSpPr>
        <p:spPr>
          <a:xfrm>
            <a:off x="1024128" y="4937760"/>
            <a:ext cx="5486400" cy="420624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rgbClr val="FDFBFB"/>
                </a:solidFill>
                <a:latin typeface="Calibri" pitchFamily="34" charset="0"/>
                <a:ea typeface="Calibri" pitchFamily="34" charset="-122"/>
                <a:cs typeface="Calibri" pitchFamily="34" charset="-120"/>
              </a:rPr>
              <a:t>struct dan slice</a:t>
            </a:r>
            <a:endParaRPr lang="en-US" sz="2600" dirty="0"/>
          </a:p>
        </p:txBody>
      </p:sp>
      <p:sp>
        <p:nvSpPr>
          <p:cNvPr id="8" name="Shape 3"/>
          <p:cNvSpPr/>
          <p:nvPr/>
        </p:nvSpPr>
        <p:spPr>
          <a:xfrm>
            <a:off x="8229600" y="731520"/>
            <a:ext cx="9418320" cy="2103120"/>
          </a:xfrm>
          <a:prstGeom prst="roundRect">
            <a:avLst>
              <a:gd name="adj" fmla="val 6522"/>
            </a:avLst>
          </a:prstGeom>
          <a:solidFill>
            <a:srgbClr val="EEF1FC"/>
          </a:solidFill>
          <a:ln w="12700">
            <a:solidFill>
              <a:srgbClr val="D3DAF5"/>
            </a:solidFill>
            <a:prstDash val="solid"/>
          </a:ln>
        </p:spPr>
      </p:sp>
      <p:sp>
        <p:nvSpPr>
          <p:cNvPr id="9" name="Text 4"/>
          <p:cNvSpPr txBox="1"/>
          <p:nvPr/>
        </p:nvSpPr>
        <p:spPr>
          <a:xfrm>
            <a:off x="8503920" y="914400"/>
            <a:ext cx="1280160" cy="457200"/>
          </a:xfrm>
          <a:prstGeom prst="roundRect">
            <a:avLst>
              <a:gd name="adj" fmla="val 24000"/>
            </a:avLst>
          </a:prstGeom>
          <a:solidFill>
            <a:srgbClr val="162CA2"/>
          </a:solidFill>
          <a:ln>
            <a:solidFill>
              <a:srgbClr val="162CA2"/>
            </a:solidFill>
          </a:ln>
        </p:spPr>
        <p:txBody>
          <a:bodyPr wrap="square" lIns="635" tIns="635" rIns="635" bIns="635" rtlCol="0" anchor="ctr"/>
          <a:lstStyle/>
          <a:p>
            <a:pPr algn="ctr" indent="0" marL="0">
              <a:buNone/>
            </a:pPr>
            <a:r>
              <a:rPr lang="en-US" sz="1800" b="1" dirty="0">
                <a:solidFill>
                  <a:srgbClr val="FDFBFB"/>
                </a:solidFill>
                <a:latin typeface="Calibri" pitchFamily="34" charset="0"/>
                <a:ea typeface="Calibri" pitchFamily="34" charset="-122"/>
                <a:cs typeface="Calibri" pitchFamily="34" charset="-120"/>
              </a:rPr>
              <a:t>SOAL</a:t>
            </a:r>
            <a:endParaRPr lang="en-US" sz="1800" dirty="0"/>
          </a:p>
        </p:txBody>
      </p:sp>
      <p:sp>
        <p:nvSpPr>
          <p:cNvPr id="10" name="Text 5"/>
          <p:cNvSpPr txBox="1"/>
          <p:nvPr/>
        </p:nvSpPr>
        <p:spPr>
          <a:xfrm>
            <a:off x="8503920" y="1508760"/>
            <a:ext cx="8869680" cy="1280160"/>
          </a:xfrm>
          <a:prstGeom prst="rect">
            <a:avLst/>
          </a:prstGeom>
          <a:noFill/>
          <a:ln/>
        </p:spPr>
        <p:txBody>
          <a:bodyPr wrap="square" lIns="0" tIns="0" rIns="0" bIns="0" rtlCol="0" anchor="t"/>
          <a:lstStyle/>
          <a:p>
            <a:pPr indent="0" marL="0">
              <a:buNone/>
            </a:pPr>
            <a:r>
              <a:rPr lang="en-US" sz="2400" dirty="0">
                <a:solidFill>
                  <a:srgbClr val="13123D"/>
                </a:solidFill>
                <a:latin typeface="Calibri" pitchFamily="34" charset="0"/>
                <a:ea typeface="Calibri" pitchFamily="34" charset="-122"/>
                <a:cs typeface="Calibri" pitchFamily="34" charset="-120"/>
              </a:rPr>
              <a:t>Buat struct Siswa (Nama, Nilai). Simpan tiga siswa dalam slice, cetak semuanya, lalu hitung berapa yang lulus (nilai &gt;= 70).</a:t>
            </a:r>
            <a:endParaRPr lang="en-US" sz="2400" dirty="0"/>
          </a:p>
        </p:txBody>
      </p:sp>
      <p:sp>
        <p:nvSpPr>
          <p:cNvPr id="11" name="Shape 6"/>
          <p:cNvSpPr/>
          <p:nvPr/>
        </p:nvSpPr>
        <p:spPr>
          <a:xfrm>
            <a:off x="8229600" y="3017520"/>
            <a:ext cx="9418320" cy="1920240"/>
          </a:xfrm>
          <a:prstGeom prst="roundRect">
            <a:avLst>
              <a:gd name="adj" fmla="val 7143"/>
            </a:avLst>
          </a:prstGeom>
          <a:solidFill>
            <a:srgbClr val="FFF3BF"/>
          </a:solidFill>
          <a:ln w="12700">
            <a:solidFill>
              <a:srgbClr val="FFF3BF"/>
            </a:solidFill>
            <a:prstDash val="solid"/>
          </a:ln>
        </p:spPr>
      </p:sp>
      <p:pic>
        <p:nvPicPr>
          <p:cNvPr id="12" name="Image 2" descr="preencoded.png">    </p:cNvPr>
          <p:cNvPicPr>
            <a:picLocks noChangeAspect="1"/>
          </p:cNvPicPr>
          <p:nvPr/>
        </p:nvPicPr>
        <p:blipFill>
          <a:blip r:embed="rId3"/>
          <a:stretch>
            <a:fillRect/>
          </a:stretch>
        </p:blipFill>
        <p:spPr>
          <a:xfrm>
            <a:off x="8503920" y="3200400"/>
            <a:ext cx="457200" cy="457200"/>
          </a:xfrm>
          <a:prstGeom prst="rect">
            <a:avLst/>
          </a:prstGeom>
        </p:spPr>
      </p:pic>
      <p:sp>
        <p:nvSpPr>
          <p:cNvPr id="13" name="Text 7"/>
          <p:cNvSpPr txBox="1"/>
          <p:nvPr/>
        </p:nvSpPr>
        <p:spPr>
          <a:xfrm>
            <a:off x="9144000" y="3200400"/>
            <a:ext cx="4572000" cy="45720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Petunjuk</a:t>
            </a:r>
            <a:endParaRPr lang="en-US" sz="2400" dirty="0"/>
          </a:p>
        </p:txBody>
      </p:sp>
      <p:sp>
        <p:nvSpPr>
          <p:cNvPr id="14" name="Text 8"/>
          <p:cNvSpPr txBox="1"/>
          <p:nvPr/>
        </p:nvSpPr>
        <p:spPr>
          <a:xfrm>
            <a:off x="8503920" y="3794760"/>
            <a:ext cx="8869680" cy="1097280"/>
          </a:xfrm>
          <a:prstGeom prst="rect">
            <a:avLst/>
          </a:prstGeom>
          <a:noFill/>
          <a:ln/>
        </p:spPr>
        <p:txBody>
          <a:bodyPr wrap="square" lIns="0" tIns="0" rIns="0" bIns="0" rtlCol="0" anchor="t"/>
          <a:lstStyle/>
          <a:p>
            <a:pPr marL="342900" indent="-342900">
              <a:spcAft>
                <a:spcPts val="400"/>
              </a:spcAft>
              <a:buSzPct val="100000"/>
              <a:buChar char="•"/>
            </a:pPr>
            <a:r>
              <a:rPr lang="en-US" sz="2200" dirty="0">
                <a:solidFill>
                  <a:srgbClr val="13123D"/>
                </a:solidFill>
                <a:latin typeface="Calibri" pitchFamily="34" charset="0"/>
                <a:ea typeface="Calibri" pitchFamily="34" charset="-122"/>
                <a:cs typeface="Calibri" pitchFamily="34" charset="-120"/>
              </a:rPr>
              <a:t>Deklarasikan type Siswa struct di luar main.</a:t>
            </a:r>
            <a:endParaRPr lang="en-US" sz="2200" dirty="0"/>
          </a:p>
          <a:p>
            <a:pPr marL="342900" indent="-342900">
              <a:spcAft>
                <a:spcPts val="400"/>
              </a:spcAft>
              <a:buSzPct val="100000"/>
              <a:buChar char="•"/>
            </a:pPr>
            <a:r>
              <a:rPr lang="en-US" sz="2200" dirty="0">
                <a:solidFill>
                  <a:srgbClr val="13123D"/>
                </a:solidFill>
                <a:latin typeface="Calibri" pitchFamily="34" charset="0"/>
                <a:ea typeface="Calibri" pitchFamily="34" charset="-122"/>
                <a:cs typeface="Calibri" pitchFamily="34" charset="-120"/>
              </a:rPr>
              <a:t>Telusuri dengan for range dan if.</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29600" y="5166360"/>
          <a:ext cx="9418320" cy="914400"/>
        </p:xfrm>
        <a:graphic>
          <a:graphicData uri="http://schemas.openxmlformats.org/drawingml/2006/table">
            <a:tbl>
              <a:tblPr/>
              <a:tblGrid>
                <a:gridCol w="9418320"/>
              </a:tblGrid>
              <a:tr h="566928">
                <a:tc>
                  <a:txBody>
                    <a:bodyPr/>
                    <a:lstStyle/>
                    <a:p>
                      <a:pPr indent="0" marL="0">
                        <a:buNone/>
                      </a:pPr>
                      <a:r>
                        <a:rPr lang="en-US" sz="2100" b="1" dirty="0">
                          <a:solidFill>
                            <a:srgbClr val="FDFBFB"/>
                          </a:solidFill>
                          <a:latin typeface="Calibri" pitchFamily="34" charset="0"/>
                          <a:ea typeface="Calibri" pitchFamily="34" charset="-122"/>
                          <a:cs typeface="Calibri" pitchFamily="34" charset="-120"/>
                        </a:rPr>
                        <a:t>Output yang diharapkan</a:t>
                      </a:r>
                      <a:endParaRPr lang="en-US" sz="21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r>
              <a:tr h="56692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Budi: 80</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56692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Sari: 65</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56692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Dewi: 90</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566928">
                <a:tc>
                  <a:txBody>
                    <a:bodyPr/>
                    <a:lstStyle/>
                    <a:p>
                      <a:pPr indent="0" marL="0">
                        <a:buNone/>
                      </a:pPr>
                      <a:r>
                        <a:rPr lang="en-US" sz="2100" dirty="0">
                          <a:solidFill>
                            <a:srgbClr val="13123D"/>
                          </a:solidFill>
                          <a:latin typeface="Courier New" pitchFamily="34" charset="0"/>
                          <a:ea typeface="Courier New" pitchFamily="34" charset="-122"/>
                          <a:cs typeface="Courier New" pitchFamily="34" charset="-120"/>
                        </a:rPr>
                        <a:t>Lulus: 2</a:t>
                      </a:r>
                      <a:endParaRPr lang="en-US" sz="2100" dirty="0">
                        <a:latin typeface="Courier New" charset="0"/>
                        <a:ea typeface="Courier New" charset="0"/>
                        <a:cs typeface="Courier New"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bl>
          </a:graphicData>
        </a:graphic>
      </p:graphicFrame>
      <p:sp>
        <p:nvSpPr>
          <p:cNvPr id="16" name="Shape 9"/>
          <p:cNvSpPr/>
          <p:nvPr/>
        </p:nvSpPr>
        <p:spPr>
          <a:xfrm>
            <a:off x="8229600" y="8229600"/>
            <a:ext cx="9418320" cy="1280160"/>
          </a:xfrm>
          <a:prstGeom prst="roundRect">
            <a:avLst>
              <a:gd name="adj" fmla="val 10714"/>
            </a:avLst>
          </a:prstGeom>
          <a:solidFill>
            <a:srgbClr val="FFF3BF"/>
          </a:solidFill>
          <a:ln w="12700">
            <a:solidFill>
              <a:srgbClr val="FFF3BF"/>
            </a:solidFill>
            <a:prstDash val="solid"/>
          </a:ln>
        </p:spPr>
      </p:sp>
      <p:sp>
        <p:nvSpPr>
          <p:cNvPr id="17" name="Text 10"/>
          <p:cNvSpPr txBox="1"/>
          <p:nvPr/>
        </p:nvSpPr>
        <p:spPr>
          <a:xfrm>
            <a:off x="8503920" y="8229600"/>
            <a:ext cx="8869680" cy="1280160"/>
          </a:xfrm>
          <a:prstGeom prst="rect">
            <a:avLst/>
          </a:prstGeom>
          <a:noFill/>
          <a:ln/>
        </p:spPr>
        <p:txBody>
          <a:bodyPr wrap="square" lIns="0" tIns="0" rIns="0" bIns="0" rtlCol="0" anchor="ctr"/>
          <a:lstStyle/>
          <a:p>
            <a:pPr indent="0" marL="0">
              <a:buNone/>
            </a:pPr>
            <a:r>
              <a:rPr lang="en-US" sz="2200" b="1" dirty="0">
                <a:solidFill>
                  <a:srgbClr val="13123D"/>
                </a:solidFill>
                <a:latin typeface="Calibri" pitchFamily="34" charset="0"/>
                <a:ea typeface="Calibri" pitchFamily="34" charset="-122"/>
                <a:cs typeface="Calibri" pitchFamily="34" charset="-120"/>
              </a:rPr>
              <a:t>Bonus: </a:t>
            </a:r>
            <a:pPr indent="0" marL="0">
              <a:buNone/>
            </a:pPr>
            <a:r>
              <a:rPr lang="en-US" sz="2200" dirty="0">
                <a:solidFill>
                  <a:srgbClr val="13123D"/>
                </a:solidFill>
                <a:latin typeface="Calibri" pitchFamily="34" charset="0"/>
                <a:ea typeface="Calibri" pitchFamily="34" charset="-122"/>
                <a:cs typeface="Calibri" pitchFamily="34" charset="-120"/>
              </a:rPr>
              <a:t>simpan nama dan nilai dalam map dan cari nilai Sari.</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PEMBAHASAN LATIHAN</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Solusi Latihan 1 &amp; 2</a:t>
            </a:r>
            <a:endParaRPr lang="en-US" sz="4800" dirty="0"/>
          </a:p>
        </p:txBody>
      </p:sp>
      <p:sp>
        <p:nvSpPr>
          <p:cNvPr id="7" name="Text 2"/>
          <p:cNvSpPr txBox="1"/>
          <p:nvPr/>
        </p:nvSpPr>
        <p:spPr>
          <a:xfrm>
            <a:off x="914400" y="4114800"/>
            <a:ext cx="795528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Latihan 1: Grade nilai</a:t>
            </a:r>
            <a:endParaRPr lang="en-US" sz="2600" dirty="0"/>
          </a:p>
        </p:txBody>
      </p:sp>
      <p:sp>
        <p:nvSpPr>
          <p:cNvPr id="8" name="Shape 3"/>
          <p:cNvSpPr/>
          <p:nvPr/>
        </p:nvSpPr>
        <p:spPr>
          <a:xfrm>
            <a:off x="914400" y="4617720"/>
            <a:ext cx="7955280" cy="3492500"/>
          </a:xfrm>
          <a:prstGeom prst="roundRect">
            <a:avLst>
              <a:gd name="adj" fmla="val 3927"/>
            </a:avLst>
          </a:prstGeom>
          <a:solidFill>
            <a:srgbClr val="13123D"/>
          </a:solidFill>
          <a:ln w="12700">
            <a:solidFill>
              <a:srgbClr val="13123D"/>
            </a:solidFill>
            <a:prstDash val="solid"/>
          </a:ln>
        </p:spPr>
      </p:sp>
      <p:sp>
        <p:nvSpPr>
          <p:cNvPr id="9" name="Text 4"/>
          <p:cNvSpPr txBox="1"/>
          <p:nvPr/>
        </p:nvSpPr>
        <p:spPr>
          <a:xfrm>
            <a:off x="1188720" y="4873752"/>
            <a:ext cx="7406640" cy="3035300"/>
          </a:xfrm>
          <a:prstGeom prst="rect">
            <a:avLst/>
          </a:prstGeom>
          <a:noFill/>
          <a:ln/>
        </p:spPr>
        <p:txBody>
          <a:bodyPr wrap="square" lIns="0" tIns="0" rIns="0" bIns="0" rtlCol="0" anchor="t"/>
          <a:lstStyle/>
          <a:p>
            <a:pPr indent="0" marL="0">
              <a:buNone/>
            </a:pPr>
            <a:r>
              <a:rPr lang="en-US" sz="1900" dirty="0">
                <a:solidFill>
                  <a:srgbClr val="E8ECFF"/>
                </a:solidFill>
                <a:latin typeface="Courier New" pitchFamily="34" charset="0"/>
                <a:ea typeface="Courier New" pitchFamily="34" charset="-122"/>
                <a:cs typeface="Courier New" pitchFamily="34" charset="-120"/>
              </a:rPr>
              <a:t>nilai := </a:t>
            </a:r>
            <a:pPr indent="0" marL="0">
              <a:buNone/>
            </a:pPr>
            <a:r>
              <a:rPr lang="en-US" sz="1900" dirty="0">
                <a:solidFill>
                  <a:srgbClr val="FFC58A"/>
                </a:solidFill>
                <a:latin typeface="Courier New" pitchFamily="34" charset="0"/>
                <a:ea typeface="Courier New" pitchFamily="34" charset="-122"/>
                <a:cs typeface="Courier New" pitchFamily="34" charset="-120"/>
              </a:rPr>
              <a:t>78</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if</a:t>
            </a:r>
            <a:pPr indent="0" marL="0">
              <a:buNone/>
            </a:pPr>
            <a:r>
              <a:rPr lang="en-US" sz="1900" dirty="0">
                <a:solidFill>
                  <a:srgbClr val="E8ECFF"/>
                </a:solidFill>
                <a:latin typeface="Courier New" pitchFamily="34" charset="0"/>
                <a:ea typeface="Courier New" pitchFamily="34" charset="-122"/>
                <a:cs typeface="Courier New" pitchFamily="34" charset="-120"/>
              </a:rPr>
              <a:t> nilai &gt;= </a:t>
            </a:r>
            <a:pPr indent="0" marL="0">
              <a:buNone/>
            </a:pPr>
            <a:r>
              <a:rPr lang="en-US" sz="1900" dirty="0">
                <a:solidFill>
                  <a:srgbClr val="FFC58A"/>
                </a:solidFill>
                <a:latin typeface="Courier New" pitchFamily="34" charset="0"/>
                <a:ea typeface="Courier New" pitchFamily="34" charset="-122"/>
                <a:cs typeface="Courier New" pitchFamily="34" charset="-120"/>
              </a:rPr>
              <a:t>85</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"A"</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CDF59"/>
                </a:solidFill>
                <a:latin typeface="Courier New" pitchFamily="34" charset="0"/>
                <a:ea typeface="Courier New" pitchFamily="34" charset="-122"/>
                <a:cs typeface="Courier New" pitchFamily="34" charset="-120"/>
              </a:rPr>
              <a:t>else</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CDF59"/>
                </a:solidFill>
                <a:latin typeface="Courier New" pitchFamily="34" charset="0"/>
                <a:ea typeface="Courier New" pitchFamily="34" charset="-122"/>
                <a:cs typeface="Courier New" pitchFamily="34" charset="-120"/>
              </a:rPr>
              <a:t>if</a:t>
            </a:r>
            <a:pPr indent="0" marL="0">
              <a:buNone/>
            </a:pPr>
            <a:r>
              <a:rPr lang="en-US" sz="1900" dirty="0">
                <a:solidFill>
                  <a:srgbClr val="E8ECFF"/>
                </a:solidFill>
                <a:latin typeface="Courier New" pitchFamily="34" charset="0"/>
                <a:ea typeface="Courier New" pitchFamily="34" charset="-122"/>
                <a:cs typeface="Courier New" pitchFamily="34" charset="-120"/>
              </a:rPr>
              <a:t> nilai &gt;= </a:t>
            </a:r>
            <a:pPr indent="0" marL="0">
              <a:buNone/>
            </a:pPr>
            <a:r>
              <a:rPr lang="en-US" sz="1900" dirty="0">
                <a:solidFill>
                  <a:srgbClr val="FFC58A"/>
                </a:solidFill>
                <a:latin typeface="Courier New" pitchFamily="34" charset="0"/>
                <a:ea typeface="Courier New" pitchFamily="34" charset="-122"/>
                <a:cs typeface="Courier New" pitchFamily="34" charset="-120"/>
              </a:rPr>
              <a:t>70</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"B"</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CDF59"/>
                </a:solidFill>
                <a:latin typeface="Courier New" pitchFamily="34" charset="0"/>
                <a:ea typeface="Courier New" pitchFamily="34" charset="-122"/>
                <a:cs typeface="Courier New" pitchFamily="34" charset="-120"/>
              </a:rPr>
              <a:t>else</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CDF59"/>
                </a:solidFill>
                <a:latin typeface="Courier New" pitchFamily="34" charset="0"/>
                <a:ea typeface="Courier New" pitchFamily="34" charset="-122"/>
                <a:cs typeface="Courier New" pitchFamily="34" charset="-120"/>
              </a:rPr>
              <a:t>if</a:t>
            </a:r>
            <a:pPr indent="0" marL="0">
              <a:buNone/>
            </a:pPr>
            <a:r>
              <a:rPr lang="en-US" sz="1900" dirty="0">
                <a:solidFill>
                  <a:srgbClr val="E8ECFF"/>
                </a:solidFill>
                <a:latin typeface="Courier New" pitchFamily="34" charset="0"/>
                <a:ea typeface="Courier New" pitchFamily="34" charset="-122"/>
                <a:cs typeface="Courier New" pitchFamily="34" charset="-120"/>
              </a:rPr>
              <a:t> nilai &gt;= </a:t>
            </a:r>
            <a:pPr indent="0" marL="0">
              <a:buNone/>
            </a:pPr>
            <a:r>
              <a:rPr lang="en-US" sz="1900" dirty="0">
                <a:solidFill>
                  <a:srgbClr val="FFC58A"/>
                </a:solidFill>
                <a:latin typeface="Courier New" pitchFamily="34" charset="0"/>
                <a:ea typeface="Courier New" pitchFamily="34" charset="-122"/>
                <a:cs typeface="Courier New" pitchFamily="34" charset="-120"/>
              </a:rPr>
              <a:t>55</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"C"</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CDF59"/>
                </a:solidFill>
                <a:latin typeface="Courier New" pitchFamily="34" charset="0"/>
                <a:ea typeface="Courier New" pitchFamily="34" charset="-122"/>
                <a:cs typeface="Courier New" pitchFamily="34" charset="-120"/>
              </a:rPr>
              <a:t>else</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fmt.Println(</a:t>
            </a:r>
            <a:pPr indent="0" marL="0">
              <a:buNone/>
            </a:pPr>
            <a:r>
              <a:rPr lang="en-US" sz="1900" dirty="0">
                <a:solidFill>
                  <a:srgbClr val="A8E6CF"/>
                </a:solidFill>
                <a:latin typeface="Courier New" pitchFamily="34" charset="0"/>
                <a:ea typeface="Courier New" pitchFamily="34" charset="-122"/>
                <a:cs typeface="Courier New" pitchFamily="34" charset="-120"/>
              </a:rPr>
              <a:t>"D"</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p:txBody>
      </p:sp>
      <p:sp>
        <p:nvSpPr>
          <p:cNvPr id="10" name="Text 5"/>
          <p:cNvSpPr txBox="1"/>
          <p:nvPr/>
        </p:nvSpPr>
        <p:spPr>
          <a:xfrm>
            <a:off x="914400" y="8366760"/>
            <a:ext cx="7955280" cy="731520"/>
          </a:xfrm>
          <a:prstGeom prst="rect">
            <a:avLst/>
          </a:prstGeom>
          <a:noFill/>
          <a:ln/>
        </p:spPr>
        <p:txBody>
          <a:bodyPr wrap="square" lIns="0" tIns="0" rIns="0" bIns="0" rtlCol="0" anchor="t"/>
          <a:lstStyle/>
          <a:p>
            <a:pPr indent="0" marL="0">
              <a:buNone/>
            </a:pPr>
            <a:r>
              <a:rPr lang="en-US" sz="2300" dirty="0">
                <a:solidFill>
                  <a:srgbClr val="13123D"/>
                </a:solidFill>
                <a:latin typeface="Calibri" pitchFamily="34" charset="0"/>
                <a:ea typeface="Calibri" pitchFamily="34" charset="-122"/>
                <a:cs typeface="Calibri" pitchFamily="34" charset="-120"/>
              </a:rPr>
              <a:t>Periksa dari batas terbesar ke terkecil.</a:t>
            </a:r>
            <a:endParaRPr lang="en-US" sz="2300" dirty="0"/>
          </a:p>
        </p:txBody>
      </p:sp>
      <p:sp>
        <p:nvSpPr>
          <p:cNvPr id="11" name="Text 6"/>
          <p:cNvSpPr txBox="1"/>
          <p:nvPr/>
        </p:nvSpPr>
        <p:spPr>
          <a:xfrm>
            <a:off x="9418320" y="4114800"/>
            <a:ext cx="795528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Latihan 2: Statistik nilai</a:t>
            </a:r>
            <a:endParaRPr lang="en-US" sz="2600" dirty="0"/>
          </a:p>
        </p:txBody>
      </p:sp>
      <p:sp>
        <p:nvSpPr>
          <p:cNvPr id="12" name="Shape 7"/>
          <p:cNvSpPr/>
          <p:nvPr/>
        </p:nvSpPr>
        <p:spPr>
          <a:xfrm>
            <a:off x="9418320" y="4617720"/>
            <a:ext cx="7955280" cy="3616452"/>
          </a:xfrm>
          <a:prstGeom prst="roundRect">
            <a:avLst>
              <a:gd name="adj" fmla="val 3793"/>
            </a:avLst>
          </a:prstGeom>
          <a:solidFill>
            <a:srgbClr val="13123D"/>
          </a:solidFill>
          <a:ln w="12700">
            <a:solidFill>
              <a:srgbClr val="13123D"/>
            </a:solidFill>
            <a:prstDash val="solid"/>
          </a:ln>
        </p:spPr>
      </p:sp>
      <p:sp>
        <p:nvSpPr>
          <p:cNvPr id="13" name="Text 8"/>
          <p:cNvSpPr txBox="1"/>
          <p:nvPr/>
        </p:nvSpPr>
        <p:spPr>
          <a:xfrm>
            <a:off x="9692640" y="4873752"/>
            <a:ext cx="7406640" cy="3159252"/>
          </a:xfrm>
          <a:prstGeom prst="rect">
            <a:avLst/>
          </a:prstGeom>
          <a:noFill/>
          <a:ln/>
        </p:spPr>
        <p:txBody>
          <a:bodyPr wrap="square" lIns="0" tIns="0" rIns="0" bIns="0" rtlCol="0" anchor="t"/>
          <a:lstStyle/>
          <a:p>
            <a:pPr indent="0" marL="0">
              <a:buNone/>
            </a:pPr>
            <a:r>
              <a:rPr lang="en-US" sz="1800" dirty="0">
                <a:solidFill>
                  <a:srgbClr val="E8ECFF"/>
                </a:solidFill>
                <a:latin typeface="Courier New" pitchFamily="34" charset="0"/>
                <a:ea typeface="Courier New" pitchFamily="34" charset="-122"/>
                <a:cs typeface="Courier New" pitchFamily="34" charset="-120"/>
              </a:rPr>
              <a:t>nilai := []</a:t>
            </a:r>
            <a:pPr indent="0" marL="0">
              <a:buNone/>
            </a:pPr>
            <a:r>
              <a:rPr lang="en-US" sz="1800" dirty="0">
                <a:solidFill>
                  <a:srgbClr val="A5C8FF"/>
                </a:solidFill>
                <a:latin typeface="Courier New" pitchFamily="34" charset="0"/>
                <a:ea typeface="Courier New" pitchFamily="34" charset="-122"/>
                <a:cs typeface="Courier New" pitchFamily="34" charset="-120"/>
              </a:rPr>
              <a:t>int</a:t>
            </a:r>
            <a:pPr indent="0" marL="0">
              <a:buNone/>
            </a:pPr>
            <a:r>
              <a:rPr lang="en-US" sz="1800" dirty="0">
                <a:solidFill>
                  <a:srgbClr val="E8ECFF"/>
                </a:solidFill>
                <a:latin typeface="Courier New" pitchFamily="34" charset="0"/>
                <a:ea typeface="Courier New" pitchFamily="34" charset="-122"/>
                <a:cs typeface="Courier New" pitchFamily="34" charset="-120"/>
              </a:rPr>
              <a:t>{</a:t>
            </a:r>
            <a:pPr indent="0" marL="0">
              <a:buNone/>
            </a:pPr>
            <a:r>
              <a:rPr lang="en-US" sz="1800" dirty="0">
                <a:solidFill>
                  <a:srgbClr val="FFC58A"/>
                </a:solidFill>
                <a:latin typeface="Courier New" pitchFamily="34" charset="0"/>
                <a:ea typeface="Courier New" pitchFamily="34" charset="-122"/>
                <a:cs typeface="Courier New" pitchFamily="34" charset="-120"/>
              </a:rPr>
              <a:t>80</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65</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90</a:t>
            </a:r>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FC58A"/>
                </a:solidFill>
                <a:latin typeface="Courier New" pitchFamily="34" charset="0"/>
                <a:ea typeface="Courier New" pitchFamily="34" charset="-122"/>
                <a:cs typeface="Courier New" pitchFamily="34" charset="-120"/>
              </a:rPr>
              <a:t>75</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total := </a:t>
            </a:r>
            <a:pPr indent="0" marL="0">
              <a:buNone/>
            </a:pPr>
            <a:r>
              <a:rPr lang="en-US" sz="1800" dirty="0">
                <a:solidFill>
                  <a:srgbClr val="FFC58A"/>
                </a:solidFill>
                <a:latin typeface="Courier New" pitchFamily="34" charset="0"/>
                <a:ea typeface="Courier New" pitchFamily="34" charset="-122"/>
                <a:cs typeface="Courier New" pitchFamily="34" charset="-120"/>
              </a:rPr>
              <a:t>0</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tertinggi := nilai[</a:t>
            </a:r>
            <a:pPr indent="0" marL="0">
              <a:buNone/>
            </a:pPr>
            <a:r>
              <a:rPr lang="en-US" sz="1800" dirty="0">
                <a:solidFill>
                  <a:srgbClr val="FFC58A"/>
                </a:solidFill>
                <a:latin typeface="Courier New" pitchFamily="34" charset="0"/>
                <a:ea typeface="Courier New" pitchFamily="34" charset="-122"/>
                <a:cs typeface="Courier New" pitchFamily="34" charset="-120"/>
              </a:rPr>
              <a:t>0</a:t>
            </a:r>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FCDF59"/>
                </a:solidFill>
                <a:latin typeface="Courier New" pitchFamily="34" charset="0"/>
                <a:ea typeface="Courier New" pitchFamily="34" charset="-122"/>
                <a:cs typeface="Courier New" pitchFamily="34" charset="-120"/>
              </a:rPr>
              <a:t>for</a:t>
            </a:r>
            <a:pPr indent="0" marL="0">
              <a:buNone/>
            </a:pPr>
            <a:r>
              <a:rPr lang="en-US" sz="1800" dirty="0">
                <a:solidFill>
                  <a:srgbClr val="E8ECFF"/>
                </a:solidFill>
                <a:latin typeface="Courier New" pitchFamily="34" charset="0"/>
                <a:ea typeface="Courier New" pitchFamily="34" charset="-122"/>
                <a:cs typeface="Courier New" pitchFamily="34" charset="-120"/>
              </a:rPr>
              <a:t> _, n := </a:t>
            </a:r>
            <a:pPr indent="0" marL="0">
              <a:buNone/>
            </a:pPr>
            <a:r>
              <a:rPr lang="en-US" sz="1800" dirty="0">
                <a:solidFill>
                  <a:srgbClr val="FCDF59"/>
                </a:solidFill>
                <a:latin typeface="Courier New" pitchFamily="34" charset="0"/>
                <a:ea typeface="Courier New" pitchFamily="34" charset="-122"/>
                <a:cs typeface="Courier New" pitchFamily="34" charset="-120"/>
              </a:rPr>
              <a:t>range</a:t>
            </a:r>
            <a:pPr indent="0" marL="0">
              <a:buNone/>
            </a:pPr>
            <a:r>
              <a:rPr lang="en-US" sz="1800" dirty="0">
                <a:solidFill>
                  <a:srgbClr val="E8ECFF"/>
                </a:solidFill>
                <a:latin typeface="Courier New" pitchFamily="34" charset="0"/>
                <a:ea typeface="Courier New" pitchFamily="34" charset="-122"/>
                <a:cs typeface="Courier New" pitchFamily="34" charset="-120"/>
              </a:rPr>
              <a:t> nilai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total += n</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a:t>
            </a:r>
            <a:pPr indent="0" marL="0">
              <a:buNone/>
            </a:pPr>
            <a:r>
              <a:rPr lang="en-US" sz="1800" dirty="0">
                <a:solidFill>
                  <a:srgbClr val="FCDF59"/>
                </a:solidFill>
                <a:latin typeface="Courier New" pitchFamily="34" charset="0"/>
                <a:ea typeface="Courier New" pitchFamily="34" charset="-122"/>
                <a:cs typeface="Courier New" pitchFamily="34" charset="-120"/>
              </a:rPr>
              <a:t>if</a:t>
            </a:r>
            <a:pPr indent="0" marL="0">
              <a:buNone/>
            </a:pPr>
            <a:r>
              <a:rPr lang="en-US" sz="1800" dirty="0">
                <a:solidFill>
                  <a:srgbClr val="E8ECFF"/>
                </a:solidFill>
                <a:latin typeface="Courier New" pitchFamily="34" charset="0"/>
                <a:ea typeface="Courier New" pitchFamily="34" charset="-122"/>
                <a:cs typeface="Courier New" pitchFamily="34" charset="-120"/>
              </a:rPr>
              <a:t> n &gt; tertinggi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tertinggi = n</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rata := </a:t>
            </a:r>
            <a:pPr indent="0" marL="0">
              <a:buNone/>
            </a:pPr>
            <a:r>
              <a:rPr lang="en-US" sz="1800" dirty="0">
                <a:solidFill>
                  <a:srgbClr val="A5C8FF"/>
                </a:solidFill>
                <a:latin typeface="Courier New" pitchFamily="34" charset="0"/>
                <a:ea typeface="Courier New" pitchFamily="34" charset="-122"/>
                <a:cs typeface="Courier New" pitchFamily="34" charset="-120"/>
              </a:rPr>
              <a:t>float64</a:t>
            </a:r>
            <a:pPr indent="0" marL="0">
              <a:buNone/>
            </a:pPr>
            <a:r>
              <a:rPr lang="en-US" sz="1800" dirty="0">
                <a:solidFill>
                  <a:srgbClr val="E8ECFF"/>
                </a:solidFill>
                <a:latin typeface="Courier New" pitchFamily="34" charset="0"/>
                <a:ea typeface="Courier New" pitchFamily="34" charset="-122"/>
                <a:cs typeface="Courier New" pitchFamily="34" charset="-120"/>
              </a:rPr>
              <a:t>(total) / </a:t>
            </a:r>
            <a:pPr indent="0" marL="0">
              <a:buNone/>
            </a:pPr>
            <a:r>
              <a:rPr lang="en-US" sz="1800" dirty="0">
                <a:solidFill>
                  <a:srgbClr val="A5C8FF"/>
                </a:solidFill>
                <a:latin typeface="Courier New" pitchFamily="34" charset="0"/>
                <a:ea typeface="Courier New" pitchFamily="34" charset="-122"/>
                <a:cs typeface="Courier New" pitchFamily="34" charset="-120"/>
              </a:rPr>
              <a:t>float64</a:t>
            </a:r>
            <a:pPr indent="0" marL="0">
              <a:buNone/>
            </a:pPr>
            <a:r>
              <a:rPr lang="en-US" sz="1800" dirty="0">
                <a:solidFill>
                  <a:srgbClr val="E8ECFF"/>
                </a:solidFill>
                <a:latin typeface="Courier New" pitchFamily="34" charset="0"/>
                <a:ea typeface="Courier New" pitchFamily="34" charset="-122"/>
                <a:cs typeface="Courier New" pitchFamily="34" charset="-120"/>
              </a:rPr>
              <a:t>(len(nilai))</a:t>
            </a:r>
            <a:endParaRPr lang="en-US" sz="1800" dirty="0"/>
          </a:p>
          <a:p>
            <a:pPr indent="0" marL="0">
              <a:buNone/>
            </a:pPr>
            <a:r>
              <a:rPr lang="en-US" sz="1800" dirty="0">
                <a:solidFill>
                  <a:srgbClr val="E8ECFF"/>
                </a:solidFill>
                <a:latin typeface="Courier New" pitchFamily="34" charset="0"/>
                <a:ea typeface="Courier New" pitchFamily="34" charset="-122"/>
                <a:cs typeface="Courier New" pitchFamily="34" charset="-120"/>
              </a:rPr>
              <a:t>fmt.Println(total, rata, tertinggi)</a:t>
            </a:r>
            <a:endParaRPr lang="en-US" sz="1800" dirty="0"/>
          </a:p>
        </p:txBody>
      </p:sp>
      <p:sp>
        <p:nvSpPr>
          <p:cNvPr id="14" name="Text 9"/>
          <p:cNvSpPr txBox="1"/>
          <p:nvPr/>
        </p:nvSpPr>
        <p:spPr>
          <a:xfrm>
            <a:off x="9418320" y="8778240"/>
            <a:ext cx="7955280" cy="731520"/>
          </a:xfrm>
          <a:prstGeom prst="rect">
            <a:avLst/>
          </a:prstGeom>
          <a:noFill/>
          <a:ln/>
        </p:spPr>
        <p:txBody>
          <a:bodyPr wrap="square" lIns="0" tIns="0" rIns="0" bIns="0" rtlCol="0" anchor="t"/>
          <a:lstStyle/>
          <a:p>
            <a:pPr indent="0" marL="0">
              <a:buNone/>
            </a:pPr>
            <a:r>
              <a:rPr lang="en-US" sz="2300" dirty="0">
                <a:solidFill>
                  <a:srgbClr val="13123D"/>
                </a:solidFill>
                <a:latin typeface="Courier New" pitchFamily="34" charset="0"/>
                <a:ea typeface="Courier New" pitchFamily="34" charset="-122"/>
                <a:cs typeface="Courier New" pitchFamily="34" charset="-120"/>
              </a:rPr>
              <a:t>Output: 310 77.5 90</a:t>
            </a:r>
            <a:endParaRPr lang="en-US" sz="2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PEMBAHASAN LATIHAN</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Solusi Latihan 3</a:t>
            </a:r>
            <a:endParaRPr lang="en-US" sz="4800" dirty="0"/>
          </a:p>
        </p:txBody>
      </p:sp>
      <p:sp>
        <p:nvSpPr>
          <p:cNvPr id="7" name="Text 2"/>
          <p:cNvSpPr txBox="1"/>
          <p:nvPr/>
        </p:nvSpPr>
        <p:spPr>
          <a:xfrm>
            <a:off x="914400" y="4114800"/>
            <a:ext cx="795528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Tipe dan data</a:t>
            </a:r>
            <a:endParaRPr lang="en-US" sz="2600" dirty="0"/>
          </a:p>
        </p:txBody>
      </p:sp>
      <p:sp>
        <p:nvSpPr>
          <p:cNvPr id="8" name="Shape 3"/>
          <p:cNvSpPr/>
          <p:nvPr/>
        </p:nvSpPr>
        <p:spPr>
          <a:xfrm>
            <a:off x="914400" y="4617720"/>
            <a:ext cx="7955280" cy="3492500"/>
          </a:xfrm>
          <a:prstGeom prst="roundRect">
            <a:avLst>
              <a:gd name="adj" fmla="val 3927"/>
            </a:avLst>
          </a:prstGeom>
          <a:solidFill>
            <a:srgbClr val="13123D"/>
          </a:solidFill>
          <a:ln w="12700">
            <a:solidFill>
              <a:srgbClr val="13123D"/>
            </a:solidFill>
            <a:prstDash val="solid"/>
          </a:ln>
        </p:spPr>
      </p:sp>
      <p:sp>
        <p:nvSpPr>
          <p:cNvPr id="9" name="Text 4"/>
          <p:cNvSpPr txBox="1"/>
          <p:nvPr/>
        </p:nvSpPr>
        <p:spPr>
          <a:xfrm>
            <a:off x="1188720" y="4873752"/>
            <a:ext cx="7406640" cy="3035300"/>
          </a:xfrm>
          <a:prstGeom prst="rect">
            <a:avLst/>
          </a:prstGeom>
          <a:noFill/>
          <a:ln/>
        </p:spPr>
        <p:txBody>
          <a:bodyPr wrap="square" lIns="0" tIns="0" rIns="0" bIns="0" rtlCol="0" anchor="t"/>
          <a:lstStyle/>
          <a:p>
            <a:pPr indent="0" marL="0">
              <a:buNone/>
            </a:pPr>
            <a:r>
              <a:rPr lang="en-US" sz="1900" dirty="0">
                <a:solidFill>
                  <a:srgbClr val="E8ECFF"/>
                </a:solidFill>
                <a:latin typeface="Courier New" pitchFamily="34" charset="0"/>
                <a:ea typeface="Courier New" pitchFamily="34" charset="-122"/>
                <a:cs typeface="Courier New" pitchFamily="34" charset="-120"/>
              </a:rPr>
              <a:t>type Siswa </a:t>
            </a:r>
            <a:pPr indent="0" marL="0">
              <a:buNone/>
            </a:pPr>
            <a:r>
              <a:rPr lang="en-US" sz="1900" dirty="0">
                <a:solidFill>
                  <a:srgbClr val="FCDF59"/>
                </a:solidFill>
                <a:latin typeface="Courier New" pitchFamily="34" charset="0"/>
                <a:ea typeface="Courier New" pitchFamily="34" charset="-122"/>
                <a:cs typeface="Courier New" pitchFamily="34" charset="-120"/>
              </a:rPr>
              <a:t>struct</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Nama  </a:t>
            </a:r>
            <a:pPr indent="0" marL="0">
              <a:buNone/>
            </a:pPr>
            <a:r>
              <a:rPr lang="en-US" sz="1900" dirty="0">
                <a:solidFill>
                  <a:srgbClr val="A5C8FF"/>
                </a:solidFill>
                <a:latin typeface="Courier New" pitchFamily="34" charset="0"/>
                <a:ea typeface="Courier New" pitchFamily="34" charset="-122"/>
                <a:cs typeface="Courier New" pitchFamily="34" charset="-120"/>
              </a:rPr>
              <a:t>string</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Nilai </a:t>
            </a:r>
            <a:pPr indent="0" marL="0">
              <a:buNone/>
            </a:pPr>
            <a:r>
              <a:rPr lang="en-US" sz="1900" dirty="0">
                <a:solidFill>
                  <a:srgbClr val="A5C8FF"/>
                </a:solidFill>
                <a:latin typeface="Courier New" pitchFamily="34" charset="0"/>
                <a:ea typeface="Courier New" pitchFamily="34" charset="-122"/>
                <a:cs typeface="Courier New" pitchFamily="34" charset="-120"/>
              </a:rPr>
              <a:t>int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000000"/>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siswa := []Siswa{</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"Budi"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80</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"Sari"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65</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A8E6CF"/>
                </a:solidFill>
                <a:latin typeface="Courier New" pitchFamily="34" charset="0"/>
                <a:ea typeface="Courier New" pitchFamily="34" charset="-122"/>
                <a:cs typeface="Courier New" pitchFamily="34" charset="-120"/>
              </a:rPr>
              <a:t>"Dewi"</a:t>
            </a:r>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FC58A"/>
                </a:solidFill>
                <a:latin typeface="Courier New" pitchFamily="34" charset="0"/>
                <a:ea typeface="Courier New" pitchFamily="34" charset="-122"/>
                <a:cs typeface="Courier New" pitchFamily="34" charset="-120"/>
              </a:rPr>
              <a:t>90</a:t>
            </a:r>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p:txBody>
      </p:sp>
      <p:sp>
        <p:nvSpPr>
          <p:cNvPr id="10" name="Text 5"/>
          <p:cNvSpPr txBox="1"/>
          <p:nvPr/>
        </p:nvSpPr>
        <p:spPr>
          <a:xfrm>
            <a:off x="9418320" y="4114800"/>
            <a:ext cx="7955280" cy="45720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Perulangan dan hitungan</a:t>
            </a:r>
            <a:endParaRPr lang="en-US" sz="2600" dirty="0"/>
          </a:p>
        </p:txBody>
      </p:sp>
      <p:sp>
        <p:nvSpPr>
          <p:cNvPr id="11" name="Shape 6"/>
          <p:cNvSpPr/>
          <p:nvPr/>
        </p:nvSpPr>
        <p:spPr>
          <a:xfrm>
            <a:off x="9418320" y="4617720"/>
            <a:ext cx="7955280" cy="2903728"/>
          </a:xfrm>
          <a:prstGeom prst="roundRect">
            <a:avLst>
              <a:gd name="adj" fmla="val 4724"/>
            </a:avLst>
          </a:prstGeom>
          <a:solidFill>
            <a:srgbClr val="13123D"/>
          </a:solidFill>
          <a:ln w="12700">
            <a:solidFill>
              <a:srgbClr val="13123D"/>
            </a:solidFill>
            <a:prstDash val="solid"/>
          </a:ln>
        </p:spPr>
      </p:sp>
      <p:sp>
        <p:nvSpPr>
          <p:cNvPr id="12" name="Text 7"/>
          <p:cNvSpPr txBox="1"/>
          <p:nvPr/>
        </p:nvSpPr>
        <p:spPr>
          <a:xfrm>
            <a:off x="9692640" y="4873752"/>
            <a:ext cx="7406640" cy="2446528"/>
          </a:xfrm>
          <a:prstGeom prst="rect">
            <a:avLst/>
          </a:prstGeom>
          <a:noFill/>
          <a:ln/>
        </p:spPr>
        <p:txBody>
          <a:bodyPr wrap="square" lIns="0" tIns="0" rIns="0" bIns="0" rtlCol="0" anchor="t"/>
          <a:lstStyle/>
          <a:p>
            <a:pPr indent="0" marL="0">
              <a:buNone/>
            </a:pPr>
            <a:r>
              <a:rPr lang="en-US" sz="1900" dirty="0">
                <a:solidFill>
                  <a:srgbClr val="E8ECFF"/>
                </a:solidFill>
                <a:latin typeface="Courier New" pitchFamily="34" charset="0"/>
                <a:ea typeface="Courier New" pitchFamily="34" charset="-122"/>
                <a:cs typeface="Courier New" pitchFamily="34" charset="-120"/>
              </a:rPr>
              <a:t>lulus := </a:t>
            </a:r>
            <a:pPr indent="0" marL="0">
              <a:buNone/>
            </a:pPr>
            <a:r>
              <a:rPr lang="en-US" sz="1900" dirty="0">
                <a:solidFill>
                  <a:srgbClr val="FFC58A"/>
                </a:solidFill>
                <a:latin typeface="Courier New" pitchFamily="34" charset="0"/>
                <a:ea typeface="Courier New" pitchFamily="34" charset="-122"/>
                <a:cs typeface="Courier New" pitchFamily="34" charset="-120"/>
              </a:rPr>
              <a:t>0</a:t>
            </a:r>
            <a:endParaRPr lang="en-US" sz="1900" dirty="0"/>
          </a:p>
          <a:p>
            <a:pPr indent="0" marL="0">
              <a:buNone/>
            </a:pPr>
            <a:r>
              <a:rPr lang="en-US" sz="1900" dirty="0">
                <a:solidFill>
                  <a:srgbClr val="FCDF59"/>
                </a:solidFill>
                <a:latin typeface="Courier New" pitchFamily="34" charset="0"/>
                <a:ea typeface="Courier New" pitchFamily="34" charset="-122"/>
                <a:cs typeface="Courier New" pitchFamily="34" charset="-120"/>
              </a:rPr>
              <a:t>for</a:t>
            </a:r>
            <a:pPr indent="0" marL="0">
              <a:buNone/>
            </a:pPr>
            <a:r>
              <a:rPr lang="en-US" sz="1900" dirty="0">
                <a:solidFill>
                  <a:srgbClr val="E8ECFF"/>
                </a:solidFill>
                <a:latin typeface="Courier New" pitchFamily="34" charset="0"/>
                <a:ea typeface="Courier New" pitchFamily="34" charset="-122"/>
                <a:cs typeface="Courier New" pitchFamily="34" charset="-120"/>
              </a:rPr>
              <a:t> _, s := </a:t>
            </a:r>
            <a:pPr indent="0" marL="0">
              <a:buNone/>
            </a:pPr>
            <a:r>
              <a:rPr lang="en-US" sz="1900" dirty="0">
                <a:solidFill>
                  <a:srgbClr val="FCDF59"/>
                </a:solidFill>
                <a:latin typeface="Courier New" pitchFamily="34" charset="0"/>
                <a:ea typeface="Courier New" pitchFamily="34" charset="-122"/>
                <a:cs typeface="Courier New" pitchFamily="34" charset="-120"/>
              </a:rPr>
              <a:t>range</a:t>
            </a:r>
            <a:pPr indent="0" marL="0">
              <a:buNone/>
            </a:pPr>
            <a:r>
              <a:rPr lang="en-US" sz="1900" dirty="0">
                <a:solidFill>
                  <a:srgbClr val="E8ECFF"/>
                </a:solidFill>
                <a:latin typeface="Courier New" pitchFamily="34" charset="0"/>
                <a:ea typeface="Courier New" pitchFamily="34" charset="-122"/>
                <a:cs typeface="Courier New" pitchFamily="34" charset="-120"/>
              </a:rPr>
              <a:t> siswa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fmt.Printf(</a:t>
            </a:r>
            <a:pPr indent="0" marL="0">
              <a:buNone/>
            </a:pPr>
            <a:r>
              <a:rPr lang="en-US" sz="1900" dirty="0">
                <a:solidFill>
                  <a:srgbClr val="A8E6CF"/>
                </a:solidFill>
                <a:latin typeface="Courier New" pitchFamily="34" charset="0"/>
                <a:ea typeface="Courier New" pitchFamily="34" charset="-122"/>
                <a:cs typeface="Courier New" pitchFamily="34" charset="-120"/>
              </a:rPr>
              <a:t>"%s: %d\n"</a:t>
            </a:r>
            <a:pPr indent="0" marL="0">
              <a:buNone/>
            </a:pPr>
            <a:r>
              <a:rPr lang="en-US" sz="1900" dirty="0">
                <a:solidFill>
                  <a:srgbClr val="E8ECFF"/>
                </a:solidFill>
                <a:latin typeface="Courier New" pitchFamily="34" charset="0"/>
                <a:ea typeface="Courier New" pitchFamily="34" charset="-122"/>
                <a:cs typeface="Courier New" pitchFamily="34" charset="-120"/>
              </a:rPr>
              <a:t>, s.Nama, s.Nilai)</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pPr indent="0" marL="0">
              <a:buNone/>
            </a:pPr>
            <a:r>
              <a:rPr lang="en-US" sz="1900" dirty="0">
                <a:solidFill>
                  <a:srgbClr val="FCDF59"/>
                </a:solidFill>
                <a:latin typeface="Courier New" pitchFamily="34" charset="0"/>
                <a:ea typeface="Courier New" pitchFamily="34" charset="-122"/>
                <a:cs typeface="Courier New" pitchFamily="34" charset="-120"/>
              </a:rPr>
              <a:t>if</a:t>
            </a:r>
            <a:pPr indent="0" marL="0">
              <a:buNone/>
            </a:pPr>
            <a:r>
              <a:rPr lang="en-US" sz="1900" dirty="0">
                <a:solidFill>
                  <a:srgbClr val="E8ECFF"/>
                </a:solidFill>
                <a:latin typeface="Courier New" pitchFamily="34" charset="0"/>
                <a:ea typeface="Courier New" pitchFamily="34" charset="-122"/>
                <a:cs typeface="Courier New" pitchFamily="34" charset="-120"/>
              </a:rPr>
              <a:t> s.Nilai &gt;= </a:t>
            </a:r>
            <a:pPr indent="0" marL="0">
              <a:buNone/>
            </a:pPr>
            <a:r>
              <a:rPr lang="en-US" sz="1900" dirty="0">
                <a:solidFill>
                  <a:srgbClr val="FFC58A"/>
                </a:solidFill>
                <a:latin typeface="Courier New" pitchFamily="34" charset="0"/>
                <a:ea typeface="Courier New" pitchFamily="34" charset="-122"/>
                <a:cs typeface="Courier New" pitchFamily="34" charset="-120"/>
              </a:rPr>
              <a:t>70</a:t>
            </a:r>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lulus++</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    }</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a:t>
            </a:r>
            <a:endParaRPr lang="en-US" sz="1900" dirty="0"/>
          </a:p>
          <a:p>
            <a:pPr indent="0" marL="0">
              <a:buNone/>
            </a:pPr>
            <a:r>
              <a:rPr lang="en-US" sz="1900" dirty="0">
                <a:solidFill>
                  <a:srgbClr val="E8ECFF"/>
                </a:solidFill>
                <a:latin typeface="Courier New" pitchFamily="34" charset="0"/>
                <a:ea typeface="Courier New" pitchFamily="34" charset="-122"/>
                <a:cs typeface="Courier New" pitchFamily="34" charset="-120"/>
              </a:rPr>
              <a:t>fmt.Println(</a:t>
            </a:r>
            <a:pPr indent="0" marL="0">
              <a:buNone/>
            </a:pPr>
            <a:r>
              <a:rPr lang="en-US" sz="1900" dirty="0">
                <a:solidFill>
                  <a:srgbClr val="A8E6CF"/>
                </a:solidFill>
                <a:latin typeface="Courier New" pitchFamily="34" charset="0"/>
                <a:ea typeface="Courier New" pitchFamily="34" charset="-122"/>
                <a:cs typeface="Courier New" pitchFamily="34" charset="-120"/>
              </a:rPr>
              <a:t>"Lulus:"</a:t>
            </a:r>
            <a:pPr indent="0" marL="0">
              <a:buNone/>
            </a:pPr>
            <a:r>
              <a:rPr lang="en-US" sz="1900" dirty="0">
                <a:solidFill>
                  <a:srgbClr val="E8ECFF"/>
                </a:solidFill>
                <a:latin typeface="Courier New" pitchFamily="34" charset="0"/>
                <a:ea typeface="Courier New" pitchFamily="34" charset="-122"/>
                <a:cs typeface="Courier New" pitchFamily="34" charset="-120"/>
              </a:rPr>
              <a:t>, lulus)</a:t>
            </a:r>
            <a:endParaRPr lang="en-US" sz="1900" dirty="0"/>
          </a:p>
        </p:txBody>
      </p:sp>
      <p:sp>
        <p:nvSpPr>
          <p:cNvPr id="13" name="Shape 8"/>
          <p:cNvSpPr/>
          <p:nvPr/>
        </p:nvSpPr>
        <p:spPr>
          <a:xfrm>
            <a:off x="914400" y="8915400"/>
            <a:ext cx="16459200" cy="685800"/>
          </a:xfrm>
          <a:prstGeom prst="roundRect">
            <a:avLst>
              <a:gd name="adj" fmla="val 20000"/>
            </a:avLst>
          </a:prstGeom>
          <a:solidFill>
            <a:srgbClr val="FFF3BF"/>
          </a:solidFill>
          <a:ln w="12700">
            <a:solidFill>
              <a:srgbClr val="FFF3BF"/>
            </a:solidFill>
            <a:prstDash val="solid"/>
          </a:ln>
        </p:spPr>
      </p:sp>
      <p:sp>
        <p:nvSpPr>
          <p:cNvPr id="14" name="Text 9"/>
          <p:cNvSpPr txBox="1"/>
          <p:nvPr/>
        </p:nvSpPr>
        <p:spPr>
          <a:xfrm>
            <a:off x="1188720" y="8915400"/>
            <a:ext cx="15910560" cy="685800"/>
          </a:xfrm>
          <a:prstGeom prst="rect">
            <a:avLst/>
          </a:prstGeom>
          <a:noFill/>
          <a:ln/>
        </p:spPr>
        <p:txBody>
          <a:bodyPr wrap="square" lIns="0" tIns="0" rIns="0" bIns="0" rtlCol="0" anchor="ctr"/>
          <a:lstStyle/>
          <a:p>
            <a:pPr indent="0" marL="0">
              <a:buNone/>
            </a:pPr>
            <a:r>
              <a:rPr lang="en-US" sz="2100" dirty="0">
                <a:solidFill>
                  <a:srgbClr val="13123D"/>
                </a:solidFill>
                <a:latin typeface="Courier New" pitchFamily="34" charset="0"/>
                <a:ea typeface="Courier New" pitchFamily="34" charset="-122"/>
                <a:cs typeface="Courier New" pitchFamily="34" charset="-120"/>
              </a:rPr>
              <a:t>Output: Budi: 80, Sari: 65, Dewi: 90, Lulus: 2</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SOFT SKILL · 35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Komunikasi Verbal &amp; Non-verbal</a:t>
            </a:r>
            <a:endParaRPr lang="en-US" sz="4800" dirty="0"/>
          </a:p>
        </p:txBody>
      </p:sp>
      <p:sp>
        <p:nvSpPr>
          <p:cNvPr id="7" name="Shape 2"/>
          <p:cNvSpPr/>
          <p:nvPr/>
        </p:nvSpPr>
        <p:spPr>
          <a:xfrm>
            <a:off x="914400" y="4343400"/>
            <a:ext cx="7955280" cy="5166360"/>
          </a:xfrm>
          <a:prstGeom prst="roundRect">
            <a:avLst>
              <a:gd name="adj" fmla="val 2655"/>
            </a:avLst>
          </a:prstGeom>
          <a:solidFill>
            <a:srgbClr val="EEF1FC"/>
          </a:solidFill>
          <a:ln w="12700">
            <a:solidFill>
              <a:srgbClr val="D3DAF5"/>
            </a:solidFill>
            <a:prstDash val="solid"/>
          </a:ln>
        </p:spPr>
      </p:sp>
      <p:sp>
        <p:nvSpPr>
          <p:cNvPr id="8" name="Shape 3"/>
          <p:cNvSpPr/>
          <p:nvPr/>
        </p:nvSpPr>
        <p:spPr>
          <a:xfrm>
            <a:off x="1234440" y="4526280"/>
            <a:ext cx="1097280" cy="1097280"/>
          </a:xfrm>
          <a:prstGeom prst="ellipse">
            <a:avLst/>
          </a:prstGeom>
          <a:solidFill>
            <a:srgbClr val="162CA2"/>
          </a:solidFill>
          <a:ln w="12700">
            <a:solidFill>
              <a:srgbClr val="162CA2"/>
            </a:solidFill>
            <a:prstDash val="solid"/>
          </a:ln>
        </p:spPr>
      </p:sp>
      <p:pic>
        <p:nvPicPr>
          <p:cNvPr id="9" name="Image 2" descr="preencoded.png">    </p:cNvPr>
          <p:cNvPicPr>
            <a:picLocks noChangeAspect="1"/>
          </p:cNvPicPr>
          <p:nvPr/>
        </p:nvPicPr>
        <p:blipFill>
          <a:blip r:embed="rId3"/>
          <a:stretch>
            <a:fillRect/>
          </a:stretch>
        </p:blipFill>
        <p:spPr>
          <a:xfrm>
            <a:off x="1497787" y="4789627"/>
            <a:ext cx="570586" cy="570586"/>
          </a:xfrm>
          <a:prstGeom prst="rect">
            <a:avLst/>
          </a:prstGeom>
        </p:spPr>
      </p:pic>
      <p:sp>
        <p:nvSpPr>
          <p:cNvPr id="10" name="Text 4"/>
          <p:cNvSpPr txBox="1"/>
          <p:nvPr/>
        </p:nvSpPr>
        <p:spPr>
          <a:xfrm>
            <a:off x="2606040" y="4526280"/>
            <a:ext cx="5486400" cy="1097280"/>
          </a:xfrm>
          <a:prstGeom prst="rect">
            <a:avLst/>
          </a:prstGeom>
          <a:noFill/>
          <a:ln/>
        </p:spPr>
        <p:txBody>
          <a:bodyPr wrap="square" lIns="0" tIns="0" rIns="0" bIns="0" rtlCol="0" anchor="ctr"/>
          <a:lstStyle/>
          <a:p>
            <a:pPr indent="0" marL="0">
              <a:buNone/>
            </a:pPr>
            <a:r>
              <a:rPr lang="en-US" sz="3400" b="1" dirty="0">
                <a:solidFill>
                  <a:srgbClr val="13123D"/>
                </a:solidFill>
                <a:latin typeface="Cambria" pitchFamily="34" charset="0"/>
                <a:ea typeface="Cambria" pitchFamily="34" charset="-122"/>
                <a:cs typeface="Cambria" pitchFamily="34" charset="-120"/>
              </a:rPr>
              <a:t>Verbal</a:t>
            </a:r>
            <a:endParaRPr lang="en-US" sz="3400" dirty="0"/>
          </a:p>
        </p:txBody>
      </p:sp>
      <p:sp>
        <p:nvSpPr>
          <p:cNvPr id="11" name="Text 5"/>
          <p:cNvSpPr txBox="1"/>
          <p:nvPr/>
        </p:nvSpPr>
        <p:spPr>
          <a:xfrm>
            <a:off x="1234440" y="5806440"/>
            <a:ext cx="7315200" cy="457200"/>
          </a:xfrm>
          <a:prstGeom prst="rect">
            <a:avLst/>
          </a:prstGeom>
          <a:noFill/>
          <a:ln/>
        </p:spPr>
        <p:txBody>
          <a:bodyPr wrap="square" lIns="0" tIns="0" rIns="0" bIns="0" rtlCol="0" anchor="t"/>
          <a:lstStyle/>
          <a:p>
            <a:pPr indent="0" marL="0">
              <a:buNone/>
            </a:pPr>
            <a:r>
              <a:rPr lang="en-US" sz="2200" dirty="0">
                <a:solidFill>
                  <a:srgbClr val="5A5F86"/>
                </a:solidFill>
                <a:latin typeface="Calibri" pitchFamily="34" charset="0"/>
                <a:ea typeface="Calibri" pitchFamily="34" charset="-122"/>
                <a:cs typeface="Calibri" pitchFamily="34" charset="-120"/>
              </a:rPr>
              <a:t>Yang kita ucapkan atau tulis</a:t>
            </a:r>
            <a:endParaRPr lang="en-US" sz="2200" dirty="0"/>
          </a:p>
        </p:txBody>
      </p:sp>
      <p:sp>
        <p:nvSpPr>
          <p:cNvPr id="12" name="Text 6"/>
          <p:cNvSpPr txBox="1"/>
          <p:nvPr/>
        </p:nvSpPr>
        <p:spPr>
          <a:xfrm>
            <a:off x="1234440" y="6400800"/>
            <a:ext cx="7315200" cy="292608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13123D"/>
                </a:solidFill>
                <a:latin typeface="Calibri" pitchFamily="34" charset="0"/>
                <a:ea typeface="Calibri" pitchFamily="34" charset="-122"/>
                <a:cs typeface="Calibri" pitchFamily="34" charset="-120"/>
              </a:rPr>
              <a:t>Pilihan kata dan istilah</a:t>
            </a:r>
            <a:endParaRPr lang="en-US" sz="2400" dirty="0"/>
          </a:p>
          <a:p>
            <a:pPr marL="342900" indent="-342900">
              <a:spcAft>
                <a:spcPts val="800"/>
              </a:spcAft>
              <a:buSzPct val="100000"/>
              <a:buChar char="•"/>
            </a:pPr>
            <a:r>
              <a:rPr lang="en-US" sz="2400" dirty="0">
                <a:solidFill>
                  <a:srgbClr val="13123D"/>
                </a:solidFill>
                <a:latin typeface="Calibri" pitchFamily="34" charset="0"/>
                <a:ea typeface="Calibri" pitchFamily="34" charset="-122"/>
                <a:cs typeface="Calibri" pitchFamily="34" charset="-120"/>
              </a:rPr>
              <a:t>Struktur dan urutan pesan</a:t>
            </a:r>
            <a:endParaRPr lang="en-US" sz="2400" dirty="0"/>
          </a:p>
          <a:p>
            <a:pPr marL="342900" indent="-342900">
              <a:spcAft>
                <a:spcPts val="800"/>
              </a:spcAft>
              <a:buSzPct val="100000"/>
              <a:buChar char="•"/>
            </a:pPr>
            <a:r>
              <a:rPr lang="en-US" sz="2400" dirty="0">
                <a:solidFill>
                  <a:srgbClr val="13123D"/>
                </a:solidFill>
                <a:latin typeface="Calibri" pitchFamily="34" charset="0"/>
                <a:ea typeface="Calibri" pitchFamily="34" charset="-122"/>
                <a:cs typeface="Calibri" pitchFamily="34" charset="-120"/>
              </a:rPr>
              <a:t>Tempo, jeda, dan volume</a:t>
            </a:r>
            <a:endParaRPr lang="en-US" sz="2400" dirty="0"/>
          </a:p>
          <a:p>
            <a:pPr marL="342900" indent="-342900">
              <a:spcAft>
                <a:spcPts val="800"/>
              </a:spcAft>
              <a:buSzPct val="100000"/>
              <a:buChar char="•"/>
            </a:pPr>
            <a:r>
              <a:rPr lang="en-US" sz="2400" dirty="0">
                <a:solidFill>
                  <a:srgbClr val="13123D"/>
                </a:solidFill>
                <a:latin typeface="Calibri" pitchFamily="34" charset="0"/>
                <a:ea typeface="Calibri" pitchFamily="34" charset="-122"/>
                <a:cs typeface="Calibri" pitchFamily="34" charset="-120"/>
              </a:rPr>
              <a:t>Pesan tertulis (chat, email)</a:t>
            </a:r>
            <a:endParaRPr lang="en-US" sz="2400" dirty="0"/>
          </a:p>
        </p:txBody>
      </p:sp>
      <p:sp>
        <p:nvSpPr>
          <p:cNvPr id="13" name="Shape 7"/>
          <p:cNvSpPr/>
          <p:nvPr/>
        </p:nvSpPr>
        <p:spPr>
          <a:xfrm>
            <a:off x="9418320" y="4343400"/>
            <a:ext cx="7955280" cy="5166360"/>
          </a:xfrm>
          <a:prstGeom prst="roundRect">
            <a:avLst>
              <a:gd name="adj" fmla="val 2655"/>
            </a:avLst>
          </a:prstGeom>
          <a:solidFill>
            <a:srgbClr val="EEF1FC"/>
          </a:solidFill>
          <a:ln w="12700">
            <a:solidFill>
              <a:srgbClr val="D3DAF5"/>
            </a:solidFill>
            <a:prstDash val="solid"/>
          </a:ln>
        </p:spPr>
      </p:sp>
      <p:sp>
        <p:nvSpPr>
          <p:cNvPr id="14" name="Shape 8"/>
          <p:cNvSpPr/>
          <p:nvPr/>
        </p:nvSpPr>
        <p:spPr>
          <a:xfrm>
            <a:off x="9738360" y="4526280"/>
            <a:ext cx="1097280" cy="1097280"/>
          </a:xfrm>
          <a:prstGeom prst="ellipse">
            <a:avLst/>
          </a:prstGeom>
          <a:solidFill>
            <a:srgbClr val="0F2178"/>
          </a:solidFill>
          <a:ln w="12700">
            <a:solidFill>
              <a:srgbClr val="0F2178"/>
            </a:solidFill>
            <a:prstDash val="solid"/>
          </a:ln>
        </p:spPr>
      </p:sp>
      <p:pic>
        <p:nvPicPr>
          <p:cNvPr id="15" name="Image 3" descr="preencoded.png">    </p:cNvPr>
          <p:cNvPicPr>
            <a:picLocks noChangeAspect="1"/>
          </p:cNvPicPr>
          <p:nvPr/>
        </p:nvPicPr>
        <p:blipFill>
          <a:blip r:embed="rId4"/>
          <a:stretch>
            <a:fillRect/>
          </a:stretch>
        </p:blipFill>
        <p:spPr>
          <a:xfrm>
            <a:off x="10001707" y="4789627"/>
            <a:ext cx="570586" cy="570586"/>
          </a:xfrm>
          <a:prstGeom prst="rect">
            <a:avLst/>
          </a:prstGeom>
        </p:spPr>
      </p:pic>
      <p:sp>
        <p:nvSpPr>
          <p:cNvPr id="16" name="Text 9"/>
          <p:cNvSpPr txBox="1"/>
          <p:nvPr/>
        </p:nvSpPr>
        <p:spPr>
          <a:xfrm>
            <a:off x="11109960" y="4526280"/>
            <a:ext cx="5486400" cy="1097280"/>
          </a:xfrm>
          <a:prstGeom prst="rect">
            <a:avLst/>
          </a:prstGeom>
          <a:noFill/>
          <a:ln/>
        </p:spPr>
        <p:txBody>
          <a:bodyPr wrap="square" lIns="0" tIns="0" rIns="0" bIns="0" rtlCol="0" anchor="ctr"/>
          <a:lstStyle/>
          <a:p>
            <a:pPr indent="0" marL="0">
              <a:buNone/>
            </a:pPr>
            <a:r>
              <a:rPr lang="en-US" sz="3400" b="1" dirty="0">
                <a:solidFill>
                  <a:srgbClr val="13123D"/>
                </a:solidFill>
                <a:latin typeface="Cambria" pitchFamily="34" charset="0"/>
                <a:ea typeface="Cambria" pitchFamily="34" charset="-122"/>
                <a:cs typeface="Cambria" pitchFamily="34" charset="-120"/>
              </a:rPr>
              <a:t>Non-verbal</a:t>
            </a:r>
            <a:endParaRPr lang="en-US" sz="3400" dirty="0"/>
          </a:p>
        </p:txBody>
      </p:sp>
      <p:sp>
        <p:nvSpPr>
          <p:cNvPr id="17" name="Text 10"/>
          <p:cNvSpPr txBox="1"/>
          <p:nvPr/>
        </p:nvSpPr>
        <p:spPr>
          <a:xfrm>
            <a:off x="9738360" y="5806440"/>
            <a:ext cx="7315200" cy="457200"/>
          </a:xfrm>
          <a:prstGeom prst="rect">
            <a:avLst/>
          </a:prstGeom>
          <a:noFill/>
          <a:ln/>
        </p:spPr>
        <p:txBody>
          <a:bodyPr wrap="square" lIns="0" tIns="0" rIns="0" bIns="0" rtlCol="0" anchor="t"/>
          <a:lstStyle/>
          <a:p>
            <a:pPr indent="0" marL="0">
              <a:buNone/>
            </a:pPr>
            <a:r>
              <a:rPr lang="en-US" sz="2200" dirty="0">
                <a:solidFill>
                  <a:srgbClr val="5A5F86"/>
                </a:solidFill>
                <a:latin typeface="Calibri" pitchFamily="34" charset="0"/>
                <a:ea typeface="Calibri" pitchFamily="34" charset="-122"/>
                <a:cs typeface="Calibri" pitchFamily="34" charset="-120"/>
              </a:rPr>
              <a:t>Yang disampaikan tanpa kata</a:t>
            </a:r>
            <a:endParaRPr lang="en-US" sz="2200" dirty="0"/>
          </a:p>
        </p:txBody>
      </p:sp>
      <p:sp>
        <p:nvSpPr>
          <p:cNvPr id="18" name="Text 11"/>
          <p:cNvSpPr txBox="1"/>
          <p:nvPr/>
        </p:nvSpPr>
        <p:spPr>
          <a:xfrm>
            <a:off x="9738360" y="6400800"/>
            <a:ext cx="7315200" cy="2926080"/>
          </a:xfrm>
          <a:prstGeom prst="rect">
            <a:avLst/>
          </a:prstGeom>
          <a:noFill/>
          <a:ln/>
        </p:spPr>
        <p:txBody>
          <a:bodyPr wrap="square" lIns="0" tIns="0" rIns="0" bIns="0" rtlCol="0" anchor="t"/>
          <a:lstStyle/>
          <a:p>
            <a:pPr marL="342900" indent="-342900">
              <a:spcAft>
                <a:spcPts val="800"/>
              </a:spcAft>
              <a:buSzPct val="100000"/>
              <a:buChar char="•"/>
            </a:pPr>
            <a:r>
              <a:rPr lang="en-US" sz="2400" dirty="0">
                <a:solidFill>
                  <a:srgbClr val="13123D"/>
                </a:solidFill>
                <a:latin typeface="Calibri" pitchFamily="34" charset="0"/>
                <a:ea typeface="Calibri" pitchFamily="34" charset="-122"/>
                <a:cs typeface="Calibri" pitchFamily="34" charset="-120"/>
              </a:rPr>
              <a:t>Kontak mata dan ekspresi wajah</a:t>
            </a:r>
            <a:endParaRPr lang="en-US" sz="2400" dirty="0"/>
          </a:p>
          <a:p>
            <a:pPr marL="342900" indent="-342900">
              <a:spcAft>
                <a:spcPts val="800"/>
              </a:spcAft>
              <a:buSzPct val="100000"/>
              <a:buChar char="•"/>
            </a:pPr>
            <a:r>
              <a:rPr lang="en-US" sz="2400" dirty="0">
                <a:solidFill>
                  <a:srgbClr val="13123D"/>
                </a:solidFill>
                <a:latin typeface="Calibri" pitchFamily="34" charset="0"/>
                <a:ea typeface="Calibri" pitchFamily="34" charset="-122"/>
                <a:cs typeface="Calibri" pitchFamily="34" charset="-120"/>
              </a:rPr>
              <a:t>Postur dan gestur</a:t>
            </a:r>
            <a:endParaRPr lang="en-US" sz="2400" dirty="0"/>
          </a:p>
          <a:p>
            <a:pPr marL="342900" indent="-342900">
              <a:spcAft>
                <a:spcPts val="800"/>
              </a:spcAft>
              <a:buSzPct val="100000"/>
              <a:buChar char="•"/>
            </a:pPr>
            <a:r>
              <a:rPr lang="en-US" sz="2400" dirty="0">
                <a:solidFill>
                  <a:srgbClr val="13123D"/>
                </a:solidFill>
                <a:latin typeface="Calibri" pitchFamily="34" charset="0"/>
                <a:ea typeface="Calibri" pitchFamily="34" charset="-122"/>
                <a:cs typeface="Calibri" pitchFamily="34" charset="-120"/>
              </a:rPr>
              <a:t>Nada suara dan intonasi</a:t>
            </a:r>
            <a:endParaRPr lang="en-US" sz="2400" dirty="0"/>
          </a:p>
          <a:p>
            <a:pPr marL="342900" indent="-342900">
              <a:spcAft>
                <a:spcPts val="800"/>
              </a:spcAft>
              <a:buSzPct val="100000"/>
              <a:buChar char="•"/>
            </a:pPr>
            <a:r>
              <a:rPr lang="en-US" sz="2400" dirty="0">
                <a:solidFill>
                  <a:srgbClr val="13123D"/>
                </a:solidFill>
                <a:latin typeface="Calibri" pitchFamily="34" charset="0"/>
                <a:ea typeface="Calibri" pitchFamily="34" charset="-122"/>
                <a:cs typeface="Calibri" pitchFamily="34" charset="-120"/>
              </a:rPr>
              <a:t>Penampilan dan kesiapan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SOFT SKILL · 35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Teknik Komunikasi Verbal</a:t>
            </a:r>
            <a:endParaRPr lang="en-US" sz="4800" dirty="0"/>
          </a:p>
        </p:txBody>
      </p:sp>
      <p:sp>
        <p:nvSpPr>
          <p:cNvPr id="7" name="Shape 2"/>
          <p:cNvSpPr/>
          <p:nvPr/>
        </p:nvSpPr>
        <p:spPr>
          <a:xfrm>
            <a:off x="914400" y="4343400"/>
            <a:ext cx="9509760" cy="1188720"/>
          </a:xfrm>
          <a:prstGeom prst="roundRect">
            <a:avLst>
              <a:gd name="adj" fmla="val 11538"/>
            </a:avLst>
          </a:prstGeom>
          <a:solidFill>
            <a:srgbClr val="EEF1FC"/>
          </a:solidFill>
          <a:ln w="12700">
            <a:solidFill>
              <a:srgbClr val="D3DAF5"/>
            </a:solidFill>
            <a:prstDash val="solid"/>
          </a:ln>
        </p:spPr>
      </p:sp>
      <p:sp>
        <p:nvSpPr>
          <p:cNvPr id="8" name="Text 3"/>
          <p:cNvSpPr txBox="1"/>
          <p:nvPr/>
        </p:nvSpPr>
        <p:spPr>
          <a:xfrm>
            <a:off x="1143000" y="459486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1</a:t>
            </a:r>
            <a:endParaRPr lang="en-US" sz="2400" dirty="0"/>
          </a:p>
        </p:txBody>
      </p:sp>
      <p:sp>
        <p:nvSpPr>
          <p:cNvPr id="9" name="Text 4"/>
          <p:cNvSpPr txBox="1"/>
          <p:nvPr/>
        </p:nvSpPr>
        <p:spPr>
          <a:xfrm>
            <a:off x="2011680" y="4343400"/>
            <a:ext cx="8229600" cy="118872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Jelas dan ringkas</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Satu ide per kalimat, hindari kalimat bertele-tele.</a:t>
            </a:r>
            <a:endParaRPr lang="en-US" sz="2400" dirty="0"/>
          </a:p>
        </p:txBody>
      </p:sp>
      <p:sp>
        <p:nvSpPr>
          <p:cNvPr id="10" name="Shape 5"/>
          <p:cNvSpPr/>
          <p:nvPr/>
        </p:nvSpPr>
        <p:spPr>
          <a:xfrm>
            <a:off x="914400" y="5669280"/>
            <a:ext cx="9509760" cy="1188720"/>
          </a:xfrm>
          <a:prstGeom prst="roundRect">
            <a:avLst>
              <a:gd name="adj" fmla="val 11538"/>
            </a:avLst>
          </a:prstGeom>
          <a:solidFill>
            <a:srgbClr val="EEF1FC"/>
          </a:solidFill>
          <a:ln w="12700">
            <a:solidFill>
              <a:srgbClr val="D3DAF5"/>
            </a:solidFill>
            <a:prstDash val="solid"/>
          </a:ln>
        </p:spPr>
      </p:sp>
      <p:sp>
        <p:nvSpPr>
          <p:cNvPr id="11" name="Text 6"/>
          <p:cNvSpPr txBox="1"/>
          <p:nvPr/>
        </p:nvSpPr>
        <p:spPr>
          <a:xfrm>
            <a:off x="1143000" y="592074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2</a:t>
            </a:r>
            <a:endParaRPr lang="en-US" sz="2400" dirty="0"/>
          </a:p>
        </p:txBody>
      </p:sp>
      <p:sp>
        <p:nvSpPr>
          <p:cNvPr id="12" name="Text 7"/>
          <p:cNvSpPr txBox="1"/>
          <p:nvPr/>
        </p:nvSpPr>
        <p:spPr>
          <a:xfrm>
            <a:off x="2011680" y="5669280"/>
            <a:ext cx="8229600" cy="118872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Poin utama dulu</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Mulai dari kesimpulan, lalu alasan.</a:t>
            </a:r>
            <a:endParaRPr lang="en-US" sz="2400" dirty="0"/>
          </a:p>
        </p:txBody>
      </p:sp>
      <p:sp>
        <p:nvSpPr>
          <p:cNvPr id="13" name="Shape 8"/>
          <p:cNvSpPr/>
          <p:nvPr/>
        </p:nvSpPr>
        <p:spPr>
          <a:xfrm>
            <a:off x="914400" y="6995160"/>
            <a:ext cx="9509760" cy="1188720"/>
          </a:xfrm>
          <a:prstGeom prst="roundRect">
            <a:avLst>
              <a:gd name="adj" fmla="val 11538"/>
            </a:avLst>
          </a:prstGeom>
          <a:solidFill>
            <a:srgbClr val="EEF1FC"/>
          </a:solidFill>
          <a:ln w="12700">
            <a:solidFill>
              <a:srgbClr val="D3DAF5"/>
            </a:solidFill>
            <a:prstDash val="solid"/>
          </a:ln>
        </p:spPr>
      </p:sp>
      <p:sp>
        <p:nvSpPr>
          <p:cNvPr id="14" name="Text 9"/>
          <p:cNvSpPr txBox="1"/>
          <p:nvPr/>
        </p:nvSpPr>
        <p:spPr>
          <a:xfrm>
            <a:off x="1143000" y="724662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3</a:t>
            </a:r>
            <a:endParaRPr lang="en-US" sz="2400" dirty="0"/>
          </a:p>
        </p:txBody>
      </p:sp>
      <p:sp>
        <p:nvSpPr>
          <p:cNvPr id="15" name="Text 10"/>
          <p:cNvSpPr txBox="1"/>
          <p:nvPr/>
        </p:nvSpPr>
        <p:spPr>
          <a:xfrm>
            <a:off x="2011680" y="6995160"/>
            <a:ext cx="8229600" cy="118872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Atur tempo dan jeda</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Bicara tidak terlalu cepat, beri jeda.</a:t>
            </a:r>
            <a:endParaRPr lang="en-US" sz="2400" dirty="0"/>
          </a:p>
        </p:txBody>
      </p:sp>
      <p:sp>
        <p:nvSpPr>
          <p:cNvPr id="16" name="Shape 11"/>
          <p:cNvSpPr/>
          <p:nvPr/>
        </p:nvSpPr>
        <p:spPr>
          <a:xfrm>
            <a:off x="914400" y="8321040"/>
            <a:ext cx="9509760" cy="1188720"/>
          </a:xfrm>
          <a:prstGeom prst="roundRect">
            <a:avLst>
              <a:gd name="adj" fmla="val 11538"/>
            </a:avLst>
          </a:prstGeom>
          <a:solidFill>
            <a:srgbClr val="EEF1FC"/>
          </a:solidFill>
          <a:ln w="12700">
            <a:solidFill>
              <a:srgbClr val="D3DAF5"/>
            </a:solidFill>
            <a:prstDash val="solid"/>
          </a:ln>
        </p:spPr>
      </p:sp>
      <p:sp>
        <p:nvSpPr>
          <p:cNvPr id="17" name="Text 12"/>
          <p:cNvSpPr txBox="1"/>
          <p:nvPr/>
        </p:nvSpPr>
        <p:spPr>
          <a:xfrm>
            <a:off x="1143000" y="8572500"/>
            <a:ext cx="685800" cy="6858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2400" b="1" dirty="0">
                <a:solidFill>
                  <a:srgbClr val="13123D"/>
                </a:solidFill>
                <a:latin typeface="Arial" pitchFamily="34" charset="0"/>
                <a:ea typeface="Arial" pitchFamily="34" charset="-122"/>
                <a:cs typeface="Arial" pitchFamily="34" charset="-120"/>
              </a:rPr>
              <a:t>4</a:t>
            </a:r>
            <a:endParaRPr lang="en-US" sz="2400" dirty="0"/>
          </a:p>
        </p:txBody>
      </p:sp>
      <p:sp>
        <p:nvSpPr>
          <p:cNvPr id="18" name="Text 13"/>
          <p:cNvSpPr txBox="1"/>
          <p:nvPr/>
        </p:nvSpPr>
        <p:spPr>
          <a:xfrm>
            <a:off x="2011680" y="8321040"/>
            <a:ext cx="8229600" cy="118872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Beri contoh konkret</a:t>
            </a:r>
            <a:endParaRPr lang="en-US" sz="2400" dirty="0"/>
          </a:p>
          <a:p>
            <a:pPr indent="0" marL="0">
              <a:buNone/>
            </a:pPr>
            <a:r>
              <a:rPr lang="en-US" sz="2000" dirty="0">
                <a:solidFill>
                  <a:srgbClr val="5A5F86"/>
                </a:solidFill>
                <a:latin typeface="Calibri" pitchFamily="34" charset="0"/>
                <a:ea typeface="Calibri" pitchFamily="34" charset="-122"/>
                <a:cs typeface="Calibri" pitchFamily="34" charset="-120"/>
              </a:rPr>
              <a:t>Angka, nama fungsi, atau kasus nyata.</a:t>
            </a:r>
            <a:endParaRPr lang="en-US" sz="2400" dirty="0"/>
          </a:p>
        </p:txBody>
      </p:sp>
      <p:sp>
        <p:nvSpPr>
          <p:cNvPr id="19" name="Shape 14"/>
          <p:cNvSpPr/>
          <p:nvPr/>
        </p:nvSpPr>
        <p:spPr>
          <a:xfrm>
            <a:off x="10789920" y="4343400"/>
            <a:ext cx="6583680" cy="5166360"/>
          </a:xfrm>
          <a:prstGeom prst="roundRect">
            <a:avLst>
              <a:gd name="adj" fmla="val 2655"/>
            </a:avLst>
          </a:prstGeom>
          <a:solidFill>
            <a:srgbClr val="FFF3BF"/>
          </a:solidFill>
          <a:ln w="12700">
            <a:solidFill>
              <a:srgbClr val="FFF3BF"/>
            </a:solidFill>
            <a:prstDash val="solid"/>
          </a:ln>
        </p:spPr>
      </p:sp>
      <p:sp>
        <p:nvSpPr>
          <p:cNvPr id="20" name="Text 15"/>
          <p:cNvSpPr txBox="1"/>
          <p:nvPr/>
        </p:nvSpPr>
        <p:spPr>
          <a:xfrm>
            <a:off x="11064240" y="4526280"/>
            <a:ext cx="6035040" cy="54864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Konteks → Masalah → Usulan</a:t>
            </a:r>
            <a:endParaRPr lang="en-US" sz="2400" dirty="0"/>
          </a:p>
        </p:txBody>
      </p:sp>
      <p:sp>
        <p:nvSpPr>
          <p:cNvPr id="21" name="Text 16"/>
          <p:cNvSpPr txBox="1"/>
          <p:nvPr/>
        </p:nvSpPr>
        <p:spPr>
          <a:xfrm>
            <a:off x="11064240" y="5257800"/>
            <a:ext cx="6035040" cy="4114800"/>
          </a:xfrm>
          <a:prstGeom prst="rect">
            <a:avLst/>
          </a:prstGeom>
          <a:noFill/>
          <a:ln/>
        </p:spPr>
        <p:txBody>
          <a:bodyPr wrap="square" lIns="0" tIns="0" rIns="0" bIns="0" rtlCol="0" anchor="t"/>
          <a:lstStyle/>
          <a:p>
            <a:pPr indent="0" marL="0">
              <a:buNone/>
            </a:pPr>
            <a:r>
              <a:rPr lang="en-US" sz="2200" b="1" dirty="0">
                <a:solidFill>
                  <a:srgbClr val="B4381A"/>
                </a:solidFill>
                <a:latin typeface="Calibri" pitchFamily="34" charset="0"/>
                <a:ea typeface="Calibri" pitchFamily="34" charset="-122"/>
                <a:cs typeface="Calibri" pitchFamily="34" charset="-120"/>
              </a:rPr>
              <a:t>Kurang jelas</a:t>
            </a:r>
            <a:endParaRPr lang="en-US" sz="2200" dirty="0"/>
          </a:p>
          <a:p>
            <a:pPr indent="0" marL="0">
              <a:buNone/>
            </a:pPr>
            <a:r>
              <a:rPr lang="en-US" sz="2200" i="1" dirty="0">
                <a:solidFill>
                  <a:srgbClr val="13123D"/>
                </a:solidFill>
                <a:latin typeface="Calibri" pitchFamily="34" charset="0"/>
                <a:ea typeface="Calibri" pitchFamily="34" charset="-122"/>
                <a:cs typeface="Calibri" pitchFamily="34" charset="-120"/>
              </a:rPr>
              <a:t>"Yang tadi itu error, coba lihat."</a:t>
            </a:r>
            <a:endParaRPr lang="en-US" sz="2200" dirty="0"/>
          </a:p>
          <a:p>
            <a:pPr indent="0" marL="0">
              <a:buNone/>
            </a:pPr>
            <a:r>
              <a:rPr lang="en-US" sz="2200" dirty="0">
                <a:solidFill>
                  <a:srgbClr val="13123D"/>
                </a:solidFill>
                <a:latin typeface="Calibri" pitchFamily="34" charset="0"/>
                <a:ea typeface="Calibri" pitchFamily="34" charset="-122"/>
                <a:cs typeface="Calibri" pitchFamily="34" charset="-120"/>
              </a:rPr>
              <a:t> </a:t>
            </a:r>
            <a:endParaRPr lang="en-US" sz="2200" dirty="0"/>
          </a:p>
          <a:p>
            <a:pPr indent="0" marL="0">
              <a:buNone/>
            </a:pPr>
            <a:r>
              <a:rPr lang="en-US" sz="2200" b="1" dirty="0">
                <a:solidFill>
                  <a:srgbClr val="1E7A44"/>
                </a:solidFill>
                <a:latin typeface="Calibri" pitchFamily="34" charset="0"/>
                <a:ea typeface="Calibri" pitchFamily="34" charset="-122"/>
                <a:cs typeface="Calibri" pitchFamily="34" charset="-120"/>
              </a:rPr>
              <a:t>Lebih baik</a:t>
            </a:r>
            <a:endParaRPr lang="en-US" sz="2200" dirty="0"/>
          </a:p>
          <a:p>
            <a:pPr indent="0" marL="0">
              <a:buNone/>
            </a:pPr>
            <a:r>
              <a:rPr lang="en-US" sz="2200" i="1" dirty="0">
                <a:solidFill>
                  <a:srgbClr val="13123D"/>
                </a:solidFill>
                <a:latin typeface="Calibri" pitchFamily="34" charset="0"/>
                <a:ea typeface="Calibri" pitchFamily="34" charset="-122"/>
                <a:cs typeface="Calibri" pitchFamily="34" charset="-120"/>
              </a:rPr>
              <a:t>"Saat menjalankan go run, muncul error variabel tak terpakai di baris 8. Saya usul hapus atau pakai variabelnya."</a:t>
            </a:r>
            <a:endParaRPr lang="en-US" sz="2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SOFT SKILL · 35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Komunikasi Non-verbal</a:t>
            </a:r>
            <a:endParaRPr lang="en-US" sz="4800" dirty="0"/>
          </a:p>
        </p:txBody>
      </p:sp>
      <p:sp>
        <p:nvSpPr>
          <p:cNvPr id="7" name="Shape 2"/>
          <p:cNvSpPr/>
          <p:nvPr/>
        </p:nvSpPr>
        <p:spPr>
          <a:xfrm>
            <a:off x="914400" y="4343400"/>
            <a:ext cx="7955280" cy="1874520"/>
          </a:xfrm>
          <a:prstGeom prst="roundRect">
            <a:avLst>
              <a:gd name="adj" fmla="val 7317"/>
            </a:avLst>
          </a:prstGeom>
          <a:solidFill>
            <a:srgbClr val="EEF1FC"/>
          </a:solidFill>
          <a:ln w="12700">
            <a:solidFill>
              <a:srgbClr val="D3DAF5"/>
            </a:solidFill>
            <a:prstDash val="solid"/>
          </a:ln>
        </p:spPr>
      </p:sp>
      <p:sp>
        <p:nvSpPr>
          <p:cNvPr id="8" name="Shape 3"/>
          <p:cNvSpPr/>
          <p:nvPr/>
        </p:nvSpPr>
        <p:spPr>
          <a:xfrm>
            <a:off x="1234440" y="4754880"/>
            <a:ext cx="1051560" cy="1051560"/>
          </a:xfrm>
          <a:prstGeom prst="ellipse">
            <a:avLst/>
          </a:prstGeom>
          <a:solidFill>
            <a:srgbClr val="162CA2"/>
          </a:solidFill>
          <a:ln w="12700">
            <a:solidFill>
              <a:srgbClr val="162CA2"/>
            </a:solidFill>
            <a:prstDash val="solid"/>
          </a:ln>
        </p:spPr>
      </p:sp>
      <p:pic>
        <p:nvPicPr>
          <p:cNvPr id="9" name="Image 2" descr="preencoded.png">    </p:cNvPr>
          <p:cNvPicPr>
            <a:picLocks noChangeAspect="1"/>
          </p:cNvPicPr>
          <p:nvPr/>
        </p:nvPicPr>
        <p:blipFill>
          <a:blip r:embed="rId3"/>
          <a:stretch>
            <a:fillRect/>
          </a:stretch>
        </p:blipFill>
        <p:spPr>
          <a:xfrm>
            <a:off x="1486814" y="5007254"/>
            <a:ext cx="546811" cy="546811"/>
          </a:xfrm>
          <a:prstGeom prst="rect">
            <a:avLst/>
          </a:prstGeom>
        </p:spPr>
      </p:pic>
      <p:sp>
        <p:nvSpPr>
          <p:cNvPr id="10" name="Text 4"/>
          <p:cNvSpPr txBox="1"/>
          <p:nvPr/>
        </p:nvSpPr>
        <p:spPr>
          <a:xfrm>
            <a:off x="2651760" y="4617720"/>
            <a:ext cx="5943600" cy="548640"/>
          </a:xfrm>
          <a:prstGeom prst="rect">
            <a:avLst/>
          </a:prstGeom>
          <a:noFill/>
          <a:ln/>
        </p:spPr>
        <p:txBody>
          <a:bodyPr wrap="square" lIns="0" tIns="0" rIns="0" bIns="0" rtlCol="0" anchor="t"/>
          <a:lstStyle/>
          <a:p>
            <a:pPr indent="0" marL="0">
              <a:buNone/>
            </a:pPr>
            <a:r>
              <a:rPr lang="en-US" sz="2700" b="1" dirty="0">
                <a:solidFill>
                  <a:srgbClr val="162CA2"/>
                </a:solidFill>
                <a:latin typeface="Calibri" pitchFamily="34" charset="0"/>
                <a:ea typeface="Calibri" pitchFamily="34" charset="-122"/>
                <a:cs typeface="Calibri" pitchFamily="34" charset="-120"/>
              </a:rPr>
              <a:t>Kontak mata</a:t>
            </a:r>
            <a:endParaRPr lang="en-US" sz="2700" dirty="0"/>
          </a:p>
        </p:txBody>
      </p:sp>
      <p:sp>
        <p:nvSpPr>
          <p:cNvPr id="11" name="Text 5"/>
          <p:cNvSpPr txBox="1"/>
          <p:nvPr/>
        </p:nvSpPr>
        <p:spPr>
          <a:xfrm>
            <a:off x="2651760" y="5257800"/>
            <a:ext cx="5943600" cy="822960"/>
          </a:xfrm>
          <a:prstGeom prst="rect">
            <a:avLst/>
          </a:prstGeom>
          <a:noFill/>
          <a:ln/>
        </p:spPr>
        <p:txBody>
          <a:bodyPr wrap="square" lIns="0" tIns="0" rIns="0" bIns="0" rtlCol="0" anchor="t"/>
          <a:lstStyle/>
          <a:p>
            <a:pPr indent="0" marL="0">
              <a:buNone/>
            </a:pPr>
            <a:r>
              <a:rPr lang="en-US" sz="2200" dirty="0">
                <a:solidFill>
                  <a:srgbClr val="13123D"/>
                </a:solidFill>
                <a:latin typeface="Calibri" pitchFamily="34" charset="0"/>
                <a:ea typeface="Calibri" pitchFamily="34" charset="-122"/>
                <a:cs typeface="Calibri" pitchFamily="34" charset="-120"/>
              </a:rPr>
              <a:t>Menunjukkan perhatian dan keyakinan.</a:t>
            </a:r>
            <a:endParaRPr lang="en-US" sz="2200" dirty="0"/>
          </a:p>
        </p:txBody>
      </p:sp>
      <p:sp>
        <p:nvSpPr>
          <p:cNvPr id="12" name="Shape 6"/>
          <p:cNvSpPr/>
          <p:nvPr/>
        </p:nvSpPr>
        <p:spPr>
          <a:xfrm>
            <a:off x="9418320" y="4343400"/>
            <a:ext cx="7955280" cy="1874520"/>
          </a:xfrm>
          <a:prstGeom prst="roundRect">
            <a:avLst>
              <a:gd name="adj" fmla="val 7317"/>
            </a:avLst>
          </a:prstGeom>
          <a:solidFill>
            <a:srgbClr val="EEF1FC"/>
          </a:solidFill>
          <a:ln w="12700">
            <a:solidFill>
              <a:srgbClr val="D3DAF5"/>
            </a:solidFill>
            <a:prstDash val="solid"/>
          </a:ln>
        </p:spPr>
      </p:sp>
      <p:sp>
        <p:nvSpPr>
          <p:cNvPr id="13" name="Shape 7"/>
          <p:cNvSpPr/>
          <p:nvPr/>
        </p:nvSpPr>
        <p:spPr>
          <a:xfrm>
            <a:off x="9738360" y="4754880"/>
            <a:ext cx="1051560" cy="1051560"/>
          </a:xfrm>
          <a:prstGeom prst="ellipse">
            <a:avLst/>
          </a:prstGeom>
          <a:solidFill>
            <a:srgbClr val="162CA2"/>
          </a:solidFill>
          <a:ln w="12700">
            <a:solidFill>
              <a:srgbClr val="162CA2"/>
            </a:solidFill>
            <a:prstDash val="solid"/>
          </a:ln>
        </p:spPr>
      </p:sp>
      <p:pic>
        <p:nvPicPr>
          <p:cNvPr id="14" name="Image 3" descr="preencoded.png">    </p:cNvPr>
          <p:cNvPicPr>
            <a:picLocks noChangeAspect="1"/>
          </p:cNvPicPr>
          <p:nvPr/>
        </p:nvPicPr>
        <p:blipFill>
          <a:blip r:embed="rId4"/>
          <a:stretch>
            <a:fillRect/>
          </a:stretch>
        </p:blipFill>
        <p:spPr>
          <a:xfrm>
            <a:off x="9990734" y="5007254"/>
            <a:ext cx="546811" cy="546811"/>
          </a:xfrm>
          <a:prstGeom prst="rect">
            <a:avLst/>
          </a:prstGeom>
        </p:spPr>
      </p:pic>
      <p:sp>
        <p:nvSpPr>
          <p:cNvPr id="15" name="Text 8"/>
          <p:cNvSpPr txBox="1"/>
          <p:nvPr/>
        </p:nvSpPr>
        <p:spPr>
          <a:xfrm>
            <a:off x="11155680" y="4617720"/>
            <a:ext cx="5943600" cy="548640"/>
          </a:xfrm>
          <a:prstGeom prst="rect">
            <a:avLst/>
          </a:prstGeom>
          <a:noFill/>
          <a:ln/>
        </p:spPr>
        <p:txBody>
          <a:bodyPr wrap="square" lIns="0" tIns="0" rIns="0" bIns="0" rtlCol="0" anchor="t"/>
          <a:lstStyle/>
          <a:p>
            <a:pPr indent="0" marL="0">
              <a:buNone/>
            </a:pPr>
            <a:r>
              <a:rPr lang="en-US" sz="2700" b="1" dirty="0">
                <a:solidFill>
                  <a:srgbClr val="162CA2"/>
                </a:solidFill>
                <a:latin typeface="Calibri" pitchFamily="34" charset="0"/>
                <a:ea typeface="Calibri" pitchFamily="34" charset="-122"/>
                <a:cs typeface="Calibri" pitchFamily="34" charset="-120"/>
              </a:rPr>
              <a:t>Postur &amp; gestur</a:t>
            </a:r>
            <a:endParaRPr lang="en-US" sz="2700" dirty="0"/>
          </a:p>
        </p:txBody>
      </p:sp>
      <p:sp>
        <p:nvSpPr>
          <p:cNvPr id="16" name="Text 9"/>
          <p:cNvSpPr txBox="1"/>
          <p:nvPr/>
        </p:nvSpPr>
        <p:spPr>
          <a:xfrm>
            <a:off x="11155680" y="5257800"/>
            <a:ext cx="5943600" cy="822960"/>
          </a:xfrm>
          <a:prstGeom prst="rect">
            <a:avLst/>
          </a:prstGeom>
          <a:noFill/>
          <a:ln/>
        </p:spPr>
        <p:txBody>
          <a:bodyPr wrap="square" lIns="0" tIns="0" rIns="0" bIns="0" rtlCol="0" anchor="t"/>
          <a:lstStyle/>
          <a:p>
            <a:pPr indent="0" marL="0">
              <a:buNone/>
            </a:pPr>
            <a:r>
              <a:rPr lang="en-US" sz="2200" dirty="0">
                <a:solidFill>
                  <a:srgbClr val="13123D"/>
                </a:solidFill>
                <a:latin typeface="Calibri" pitchFamily="34" charset="0"/>
                <a:ea typeface="Calibri" pitchFamily="34" charset="-122"/>
                <a:cs typeface="Calibri" pitchFamily="34" charset="-120"/>
              </a:rPr>
              <a:t>Postur terbuka, gerakan tangan wajar.</a:t>
            </a:r>
            <a:endParaRPr lang="en-US" sz="2200" dirty="0"/>
          </a:p>
        </p:txBody>
      </p:sp>
      <p:sp>
        <p:nvSpPr>
          <p:cNvPr id="17" name="Shape 10"/>
          <p:cNvSpPr/>
          <p:nvPr/>
        </p:nvSpPr>
        <p:spPr>
          <a:xfrm>
            <a:off x="914400" y="6400800"/>
            <a:ext cx="7955280" cy="1874520"/>
          </a:xfrm>
          <a:prstGeom prst="roundRect">
            <a:avLst>
              <a:gd name="adj" fmla="val 7317"/>
            </a:avLst>
          </a:prstGeom>
          <a:solidFill>
            <a:srgbClr val="EEF1FC"/>
          </a:solidFill>
          <a:ln w="12700">
            <a:solidFill>
              <a:srgbClr val="D3DAF5"/>
            </a:solidFill>
            <a:prstDash val="solid"/>
          </a:ln>
        </p:spPr>
      </p:sp>
      <p:sp>
        <p:nvSpPr>
          <p:cNvPr id="18" name="Shape 11"/>
          <p:cNvSpPr/>
          <p:nvPr/>
        </p:nvSpPr>
        <p:spPr>
          <a:xfrm>
            <a:off x="1234440" y="6812280"/>
            <a:ext cx="1051560" cy="1051560"/>
          </a:xfrm>
          <a:prstGeom prst="ellipse">
            <a:avLst/>
          </a:prstGeom>
          <a:solidFill>
            <a:srgbClr val="162CA2"/>
          </a:solidFill>
          <a:ln w="12700">
            <a:solidFill>
              <a:srgbClr val="162CA2"/>
            </a:solidFill>
            <a:prstDash val="solid"/>
          </a:ln>
        </p:spPr>
      </p:sp>
      <p:pic>
        <p:nvPicPr>
          <p:cNvPr id="19" name="Image 4" descr="preencoded.png">    </p:cNvPr>
          <p:cNvPicPr>
            <a:picLocks noChangeAspect="1"/>
          </p:cNvPicPr>
          <p:nvPr/>
        </p:nvPicPr>
        <p:blipFill>
          <a:blip r:embed="rId5"/>
          <a:stretch>
            <a:fillRect/>
          </a:stretch>
        </p:blipFill>
        <p:spPr>
          <a:xfrm>
            <a:off x="1486814" y="7064654"/>
            <a:ext cx="546811" cy="546811"/>
          </a:xfrm>
          <a:prstGeom prst="rect">
            <a:avLst/>
          </a:prstGeom>
        </p:spPr>
      </p:pic>
      <p:sp>
        <p:nvSpPr>
          <p:cNvPr id="20" name="Text 12"/>
          <p:cNvSpPr txBox="1"/>
          <p:nvPr/>
        </p:nvSpPr>
        <p:spPr>
          <a:xfrm>
            <a:off x="2651760" y="6675120"/>
            <a:ext cx="5943600" cy="548640"/>
          </a:xfrm>
          <a:prstGeom prst="rect">
            <a:avLst/>
          </a:prstGeom>
          <a:noFill/>
          <a:ln/>
        </p:spPr>
        <p:txBody>
          <a:bodyPr wrap="square" lIns="0" tIns="0" rIns="0" bIns="0" rtlCol="0" anchor="t"/>
          <a:lstStyle/>
          <a:p>
            <a:pPr indent="0" marL="0">
              <a:buNone/>
            </a:pPr>
            <a:r>
              <a:rPr lang="en-US" sz="2700" b="1" dirty="0">
                <a:solidFill>
                  <a:srgbClr val="162CA2"/>
                </a:solidFill>
                <a:latin typeface="Calibri" pitchFamily="34" charset="0"/>
                <a:ea typeface="Calibri" pitchFamily="34" charset="-122"/>
                <a:cs typeface="Calibri" pitchFamily="34" charset="-120"/>
              </a:rPr>
              <a:t>Ekspresi wajah</a:t>
            </a:r>
            <a:endParaRPr lang="en-US" sz="2700" dirty="0"/>
          </a:p>
        </p:txBody>
      </p:sp>
      <p:sp>
        <p:nvSpPr>
          <p:cNvPr id="21" name="Text 13"/>
          <p:cNvSpPr txBox="1"/>
          <p:nvPr/>
        </p:nvSpPr>
        <p:spPr>
          <a:xfrm>
            <a:off x="2651760" y="7315200"/>
            <a:ext cx="5943600" cy="822960"/>
          </a:xfrm>
          <a:prstGeom prst="rect">
            <a:avLst/>
          </a:prstGeom>
          <a:noFill/>
          <a:ln/>
        </p:spPr>
        <p:txBody>
          <a:bodyPr wrap="square" lIns="0" tIns="0" rIns="0" bIns="0" rtlCol="0" anchor="t"/>
          <a:lstStyle/>
          <a:p>
            <a:pPr indent="0" marL="0">
              <a:buNone/>
            </a:pPr>
            <a:r>
              <a:rPr lang="en-US" sz="2200" dirty="0">
                <a:solidFill>
                  <a:srgbClr val="13123D"/>
                </a:solidFill>
                <a:latin typeface="Calibri" pitchFamily="34" charset="0"/>
                <a:ea typeface="Calibri" pitchFamily="34" charset="-122"/>
                <a:cs typeface="Calibri" pitchFamily="34" charset="-120"/>
              </a:rPr>
              <a:t>Menyampaikan emosi dan tanggapan.</a:t>
            </a:r>
            <a:endParaRPr lang="en-US" sz="2200" dirty="0"/>
          </a:p>
        </p:txBody>
      </p:sp>
      <p:sp>
        <p:nvSpPr>
          <p:cNvPr id="22" name="Shape 14"/>
          <p:cNvSpPr/>
          <p:nvPr/>
        </p:nvSpPr>
        <p:spPr>
          <a:xfrm>
            <a:off x="9418320" y="6400800"/>
            <a:ext cx="7955280" cy="1874520"/>
          </a:xfrm>
          <a:prstGeom prst="roundRect">
            <a:avLst>
              <a:gd name="adj" fmla="val 7317"/>
            </a:avLst>
          </a:prstGeom>
          <a:solidFill>
            <a:srgbClr val="EEF1FC"/>
          </a:solidFill>
          <a:ln w="12700">
            <a:solidFill>
              <a:srgbClr val="D3DAF5"/>
            </a:solidFill>
            <a:prstDash val="solid"/>
          </a:ln>
        </p:spPr>
      </p:sp>
      <p:sp>
        <p:nvSpPr>
          <p:cNvPr id="23" name="Shape 15"/>
          <p:cNvSpPr/>
          <p:nvPr/>
        </p:nvSpPr>
        <p:spPr>
          <a:xfrm>
            <a:off x="9738360" y="6812280"/>
            <a:ext cx="1051560" cy="1051560"/>
          </a:xfrm>
          <a:prstGeom prst="ellipse">
            <a:avLst/>
          </a:prstGeom>
          <a:solidFill>
            <a:srgbClr val="162CA2"/>
          </a:solidFill>
          <a:ln w="12700">
            <a:solidFill>
              <a:srgbClr val="162CA2"/>
            </a:solidFill>
            <a:prstDash val="solid"/>
          </a:ln>
        </p:spPr>
      </p:sp>
      <p:pic>
        <p:nvPicPr>
          <p:cNvPr id="24" name="Image 5" descr="preencoded.png">    </p:cNvPr>
          <p:cNvPicPr>
            <a:picLocks noChangeAspect="1"/>
          </p:cNvPicPr>
          <p:nvPr/>
        </p:nvPicPr>
        <p:blipFill>
          <a:blip r:embed="rId6"/>
          <a:stretch>
            <a:fillRect/>
          </a:stretch>
        </p:blipFill>
        <p:spPr>
          <a:xfrm>
            <a:off x="9990734" y="7064654"/>
            <a:ext cx="546811" cy="546811"/>
          </a:xfrm>
          <a:prstGeom prst="rect">
            <a:avLst/>
          </a:prstGeom>
        </p:spPr>
      </p:pic>
      <p:sp>
        <p:nvSpPr>
          <p:cNvPr id="25" name="Text 16"/>
          <p:cNvSpPr txBox="1"/>
          <p:nvPr/>
        </p:nvSpPr>
        <p:spPr>
          <a:xfrm>
            <a:off x="11155680" y="6675120"/>
            <a:ext cx="5943600" cy="548640"/>
          </a:xfrm>
          <a:prstGeom prst="rect">
            <a:avLst/>
          </a:prstGeom>
          <a:noFill/>
          <a:ln/>
        </p:spPr>
        <p:txBody>
          <a:bodyPr wrap="square" lIns="0" tIns="0" rIns="0" bIns="0" rtlCol="0" anchor="t"/>
          <a:lstStyle/>
          <a:p>
            <a:pPr indent="0" marL="0">
              <a:buNone/>
            </a:pPr>
            <a:r>
              <a:rPr lang="en-US" sz="2700" b="1" dirty="0">
                <a:solidFill>
                  <a:srgbClr val="162CA2"/>
                </a:solidFill>
                <a:latin typeface="Calibri" pitchFamily="34" charset="0"/>
                <a:ea typeface="Calibri" pitchFamily="34" charset="-122"/>
                <a:cs typeface="Calibri" pitchFamily="34" charset="-120"/>
              </a:rPr>
              <a:t>Nada suara</a:t>
            </a:r>
            <a:endParaRPr lang="en-US" sz="2700" dirty="0"/>
          </a:p>
        </p:txBody>
      </p:sp>
      <p:sp>
        <p:nvSpPr>
          <p:cNvPr id="26" name="Text 17"/>
          <p:cNvSpPr txBox="1"/>
          <p:nvPr/>
        </p:nvSpPr>
        <p:spPr>
          <a:xfrm>
            <a:off x="11155680" y="7315200"/>
            <a:ext cx="5943600" cy="822960"/>
          </a:xfrm>
          <a:prstGeom prst="rect">
            <a:avLst/>
          </a:prstGeom>
          <a:noFill/>
          <a:ln/>
        </p:spPr>
        <p:txBody>
          <a:bodyPr wrap="square" lIns="0" tIns="0" rIns="0" bIns="0" rtlCol="0" anchor="t"/>
          <a:lstStyle/>
          <a:p>
            <a:pPr indent="0" marL="0">
              <a:buNone/>
            </a:pPr>
            <a:r>
              <a:rPr lang="en-US" sz="2200" dirty="0">
                <a:solidFill>
                  <a:srgbClr val="13123D"/>
                </a:solidFill>
                <a:latin typeface="Calibri" pitchFamily="34" charset="0"/>
                <a:ea typeface="Calibri" pitchFamily="34" charset="-122"/>
                <a:cs typeface="Calibri" pitchFamily="34" charset="-120"/>
              </a:rPr>
              <a:t>Intonasi mengubah makna kalimat.</a:t>
            </a:r>
            <a:endParaRPr lang="en-US" sz="2200" dirty="0"/>
          </a:p>
        </p:txBody>
      </p:sp>
      <p:sp>
        <p:nvSpPr>
          <p:cNvPr id="27" name="Shape 18"/>
          <p:cNvSpPr/>
          <p:nvPr/>
        </p:nvSpPr>
        <p:spPr>
          <a:xfrm>
            <a:off x="914400" y="8595360"/>
            <a:ext cx="16459200" cy="914400"/>
          </a:xfrm>
          <a:prstGeom prst="roundRect">
            <a:avLst>
              <a:gd name="adj" fmla="val 15000"/>
            </a:avLst>
          </a:prstGeom>
          <a:solidFill>
            <a:srgbClr val="162CA2"/>
          </a:solidFill>
          <a:ln w="12700">
            <a:solidFill>
              <a:srgbClr val="162CA2"/>
            </a:solidFill>
            <a:prstDash val="solid"/>
          </a:ln>
        </p:spPr>
      </p:sp>
      <p:sp>
        <p:nvSpPr>
          <p:cNvPr id="28" name="Text 19"/>
          <p:cNvSpPr txBox="1"/>
          <p:nvPr/>
        </p:nvSpPr>
        <p:spPr>
          <a:xfrm>
            <a:off x="1188720" y="8595360"/>
            <a:ext cx="15910560" cy="914400"/>
          </a:xfrm>
          <a:prstGeom prst="rect">
            <a:avLst/>
          </a:prstGeom>
          <a:noFill/>
          <a:ln/>
        </p:spPr>
        <p:txBody>
          <a:bodyPr wrap="square" lIns="0" tIns="0" rIns="0" bIns="0" rtlCol="0" anchor="ctr"/>
          <a:lstStyle/>
          <a:p>
            <a:pPr algn="ctr" indent="0" marL="0">
              <a:buNone/>
            </a:pPr>
            <a:r>
              <a:rPr lang="en-US" sz="2800" b="1" dirty="0">
                <a:solidFill>
                  <a:srgbClr val="FCDF59"/>
                </a:solidFill>
                <a:latin typeface="Calibri" pitchFamily="34" charset="0"/>
                <a:ea typeface="Calibri" pitchFamily="34" charset="-122"/>
                <a:cs typeface="Calibri" pitchFamily="34" charset="-120"/>
              </a:rPr>
              <a:t>Rapat online: </a:t>
            </a:r>
            <a:pPr algn="ctr" indent="0" marL="0">
              <a:buNone/>
            </a:pPr>
            <a:r>
              <a:rPr lang="en-US" sz="2800" dirty="0">
                <a:solidFill>
                  <a:srgbClr val="FDFBFB"/>
                </a:solidFill>
                <a:latin typeface="Calibri" pitchFamily="34" charset="0"/>
                <a:ea typeface="Calibri" pitchFamily="34" charset="-122"/>
                <a:cs typeface="Calibri" pitchFamily="34" charset="-120"/>
              </a:rPr>
              <a:t>kamera menyala, mikrofon jernih, pandang kamera saat bicara.</a:t>
            </a:r>
            <a:endParaRPr lang="en-US" sz="2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SOFT SKILL · 35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Selaraskan Kata dan Isyarat</a:t>
            </a:r>
            <a:endParaRPr lang="en-US" sz="4800" dirty="0"/>
          </a:p>
        </p:txBody>
      </p:sp>
      <p:sp>
        <p:nvSpPr>
          <p:cNvPr id="7" name="Shape 2"/>
          <p:cNvSpPr/>
          <p:nvPr/>
        </p:nvSpPr>
        <p:spPr>
          <a:xfrm>
            <a:off x="914400" y="4343400"/>
            <a:ext cx="7955280" cy="5166360"/>
          </a:xfrm>
          <a:prstGeom prst="roundRect">
            <a:avLst>
              <a:gd name="adj" fmla="val 2655"/>
            </a:avLst>
          </a:prstGeom>
          <a:solidFill>
            <a:srgbClr val="FFE9E3"/>
          </a:solidFill>
          <a:ln w="12700">
            <a:solidFill>
              <a:srgbClr val="F2B8A6"/>
            </a:solidFill>
            <a:prstDash val="solid"/>
          </a:ln>
        </p:spPr>
      </p:sp>
      <p:sp>
        <p:nvSpPr>
          <p:cNvPr id="8" name="Text 3"/>
          <p:cNvSpPr txBox="1"/>
          <p:nvPr/>
        </p:nvSpPr>
        <p:spPr>
          <a:xfrm>
            <a:off x="1188720" y="4526280"/>
            <a:ext cx="7315200" cy="548640"/>
          </a:xfrm>
          <a:prstGeom prst="rect">
            <a:avLst/>
          </a:prstGeom>
          <a:noFill/>
          <a:ln/>
        </p:spPr>
        <p:txBody>
          <a:bodyPr wrap="square" lIns="0" tIns="0" rIns="0" bIns="0" rtlCol="0" anchor="t"/>
          <a:lstStyle/>
          <a:p>
            <a:pPr indent="0" marL="0">
              <a:buNone/>
            </a:pPr>
            <a:r>
              <a:rPr lang="en-US" sz="3000" b="1" dirty="0">
                <a:solidFill>
                  <a:srgbClr val="B4381A"/>
                </a:solidFill>
                <a:latin typeface="Calibri" pitchFamily="34" charset="0"/>
                <a:ea typeface="Calibri" pitchFamily="34" charset="-122"/>
                <a:cs typeface="Calibri" pitchFamily="34" charset="-120"/>
              </a:rPr>
              <a:t>Tidak selaras</a:t>
            </a:r>
            <a:endParaRPr lang="en-US" sz="3000" dirty="0"/>
          </a:p>
        </p:txBody>
      </p:sp>
      <p:sp>
        <p:nvSpPr>
          <p:cNvPr id="9" name="Text 4"/>
          <p:cNvSpPr txBox="1"/>
          <p:nvPr/>
        </p:nvSpPr>
        <p:spPr>
          <a:xfrm>
            <a:off x="1188720" y="5303520"/>
            <a:ext cx="7406640" cy="1188720"/>
          </a:xfrm>
          <a:prstGeom prst="rect">
            <a:avLst/>
          </a:prstGeom>
          <a:noFill/>
          <a:ln/>
        </p:spPr>
        <p:txBody>
          <a:bodyPr wrap="square" lIns="0" tIns="0" rIns="0" bIns="0" rtlCol="0" anchor="t"/>
          <a:lstStyle/>
          <a:p>
            <a:pPr indent="0" marL="0">
              <a:buNone/>
            </a:pPr>
            <a:r>
              <a:rPr lang="en-US" sz="2700" i="1" dirty="0">
                <a:solidFill>
                  <a:srgbClr val="13123D"/>
                </a:solidFill>
                <a:latin typeface="Calibri" pitchFamily="34" charset="0"/>
                <a:ea typeface="Calibri" pitchFamily="34" charset="-122"/>
                <a:cs typeface="Calibri" pitchFamily="34" charset="-120"/>
              </a:rPr>
              <a:t>"Saya tidak keberatan dengan usulanmu."</a:t>
            </a:r>
            <a:endParaRPr lang="en-US" sz="2700" dirty="0"/>
          </a:p>
        </p:txBody>
      </p:sp>
      <p:sp>
        <p:nvSpPr>
          <p:cNvPr id="10" name="Text 5"/>
          <p:cNvSpPr txBox="1"/>
          <p:nvPr/>
        </p:nvSpPr>
        <p:spPr>
          <a:xfrm>
            <a:off x="1188720" y="6675120"/>
            <a:ext cx="7406640" cy="2743200"/>
          </a:xfrm>
          <a:prstGeom prst="rect">
            <a:avLst/>
          </a:prstGeom>
          <a:noFill/>
          <a:ln/>
        </p:spPr>
        <p:txBody>
          <a:bodyPr wrap="square" lIns="0" tIns="0" rIns="0" bIns="0" rtlCol="0" anchor="t"/>
          <a:lstStyle/>
          <a:p>
            <a:pPr marL="342900" indent="-342900">
              <a:spcAft>
                <a:spcPts val="1000"/>
              </a:spcAft>
              <a:buSzPct val="100000"/>
              <a:buChar char="•"/>
            </a:pPr>
            <a:r>
              <a:rPr lang="en-US" sz="2300" dirty="0">
                <a:solidFill>
                  <a:srgbClr val="13123D"/>
                </a:solidFill>
                <a:latin typeface="Calibri" pitchFamily="34" charset="0"/>
                <a:ea typeface="Calibri" pitchFamily="34" charset="-122"/>
                <a:cs typeface="Calibri" pitchFamily="34" charset="-120"/>
              </a:rPr>
              <a:t>Tangan menyilang, wajah cemberut</a:t>
            </a:r>
            <a:endParaRPr lang="en-US" sz="2300" dirty="0"/>
          </a:p>
          <a:p>
            <a:pPr marL="342900" indent="-342900">
              <a:spcAft>
                <a:spcPts val="1000"/>
              </a:spcAft>
              <a:buSzPct val="100000"/>
              <a:buChar char="•"/>
            </a:pPr>
            <a:r>
              <a:rPr lang="en-US" sz="2300" dirty="0">
                <a:solidFill>
                  <a:srgbClr val="13123D"/>
                </a:solidFill>
                <a:latin typeface="Calibri" pitchFamily="34" charset="0"/>
                <a:ea typeface="Calibri" pitchFamily="34" charset="-122"/>
                <a:cs typeface="Calibri" pitchFamily="34" charset="-120"/>
              </a:rPr>
              <a:t>Nada datar, menghindari tatapan</a:t>
            </a:r>
            <a:endParaRPr lang="en-US" sz="2300" dirty="0"/>
          </a:p>
          <a:p>
            <a:pPr marL="342900" indent="-342900">
              <a:spcAft>
                <a:spcPts val="1000"/>
              </a:spcAft>
              <a:buSzPct val="100000"/>
              <a:buChar char="•"/>
            </a:pPr>
            <a:r>
              <a:rPr lang="en-US" sz="2300" dirty="0">
                <a:solidFill>
                  <a:srgbClr val="13123D"/>
                </a:solidFill>
                <a:latin typeface="Calibri" pitchFamily="34" charset="0"/>
                <a:ea typeface="Calibri" pitchFamily="34" charset="-122"/>
                <a:cs typeface="Calibri" pitchFamily="34" charset="-120"/>
              </a:rPr>
              <a:t>Lawan bicara ragu dengan maksud sebenarnya</a:t>
            </a:r>
            <a:endParaRPr lang="en-US" sz="2300" dirty="0"/>
          </a:p>
        </p:txBody>
      </p:sp>
      <p:sp>
        <p:nvSpPr>
          <p:cNvPr id="11" name="Shape 6"/>
          <p:cNvSpPr/>
          <p:nvPr/>
        </p:nvSpPr>
        <p:spPr>
          <a:xfrm>
            <a:off x="9418320" y="4343400"/>
            <a:ext cx="7955280" cy="5166360"/>
          </a:xfrm>
          <a:prstGeom prst="roundRect">
            <a:avLst>
              <a:gd name="adj" fmla="val 2655"/>
            </a:avLst>
          </a:prstGeom>
          <a:solidFill>
            <a:srgbClr val="E4F5EA"/>
          </a:solidFill>
          <a:ln w="12700">
            <a:solidFill>
              <a:srgbClr val="A9DBBB"/>
            </a:solidFill>
            <a:prstDash val="solid"/>
          </a:ln>
        </p:spPr>
      </p:sp>
      <p:sp>
        <p:nvSpPr>
          <p:cNvPr id="12" name="Text 7"/>
          <p:cNvSpPr txBox="1"/>
          <p:nvPr/>
        </p:nvSpPr>
        <p:spPr>
          <a:xfrm>
            <a:off x="9692640" y="4526280"/>
            <a:ext cx="7315200" cy="548640"/>
          </a:xfrm>
          <a:prstGeom prst="rect">
            <a:avLst/>
          </a:prstGeom>
          <a:noFill/>
          <a:ln/>
        </p:spPr>
        <p:txBody>
          <a:bodyPr wrap="square" lIns="0" tIns="0" rIns="0" bIns="0" rtlCol="0" anchor="t"/>
          <a:lstStyle/>
          <a:p>
            <a:pPr indent="0" marL="0">
              <a:buNone/>
            </a:pPr>
            <a:r>
              <a:rPr lang="en-US" sz="3000" b="1" dirty="0">
                <a:solidFill>
                  <a:srgbClr val="1E7A44"/>
                </a:solidFill>
                <a:latin typeface="Calibri" pitchFamily="34" charset="0"/>
                <a:ea typeface="Calibri" pitchFamily="34" charset="-122"/>
                <a:cs typeface="Calibri" pitchFamily="34" charset="-120"/>
              </a:rPr>
              <a:t>Selaras</a:t>
            </a:r>
            <a:endParaRPr lang="en-US" sz="3000" dirty="0"/>
          </a:p>
        </p:txBody>
      </p:sp>
      <p:sp>
        <p:nvSpPr>
          <p:cNvPr id="13" name="Text 8"/>
          <p:cNvSpPr txBox="1"/>
          <p:nvPr/>
        </p:nvSpPr>
        <p:spPr>
          <a:xfrm>
            <a:off x="9692640" y="5303520"/>
            <a:ext cx="7406640" cy="1188720"/>
          </a:xfrm>
          <a:prstGeom prst="rect">
            <a:avLst/>
          </a:prstGeom>
          <a:noFill/>
          <a:ln/>
        </p:spPr>
        <p:txBody>
          <a:bodyPr wrap="square" lIns="0" tIns="0" rIns="0" bIns="0" rtlCol="0" anchor="t"/>
          <a:lstStyle/>
          <a:p>
            <a:pPr indent="0" marL="0">
              <a:buNone/>
            </a:pPr>
            <a:r>
              <a:rPr lang="en-US" sz="2700" i="1" dirty="0">
                <a:solidFill>
                  <a:srgbClr val="13123D"/>
                </a:solidFill>
                <a:latin typeface="Calibri" pitchFamily="34" charset="0"/>
                <a:ea typeface="Calibri" pitchFamily="34" charset="-122"/>
                <a:cs typeface="Calibri" pitchFamily="34" charset="-120"/>
              </a:rPr>
              <a:t>"Saya setuju dengan usulanmu."</a:t>
            </a:r>
            <a:endParaRPr lang="en-US" sz="2700" dirty="0"/>
          </a:p>
        </p:txBody>
      </p:sp>
      <p:sp>
        <p:nvSpPr>
          <p:cNvPr id="14" name="Text 9"/>
          <p:cNvSpPr txBox="1"/>
          <p:nvPr/>
        </p:nvSpPr>
        <p:spPr>
          <a:xfrm>
            <a:off x="9692640" y="6675120"/>
            <a:ext cx="7406640" cy="2743200"/>
          </a:xfrm>
          <a:prstGeom prst="rect">
            <a:avLst/>
          </a:prstGeom>
          <a:noFill/>
          <a:ln/>
        </p:spPr>
        <p:txBody>
          <a:bodyPr wrap="square" lIns="0" tIns="0" rIns="0" bIns="0" rtlCol="0" anchor="t"/>
          <a:lstStyle/>
          <a:p>
            <a:pPr marL="342900" indent="-342900">
              <a:spcAft>
                <a:spcPts val="1000"/>
              </a:spcAft>
              <a:buSzPct val="100000"/>
              <a:buChar char="•"/>
            </a:pPr>
            <a:r>
              <a:rPr lang="en-US" sz="2300" dirty="0">
                <a:solidFill>
                  <a:srgbClr val="13123D"/>
                </a:solidFill>
                <a:latin typeface="Calibri" pitchFamily="34" charset="0"/>
                <a:ea typeface="Calibri" pitchFamily="34" charset="-122"/>
                <a:cs typeface="Calibri" pitchFamily="34" charset="-120"/>
              </a:rPr>
              <a:t>Postur terbuka, mengangguk</a:t>
            </a:r>
            <a:endParaRPr lang="en-US" sz="2300" dirty="0"/>
          </a:p>
          <a:p>
            <a:pPr marL="342900" indent="-342900">
              <a:spcAft>
                <a:spcPts val="1000"/>
              </a:spcAft>
              <a:buSzPct val="100000"/>
              <a:buChar char="•"/>
            </a:pPr>
            <a:r>
              <a:rPr lang="en-US" sz="2300" dirty="0">
                <a:solidFill>
                  <a:srgbClr val="13123D"/>
                </a:solidFill>
                <a:latin typeface="Calibri" pitchFamily="34" charset="0"/>
                <a:ea typeface="Calibri" pitchFamily="34" charset="-122"/>
                <a:cs typeface="Calibri" pitchFamily="34" charset="-120"/>
              </a:rPr>
              <a:t>Nada hangat, menatap lawan bicara</a:t>
            </a:r>
            <a:endParaRPr lang="en-US" sz="2300" dirty="0"/>
          </a:p>
          <a:p>
            <a:pPr marL="342900" indent="-342900">
              <a:spcAft>
                <a:spcPts val="1000"/>
              </a:spcAft>
              <a:buSzPct val="100000"/>
              <a:buChar char="•"/>
            </a:pPr>
            <a:r>
              <a:rPr lang="en-US" sz="2300" dirty="0">
                <a:solidFill>
                  <a:srgbClr val="13123D"/>
                </a:solidFill>
                <a:latin typeface="Calibri" pitchFamily="34" charset="0"/>
                <a:ea typeface="Calibri" pitchFamily="34" charset="-122"/>
                <a:cs typeface="Calibri" pitchFamily="34" charset="-120"/>
              </a:rPr>
              <a:t>Lawan bicara yakin dengan pesannya</a:t>
            </a:r>
            <a:endParaRPr lang="en-US" sz="2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SOFT SKILL · 35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Aktivitas: Presentasi 1 Menit</a:t>
            </a:r>
            <a:endParaRPr lang="en-US" sz="4800" dirty="0"/>
          </a:p>
        </p:txBody>
      </p:sp>
      <p:sp>
        <p:nvSpPr>
          <p:cNvPr id="7" name="Shape 2"/>
          <p:cNvSpPr/>
          <p:nvPr/>
        </p:nvSpPr>
        <p:spPr>
          <a:xfrm>
            <a:off x="914400" y="4343400"/>
            <a:ext cx="3977640" cy="3611880"/>
          </a:xfrm>
          <a:prstGeom prst="roundRect">
            <a:avLst>
              <a:gd name="adj" fmla="val 3797"/>
            </a:avLst>
          </a:prstGeom>
          <a:solidFill>
            <a:srgbClr val="EEF1FC"/>
          </a:solidFill>
          <a:ln w="12700">
            <a:solidFill>
              <a:srgbClr val="D3DAF5"/>
            </a:solidFill>
            <a:prstDash val="solid"/>
          </a:ln>
        </p:spPr>
      </p:sp>
      <p:sp>
        <p:nvSpPr>
          <p:cNvPr id="8" name="Text 3"/>
          <p:cNvSpPr txBox="1"/>
          <p:nvPr/>
        </p:nvSpPr>
        <p:spPr>
          <a:xfrm>
            <a:off x="1188720" y="4572000"/>
            <a:ext cx="914400" cy="9144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3200" b="1" dirty="0">
                <a:solidFill>
                  <a:srgbClr val="13123D"/>
                </a:solidFill>
                <a:latin typeface="Arial" pitchFamily="34" charset="0"/>
                <a:ea typeface="Arial" pitchFamily="34" charset="-122"/>
                <a:cs typeface="Arial" pitchFamily="34" charset="-120"/>
              </a:rPr>
              <a:t>1</a:t>
            </a:r>
            <a:endParaRPr lang="en-US" sz="3200" dirty="0"/>
          </a:p>
        </p:txBody>
      </p:sp>
      <p:sp>
        <p:nvSpPr>
          <p:cNvPr id="9" name="Text 4"/>
          <p:cNvSpPr txBox="1"/>
          <p:nvPr/>
        </p:nvSpPr>
        <p:spPr>
          <a:xfrm>
            <a:off x="1188720" y="5760720"/>
            <a:ext cx="3474720" cy="73152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Pilih topik</a:t>
            </a:r>
            <a:endParaRPr lang="en-US" sz="2600" dirty="0"/>
          </a:p>
        </p:txBody>
      </p:sp>
      <p:sp>
        <p:nvSpPr>
          <p:cNvPr id="10" name="Text 5"/>
          <p:cNvSpPr txBox="1"/>
          <p:nvPr/>
        </p:nvSpPr>
        <p:spPr>
          <a:xfrm>
            <a:off x="1188720" y="6492240"/>
            <a:ext cx="3474720" cy="1371600"/>
          </a:xfrm>
          <a:prstGeom prst="rect">
            <a:avLst/>
          </a:prstGeom>
          <a:noFill/>
          <a:ln/>
        </p:spPr>
        <p:txBody>
          <a:bodyPr wrap="square" lIns="0" tIns="0" rIns="0" bIns="0" rtlCol="0" anchor="t"/>
          <a:lstStyle/>
          <a:p>
            <a:pPr indent="0" marL="0">
              <a:buNone/>
            </a:pPr>
            <a:r>
              <a:rPr lang="en-US" sz="2100" dirty="0">
                <a:solidFill>
                  <a:srgbClr val="5A5F86"/>
                </a:solidFill>
                <a:latin typeface="Calibri" pitchFamily="34" charset="0"/>
                <a:ea typeface="Calibri" pitchFamily="34" charset="-122"/>
                <a:cs typeface="Calibri" pitchFamily="34" charset="-120"/>
              </a:rPr>
              <a:t>Mis. array vs slice atau kapan memakai map.</a:t>
            </a:r>
            <a:endParaRPr lang="en-US" sz="2100" dirty="0"/>
          </a:p>
        </p:txBody>
      </p:sp>
      <p:sp>
        <p:nvSpPr>
          <p:cNvPr id="11" name="Shape 6"/>
          <p:cNvSpPr/>
          <p:nvPr/>
        </p:nvSpPr>
        <p:spPr>
          <a:xfrm>
            <a:off x="5166360" y="4343400"/>
            <a:ext cx="3977640" cy="3611880"/>
          </a:xfrm>
          <a:prstGeom prst="roundRect">
            <a:avLst>
              <a:gd name="adj" fmla="val 3797"/>
            </a:avLst>
          </a:prstGeom>
          <a:solidFill>
            <a:srgbClr val="EEF1FC"/>
          </a:solidFill>
          <a:ln w="12700">
            <a:solidFill>
              <a:srgbClr val="D3DAF5"/>
            </a:solidFill>
            <a:prstDash val="solid"/>
          </a:ln>
        </p:spPr>
      </p:sp>
      <p:sp>
        <p:nvSpPr>
          <p:cNvPr id="12" name="Text 7"/>
          <p:cNvSpPr txBox="1"/>
          <p:nvPr/>
        </p:nvSpPr>
        <p:spPr>
          <a:xfrm>
            <a:off x="5440680" y="4572000"/>
            <a:ext cx="914400" cy="9144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3200" b="1" dirty="0">
                <a:solidFill>
                  <a:srgbClr val="13123D"/>
                </a:solidFill>
                <a:latin typeface="Arial" pitchFamily="34" charset="0"/>
                <a:ea typeface="Arial" pitchFamily="34" charset="-122"/>
                <a:cs typeface="Arial" pitchFamily="34" charset="-120"/>
              </a:rPr>
              <a:t>2</a:t>
            </a:r>
            <a:endParaRPr lang="en-US" sz="3200" dirty="0"/>
          </a:p>
        </p:txBody>
      </p:sp>
      <p:sp>
        <p:nvSpPr>
          <p:cNvPr id="13" name="Text 8"/>
          <p:cNvSpPr txBox="1"/>
          <p:nvPr/>
        </p:nvSpPr>
        <p:spPr>
          <a:xfrm>
            <a:off x="5440680" y="5760720"/>
            <a:ext cx="3474720" cy="73152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A menjelaskan</a:t>
            </a:r>
            <a:endParaRPr lang="en-US" sz="2600" dirty="0"/>
          </a:p>
        </p:txBody>
      </p:sp>
      <p:sp>
        <p:nvSpPr>
          <p:cNvPr id="14" name="Text 9"/>
          <p:cNvSpPr txBox="1"/>
          <p:nvPr/>
        </p:nvSpPr>
        <p:spPr>
          <a:xfrm>
            <a:off x="5440680" y="6492240"/>
            <a:ext cx="3474720" cy="1371600"/>
          </a:xfrm>
          <a:prstGeom prst="rect">
            <a:avLst/>
          </a:prstGeom>
          <a:noFill/>
          <a:ln/>
        </p:spPr>
        <p:txBody>
          <a:bodyPr wrap="square" lIns="0" tIns="0" rIns="0" bIns="0" rtlCol="0" anchor="t"/>
          <a:lstStyle/>
          <a:p>
            <a:pPr indent="0" marL="0">
              <a:buNone/>
            </a:pPr>
            <a:r>
              <a:rPr lang="en-US" sz="2100" dirty="0">
                <a:solidFill>
                  <a:srgbClr val="5A5F86"/>
                </a:solidFill>
                <a:latin typeface="Calibri" pitchFamily="34" charset="0"/>
                <a:ea typeface="Calibri" pitchFamily="34" charset="-122"/>
                <a:cs typeface="Calibri" pitchFamily="34" charset="-120"/>
              </a:rPr>
              <a:t>1 menit tanpa membaca catatan.</a:t>
            </a:r>
            <a:endParaRPr lang="en-US" sz="2100" dirty="0"/>
          </a:p>
        </p:txBody>
      </p:sp>
      <p:sp>
        <p:nvSpPr>
          <p:cNvPr id="15" name="Shape 10"/>
          <p:cNvSpPr/>
          <p:nvPr/>
        </p:nvSpPr>
        <p:spPr>
          <a:xfrm>
            <a:off x="9418320" y="4343400"/>
            <a:ext cx="3977640" cy="3611880"/>
          </a:xfrm>
          <a:prstGeom prst="roundRect">
            <a:avLst>
              <a:gd name="adj" fmla="val 3797"/>
            </a:avLst>
          </a:prstGeom>
          <a:solidFill>
            <a:srgbClr val="EEF1FC"/>
          </a:solidFill>
          <a:ln w="12700">
            <a:solidFill>
              <a:srgbClr val="D3DAF5"/>
            </a:solidFill>
            <a:prstDash val="solid"/>
          </a:ln>
        </p:spPr>
      </p:sp>
      <p:sp>
        <p:nvSpPr>
          <p:cNvPr id="16" name="Text 11"/>
          <p:cNvSpPr txBox="1"/>
          <p:nvPr/>
        </p:nvSpPr>
        <p:spPr>
          <a:xfrm>
            <a:off x="9692640" y="4572000"/>
            <a:ext cx="914400" cy="9144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3200" b="1" dirty="0">
                <a:solidFill>
                  <a:srgbClr val="13123D"/>
                </a:solidFill>
                <a:latin typeface="Arial" pitchFamily="34" charset="0"/>
                <a:ea typeface="Arial" pitchFamily="34" charset="-122"/>
                <a:cs typeface="Arial" pitchFamily="34" charset="-120"/>
              </a:rPr>
              <a:t>3</a:t>
            </a:r>
            <a:endParaRPr lang="en-US" sz="3200" dirty="0"/>
          </a:p>
        </p:txBody>
      </p:sp>
      <p:sp>
        <p:nvSpPr>
          <p:cNvPr id="17" name="Text 12"/>
          <p:cNvSpPr txBox="1"/>
          <p:nvPr/>
        </p:nvSpPr>
        <p:spPr>
          <a:xfrm>
            <a:off x="9692640" y="5760720"/>
            <a:ext cx="3474720" cy="73152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B mengamati</a:t>
            </a:r>
            <a:endParaRPr lang="en-US" sz="2600" dirty="0"/>
          </a:p>
        </p:txBody>
      </p:sp>
      <p:sp>
        <p:nvSpPr>
          <p:cNvPr id="18" name="Text 13"/>
          <p:cNvSpPr txBox="1"/>
          <p:nvPr/>
        </p:nvSpPr>
        <p:spPr>
          <a:xfrm>
            <a:off x="9692640" y="6492240"/>
            <a:ext cx="3474720" cy="1371600"/>
          </a:xfrm>
          <a:prstGeom prst="rect">
            <a:avLst/>
          </a:prstGeom>
          <a:noFill/>
          <a:ln/>
        </p:spPr>
        <p:txBody>
          <a:bodyPr wrap="square" lIns="0" tIns="0" rIns="0" bIns="0" rtlCol="0" anchor="t"/>
          <a:lstStyle/>
          <a:p>
            <a:pPr indent="0" marL="0">
              <a:buNone/>
            </a:pPr>
            <a:r>
              <a:rPr lang="en-US" sz="2100" dirty="0">
                <a:solidFill>
                  <a:srgbClr val="5A5F86"/>
                </a:solidFill>
                <a:latin typeface="Calibri" pitchFamily="34" charset="0"/>
                <a:ea typeface="Calibri" pitchFamily="34" charset="-122"/>
                <a:cs typeface="Calibri" pitchFamily="34" charset="-120"/>
              </a:rPr>
              <a:t>Isi lembar observasi (slide berikutnya).</a:t>
            </a:r>
            <a:endParaRPr lang="en-US" sz="2100" dirty="0"/>
          </a:p>
        </p:txBody>
      </p:sp>
      <p:sp>
        <p:nvSpPr>
          <p:cNvPr id="19" name="Shape 14"/>
          <p:cNvSpPr/>
          <p:nvPr/>
        </p:nvSpPr>
        <p:spPr>
          <a:xfrm>
            <a:off x="13670280" y="4343400"/>
            <a:ext cx="3977640" cy="3611880"/>
          </a:xfrm>
          <a:prstGeom prst="roundRect">
            <a:avLst>
              <a:gd name="adj" fmla="val 3797"/>
            </a:avLst>
          </a:prstGeom>
          <a:solidFill>
            <a:srgbClr val="EEF1FC"/>
          </a:solidFill>
          <a:ln w="12700">
            <a:solidFill>
              <a:srgbClr val="D3DAF5"/>
            </a:solidFill>
            <a:prstDash val="solid"/>
          </a:ln>
        </p:spPr>
      </p:sp>
      <p:sp>
        <p:nvSpPr>
          <p:cNvPr id="20" name="Text 15"/>
          <p:cNvSpPr txBox="1"/>
          <p:nvPr/>
        </p:nvSpPr>
        <p:spPr>
          <a:xfrm>
            <a:off x="13944600" y="4572000"/>
            <a:ext cx="914400" cy="914400"/>
          </a:xfrm>
          <a:prstGeom prst="ellipse">
            <a:avLst/>
          </a:prstGeom>
          <a:solidFill>
            <a:srgbClr val="FCDF59"/>
          </a:solidFill>
          <a:ln>
            <a:solidFill>
              <a:srgbClr val="FCDF59"/>
            </a:solidFill>
          </a:ln>
        </p:spPr>
        <p:txBody>
          <a:bodyPr wrap="square" lIns="0" tIns="0" rIns="0" bIns="0" rtlCol="0" anchor="ctr"/>
          <a:lstStyle/>
          <a:p>
            <a:pPr algn="ctr" indent="0" marL="0">
              <a:buNone/>
            </a:pPr>
            <a:r>
              <a:rPr lang="en-US" sz="3200" b="1" dirty="0">
                <a:solidFill>
                  <a:srgbClr val="13123D"/>
                </a:solidFill>
                <a:latin typeface="Arial" pitchFamily="34" charset="0"/>
                <a:ea typeface="Arial" pitchFamily="34" charset="-122"/>
                <a:cs typeface="Arial" pitchFamily="34" charset="-120"/>
              </a:rPr>
              <a:t>4</a:t>
            </a:r>
            <a:endParaRPr lang="en-US" sz="3200" dirty="0"/>
          </a:p>
        </p:txBody>
      </p:sp>
      <p:sp>
        <p:nvSpPr>
          <p:cNvPr id="21" name="Text 16"/>
          <p:cNvSpPr txBox="1"/>
          <p:nvPr/>
        </p:nvSpPr>
        <p:spPr>
          <a:xfrm>
            <a:off x="13944600" y="5760720"/>
            <a:ext cx="3474720" cy="731520"/>
          </a:xfrm>
          <a:prstGeom prst="rect">
            <a:avLst/>
          </a:prstGeom>
          <a:noFill/>
          <a:ln/>
        </p:spPr>
        <p:txBody>
          <a:bodyPr wrap="square" lIns="0" tIns="0" rIns="0" bIns="0" rtlCol="0" anchor="t"/>
          <a:lstStyle/>
          <a:p>
            <a:pPr indent="0" marL="0">
              <a:buNone/>
            </a:pPr>
            <a:r>
              <a:rPr lang="en-US" sz="2600" b="1" dirty="0">
                <a:solidFill>
                  <a:srgbClr val="162CA2"/>
                </a:solidFill>
                <a:latin typeface="Calibri" pitchFamily="34" charset="0"/>
                <a:ea typeface="Calibri" pitchFamily="34" charset="-122"/>
                <a:cs typeface="Calibri" pitchFamily="34" charset="-120"/>
              </a:rPr>
              <a:t>Tukar dan beri masukan</a:t>
            </a:r>
            <a:endParaRPr lang="en-US" sz="2600" dirty="0"/>
          </a:p>
        </p:txBody>
      </p:sp>
      <p:sp>
        <p:nvSpPr>
          <p:cNvPr id="22" name="Text 17"/>
          <p:cNvSpPr txBox="1"/>
          <p:nvPr/>
        </p:nvSpPr>
        <p:spPr>
          <a:xfrm>
            <a:off x="13944600" y="6492240"/>
            <a:ext cx="3474720" cy="1371600"/>
          </a:xfrm>
          <a:prstGeom prst="rect">
            <a:avLst/>
          </a:prstGeom>
          <a:noFill/>
          <a:ln/>
        </p:spPr>
        <p:txBody>
          <a:bodyPr wrap="square" lIns="0" tIns="0" rIns="0" bIns="0" rtlCol="0" anchor="t"/>
          <a:lstStyle/>
          <a:p>
            <a:pPr indent="0" marL="0">
              <a:buNone/>
            </a:pPr>
            <a:r>
              <a:rPr lang="en-US" sz="2100" dirty="0">
                <a:solidFill>
                  <a:srgbClr val="5A5F86"/>
                </a:solidFill>
                <a:latin typeface="Calibri" pitchFamily="34" charset="0"/>
                <a:ea typeface="Calibri" pitchFamily="34" charset="-122"/>
                <a:cs typeface="Calibri" pitchFamily="34" charset="-120"/>
              </a:rPr>
              <a:t>Satu hal baik, satu hal yang dapat ditingkatkan.</a:t>
            </a:r>
            <a:endParaRPr lang="en-US" sz="2100" dirty="0"/>
          </a:p>
        </p:txBody>
      </p:sp>
      <p:sp>
        <p:nvSpPr>
          <p:cNvPr id="23" name="Shape 18"/>
          <p:cNvSpPr/>
          <p:nvPr/>
        </p:nvSpPr>
        <p:spPr>
          <a:xfrm>
            <a:off x="914400" y="8183880"/>
            <a:ext cx="16459200" cy="1325880"/>
          </a:xfrm>
          <a:prstGeom prst="roundRect">
            <a:avLst>
              <a:gd name="adj" fmla="val 10345"/>
            </a:avLst>
          </a:prstGeom>
          <a:solidFill>
            <a:srgbClr val="162CA2"/>
          </a:solidFill>
          <a:ln w="12700">
            <a:solidFill>
              <a:srgbClr val="162CA2"/>
            </a:solidFill>
            <a:prstDash val="solid"/>
          </a:ln>
        </p:spPr>
      </p:sp>
      <p:sp>
        <p:nvSpPr>
          <p:cNvPr id="24" name="Text 19"/>
          <p:cNvSpPr txBox="1"/>
          <p:nvPr/>
        </p:nvSpPr>
        <p:spPr>
          <a:xfrm>
            <a:off x="1188720" y="8183880"/>
            <a:ext cx="15910560" cy="1325880"/>
          </a:xfrm>
          <a:prstGeom prst="rect">
            <a:avLst/>
          </a:prstGeom>
          <a:noFill/>
          <a:ln/>
        </p:spPr>
        <p:txBody>
          <a:bodyPr wrap="square" lIns="0" tIns="0" rIns="0" bIns="0" rtlCol="0" anchor="ctr"/>
          <a:lstStyle/>
          <a:p>
            <a:pPr algn="ctr" indent="0" marL="0">
              <a:buNone/>
            </a:pPr>
            <a:r>
              <a:rPr lang="en-US" sz="2800" b="1" dirty="0">
                <a:solidFill>
                  <a:srgbClr val="FCDF59"/>
                </a:solidFill>
                <a:latin typeface="Calibri" pitchFamily="34" charset="0"/>
                <a:ea typeface="Calibri" pitchFamily="34" charset="-122"/>
                <a:cs typeface="Calibri" pitchFamily="34" charset="-120"/>
              </a:rPr>
              <a:t>Refleksi: </a:t>
            </a:r>
            <a:pPr algn="ctr" indent="0" marL="0">
              <a:buNone/>
            </a:pPr>
            <a:r>
              <a:rPr lang="en-US" sz="2800" dirty="0">
                <a:solidFill>
                  <a:srgbClr val="FDFBFB"/>
                </a:solidFill>
                <a:latin typeface="Calibri" pitchFamily="34" charset="0"/>
                <a:ea typeface="Calibri" pitchFamily="34" charset="-122"/>
                <a:cs typeface="Calibri" pitchFamily="34" charset="-120"/>
              </a:rPr>
              <a:t>isyarat apa yang paling membantu, dan mana yang mengganggu?</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SOFT SKILL · 35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Lembar Observasi</a:t>
            </a:r>
            <a:endParaRPr lang="en-US" sz="4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914400" y="4343400"/>
          <a:ext cx="16459200" cy="914400"/>
        </p:xfrm>
        <a:graphic>
          <a:graphicData uri="http://schemas.openxmlformats.org/drawingml/2006/table">
            <a:tbl>
              <a:tblPr/>
              <a:tblGrid>
                <a:gridCol w="3840480"/>
                <a:gridCol w="7589520"/>
                <a:gridCol w="5029200"/>
              </a:tblGrid>
              <a:tr h="685800">
                <a:tc>
                  <a:txBody>
                    <a:bodyPr/>
                    <a:lstStyle/>
                    <a:p>
                      <a:pPr indent="0" marL="0">
                        <a:buNone/>
                      </a:pPr>
                      <a:r>
                        <a:rPr lang="en-US" sz="2300" b="1" dirty="0">
                          <a:solidFill>
                            <a:srgbClr val="FDFBFB"/>
                          </a:solidFill>
                          <a:latin typeface="Calibri" pitchFamily="34" charset="0"/>
                          <a:ea typeface="Calibri" pitchFamily="34" charset="-122"/>
                          <a:cs typeface="Calibri" pitchFamily="34" charset="-120"/>
                        </a:rPr>
                        <a:t>Aspek</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c>
                  <a:txBody>
                    <a:bodyPr/>
                    <a:lstStyle/>
                    <a:p>
                      <a:pPr indent="0" marL="0">
                        <a:buNone/>
                      </a:pPr>
                      <a:r>
                        <a:rPr lang="en-US" sz="2300" b="1" dirty="0">
                          <a:solidFill>
                            <a:srgbClr val="FDFBFB"/>
                          </a:solidFill>
                          <a:latin typeface="Calibri" pitchFamily="34" charset="0"/>
                          <a:ea typeface="Calibri" pitchFamily="34" charset="-122"/>
                          <a:cs typeface="Calibri" pitchFamily="34" charset="-120"/>
                        </a:rPr>
                        <a:t>Yang diamati</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c>
                  <a:txBody>
                    <a:bodyPr/>
                    <a:lstStyle/>
                    <a:p>
                      <a:pPr indent="0" marL="0">
                        <a:buNone/>
                      </a:pPr>
                      <a:r>
                        <a:rPr lang="en-US" sz="2300" b="1" dirty="0">
                          <a:solidFill>
                            <a:srgbClr val="FDFBFB"/>
                          </a:solidFill>
                          <a:latin typeface="Calibri" pitchFamily="34" charset="0"/>
                          <a:ea typeface="Calibri" pitchFamily="34" charset="-122"/>
                          <a:cs typeface="Calibri" pitchFamily="34" charset="-120"/>
                        </a:rPr>
                        <a:t>Catatan</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162CA2"/>
                    </a:solidFill>
                  </a:tcPr>
                </a:tc>
              </a:tr>
              <a:tr h="685800">
                <a:tc>
                  <a:txBody>
                    <a:bodyPr/>
                    <a:lstStyle/>
                    <a:p>
                      <a:pPr indent="0" marL="0">
                        <a:buNone/>
                      </a:pPr>
                      <a:r>
                        <a:rPr lang="en-US" sz="2300" b="1" dirty="0">
                          <a:solidFill>
                            <a:srgbClr val="13123D"/>
                          </a:solidFill>
                          <a:latin typeface="Calibri" pitchFamily="34" charset="0"/>
                          <a:ea typeface="Calibri" pitchFamily="34" charset="-122"/>
                          <a:cs typeface="Calibri" pitchFamily="34" charset="-120"/>
                        </a:rPr>
                        <a:t>Kejelasan</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300" dirty="0">
                          <a:solidFill>
                            <a:srgbClr val="13123D"/>
                          </a:solidFill>
                          <a:latin typeface="Calibri" pitchFamily="34" charset="0"/>
                          <a:ea typeface="Calibri" pitchFamily="34" charset="-122"/>
                          <a:cs typeface="Calibri" pitchFamily="34" charset="-120"/>
                        </a:rPr>
                        <a:t>Kata sederhana, satu ide per kalimat</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685800">
                <a:tc>
                  <a:txBody>
                    <a:bodyPr/>
                    <a:lstStyle/>
                    <a:p>
                      <a:pPr indent="0" marL="0">
                        <a:buNone/>
                      </a:pPr>
                      <a:r>
                        <a:rPr lang="en-US" sz="2300" b="1" dirty="0">
                          <a:solidFill>
                            <a:srgbClr val="13123D"/>
                          </a:solidFill>
                          <a:latin typeface="Calibri" pitchFamily="34" charset="0"/>
                          <a:ea typeface="Calibri" pitchFamily="34" charset="-122"/>
                          <a:cs typeface="Calibri" pitchFamily="34" charset="-120"/>
                        </a:rPr>
                        <a:t>Struktur</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300" dirty="0">
                          <a:solidFill>
                            <a:srgbClr val="13123D"/>
                          </a:solidFill>
                          <a:latin typeface="Calibri" pitchFamily="34" charset="0"/>
                          <a:ea typeface="Calibri" pitchFamily="34" charset="-122"/>
                          <a:cs typeface="Calibri" pitchFamily="34" charset="-120"/>
                        </a:rPr>
                        <a:t>Poin utama disampaikan lebih dulu</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685800">
                <a:tc>
                  <a:txBody>
                    <a:bodyPr/>
                    <a:lstStyle/>
                    <a:p>
                      <a:pPr indent="0" marL="0">
                        <a:buNone/>
                      </a:pPr>
                      <a:r>
                        <a:rPr lang="en-US" sz="2300" b="1" dirty="0">
                          <a:solidFill>
                            <a:srgbClr val="13123D"/>
                          </a:solidFill>
                          <a:latin typeface="Calibri" pitchFamily="34" charset="0"/>
                          <a:ea typeface="Calibri" pitchFamily="34" charset="-122"/>
                          <a:cs typeface="Calibri" pitchFamily="34" charset="-120"/>
                        </a:rPr>
                        <a:t>Tempo &amp; jeda</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300" dirty="0">
                          <a:solidFill>
                            <a:srgbClr val="13123D"/>
                          </a:solidFill>
                          <a:latin typeface="Calibri" pitchFamily="34" charset="0"/>
                          <a:ea typeface="Calibri" pitchFamily="34" charset="-122"/>
                          <a:cs typeface="Calibri" pitchFamily="34" charset="-120"/>
                        </a:rPr>
                        <a:t>Tidak terlalu cepat, ada jeda</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685800">
                <a:tc>
                  <a:txBody>
                    <a:bodyPr/>
                    <a:lstStyle/>
                    <a:p>
                      <a:pPr indent="0" marL="0">
                        <a:buNone/>
                      </a:pPr>
                      <a:r>
                        <a:rPr lang="en-US" sz="2300" b="1" dirty="0">
                          <a:solidFill>
                            <a:srgbClr val="13123D"/>
                          </a:solidFill>
                          <a:latin typeface="Calibri" pitchFamily="34" charset="0"/>
                          <a:ea typeface="Calibri" pitchFamily="34" charset="-122"/>
                          <a:cs typeface="Calibri" pitchFamily="34" charset="-120"/>
                        </a:rPr>
                        <a:t>Kontak mata</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300" dirty="0">
                          <a:solidFill>
                            <a:srgbClr val="13123D"/>
                          </a:solidFill>
                          <a:latin typeface="Calibri" pitchFamily="34" charset="0"/>
                          <a:ea typeface="Calibri" pitchFamily="34" charset="-122"/>
                          <a:cs typeface="Calibri" pitchFamily="34" charset="-120"/>
                        </a:rPr>
                        <a:t>Menatap lawan bicara</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r h="685800">
                <a:tc>
                  <a:txBody>
                    <a:bodyPr/>
                    <a:lstStyle/>
                    <a:p>
                      <a:pPr indent="0" marL="0">
                        <a:buNone/>
                      </a:pPr>
                      <a:r>
                        <a:rPr lang="en-US" sz="2300" b="1" dirty="0">
                          <a:solidFill>
                            <a:srgbClr val="13123D"/>
                          </a:solidFill>
                          <a:latin typeface="Calibri" pitchFamily="34" charset="0"/>
                          <a:ea typeface="Calibri" pitchFamily="34" charset="-122"/>
                          <a:cs typeface="Calibri" pitchFamily="34" charset="-120"/>
                        </a:rPr>
                        <a:t>Postur &amp; gestur</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r>
                        <a:rPr lang="en-US" sz="2300" dirty="0">
                          <a:solidFill>
                            <a:srgbClr val="13123D"/>
                          </a:solidFill>
                          <a:latin typeface="Calibri" pitchFamily="34" charset="0"/>
                          <a:ea typeface="Calibri" pitchFamily="34" charset="-122"/>
                          <a:cs typeface="Calibri" pitchFamily="34" charset="-120"/>
                        </a:rPr>
                        <a:t>Terbuka, gerakan tangan wajar</a:t>
                      </a: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c>
                  <a:txBody>
                    <a:bodyPr/>
                    <a:lstStyle/>
                    <a:p>
                      <a:pPr indent="0" marL="0">
                        <a:buNone/>
                      </a:pPr>
                      <a:endParaRPr lang="en-US" sz="2300" dirty="0">
                        <a:latin typeface="Calibri" charset="0"/>
                        <a:ea typeface="Calibri" charset="0"/>
                        <a:cs typeface="Calibri" charset="0"/>
                      </a:endParaRPr>
                    </a:p>
                  </a:txBody>
                  <a:tcPr marL="182880" marR="182880" marT="0" marB="0" anchor="ctr">
                    <a:lnL w="12700" cap="flat" cmpd="sng" algn="ctr">
                      <a:solidFill>
                        <a:srgbClr val="D3DAF5"/>
                      </a:solidFill>
                      <a:prstDash val="solid"/>
                      <a:round/>
                      <a:headEnd type="none" w="med" len="med"/>
                      <a:tailEnd type="none" w="med" len="med"/>
                    </a:lnL>
                    <a:lnR w="12700" cap="flat" cmpd="sng" algn="ctr">
                      <a:solidFill>
                        <a:srgbClr val="D3DAF5"/>
                      </a:solidFill>
                      <a:prstDash val="solid"/>
                      <a:round/>
                      <a:headEnd type="none" w="med" len="med"/>
                      <a:tailEnd type="none" w="med" len="med"/>
                    </a:lnR>
                    <a:lnT w="12700" cap="flat" cmpd="sng" algn="ctr">
                      <a:solidFill>
                        <a:srgbClr val="D3DAF5"/>
                      </a:solidFill>
                      <a:prstDash val="solid"/>
                      <a:round/>
                      <a:headEnd type="none" w="med" len="med"/>
                      <a:tailEnd type="none" w="med" len="med"/>
                    </a:lnT>
                    <a:lnB w="12700" cap="flat" cmpd="sng" algn="ctr">
                      <a:solidFill>
                        <a:srgbClr val="D3DAF5"/>
                      </a:solidFill>
                      <a:prstDash val="solid"/>
                      <a:round/>
                      <a:headEnd type="none" w="med" len="med"/>
                      <a:tailEnd type="none" w="med" len="med"/>
                    </a:lnB>
                    <a:solidFill>
                      <a:srgbClr val="FFFFFF"/>
                    </a:solidFill>
                  </a:tcPr>
                </a:tc>
              </a:tr>
            </a:tbl>
          </a:graphicData>
        </a:graphic>
      </p:graphicFrame>
      <p:sp>
        <p:nvSpPr>
          <p:cNvPr id="8" name="Shape 2"/>
          <p:cNvSpPr/>
          <p:nvPr/>
        </p:nvSpPr>
        <p:spPr>
          <a:xfrm>
            <a:off x="914400" y="8686800"/>
            <a:ext cx="16459200" cy="868680"/>
          </a:xfrm>
          <a:prstGeom prst="roundRect">
            <a:avLst>
              <a:gd name="adj" fmla="val 15789"/>
            </a:avLst>
          </a:prstGeom>
          <a:solidFill>
            <a:srgbClr val="FFF3BF"/>
          </a:solidFill>
          <a:ln w="12700">
            <a:solidFill>
              <a:srgbClr val="FFF3BF"/>
            </a:solidFill>
            <a:prstDash val="solid"/>
          </a:ln>
        </p:spPr>
      </p:sp>
      <p:sp>
        <p:nvSpPr>
          <p:cNvPr id="9" name="Text 3"/>
          <p:cNvSpPr txBox="1"/>
          <p:nvPr/>
        </p:nvSpPr>
        <p:spPr>
          <a:xfrm>
            <a:off x="1188720" y="8686800"/>
            <a:ext cx="15910560" cy="868680"/>
          </a:xfrm>
          <a:prstGeom prst="rect">
            <a:avLst/>
          </a:prstGeom>
          <a:noFill/>
          <a:ln/>
        </p:spPr>
        <p:txBody>
          <a:bodyPr wrap="square" lIns="0" tIns="0" rIns="0" bIns="0" rtlCol="0" anchor="ctr"/>
          <a:lstStyle/>
          <a:p>
            <a:pPr indent="0" marL="0">
              <a:buNone/>
            </a:pPr>
            <a:r>
              <a:rPr lang="en-US" sz="2400" b="1" dirty="0">
                <a:solidFill>
                  <a:srgbClr val="13123D"/>
                </a:solidFill>
                <a:latin typeface="Calibri" pitchFamily="34" charset="0"/>
                <a:ea typeface="Calibri" pitchFamily="34" charset="-122"/>
                <a:cs typeface="Calibri" pitchFamily="34" charset="-120"/>
              </a:rPr>
              <a:t>Beri masukan: </a:t>
            </a:r>
            <a:endParaRPr lang="en-US" sz="2400" dirty="0"/>
          </a:p>
          <a:p>
            <a:pPr indent="0" marL="0">
              <a:buNone/>
            </a:pPr>
            <a:r>
              <a:rPr lang="en-US" sz="2200" dirty="0">
                <a:solidFill>
                  <a:srgbClr val="13123D"/>
                </a:solidFill>
                <a:latin typeface="Calibri" pitchFamily="34" charset="0"/>
                <a:ea typeface="Calibri" pitchFamily="34" charset="-122"/>
                <a:cs typeface="Calibri" pitchFamily="34" charset="-120"/>
              </a:rPr>
              <a:t>satu hal yang sudah baik dan satu hal yang dapat ditingkatkan.</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home/claude/assets/image6.png">    </p:cNvPr>
          <p:cNvPicPr>
            <a:picLocks noChangeAspect="1"/>
          </p:cNvPicPr>
          <p:nvPr/>
        </p:nvPicPr>
        <p:blipFill>
          <a:blip r:embed="rId1"/>
          <a:stretch>
            <a:fillRect/>
          </a:stretch>
        </p:blipFill>
        <p:spPr>
          <a:xfrm>
            <a:off x="0" y="0"/>
            <a:ext cx="18288000" cy="10287000"/>
          </a:xfrm>
          <a:prstGeom prst="rect">
            <a:avLst/>
          </a:prstGeom>
        </p:spPr>
      </p:pic>
      <p:pic>
        <p:nvPicPr>
          <p:cNvPr id="3" name="Image 1" descr="/home/claude/assets/image8.png">    </p:cNvPr>
          <p:cNvPicPr>
            <a:picLocks noChangeAspect="1"/>
          </p:cNvPicPr>
          <p:nvPr/>
        </p:nvPicPr>
        <p:blipFill>
          <a:blip r:embed="rId2"/>
          <a:stretch>
            <a:fillRect/>
          </a:stretch>
        </p:blipFill>
        <p:spPr>
          <a:xfrm>
            <a:off x="704088" y="173736"/>
            <a:ext cx="2587752" cy="1088136"/>
          </a:xfrm>
          <a:prstGeom prst="rect">
            <a:avLst/>
          </a:prstGeom>
        </p:spPr>
      </p:pic>
      <p:sp>
        <p:nvSpPr>
          <p:cNvPr id="4" name="Text 0"/>
          <p:cNvSpPr txBox="1"/>
          <p:nvPr/>
        </p:nvSpPr>
        <p:spPr>
          <a:xfrm>
            <a:off x="1600200" y="1371600"/>
            <a:ext cx="12801600" cy="365760"/>
          </a:xfrm>
          <a:prstGeom prst="rect">
            <a:avLst/>
          </a:prstGeom>
          <a:noFill/>
          <a:ln/>
        </p:spPr>
        <p:txBody>
          <a:bodyPr wrap="square" lIns="0" tIns="0" rIns="0" bIns="0" rtlCol="0" anchor="t"/>
          <a:lstStyle/>
          <a:p>
            <a:pPr indent="0" marL="0">
              <a:buNone/>
            </a:pPr>
            <a:r>
              <a:rPr lang="en-US" sz="2000" b="1" spc="300" kern="0" dirty="0">
                <a:solidFill>
                  <a:srgbClr val="FCDF59"/>
                </a:solidFill>
                <a:latin typeface="Arial" pitchFamily="34" charset="0"/>
                <a:ea typeface="Arial" pitchFamily="34" charset="-122"/>
                <a:cs typeface="Arial" pitchFamily="34" charset="-120"/>
              </a:rPr>
              <a:t>PENUTUP · 5 MENIT</a:t>
            </a:r>
            <a:endParaRPr lang="en-US" sz="2000" dirty="0"/>
          </a:p>
        </p:txBody>
      </p:sp>
      <p:sp>
        <p:nvSpPr>
          <p:cNvPr id="5" name="Text 1"/>
          <p:cNvSpPr txBox="1"/>
          <p:nvPr/>
        </p:nvSpPr>
        <p:spPr>
          <a:xfrm>
            <a:off x="1600200" y="1783080"/>
            <a:ext cx="14173200" cy="1371600"/>
          </a:xfrm>
          <a:prstGeom prst="rect">
            <a:avLst/>
          </a:prstGeom>
          <a:noFill/>
          <a:ln/>
        </p:spPr>
        <p:txBody>
          <a:bodyPr wrap="square" lIns="0" tIns="0" rIns="0" bIns="0" rtlCol="0" anchor="t"/>
          <a:lstStyle/>
          <a:p>
            <a:pPr indent="0" marL="0">
              <a:buNone/>
            </a:pPr>
            <a:r>
              <a:rPr lang="en-US" sz="4800" b="1" dirty="0">
                <a:solidFill>
                  <a:srgbClr val="FDFBFB"/>
                </a:solidFill>
                <a:latin typeface="Arial" pitchFamily="34" charset="0"/>
                <a:ea typeface="Arial" pitchFamily="34" charset="-122"/>
                <a:cs typeface="Arial" pitchFamily="34" charset="-120"/>
              </a:rPr>
              <a:t>Rangkuman Sesi 3</a:t>
            </a:r>
            <a:endParaRPr lang="en-US" sz="4800" dirty="0"/>
          </a:p>
        </p:txBody>
      </p:sp>
      <p:sp>
        <p:nvSpPr>
          <p:cNvPr id="7" name="Shape 2"/>
          <p:cNvSpPr/>
          <p:nvPr/>
        </p:nvSpPr>
        <p:spPr>
          <a:xfrm>
            <a:off x="914400" y="4343400"/>
            <a:ext cx="3977640" cy="2331720"/>
          </a:xfrm>
          <a:prstGeom prst="roundRect">
            <a:avLst>
              <a:gd name="adj" fmla="val 5882"/>
            </a:avLst>
          </a:prstGeom>
          <a:solidFill>
            <a:srgbClr val="EEF1FC"/>
          </a:solidFill>
          <a:ln w="12700">
            <a:solidFill>
              <a:srgbClr val="D3DAF5"/>
            </a:solidFill>
            <a:prstDash val="solid"/>
          </a:ln>
        </p:spPr>
      </p:sp>
      <p:sp>
        <p:nvSpPr>
          <p:cNvPr id="8" name="Text 3"/>
          <p:cNvSpPr txBox="1"/>
          <p:nvPr/>
        </p:nvSpPr>
        <p:spPr>
          <a:xfrm>
            <a:off x="1188720" y="4572000"/>
            <a:ext cx="731520" cy="731520"/>
          </a:xfrm>
          <a:prstGeom prst="ellipse">
            <a:avLst/>
          </a:prstGeom>
          <a:solidFill>
            <a:srgbClr val="162CA2"/>
          </a:solidFill>
          <a:ln>
            <a:solidFill>
              <a:srgbClr val="162CA2"/>
            </a:solidFill>
          </a:ln>
        </p:spPr>
        <p:txBody>
          <a:bodyPr wrap="square" lIns="0" tIns="0" rIns="0" bIns="0" rtlCol="0" anchor="ctr"/>
          <a:lstStyle/>
          <a:p>
            <a:pPr algn="ctr" indent="0" marL="0">
              <a:buNone/>
            </a:pPr>
            <a:r>
              <a:rPr lang="en-US" sz="2600" b="1" dirty="0">
                <a:solidFill>
                  <a:srgbClr val="FDFBFB"/>
                </a:solidFill>
                <a:latin typeface="Arial" pitchFamily="34" charset="0"/>
                <a:ea typeface="Arial" pitchFamily="34" charset="-122"/>
                <a:cs typeface="Arial" pitchFamily="34" charset="-120"/>
              </a:rPr>
              <a:t>1</a:t>
            </a:r>
            <a:endParaRPr lang="en-US" sz="2600" dirty="0"/>
          </a:p>
        </p:txBody>
      </p:sp>
      <p:sp>
        <p:nvSpPr>
          <p:cNvPr id="9" name="Text 4"/>
          <p:cNvSpPr txBox="1"/>
          <p:nvPr/>
        </p:nvSpPr>
        <p:spPr>
          <a:xfrm>
            <a:off x="1188720" y="5440680"/>
            <a:ext cx="3474720" cy="50292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if-else</a:t>
            </a:r>
            <a:endParaRPr lang="en-US" sz="2400" dirty="0"/>
          </a:p>
        </p:txBody>
      </p:sp>
      <p:sp>
        <p:nvSpPr>
          <p:cNvPr id="10" name="Text 5"/>
          <p:cNvSpPr txBox="1"/>
          <p:nvPr/>
        </p:nvSpPr>
        <p:spPr>
          <a:xfrm>
            <a:off x="1188720" y="5943600"/>
            <a:ext cx="3474720" cy="640080"/>
          </a:xfrm>
          <a:prstGeom prst="rect">
            <a:avLst/>
          </a:prstGeom>
          <a:noFill/>
          <a:ln/>
        </p:spPr>
        <p:txBody>
          <a:bodyPr wrap="square" lIns="0" tIns="0" rIns="0" bIns="0" rtlCol="0" anchor="t"/>
          <a:lstStyle/>
          <a:p>
            <a:pPr indent="0" marL="0">
              <a:buNone/>
            </a:pPr>
            <a:r>
              <a:rPr lang="en-US" sz="1900" dirty="0">
                <a:solidFill>
                  <a:srgbClr val="5A5F86"/>
                </a:solidFill>
                <a:latin typeface="Calibri" pitchFamily="34" charset="0"/>
                <a:ea typeface="Calibri" pitchFamily="34" charset="-122"/>
                <a:cs typeface="Calibri" pitchFamily="34" charset="-120"/>
              </a:rPr>
              <a:t>Tanpa kurung, kurawal wajib</a:t>
            </a:r>
            <a:endParaRPr lang="en-US" sz="1900" dirty="0"/>
          </a:p>
        </p:txBody>
      </p:sp>
      <p:sp>
        <p:nvSpPr>
          <p:cNvPr id="11" name="Shape 6"/>
          <p:cNvSpPr/>
          <p:nvPr/>
        </p:nvSpPr>
        <p:spPr>
          <a:xfrm>
            <a:off x="5166360" y="4343400"/>
            <a:ext cx="3977640" cy="2331720"/>
          </a:xfrm>
          <a:prstGeom prst="roundRect">
            <a:avLst>
              <a:gd name="adj" fmla="val 5882"/>
            </a:avLst>
          </a:prstGeom>
          <a:solidFill>
            <a:srgbClr val="EEF1FC"/>
          </a:solidFill>
          <a:ln w="12700">
            <a:solidFill>
              <a:srgbClr val="D3DAF5"/>
            </a:solidFill>
            <a:prstDash val="solid"/>
          </a:ln>
        </p:spPr>
      </p:sp>
      <p:sp>
        <p:nvSpPr>
          <p:cNvPr id="12" name="Text 7"/>
          <p:cNvSpPr txBox="1"/>
          <p:nvPr/>
        </p:nvSpPr>
        <p:spPr>
          <a:xfrm>
            <a:off x="5440680" y="4572000"/>
            <a:ext cx="731520" cy="731520"/>
          </a:xfrm>
          <a:prstGeom prst="ellipse">
            <a:avLst/>
          </a:prstGeom>
          <a:solidFill>
            <a:srgbClr val="162CA2"/>
          </a:solidFill>
          <a:ln>
            <a:solidFill>
              <a:srgbClr val="162CA2"/>
            </a:solidFill>
          </a:ln>
        </p:spPr>
        <p:txBody>
          <a:bodyPr wrap="square" lIns="0" tIns="0" rIns="0" bIns="0" rtlCol="0" anchor="ctr"/>
          <a:lstStyle/>
          <a:p>
            <a:pPr algn="ctr" indent="0" marL="0">
              <a:buNone/>
            </a:pPr>
            <a:r>
              <a:rPr lang="en-US" sz="2600" b="1" dirty="0">
                <a:solidFill>
                  <a:srgbClr val="FDFBFB"/>
                </a:solidFill>
                <a:latin typeface="Arial" pitchFamily="34" charset="0"/>
                <a:ea typeface="Arial" pitchFamily="34" charset="-122"/>
                <a:cs typeface="Arial" pitchFamily="34" charset="-120"/>
              </a:rPr>
              <a:t>2</a:t>
            </a:r>
            <a:endParaRPr lang="en-US" sz="2600" dirty="0"/>
          </a:p>
        </p:txBody>
      </p:sp>
      <p:sp>
        <p:nvSpPr>
          <p:cNvPr id="13" name="Text 8"/>
          <p:cNvSpPr txBox="1"/>
          <p:nvPr/>
        </p:nvSpPr>
        <p:spPr>
          <a:xfrm>
            <a:off x="5440680" y="5440680"/>
            <a:ext cx="3474720" cy="50292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switch</a:t>
            </a:r>
            <a:endParaRPr lang="en-US" sz="2400" dirty="0"/>
          </a:p>
        </p:txBody>
      </p:sp>
      <p:sp>
        <p:nvSpPr>
          <p:cNvPr id="14" name="Text 9"/>
          <p:cNvSpPr txBox="1"/>
          <p:nvPr/>
        </p:nvSpPr>
        <p:spPr>
          <a:xfrm>
            <a:off x="5440680" y="5943600"/>
            <a:ext cx="3474720" cy="640080"/>
          </a:xfrm>
          <a:prstGeom prst="rect">
            <a:avLst/>
          </a:prstGeom>
          <a:noFill/>
          <a:ln/>
        </p:spPr>
        <p:txBody>
          <a:bodyPr wrap="square" lIns="0" tIns="0" rIns="0" bIns="0" rtlCol="0" anchor="t"/>
          <a:lstStyle/>
          <a:p>
            <a:pPr indent="0" marL="0">
              <a:buNone/>
            </a:pPr>
            <a:r>
              <a:rPr lang="en-US" sz="1900" dirty="0">
                <a:solidFill>
                  <a:srgbClr val="5A5F86"/>
                </a:solidFill>
                <a:latin typeface="Calibri" pitchFamily="34" charset="0"/>
                <a:ea typeface="Calibri" pitchFamily="34" charset="-122"/>
                <a:cs typeface="Calibri" pitchFamily="34" charset="-120"/>
              </a:rPr>
              <a:t>Tanpa break, ada varian tagless</a:t>
            </a:r>
            <a:endParaRPr lang="en-US" sz="1900" dirty="0"/>
          </a:p>
        </p:txBody>
      </p:sp>
      <p:sp>
        <p:nvSpPr>
          <p:cNvPr id="15" name="Shape 10"/>
          <p:cNvSpPr/>
          <p:nvPr/>
        </p:nvSpPr>
        <p:spPr>
          <a:xfrm>
            <a:off x="9418320" y="4343400"/>
            <a:ext cx="3977640" cy="2331720"/>
          </a:xfrm>
          <a:prstGeom prst="roundRect">
            <a:avLst>
              <a:gd name="adj" fmla="val 5882"/>
            </a:avLst>
          </a:prstGeom>
          <a:solidFill>
            <a:srgbClr val="EEF1FC"/>
          </a:solidFill>
          <a:ln w="12700">
            <a:solidFill>
              <a:srgbClr val="D3DAF5"/>
            </a:solidFill>
            <a:prstDash val="solid"/>
          </a:ln>
        </p:spPr>
      </p:sp>
      <p:sp>
        <p:nvSpPr>
          <p:cNvPr id="16" name="Text 11"/>
          <p:cNvSpPr txBox="1"/>
          <p:nvPr/>
        </p:nvSpPr>
        <p:spPr>
          <a:xfrm>
            <a:off x="9692640" y="4572000"/>
            <a:ext cx="731520" cy="731520"/>
          </a:xfrm>
          <a:prstGeom prst="ellipse">
            <a:avLst/>
          </a:prstGeom>
          <a:solidFill>
            <a:srgbClr val="162CA2"/>
          </a:solidFill>
          <a:ln>
            <a:solidFill>
              <a:srgbClr val="162CA2"/>
            </a:solidFill>
          </a:ln>
        </p:spPr>
        <p:txBody>
          <a:bodyPr wrap="square" lIns="0" tIns="0" rIns="0" bIns="0" rtlCol="0" anchor="ctr"/>
          <a:lstStyle/>
          <a:p>
            <a:pPr algn="ctr" indent="0" marL="0">
              <a:buNone/>
            </a:pPr>
            <a:r>
              <a:rPr lang="en-US" sz="2600" b="1" dirty="0">
                <a:solidFill>
                  <a:srgbClr val="FDFBFB"/>
                </a:solidFill>
                <a:latin typeface="Arial" pitchFamily="34" charset="0"/>
                <a:ea typeface="Arial" pitchFamily="34" charset="-122"/>
                <a:cs typeface="Arial" pitchFamily="34" charset="-120"/>
              </a:rPr>
              <a:t>3</a:t>
            </a:r>
            <a:endParaRPr lang="en-US" sz="2600" dirty="0"/>
          </a:p>
        </p:txBody>
      </p:sp>
      <p:sp>
        <p:nvSpPr>
          <p:cNvPr id="17" name="Text 12"/>
          <p:cNvSpPr txBox="1"/>
          <p:nvPr/>
        </p:nvSpPr>
        <p:spPr>
          <a:xfrm>
            <a:off x="9692640" y="5440680"/>
            <a:ext cx="3474720" cy="50292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for</a:t>
            </a:r>
            <a:endParaRPr lang="en-US" sz="2400" dirty="0"/>
          </a:p>
        </p:txBody>
      </p:sp>
      <p:sp>
        <p:nvSpPr>
          <p:cNvPr id="18" name="Text 13"/>
          <p:cNvSpPr txBox="1"/>
          <p:nvPr/>
        </p:nvSpPr>
        <p:spPr>
          <a:xfrm>
            <a:off x="9692640" y="5943600"/>
            <a:ext cx="3474720" cy="640080"/>
          </a:xfrm>
          <a:prstGeom prst="rect">
            <a:avLst/>
          </a:prstGeom>
          <a:noFill/>
          <a:ln/>
        </p:spPr>
        <p:txBody>
          <a:bodyPr wrap="square" lIns="0" tIns="0" rIns="0" bIns="0" rtlCol="0" anchor="t"/>
          <a:lstStyle/>
          <a:p>
            <a:pPr indent="0" marL="0">
              <a:buNone/>
            </a:pPr>
            <a:r>
              <a:rPr lang="en-US" sz="1900" dirty="0">
                <a:solidFill>
                  <a:srgbClr val="5A5F86"/>
                </a:solidFill>
                <a:latin typeface="Calibri" pitchFamily="34" charset="0"/>
                <a:ea typeface="Calibri" pitchFamily="34" charset="-122"/>
                <a:cs typeface="Calibri" pitchFamily="34" charset="-120"/>
              </a:rPr>
              <a:t>Klasik, kondisi, tak hingga</a:t>
            </a:r>
            <a:endParaRPr lang="en-US" sz="1900" dirty="0"/>
          </a:p>
        </p:txBody>
      </p:sp>
      <p:sp>
        <p:nvSpPr>
          <p:cNvPr id="19" name="Shape 14"/>
          <p:cNvSpPr/>
          <p:nvPr/>
        </p:nvSpPr>
        <p:spPr>
          <a:xfrm>
            <a:off x="13670280" y="4343400"/>
            <a:ext cx="3977640" cy="2331720"/>
          </a:xfrm>
          <a:prstGeom prst="roundRect">
            <a:avLst>
              <a:gd name="adj" fmla="val 5882"/>
            </a:avLst>
          </a:prstGeom>
          <a:solidFill>
            <a:srgbClr val="EEF1FC"/>
          </a:solidFill>
          <a:ln w="12700">
            <a:solidFill>
              <a:srgbClr val="D3DAF5"/>
            </a:solidFill>
            <a:prstDash val="solid"/>
          </a:ln>
        </p:spPr>
      </p:sp>
      <p:sp>
        <p:nvSpPr>
          <p:cNvPr id="20" name="Text 15"/>
          <p:cNvSpPr txBox="1"/>
          <p:nvPr/>
        </p:nvSpPr>
        <p:spPr>
          <a:xfrm>
            <a:off x="13944600" y="4572000"/>
            <a:ext cx="731520" cy="731520"/>
          </a:xfrm>
          <a:prstGeom prst="ellipse">
            <a:avLst/>
          </a:prstGeom>
          <a:solidFill>
            <a:srgbClr val="162CA2"/>
          </a:solidFill>
          <a:ln>
            <a:solidFill>
              <a:srgbClr val="162CA2"/>
            </a:solidFill>
          </a:ln>
        </p:spPr>
        <p:txBody>
          <a:bodyPr wrap="square" lIns="0" tIns="0" rIns="0" bIns="0" rtlCol="0" anchor="ctr"/>
          <a:lstStyle/>
          <a:p>
            <a:pPr algn="ctr" indent="0" marL="0">
              <a:buNone/>
            </a:pPr>
            <a:r>
              <a:rPr lang="en-US" sz="2600" b="1" dirty="0">
                <a:solidFill>
                  <a:srgbClr val="FDFBFB"/>
                </a:solidFill>
                <a:latin typeface="Arial" pitchFamily="34" charset="0"/>
                <a:ea typeface="Arial" pitchFamily="34" charset="-122"/>
                <a:cs typeface="Arial" pitchFamily="34" charset="-120"/>
              </a:rPr>
              <a:t>4</a:t>
            </a:r>
            <a:endParaRPr lang="en-US" sz="2600" dirty="0"/>
          </a:p>
        </p:txBody>
      </p:sp>
      <p:sp>
        <p:nvSpPr>
          <p:cNvPr id="21" name="Text 16"/>
          <p:cNvSpPr txBox="1"/>
          <p:nvPr/>
        </p:nvSpPr>
        <p:spPr>
          <a:xfrm>
            <a:off x="13944600" y="5440680"/>
            <a:ext cx="3474720" cy="50292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break &amp; continue</a:t>
            </a:r>
            <a:endParaRPr lang="en-US" sz="2400" dirty="0"/>
          </a:p>
        </p:txBody>
      </p:sp>
      <p:sp>
        <p:nvSpPr>
          <p:cNvPr id="22" name="Text 17"/>
          <p:cNvSpPr txBox="1"/>
          <p:nvPr/>
        </p:nvSpPr>
        <p:spPr>
          <a:xfrm>
            <a:off x="13944600" y="5943600"/>
            <a:ext cx="3474720" cy="640080"/>
          </a:xfrm>
          <a:prstGeom prst="rect">
            <a:avLst/>
          </a:prstGeom>
          <a:noFill/>
          <a:ln/>
        </p:spPr>
        <p:txBody>
          <a:bodyPr wrap="square" lIns="0" tIns="0" rIns="0" bIns="0" rtlCol="0" anchor="t"/>
          <a:lstStyle/>
          <a:p>
            <a:pPr indent="0" marL="0">
              <a:buNone/>
            </a:pPr>
            <a:r>
              <a:rPr lang="en-US" sz="1900" dirty="0">
                <a:solidFill>
                  <a:srgbClr val="5A5F86"/>
                </a:solidFill>
                <a:latin typeface="Calibri" pitchFamily="34" charset="0"/>
                <a:ea typeface="Calibri" pitchFamily="34" charset="-122"/>
                <a:cs typeface="Calibri" pitchFamily="34" charset="-120"/>
              </a:rPr>
              <a:t>Keluar atau lewati putaran</a:t>
            </a:r>
            <a:endParaRPr lang="en-US" sz="1900" dirty="0"/>
          </a:p>
        </p:txBody>
      </p:sp>
      <p:sp>
        <p:nvSpPr>
          <p:cNvPr id="23" name="Shape 18"/>
          <p:cNvSpPr/>
          <p:nvPr/>
        </p:nvSpPr>
        <p:spPr>
          <a:xfrm>
            <a:off x="914400" y="6812280"/>
            <a:ext cx="3977640" cy="2331720"/>
          </a:xfrm>
          <a:prstGeom prst="roundRect">
            <a:avLst>
              <a:gd name="adj" fmla="val 5882"/>
            </a:avLst>
          </a:prstGeom>
          <a:solidFill>
            <a:srgbClr val="EEF1FC"/>
          </a:solidFill>
          <a:ln w="12700">
            <a:solidFill>
              <a:srgbClr val="D3DAF5"/>
            </a:solidFill>
            <a:prstDash val="solid"/>
          </a:ln>
        </p:spPr>
      </p:sp>
      <p:sp>
        <p:nvSpPr>
          <p:cNvPr id="24" name="Text 19"/>
          <p:cNvSpPr txBox="1"/>
          <p:nvPr/>
        </p:nvSpPr>
        <p:spPr>
          <a:xfrm>
            <a:off x="1188720" y="7040880"/>
            <a:ext cx="731520" cy="731520"/>
          </a:xfrm>
          <a:prstGeom prst="ellipse">
            <a:avLst/>
          </a:prstGeom>
          <a:solidFill>
            <a:srgbClr val="162CA2"/>
          </a:solidFill>
          <a:ln>
            <a:solidFill>
              <a:srgbClr val="162CA2"/>
            </a:solidFill>
          </a:ln>
        </p:spPr>
        <p:txBody>
          <a:bodyPr wrap="square" lIns="0" tIns="0" rIns="0" bIns="0" rtlCol="0" anchor="ctr"/>
          <a:lstStyle/>
          <a:p>
            <a:pPr algn="ctr" indent="0" marL="0">
              <a:buNone/>
            </a:pPr>
            <a:r>
              <a:rPr lang="en-US" sz="2600" b="1" dirty="0">
                <a:solidFill>
                  <a:srgbClr val="FDFBFB"/>
                </a:solidFill>
                <a:latin typeface="Arial" pitchFamily="34" charset="0"/>
                <a:ea typeface="Arial" pitchFamily="34" charset="-122"/>
                <a:cs typeface="Arial" pitchFamily="34" charset="-120"/>
              </a:rPr>
              <a:t>5</a:t>
            </a:r>
            <a:endParaRPr lang="en-US" sz="2600" dirty="0"/>
          </a:p>
        </p:txBody>
      </p:sp>
      <p:sp>
        <p:nvSpPr>
          <p:cNvPr id="25" name="Text 20"/>
          <p:cNvSpPr txBox="1"/>
          <p:nvPr/>
        </p:nvSpPr>
        <p:spPr>
          <a:xfrm>
            <a:off x="1188720" y="7909560"/>
            <a:ext cx="3474720" cy="50292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Array &amp; slice</a:t>
            </a:r>
            <a:endParaRPr lang="en-US" sz="2400" dirty="0"/>
          </a:p>
        </p:txBody>
      </p:sp>
      <p:sp>
        <p:nvSpPr>
          <p:cNvPr id="26" name="Text 21"/>
          <p:cNvSpPr txBox="1"/>
          <p:nvPr/>
        </p:nvSpPr>
        <p:spPr>
          <a:xfrm>
            <a:off x="1188720" y="8412480"/>
            <a:ext cx="3474720" cy="640080"/>
          </a:xfrm>
          <a:prstGeom prst="rect">
            <a:avLst/>
          </a:prstGeom>
          <a:noFill/>
          <a:ln/>
        </p:spPr>
        <p:txBody>
          <a:bodyPr wrap="square" lIns="0" tIns="0" rIns="0" bIns="0" rtlCol="0" anchor="t"/>
          <a:lstStyle/>
          <a:p>
            <a:pPr indent="0" marL="0">
              <a:buNone/>
            </a:pPr>
            <a:r>
              <a:rPr lang="en-US" sz="1900" dirty="0">
                <a:solidFill>
                  <a:srgbClr val="5A5F86"/>
                </a:solidFill>
                <a:latin typeface="Calibri" pitchFamily="34" charset="0"/>
                <a:ea typeface="Calibri" pitchFamily="34" charset="-122"/>
                <a:cs typeface="Calibri" pitchFamily="34" charset="-120"/>
              </a:rPr>
              <a:t>Tetap vs dinamis, append</a:t>
            </a:r>
            <a:endParaRPr lang="en-US" sz="1900" dirty="0"/>
          </a:p>
        </p:txBody>
      </p:sp>
      <p:sp>
        <p:nvSpPr>
          <p:cNvPr id="27" name="Shape 22"/>
          <p:cNvSpPr/>
          <p:nvPr/>
        </p:nvSpPr>
        <p:spPr>
          <a:xfrm>
            <a:off x="5166360" y="6812280"/>
            <a:ext cx="3977640" cy="2331720"/>
          </a:xfrm>
          <a:prstGeom prst="roundRect">
            <a:avLst>
              <a:gd name="adj" fmla="val 5882"/>
            </a:avLst>
          </a:prstGeom>
          <a:solidFill>
            <a:srgbClr val="EEF1FC"/>
          </a:solidFill>
          <a:ln w="12700">
            <a:solidFill>
              <a:srgbClr val="D3DAF5"/>
            </a:solidFill>
            <a:prstDash val="solid"/>
          </a:ln>
        </p:spPr>
      </p:sp>
      <p:sp>
        <p:nvSpPr>
          <p:cNvPr id="28" name="Text 23"/>
          <p:cNvSpPr txBox="1"/>
          <p:nvPr/>
        </p:nvSpPr>
        <p:spPr>
          <a:xfrm>
            <a:off x="5440680" y="7040880"/>
            <a:ext cx="731520" cy="731520"/>
          </a:xfrm>
          <a:prstGeom prst="ellipse">
            <a:avLst/>
          </a:prstGeom>
          <a:solidFill>
            <a:srgbClr val="162CA2"/>
          </a:solidFill>
          <a:ln>
            <a:solidFill>
              <a:srgbClr val="162CA2"/>
            </a:solidFill>
          </a:ln>
        </p:spPr>
        <p:txBody>
          <a:bodyPr wrap="square" lIns="0" tIns="0" rIns="0" bIns="0" rtlCol="0" anchor="ctr"/>
          <a:lstStyle/>
          <a:p>
            <a:pPr algn="ctr" indent="0" marL="0">
              <a:buNone/>
            </a:pPr>
            <a:r>
              <a:rPr lang="en-US" sz="2600" b="1" dirty="0">
                <a:solidFill>
                  <a:srgbClr val="FDFBFB"/>
                </a:solidFill>
                <a:latin typeface="Arial" pitchFamily="34" charset="0"/>
                <a:ea typeface="Arial" pitchFamily="34" charset="-122"/>
                <a:cs typeface="Arial" pitchFamily="34" charset="-120"/>
              </a:rPr>
              <a:t>6</a:t>
            </a:r>
            <a:endParaRPr lang="en-US" sz="2600" dirty="0"/>
          </a:p>
        </p:txBody>
      </p:sp>
      <p:sp>
        <p:nvSpPr>
          <p:cNvPr id="29" name="Text 24"/>
          <p:cNvSpPr txBox="1"/>
          <p:nvPr/>
        </p:nvSpPr>
        <p:spPr>
          <a:xfrm>
            <a:off x="5440680" y="7909560"/>
            <a:ext cx="3474720" cy="50292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Map</a:t>
            </a:r>
            <a:endParaRPr lang="en-US" sz="2400" dirty="0"/>
          </a:p>
        </p:txBody>
      </p:sp>
      <p:sp>
        <p:nvSpPr>
          <p:cNvPr id="30" name="Text 25"/>
          <p:cNvSpPr txBox="1"/>
          <p:nvPr/>
        </p:nvSpPr>
        <p:spPr>
          <a:xfrm>
            <a:off x="5440680" y="8412480"/>
            <a:ext cx="3474720" cy="640080"/>
          </a:xfrm>
          <a:prstGeom prst="rect">
            <a:avLst/>
          </a:prstGeom>
          <a:noFill/>
          <a:ln/>
        </p:spPr>
        <p:txBody>
          <a:bodyPr wrap="square" lIns="0" tIns="0" rIns="0" bIns="0" rtlCol="0" anchor="t"/>
          <a:lstStyle/>
          <a:p>
            <a:pPr indent="0" marL="0">
              <a:buNone/>
            </a:pPr>
            <a:r>
              <a:rPr lang="en-US" sz="1900" dirty="0">
                <a:solidFill>
                  <a:srgbClr val="5A5F86"/>
                </a:solidFill>
                <a:latin typeface="Calibri" pitchFamily="34" charset="0"/>
                <a:ea typeface="Calibri" pitchFamily="34" charset="-122"/>
                <a:cs typeface="Calibri" pitchFamily="34" charset="-120"/>
              </a:rPr>
              <a:t>Kunci → nilai, delete, ok</a:t>
            </a:r>
            <a:endParaRPr lang="en-US" sz="1900" dirty="0"/>
          </a:p>
        </p:txBody>
      </p:sp>
      <p:sp>
        <p:nvSpPr>
          <p:cNvPr id="31" name="Shape 26"/>
          <p:cNvSpPr/>
          <p:nvPr/>
        </p:nvSpPr>
        <p:spPr>
          <a:xfrm>
            <a:off x="9418320" y="6812280"/>
            <a:ext cx="3977640" cy="2331720"/>
          </a:xfrm>
          <a:prstGeom prst="roundRect">
            <a:avLst>
              <a:gd name="adj" fmla="val 5882"/>
            </a:avLst>
          </a:prstGeom>
          <a:solidFill>
            <a:srgbClr val="EEF1FC"/>
          </a:solidFill>
          <a:ln w="12700">
            <a:solidFill>
              <a:srgbClr val="D3DAF5"/>
            </a:solidFill>
            <a:prstDash val="solid"/>
          </a:ln>
        </p:spPr>
      </p:sp>
      <p:sp>
        <p:nvSpPr>
          <p:cNvPr id="32" name="Text 27"/>
          <p:cNvSpPr txBox="1"/>
          <p:nvPr/>
        </p:nvSpPr>
        <p:spPr>
          <a:xfrm>
            <a:off x="9692640" y="7040880"/>
            <a:ext cx="731520" cy="731520"/>
          </a:xfrm>
          <a:prstGeom prst="ellipse">
            <a:avLst/>
          </a:prstGeom>
          <a:solidFill>
            <a:srgbClr val="162CA2"/>
          </a:solidFill>
          <a:ln>
            <a:solidFill>
              <a:srgbClr val="162CA2"/>
            </a:solidFill>
          </a:ln>
        </p:spPr>
        <p:txBody>
          <a:bodyPr wrap="square" lIns="0" tIns="0" rIns="0" bIns="0" rtlCol="0" anchor="ctr"/>
          <a:lstStyle/>
          <a:p>
            <a:pPr algn="ctr" indent="0" marL="0">
              <a:buNone/>
            </a:pPr>
            <a:r>
              <a:rPr lang="en-US" sz="2600" b="1" dirty="0">
                <a:solidFill>
                  <a:srgbClr val="FDFBFB"/>
                </a:solidFill>
                <a:latin typeface="Arial" pitchFamily="34" charset="0"/>
                <a:ea typeface="Arial" pitchFamily="34" charset="-122"/>
                <a:cs typeface="Arial" pitchFamily="34" charset="-120"/>
              </a:rPr>
              <a:t>7</a:t>
            </a:r>
            <a:endParaRPr lang="en-US" sz="2600" dirty="0"/>
          </a:p>
        </p:txBody>
      </p:sp>
      <p:sp>
        <p:nvSpPr>
          <p:cNvPr id="33" name="Text 28"/>
          <p:cNvSpPr txBox="1"/>
          <p:nvPr/>
        </p:nvSpPr>
        <p:spPr>
          <a:xfrm>
            <a:off x="9692640" y="7909560"/>
            <a:ext cx="3474720" cy="50292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Struct</a:t>
            </a:r>
            <a:endParaRPr lang="en-US" sz="2400" dirty="0"/>
          </a:p>
        </p:txBody>
      </p:sp>
      <p:sp>
        <p:nvSpPr>
          <p:cNvPr id="34" name="Text 29"/>
          <p:cNvSpPr txBox="1"/>
          <p:nvPr/>
        </p:nvSpPr>
        <p:spPr>
          <a:xfrm>
            <a:off x="9692640" y="8412480"/>
            <a:ext cx="3474720" cy="640080"/>
          </a:xfrm>
          <a:prstGeom prst="rect">
            <a:avLst/>
          </a:prstGeom>
          <a:noFill/>
          <a:ln/>
        </p:spPr>
        <p:txBody>
          <a:bodyPr wrap="square" lIns="0" tIns="0" rIns="0" bIns="0" rtlCol="0" anchor="t"/>
          <a:lstStyle/>
          <a:p>
            <a:pPr indent="0" marL="0">
              <a:buNone/>
            </a:pPr>
            <a:r>
              <a:rPr lang="en-US" sz="1900" dirty="0">
                <a:solidFill>
                  <a:srgbClr val="5A5F86"/>
                </a:solidFill>
                <a:latin typeface="Calibri" pitchFamily="34" charset="0"/>
                <a:ea typeface="Calibri" pitchFamily="34" charset="-122"/>
                <a:cs typeface="Calibri" pitchFamily="34" charset="-120"/>
              </a:rPr>
              <a:t>Tipe sendiri dengan field</a:t>
            </a:r>
            <a:endParaRPr lang="en-US" sz="1900" dirty="0"/>
          </a:p>
        </p:txBody>
      </p:sp>
      <p:sp>
        <p:nvSpPr>
          <p:cNvPr id="35" name="Shape 30"/>
          <p:cNvSpPr/>
          <p:nvPr/>
        </p:nvSpPr>
        <p:spPr>
          <a:xfrm>
            <a:off x="13670280" y="6812280"/>
            <a:ext cx="3977640" cy="2331720"/>
          </a:xfrm>
          <a:prstGeom prst="roundRect">
            <a:avLst>
              <a:gd name="adj" fmla="val 5882"/>
            </a:avLst>
          </a:prstGeom>
          <a:solidFill>
            <a:srgbClr val="EEF1FC"/>
          </a:solidFill>
          <a:ln w="12700">
            <a:solidFill>
              <a:srgbClr val="D3DAF5"/>
            </a:solidFill>
            <a:prstDash val="solid"/>
          </a:ln>
        </p:spPr>
      </p:sp>
      <p:sp>
        <p:nvSpPr>
          <p:cNvPr id="36" name="Text 31"/>
          <p:cNvSpPr txBox="1"/>
          <p:nvPr/>
        </p:nvSpPr>
        <p:spPr>
          <a:xfrm>
            <a:off x="13944600" y="7040880"/>
            <a:ext cx="731520" cy="731520"/>
          </a:xfrm>
          <a:prstGeom prst="ellipse">
            <a:avLst/>
          </a:prstGeom>
          <a:solidFill>
            <a:srgbClr val="162CA2"/>
          </a:solidFill>
          <a:ln>
            <a:solidFill>
              <a:srgbClr val="162CA2"/>
            </a:solidFill>
          </a:ln>
        </p:spPr>
        <p:txBody>
          <a:bodyPr wrap="square" lIns="0" tIns="0" rIns="0" bIns="0" rtlCol="0" anchor="ctr"/>
          <a:lstStyle/>
          <a:p>
            <a:pPr algn="ctr" indent="0" marL="0">
              <a:buNone/>
            </a:pPr>
            <a:r>
              <a:rPr lang="en-US" sz="2600" b="1" dirty="0">
                <a:solidFill>
                  <a:srgbClr val="FDFBFB"/>
                </a:solidFill>
                <a:latin typeface="Arial" pitchFamily="34" charset="0"/>
                <a:ea typeface="Arial" pitchFamily="34" charset="-122"/>
                <a:cs typeface="Arial" pitchFamily="34" charset="-120"/>
              </a:rPr>
              <a:t>8</a:t>
            </a:r>
            <a:endParaRPr lang="en-US" sz="2600" dirty="0"/>
          </a:p>
        </p:txBody>
      </p:sp>
      <p:sp>
        <p:nvSpPr>
          <p:cNvPr id="37" name="Text 32"/>
          <p:cNvSpPr txBox="1"/>
          <p:nvPr/>
        </p:nvSpPr>
        <p:spPr>
          <a:xfrm>
            <a:off x="13944600" y="7909560"/>
            <a:ext cx="3474720" cy="502920"/>
          </a:xfrm>
          <a:prstGeom prst="rect">
            <a:avLst/>
          </a:prstGeom>
          <a:noFill/>
          <a:ln/>
        </p:spPr>
        <p:txBody>
          <a:bodyPr wrap="square" lIns="0" tIns="0" rIns="0" bIns="0" rtlCol="0" anchor="t"/>
          <a:lstStyle/>
          <a:p>
            <a:pPr indent="0" marL="0">
              <a:buNone/>
            </a:pPr>
            <a:r>
              <a:rPr lang="en-US" sz="2400" b="1" dirty="0">
                <a:solidFill>
                  <a:srgbClr val="13123D"/>
                </a:solidFill>
                <a:latin typeface="Calibri" pitchFamily="34" charset="0"/>
                <a:ea typeface="Calibri" pitchFamily="34" charset="-122"/>
                <a:cs typeface="Calibri" pitchFamily="34" charset="-120"/>
              </a:rPr>
              <a:t>Komunikasi</a:t>
            </a:r>
            <a:endParaRPr lang="en-US" sz="2400" dirty="0"/>
          </a:p>
        </p:txBody>
      </p:sp>
      <p:sp>
        <p:nvSpPr>
          <p:cNvPr id="38" name="Text 33"/>
          <p:cNvSpPr txBox="1"/>
          <p:nvPr/>
        </p:nvSpPr>
        <p:spPr>
          <a:xfrm>
            <a:off x="13944600" y="8412480"/>
            <a:ext cx="3474720" cy="640080"/>
          </a:xfrm>
          <a:prstGeom prst="rect">
            <a:avLst/>
          </a:prstGeom>
          <a:noFill/>
          <a:ln/>
        </p:spPr>
        <p:txBody>
          <a:bodyPr wrap="square" lIns="0" tIns="0" rIns="0" bIns="0" rtlCol="0" anchor="t"/>
          <a:lstStyle/>
          <a:p>
            <a:pPr indent="0" marL="0">
              <a:buNone/>
            </a:pPr>
            <a:r>
              <a:rPr lang="en-US" sz="1900" dirty="0">
                <a:solidFill>
                  <a:srgbClr val="5A5F86"/>
                </a:solidFill>
                <a:latin typeface="Calibri" pitchFamily="34" charset="0"/>
                <a:ea typeface="Calibri" pitchFamily="34" charset="-122"/>
                <a:cs typeface="Calibri" pitchFamily="34" charset="-120"/>
              </a:rPr>
              <a:t>Verbal dan non-verbal selaras</a:t>
            </a:r>
            <a:endParaRPr lang="en-US" sz="1900" dirty="0"/>
          </a:p>
        </p:txBody>
      </p:sp>
      <p:sp>
        <p:nvSpPr>
          <p:cNvPr id="39" name="Text 34"/>
          <p:cNvSpPr txBox="1"/>
          <p:nvPr/>
        </p:nvSpPr>
        <p:spPr>
          <a:xfrm>
            <a:off x="914400" y="9326880"/>
            <a:ext cx="16459200" cy="548640"/>
          </a:xfrm>
          <a:prstGeom prst="rect">
            <a:avLst/>
          </a:prstGeom>
          <a:noFill/>
          <a:ln/>
        </p:spPr>
        <p:txBody>
          <a:bodyPr wrap="square" lIns="0" tIns="0" rIns="0" bIns="0" rtlCol="0" anchor="ctr"/>
          <a:lstStyle/>
          <a:p>
            <a:pPr indent="0" marL="0">
              <a:buNone/>
            </a:pPr>
            <a:r>
              <a:rPr lang="en-US" sz="2400" b="1" dirty="0">
                <a:solidFill>
                  <a:srgbClr val="162CA2"/>
                </a:solidFill>
                <a:latin typeface="Calibri" pitchFamily="34" charset="0"/>
                <a:ea typeface="Calibri" pitchFamily="34" charset="-122"/>
                <a:cs typeface="Calibri" pitchFamily="34" charset="-120"/>
              </a:rPr>
              <a:t>Kunci: </a:t>
            </a:r>
            <a:pPr indent="0" marL="0">
              <a:buNone/>
            </a:pPr>
            <a:r>
              <a:rPr lang="en-US" sz="2400" b="1" dirty="0">
                <a:solidFill>
                  <a:srgbClr val="13123D"/>
                </a:solidFill>
                <a:latin typeface="Calibri" pitchFamily="34" charset="0"/>
                <a:ea typeface="Calibri" pitchFamily="34" charset="-122"/>
                <a:cs typeface="Calibri" pitchFamily="34" charset="-120"/>
              </a:rPr>
              <a:t>keputusan → ulangi → simpan data → komunikasikan.</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home/claude/assets/image3.pn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8686800" y="914400"/>
            <a:ext cx="9281160" cy="1371600"/>
          </a:xfrm>
          <a:prstGeom prst="rect">
            <a:avLst/>
          </a:prstGeom>
          <a:noFill/>
          <a:ln/>
        </p:spPr>
        <p:txBody>
          <a:bodyPr wrap="square" lIns="0" tIns="0" rIns="0" bIns="0" rtlCol="0" anchor="ctr"/>
          <a:lstStyle/>
          <a:p>
            <a:pPr algn="ctr" indent="0" marL="0">
              <a:buNone/>
            </a:pPr>
            <a:r>
              <a:rPr lang="en-US" sz="8000" b="1" dirty="0">
                <a:solidFill>
                  <a:srgbClr val="162CA2"/>
                </a:solidFill>
                <a:latin typeface="Poppins" pitchFamily="34" charset="0"/>
                <a:ea typeface="Poppins" pitchFamily="34" charset="-122"/>
                <a:cs typeface="Poppins" pitchFamily="34" charset="-120"/>
              </a:rPr>
              <a:t>TANYA JAWAB</a:t>
            </a:r>
            <a:endParaRPr lang="en-US" sz="8000" dirty="0"/>
          </a:p>
        </p:txBody>
      </p:sp>
      <p:sp>
        <p:nvSpPr>
          <p:cNvPr id="4" name="Text 1"/>
          <p:cNvSpPr txBox="1"/>
          <p:nvPr/>
        </p:nvSpPr>
        <p:spPr>
          <a:xfrm>
            <a:off x="9601200" y="2423160"/>
            <a:ext cx="8229600" cy="457200"/>
          </a:xfrm>
          <a:prstGeom prst="rect">
            <a:avLst/>
          </a:prstGeom>
          <a:noFill/>
          <a:ln/>
        </p:spPr>
        <p:txBody>
          <a:bodyPr wrap="square" lIns="0" tIns="0" rIns="0" bIns="0" rtlCol="0" anchor="t"/>
          <a:lstStyle/>
          <a:p>
            <a:pPr indent="0" marL="0">
              <a:buNone/>
            </a:pPr>
            <a:r>
              <a:rPr lang="en-US" sz="2400" b="1" dirty="0">
                <a:solidFill>
                  <a:srgbClr val="162CA2"/>
                </a:solidFill>
                <a:latin typeface="Poppins" pitchFamily="34" charset="0"/>
                <a:ea typeface="Poppins" pitchFamily="34" charset="-122"/>
                <a:cs typeface="Poppins" pitchFamily="34" charset="-120"/>
              </a:rPr>
              <a:t>Tugas mandiri</a:t>
            </a:r>
            <a:endParaRPr lang="en-US" sz="2400" dirty="0"/>
          </a:p>
        </p:txBody>
      </p:sp>
      <p:sp>
        <p:nvSpPr>
          <p:cNvPr id="5" name="Text 2"/>
          <p:cNvSpPr txBox="1"/>
          <p:nvPr/>
        </p:nvSpPr>
        <p:spPr>
          <a:xfrm>
            <a:off x="9601200" y="3017520"/>
            <a:ext cx="8503920" cy="2011680"/>
          </a:xfrm>
          <a:prstGeom prst="rect">
            <a:avLst/>
          </a:prstGeom>
          <a:noFill/>
          <a:ln/>
        </p:spPr>
        <p:txBody>
          <a:bodyPr wrap="square" lIns="0" tIns="0" rIns="0" bIns="0" rtlCol="0" anchor="t"/>
          <a:lstStyle/>
          <a:p>
            <a:pPr indent="0" marL="0">
              <a:spcAft>
                <a:spcPts val="600"/>
              </a:spcAft>
              <a:buNone/>
            </a:pPr>
            <a:r>
              <a:rPr lang="en-US" sz="2100" dirty="0">
                <a:solidFill>
                  <a:srgbClr val="162CA2"/>
                </a:solidFill>
                <a:latin typeface="Poppins" pitchFamily="34" charset="0"/>
                <a:ea typeface="Poppins" pitchFamily="34" charset="-122"/>
                <a:cs typeface="Poppins" pitchFamily="34" charset="-120"/>
              </a:rPr>
              <a:t>FizzBuzz 1–20 (kelipatan 3, 5, dan 15)</a:t>
            </a:r>
            <a:endParaRPr lang="en-US" sz="2100" dirty="0"/>
          </a:p>
          <a:p>
            <a:pPr indent="0" marL="0">
              <a:spcAft>
                <a:spcPts val="600"/>
              </a:spcAft>
              <a:buNone/>
            </a:pPr>
            <a:r>
              <a:rPr lang="en-US" sz="2100" dirty="0">
                <a:solidFill>
                  <a:srgbClr val="162CA2"/>
                </a:solidFill>
                <a:latin typeface="Poppins" pitchFamily="34" charset="0"/>
                <a:ea typeface="Poppins" pitchFamily="34" charset="-122"/>
                <a:cs typeface="Poppins" pitchFamily="34" charset="-120"/>
              </a:rPr>
              <a:t>Hitung kemunculan tiap angka dengan map</a:t>
            </a:r>
            <a:endParaRPr lang="en-US" sz="2100" dirty="0"/>
          </a:p>
          <a:p>
            <a:pPr indent="0" marL="0">
              <a:spcAft>
                <a:spcPts val="600"/>
              </a:spcAft>
              <a:buNone/>
            </a:pPr>
            <a:r>
              <a:rPr lang="en-US" sz="2100" dirty="0">
                <a:solidFill>
                  <a:srgbClr val="162CA2"/>
                </a:solidFill>
                <a:latin typeface="Poppins" pitchFamily="34" charset="0"/>
                <a:ea typeface="Poppins" pitchFamily="34" charset="-122"/>
                <a:cs typeface="Poppins" pitchFamily="34" charset="-120"/>
              </a:rPr>
              <a:t>Latih presentasi 1 menit: kontak mata dan tempo</a:t>
            </a:r>
            <a:endParaRPr lang="en-US" sz="2100" dirty="0"/>
          </a:p>
        </p:txBody>
      </p:sp>
      <p:sp>
        <p:nvSpPr>
          <p:cNvPr id="6" name="Text 3"/>
          <p:cNvSpPr txBox="1"/>
          <p:nvPr/>
        </p:nvSpPr>
        <p:spPr>
          <a:xfrm>
            <a:off x="6272784" y="5093208"/>
            <a:ext cx="10972800" cy="640080"/>
          </a:xfrm>
          <a:prstGeom prst="rect">
            <a:avLst/>
          </a:prstGeom>
          <a:noFill/>
          <a:ln/>
        </p:spPr>
        <p:txBody>
          <a:bodyPr wrap="square" lIns="0" tIns="0" rIns="0" bIns="0" rtlCol="0" anchor="t"/>
          <a:lstStyle/>
          <a:p>
            <a:pPr indent="0" marL="0">
              <a:buNone/>
            </a:pPr>
            <a:r>
              <a:rPr lang="en-US" sz="3000" b="1" dirty="0">
                <a:solidFill>
                  <a:srgbClr val="FDFBFB"/>
                </a:solidFill>
                <a:latin typeface="Poppins" pitchFamily="34" charset="0"/>
                <a:ea typeface="Poppins" pitchFamily="34" charset="-122"/>
                <a:cs typeface="Poppins" pitchFamily="34" charset="-120"/>
              </a:rPr>
              <a:t>Sesi 4 · Fungsi, Error Handling &amp; Package</a:t>
            </a:r>
            <a:endParaRPr lang="en-US" sz="3000" dirty="0"/>
          </a:p>
        </p:txBody>
      </p:sp>
      <p:sp>
        <p:nvSpPr>
          <p:cNvPr id="7" name="Text 4"/>
          <p:cNvSpPr txBox="1"/>
          <p:nvPr/>
        </p:nvSpPr>
        <p:spPr>
          <a:xfrm>
            <a:off x="6272784" y="5897880"/>
            <a:ext cx="10515600" cy="1463040"/>
          </a:xfrm>
          <a:prstGeom prst="rect">
            <a:avLst/>
          </a:prstGeom>
          <a:noFill/>
          <a:ln/>
        </p:spPr>
        <p:txBody>
          <a:bodyPr wrap="square" lIns="0" tIns="0" rIns="0" bIns="0" rtlCol="0" anchor="t"/>
          <a:lstStyle/>
          <a:p>
            <a:pPr indent="0" marL="0">
              <a:buNone/>
            </a:pPr>
            <a:r>
              <a:rPr lang="en-US" sz="1900" dirty="0">
                <a:solidFill>
                  <a:srgbClr val="FDFBFB"/>
                </a:solidFill>
                <a:latin typeface="Poppins" pitchFamily="34" charset="0"/>
                <a:ea typeface="Poppins" pitchFamily="34" charset="-122"/>
                <a:cs typeface="Poppins" pitchFamily="34" charset="-120"/>
              </a:rPr>
              <a:t>Fungsi, error handling, package &amp; modul, dan feedback konstruktif.</a:t>
            </a:r>
            <a:endParaRPr lang="en-US" sz="1900" dirty="0"/>
          </a:p>
        </p:txBody>
      </p:sp>
      <p:sp>
        <p:nvSpPr>
          <p:cNvPr id="8" name="Text 5"/>
          <p:cNvSpPr txBox="1"/>
          <p:nvPr/>
        </p:nvSpPr>
        <p:spPr>
          <a:xfrm>
            <a:off x="6922008" y="8156448"/>
            <a:ext cx="5486400" cy="411480"/>
          </a:xfrm>
          <a:prstGeom prst="rect">
            <a:avLst/>
          </a:prstGeom>
          <a:noFill/>
          <a:ln/>
        </p:spPr>
        <p:txBody>
          <a:bodyPr wrap="square" lIns="0" tIns="0" rIns="0" bIns="0" rtlCol="0" anchor="t"/>
          <a:lstStyle/>
          <a:p>
            <a:pPr indent="0" marL="0">
              <a:buNone/>
            </a:pPr>
            <a:r>
              <a:rPr lang="en-US" sz="2000" dirty="0">
                <a:solidFill>
                  <a:srgbClr val="FDFBFB"/>
                </a:solidFill>
                <a:latin typeface="Poppins" pitchFamily="34" charset="0"/>
                <a:ea typeface="Poppins" pitchFamily="34" charset="-122"/>
                <a:cs typeface="Poppins" pitchFamily="34" charset="-120"/>
              </a:rPr>
              <a:t>0857-4050-0094</a:t>
            </a:r>
            <a:endParaRPr lang="en-US" sz="2000" dirty="0"/>
          </a:p>
        </p:txBody>
      </p:sp>
      <p:sp>
        <p:nvSpPr>
          <p:cNvPr id="9" name="Text 6"/>
          <p:cNvSpPr txBox="1"/>
          <p:nvPr/>
        </p:nvSpPr>
        <p:spPr>
          <a:xfrm>
            <a:off x="6958584" y="8732520"/>
            <a:ext cx="7315200" cy="822960"/>
          </a:xfrm>
          <a:prstGeom prst="rect">
            <a:avLst/>
          </a:prstGeom>
          <a:noFill/>
          <a:ln/>
        </p:spPr>
        <p:txBody>
          <a:bodyPr wrap="square" lIns="0" tIns="0" rIns="0" bIns="0" rtlCol="0" anchor="t"/>
          <a:lstStyle/>
          <a:p>
            <a:pPr indent="0" marL="0">
              <a:buNone/>
            </a:pPr>
            <a:r>
              <a:rPr lang="en-US" sz="1400" dirty="0">
                <a:solidFill>
                  <a:srgbClr val="FDFBFB"/>
                </a:solidFill>
                <a:latin typeface="Poppins" pitchFamily="34" charset="0"/>
                <a:ea typeface="Poppins" pitchFamily="34" charset="-122"/>
                <a:cs typeface="Poppins" pitchFamily="34" charset="-120"/>
              </a:rPr>
              <a:t>martha@hicolleagues.com</a:t>
            </a:r>
            <a:endParaRPr lang="en-US" sz="1400" dirty="0"/>
          </a:p>
          <a:p>
            <a:pPr indent="0" marL="0">
              <a:buNone/>
            </a:pPr>
            <a:r>
              <a:rPr lang="en-US" sz="1400" dirty="0">
                <a:solidFill>
                  <a:srgbClr val="FDFBFB"/>
                </a:solidFill>
                <a:latin typeface="Poppins" pitchFamily="34" charset="0"/>
                <a:ea typeface="Poppins" pitchFamily="34" charset="-122"/>
                <a:cs typeface="Poppins" pitchFamily="34" charset="-120"/>
              </a:rPr>
              <a:t>gilang@hicolleagues.com</a:t>
            </a:r>
            <a:endParaRPr lang="en-US" sz="1400" dirty="0"/>
          </a:p>
          <a:p>
            <a:pPr indent="0" marL="0">
              <a:buNone/>
            </a:pPr>
            <a:r>
              <a:rPr lang="en-US" sz="1400" dirty="0">
                <a:solidFill>
                  <a:srgbClr val="FDFBFB"/>
                </a:solidFill>
                <a:latin typeface="Poppins" pitchFamily="34" charset="0"/>
                <a:ea typeface="Poppins" pitchFamily="34" charset="-122"/>
                <a:cs typeface="Poppins" pitchFamily="34" charset="-120"/>
              </a:rPr>
              <a:t>partnership@hicolleagues.com</a:t>
            </a:r>
            <a:endParaRPr lang="en-US" sz="1400" dirty="0"/>
          </a:p>
        </p:txBody>
      </p:sp>
      <p:sp>
        <p:nvSpPr>
          <p:cNvPr id="10" name="Text 7"/>
          <p:cNvSpPr txBox="1"/>
          <p:nvPr/>
        </p:nvSpPr>
        <p:spPr>
          <a:xfrm>
            <a:off x="6958584" y="9601200"/>
            <a:ext cx="5486400" cy="365760"/>
          </a:xfrm>
          <a:prstGeom prst="rect">
            <a:avLst/>
          </a:prstGeom>
          <a:noFill/>
          <a:ln/>
        </p:spPr>
        <p:txBody>
          <a:bodyPr wrap="square" lIns="0" tIns="0" rIns="0" bIns="0" rtlCol="0" anchor="t"/>
          <a:lstStyle/>
          <a:p>
            <a:pPr indent="0" marL="0">
              <a:buNone/>
            </a:pPr>
            <a:r>
              <a:rPr lang="en-US" sz="2000" dirty="0">
                <a:solidFill>
                  <a:srgbClr val="FDFBFB"/>
                </a:solidFill>
                <a:latin typeface="Poppins" pitchFamily="34" charset="0"/>
                <a:ea typeface="Poppins" pitchFamily="34" charset="-122"/>
                <a:cs typeface="Poppins" pitchFamily="34" charset="-120"/>
              </a:rPr>
              <a:t>www.hicolleagues.com</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 3 - Go: Kontrol Aliran &amp; Struktur Data</dc:title>
  <dc:subject>PptxGenJS Presentation</dc:subject>
  <dc:creator>PptxGenJS</dc:creator>
  <cp:lastModifiedBy>PptxGenJS</cp:lastModifiedBy>
  <cp:revision>1</cp:revision>
  <dcterms:created xsi:type="dcterms:W3CDTF">2026-09-21T13:34:35Z</dcterms:created>
  <dcterms:modified xsi:type="dcterms:W3CDTF">2026-09-21T13:34:35Z</dcterms:modified>
</cp:coreProperties>
</file>