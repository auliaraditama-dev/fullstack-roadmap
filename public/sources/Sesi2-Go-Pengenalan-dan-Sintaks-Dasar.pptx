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10287000" cx="18288000"/>
  <p:notesSz cx="10287000" cy="18288000"/>
  <p:embeddedFontLst>
    <p:embeddedFont>
      <p:font typeface="Poppi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5" roundtripDataSignature="AMtx7mh1fyxmnw0meaUSVEMSci1iivNZ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93AA03-78E1-4CC0-99D5-BEF3B4DFFC71}">
  <a:tblStyle styleId="{6F93AA03-78E1-4CC0-99D5-BEF3B4DFFC7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Poppins-bold.fntdata"/><Relationship Id="rId41" Type="http://schemas.openxmlformats.org/officeDocument/2006/relationships/font" Target="fonts/Poppins-regular.fntdata"/><Relationship Id="rId22" Type="http://schemas.openxmlformats.org/officeDocument/2006/relationships/slide" Target="slides/slide17.xml"/><Relationship Id="rId44" Type="http://schemas.openxmlformats.org/officeDocument/2006/relationships/font" Target="fonts/Poppins-boldItalic.fntdata"/><Relationship Id="rId21" Type="http://schemas.openxmlformats.org/officeDocument/2006/relationships/slide" Target="slides/slide16.xml"/><Relationship Id="rId43" Type="http://schemas.openxmlformats.org/officeDocument/2006/relationships/font" Target="fonts/Poppins-italic.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Sambutan (±2 menit) sebelum masuk agenda. Sesi 2 adalah pertama kalinya peserta menyentuh Go. Sampaikan bahwa hari ini fokusnya: menyiapkan lingkungan kerja, memahami struktur program Go, dan menulis program pertama dengan variabel, tipe data, dan operator. Pastikan semua peserta membawa laptop dan punya akses internet untuk mengunduh Go.</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Total 180 menit: pengenalan Go dan setup (±55 menit), istirahat, konsep dasar sintaks (±45 menit), latihan 25 menit, dan soft skill komunikasi 35 menit. Setup sering memakan waktu lebih lama dari rencana; siapkan asisten atau peserta yang sudah selesai untuk membantu teman sebelahnya.</a:t>
            </a:r>
            <a:endParaRPr/>
          </a:p>
        </p:txBody>
      </p:sp>
      <p:sp>
        <p:nvSpPr>
          <p:cNvPr id="42" name="Google Shape;4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Bacakan empat tujuan. Tekankan bahwa di akhir sesi setiap peserta harus sudah punya Go yang berjalan di laptopnya dan mampu menjalankan program Go sederhana. Itu tolok ukur keberhasilan sesi ini.</a:t>
            </a:r>
            <a:endParaRPr/>
          </a:p>
        </p:txBody>
      </p:sp>
      <p:sp>
        <p:nvSpPr>
          <p:cNvPr id="95" name="Google Shape;9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Jembatan dari Sesi 1. Tanyakan singkat: masih ingat variabel, tipe data, operator MOD, fungsi? Tunjukkan bahwa semua konsep universal itu punya bentuk nyata di Go. Percabangan dan perulangan dibahas di Sesi 3, fungsi di Sesi 4.</a:t>
            </a:r>
            <a:endParaRPr/>
          </a:p>
        </p:txBody>
      </p:sp>
      <p:sp>
        <p:nvSpPr>
          <p:cNvPr id="124" name="Google Shape;12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 (sering disebut Golang) diciptakan di Google oleh Robert Griesemer, Rob Pike, dan Ken Thompson. Dimulai 2007, diumumkan sebagai open source pada November 2009, dan versi 1.0 rilis Maret 2012 dengan janji kompatibilitas: kode Go 1.0 tetap dapat dikompilasi di versi Go 1.x berikutnya. Nama resminya Go; "Golang" muncul dari nama situs golang.org dan memudahkan pencarian.</a:t>
            </a:r>
            <a:endParaRPr/>
          </a:p>
        </p:txBody>
      </p:sp>
      <p:sp>
        <p:nvSpPr>
          <p:cNvPr id="159" name="Google Shape;15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Enam keunggulan utama. Kaitkan dengan perjalanan bootcamp: binary tunggal akan berguna saat deployment ke Alibaba Cloud di Fase 4; concurrency dibahas di Fase 3; standard library net/http akan dipakai membuat API di Fase 2. Tanyakan: siapa yang pernah frustrasi menunggu proses build atau mengatur dependency?</a:t>
            </a:r>
            <a:endParaRPr/>
          </a:p>
        </p:txBody>
      </p:sp>
      <p:sp>
        <p:nvSpPr>
          <p:cNvPr id="179" name="Google Shape;17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Filosofi Go: sederhana, jelas, eksplisit. Contoh eksplisit: tidak ada konversi tipe otomatis (kita lihat nanti), dan error dikembalikan sebagai nilai biasa (dibahas di Sesi 4). Komposisi menggantikan pewarisan kelas. gofmt membuat semua kode Go berformat sama sehingga debat gaya penulisan hampir tidak ada. Docker, Kubernetes, dan Terraform adalah contoh proyek besar yang ditulis dengan Go.</a:t>
            </a:r>
            <a:endParaRPr/>
          </a:p>
        </p:txBody>
      </p:sp>
      <p:sp>
        <p:nvSpPr>
          <p:cNvPr id="218" name="Google Shape;21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 adalah bahasa compiled: kode sumber diterjemahkan compiler menjadi file eksekusi (binary) yang bisa dijalankan tanpa interpreter atau runtime terpisah. Bandingkan dengan bahasa yang umumnya dijalankan lewat interpreter (Python) atau runtime (JavaScript di browser/Node). Konsekuensi penting hari ini: banyak kesalahan, seperti tipe tidak cocok dan variabel tak terpakai, ketahuan saat kompilasi, sebelum program berjalan.</a:t>
            </a:r>
            <a:endParaRPr/>
          </a:p>
        </p:txBody>
      </p:sp>
      <p:sp>
        <p:nvSpPr>
          <p:cNvPr id="237" name="Google Shape;23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Hands-on. Minta semua peserta mengikuti langkah bersamaan. Unduh dari go.dev/dl, pilih versi stabil terbaru sesuai sistem operasi. Setelah instal, wajib membuka terminal BARU sebelum menjalankan go version, karena PATH baru dibaca saat terminal dibuka. Keliling kelas; peserta Windows biasanya perlu bantuan dengan terminal (gunakan PowerShell atau terminal di VS Code). Output go version bergantung pada versi dan OS masing-masing.</a:t>
            </a:r>
            <a:endParaRPr/>
          </a:p>
        </p:txBody>
      </p:sp>
      <p:sp>
        <p:nvSpPr>
          <p:cNvPr id="259" name="Google Shape;25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Ekstensi resmi bernama Go, dikelola tim Go di Google. Setelah terpasang, jalankan perintah Go: Install/Update Tools lewat Command Palette agar gopls (language server untuk autocomplete dan pesan error), dlv/Delve (debugger), dan alat lain terpasang. Jelaskan bahwa simpan file otomatis memformat kode dengan gofmt jika format on save aktif. Debugger dipakai lagi di soft skill Fase 2.</a:t>
            </a:r>
            <a:endParaRPr/>
          </a:p>
        </p:txBody>
      </p:sp>
      <p:sp>
        <p:nvSpPr>
          <p:cNvPr id="284" name="Google Shape;28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Module adalah unit manajemen dependency di Go. Perintah go mod init membuat file go.mod. Nama modul biasanya berupa path repositori (mis. github.com/username/proyek) agar unik jika nanti dipublikasikan; untuk latihan cukup nama sederhana. go.mod mencatat nama modul, versi Go, dan dependency eksternal. Peserta membuat folder belajar-go bersama-sama sekarang.</a:t>
            </a:r>
            <a:endParaRPr/>
          </a:p>
        </p:txBody>
      </p:sp>
      <p:sp>
        <p:nvSpPr>
          <p:cNvPr id="313" name="Google Shape;31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Beri 5–8 menit untuk memastikan semua peserta lolos checklist. Peserta yang sudah selesai membantu teman di sebelahnya. Kesalahan paling umum: terminal belum dibuka ulang setelah instal, dan menjalankan go mod init di folder yang salah. Jangan lanjut ke materi berikutnya sebelum mayoritas peserta siap.</a:t>
            </a:r>
            <a:endParaRPr/>
          </a:p>
        </p:txBody>
      </p:sp>
      <p:sp>
        <p:nvSpPr>
          <p:cNvPr id="332" name="Google Shape;33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Struktur paling sederhana: satu folder, satu file go.mod, satu file main.go. Package main dengan fungsi main adalah tanda program yang bisa dijalankan. Satu folder berisi satu package: semua file .go dalam folder yang sama memakai nama package yang sama. Proyek yang lebih besar akan memakai banyak folder/package (dibahas di Sesi 4).</a:t>
            </a:r>
            <a:endParaRPr/>
          </a:p>
        </p:txBody>
      </p:sp>
      <p:sp>
        <p:nvSpPr>
          <p:cNvPr id="357" name="Google Shape;35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Peserta mengetik sendiri (bukan copy-paste) ke main.go, lalu menjalankan go run . di terminal. Bedah empat bagian kode. Catat aturan Go: kurung kurawal pembuka harus berada di baris yang sama dengan func. Jika salah, compiler akan menolak. Minta peserta sengaja membuat satu kesalahan (mis. menghapus tanda kutip) dan membaca pesan error-nya.</a:t>
            </a:r>
            <a:endParaRPr/>
          </a:p>
        </p:txBody>
      </p:sp>
      <p:sp>
        <p:nvSpPr>
          <p:cNvPr id="377" name="Google Shape;37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Empat perintah yang akan dipakai setiap hari. go run untuk menjalankan cepat saat pengembangan, go build untuk menghasilkan file binary (nantinya yang dideploy), go fmt untuk merapikan kode, go mod tidy untuk menyinkronkan dependency. Beri 5 menit: peserta membuat main.go, menjalankan go run ., lalu go build dan menjalankan file hasil build.</a:t>
            </a:r>
            <a:endParaRPr/>
          </a:p>
        </p:txBody>
      </p:sp>
      <p:sp>
        <p:nvSpPr>
          <p:cNvPr id="402" name="Google Shape;40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Istirahat 10 menit. Gunakan waktu ini untuk membantu peserta yang setup-nya belum beres. Setelah kembali, tanyakan siapa yang masih belum bisa menjalankan Hello World.</a:t>
            </a:r>
            <a:endParaRPr/>
          </a:p>
        </p:txBody>
      </p:sp>
      <p:sp>
        <p:nvSpPr>
          <p:cNvPr id="425" name="Google Shape;42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Dua cara deklarasi. var: eksplisit, boleh di luar fungsi (level package), tipe boleh ditulis atau ditebak. :=: deklarasi singkat, hanya boleh di dalam fungsi, tipe ditentukan otomatis dari nilai (type inference). Mengubah nilai variabel yang sudah ada memakai = saja, bukan :=. Tanyakan: apa yang terjadi jika := dipakai dua kali untuk nama yang sama dalam scope yang sama? (error: no new variables).</a:t>
            </a:r>
            <a:endParaRPr/>
          </a:p>
        </p:txBody>
      </p:sp>
      <p:sp>
        <p:nvSpPr>
          <p:cNvPr id="437" name="Google Shape;43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Variabel yang dideklarasikan tanpa nilai otomatis mendapat zero value: 0 untuk angka, string kosong, false untuk bool. Aturan penting Go: variabel yang dideklarasikan tetapi tidak dipakai menyebabkan error kompilasi. Ini membuat kode bersih, tetapi sering mengejutkan pemula. Minta peserta mencobanya sendiri di Hello World. Penulisan nama: camelCase.</a:t>
            </a:r>
            <a:endParaRPr/>
          </a:p>
        </p:txBody>
      </p:sp>
      <p:sp>
        <p:nvSpPr>
          <p:cNvPr id="456" name="Google Shape;45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Konstanta tidak bisa diubah setelah dideklarasikan; mencoba mengubahnya menyebabkan error kompilasi. Cocok untuk nilai matematis (Pi), batas maksimum, atau konfigurasi tetap. Konvensi penamaan: camelCase untuk nama yang dipakai di dalam package, awalan huruf besar bila ingin dapat diakses dari package lain (dibahas di Sesi 4).</a:t>
            </a:r>
            <a:endParaRPr/>
          </a:p>
        </p:txBody>
      </p:sp>
      <p:sp>
        <p:nvSpPr>
          <p:cNvPr id="473" name="Google Shape;47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Println menambah spasi antar argumen dan baris baru otomatis. Printf memakai verb: %d integer, %f desimal (%.2f = dua angka di belakang koma), %s string, %v nilai default, %T tipe. \n harus ditulis manual di Printf. %T sangat berguna untuk melihat tipe hasil type inference. Verb ini akan dipakai di semua latihan.</a:t>
            </a:r>
            <a:endParaRPr/>
          </a:p>
        </p:txBody>
      </p:sp>
      <p:sp>
        <p:nvSpPr>
          <p:cNvPr id="491" name="Google Shape;49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Empat tipe dasar untuk hari ini. int (juga int8–int64, uint), float64 (desimal presisi ganda, default untuk literal desimal), string (teks UTF-8, tidak dapat diubah karakternya setelah dibuat), bool. Go statically typed: tipe variabel ditetapkan saat kompilasi dan tidak bisa berganti. Array, slice, map, struct dibahas di Sesi 3. rune dan byte dapat disebut sekilas.</a:t>
            </a:r>
            <a:endParaRPr/>
          </a:p>
        </p:txBody>
      </p:sp>
      <p:sp>
        <p:nvSpPr>
          <p:cNvPr id="506" name="Google Shape;50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Dua jebakan pemula. Pertama, Go tidak mengonversi tipe otomatis: int dikali float64 adalah error, harus dikonversi eksplisit dengan T(nilai). Kedua, pembagian dua int menghasilkan int (7/2 = 3). Ini akan muncul di latihan konversi suhu: 9/5 sebagai konstanta angka bulat bernilai 1, bukan 1.8, sehingga tulis celsius*9/5 (perkalian dulu, tetap float64) atau 9.0/5.</a:t>
            </a:r>
            <a:endParaRPr/>
          </a:p>
        </p:txBody>
      </p:sp>
      <p:sp>
        <p:nvSpPr>
          <p:cNvPr id="518" name="Google Shape;51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Empat keluarga operator: aritmatika, relasional (hasil bool), logika, bitwise (pengenalan, jarang dipakai di aplikasi web biasa). % adalah sisa bagi seperti MOD di Sesi 1. Perbedaan Go: tidak ada operator pangkat (**), tidak ada ternary (?:), dan ++/-- hanya berupa pernyataan (statement), bukan ekspresi. Bitwise: 6 (110) &amp; 3 (011) = 2; 6 | 3 = 7; 1 &lt;&lt; 3 = 8.</a:t>
            </a:r>
            <a:endParaRPr/>
          </a:p>
        </p:txBody>
      </p:sp>
      <p:sp>
        <p:nvSpPr>
          <p:cNvPr id="536" name="Google Shape;53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Tiga latihan bertahap, total 25 menit: Latihan 1 (8 menit), Latihan 2 (9 menit), Latihan 3 (8 menit). Ingatkan alur dari Sesi 1: tulis pseudocode dulu, baru kode, jalankan, uji dengan contoh. Bila ada yang cepat selesai, beri bonus di masing-masing soal. Berkeliling dan bantu peserta yang terjebak pada pesan error compiler.</a:t>
            </a:r>
            <a:endParaRPr/>
          </a:p>
        </p:txBody>
      </p:sp>
      <p:sp>
        <p:nvSpPr>
          <p:cNvPr id="563" name="Google Shape;56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Solusi contoh: nama := "Budi"; var umur int = 20; kota := "Jakarta"; lalu fmt.Printf("Nama : %s\n", nama), fmt.Printf("Umur : %d tahun\n", umur), fmt.Printf("Kota : %s\n", kota). Bonus: tinggi := 172.5 dicetak dengan %.1f. Periksa apakah peserta memakai var dan := sekurangnya sekali.</a:t>
            </a:r>
            <a:endParaRPr/>
          </a:p>
        </p:txBody>
      </p:sp>
      <p:sp>
        <p:nvSpPr>
          <p:cNvPr id="586" name="Google Shape;586;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Rumus F = C × 9/5 + 32. Tes: 0 → 32, 100 → 212, 37 → 98.6. Jebakan: jika C bertipe int, hasilnya salah karena pembagian integer; gunakan float64 (c := 37.0). Tulis celsius*9/5 + 32 sehingga perkalian dilakukan sebelum pembagian pada float64.</a:t>
            </a:r>
            <a:endParaRPr/>
          </a:p>
        </p:txBody>
      </p:sp>
      <p:sp>
        <p:nvSpPr>
          <p:cNvPr id="606" name="Google Shape;60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 name="Google Shape;62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Rumus luas = Pi × r × r, keliling = 2 × Pi × r dengan Pi = 3.14159. Untuk r = 7: luas 153.94, keliling 43.98; untuk r = 10: luas 314.16, keliling 62.83. Bonus mengulang konsep Sesi 1: fmt.Println(42%2 == 0) mencetak true karena ekspresi relasional menghasilkan bool.</a:t>
            </a:r>
            <a:endParaRPr/>
          </a:p>
        </p:txBody>
      </p:sp>
      <p:sp>
        <p:nvSpPr>
          <p:cNvPr id="626" name="Google Shape;62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Bahas dua solusi. Latihan 2: c := 37.0 membuat c bertipe float64, jadi c*9/5 + 32 dihitung sebagai desimal. Latihan 3: const Pi dideklarasikan di luar fungsi sekali lalu dipakai ulang. Tanyakan: apa yang terjadi jika r := 7 (int) lalu dikalikan Pi? Compiler menolak karena konstanta 3.14159 tidak dapat diubah menjadi int, jadi tulis r := 7.0. Latihan 1 dibahas cepat dari layar peserta.</a:t>
            </a:r>
            <a:endParaRPr/>
          </a:p>
        </p:txBody>
      </p:sp>
      <p:sp>
        <p:nvSpPr>
          <p:cNvPr id="646" name="Google Shape;64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Buka bagian soft skill (35 menit). Pesan utama: keterampilan teknis tanpa komunikasi yang baik tetap menimbulkan masalah di tim. Berikan empat situasi nyata dan tanyakan pengalaman peserta (di kampus, kerja sebelumnya, atau proyek). Bagian ini terdiri dari: pentingnya komunikasi (5 menit), model komunikasi (5 menit), mendengarkan aktif (5 menit), aktivitas berpasangan (15 menit), dan contoh laporan masalah (5 menit).</a:t>
            </a:r>
            <a:endParaRPr/>
          </a:p>
        </p:txBody>
      </p:sp>
      <p:sp>
        <p:nvSpPr>
          <p:cNvPr id="663" name="Google Shape;66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Model sederhana: pengirim menyusun pesan, penerima menafsirkannya, lalu memberi umpan balik. Tanpa umpan balik, pengirim tidak tahu apakah pesan dipahami sesuai maksud. Hambatan (noise) bisa berupa istilah teknis, asumsi, tergesa-gesa, atau tulisan yang ambigu. Cara mengurangi: konfirmasi pemahaman, beri contoh konkret, gunakan bahasa sederhana.</a:t>
            </a:r>
            <a:endParaRPr/>
          </a:p>
        </p:txBody>
      </p:sp>
      <p:sp>
        <p:nvSpPr>
          <p:cNvPr id="692" name="Google Shape;69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Empat teknik: fokus penuh, biarkan pembicara selesai, parafrase (ulangi dengan kata sendiri), dan klarifikasi dengan pertanyaan terbuka. Demonstrasikan contoh dialog di kanan dengan peserta. Tunjukkan bedanya dengan mendengarkan pasif atau sekadar menunggu giliran bicara.</a:t>
            </a:r>
            <a:endParaRPr/>
          </a:p>
        </p:txBody>
      </p:sp>
      <p:sp>
        <p:nvSpPr>
          <p:cNvPr id="714" name="Google Shape;71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Aktivitas berpasangan ±15 menit. Bentuk pasangan A dan B. A menjelaskan salah satu konsep hari ini selama 2 menit, misalnya perbedaan var dan :=. B mendengarkan tanpa menyela, lalu memparafrase dan mengajukan satu pertanyaan klarifikasi (2 menit). Tukar peran. Tutup dengan refleksi bersama 3 menit. Peran trainer: berkeliling, catat contoh parafrase yang baik untuk diapresiasi.</a:t>
            </a:r>
            <a:endParaRPr/>
          </a:p>
        </p:txBody>
      </p:sp>
      <p:sp>
        <p:nvSpPr>
          <p:cNvPr id="738" name="Google Shape;738;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4" name="Google Shape;76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Hubungkan ke pengalaman hari ini: saat program error, cara bertanya menentukan kecepatan mendapat bantuan. Bandingkan laporan kurang jelas dan jelas. Template empat bagian: apa yang dilakukan, hasil yang diharapkan, hasil aktual (termasuk pesan error), dan yang sudah dicoba. Ajak peserta menulis ulang satu masalah nyata yang mereka alami hari ini menggunakan template.</a:t>
            </a:r>
            <a:endParaRPr/>
          </a:p>
        </p:txBody>
      </p:sp>
      <p:sp>
        <p:nvSpPr>
          <p:cNvPr id="765" name="Google Shape;76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 name="Google Shape;78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Review cepat delapan poin. Minta beberapa peserta menyebutkan satu hal yang paling berguna atau membingungkan. Catat topik yang perlu diulang di awal Sesi 3.</a:t>
            </a:r>
            <a:endParaRPr/>
          </a:p>
        </p:txBody>
      </p:sp>
      <p:sp>
        <p:nvSpPr>
          <p:cNvPr id="785" name="Google Shape;78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 name="Google Shape;82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Buka tanya jawab. Bagikan tugas mandiri: (1) program BMI dengan float64, (2) konversi detik menjadi jam, menit, detik memakai / dan %, (3) latihan mendengarkan aktif: parafrase sekali dalam percakapan berikutnya. Contoh untuk tugas 2: 3725 detik menjadi 1 jam 2 menit 5 detik. Umumkan Sesi 3.</a:t>
            </a:r>
            <a:endParaRPr/>
          </a:p>
        </p:txBody>
      </p:sp>
      <p:sp>
        <p:nvSpPr>
          <p:cNvPr id="827" name="Google Shape;82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26.png"/><Relationship Id="rId5" Type="http://schemas.openxmlformats.org/officeDocument/2006/relationships/image" Target="../media/image12.png"/><Relationship Id="rId6" Type="http://schemas.openxmlformats.org/officeDocument/2006/relationships/image" Target="../media/image21.png"/><Relationship Id="rId7" Type="http://schemas.openxmlformats.org/officeDocument/2006/relationships/image" Target="../media/image3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5.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5.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5.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5.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5.png"/><Relationship Id="rId4" Type="http://schemas.openxmlformats.org/officeDocument/2006/relationships/image" Target="../media/image13.png"/><Relationship Id="rId10" Type="http://schemas.openxmlformats.org/officeDocument/2006/relationships/image" Target="../media/image4.png"/><Relationship Id="rId9"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5.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5.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13.png"/><Relationship Id="rId5" Type="http://schemas.openxmlformats.org/officeDocument/2006/relationships/image" Target="../media/image7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3.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3.png"/><Relationship Id="rId4" Type="http://schemas.openxmlformats.org/officeDocument/2006/relationships/image" Target="../media/image13.png"/><Relationship Id="rId5" Type="http://schemas.openxmlformats.org/officeDocument/2006/relationships/image" Target="../media/image9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3.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3.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3.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3.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3.png"/><Relationship Id="rId4" Type="http://schemas.openxmlformats.org/officeDocument/2006/relationships/image" Target="../media/image13.png"/><Relationship Id="rId5" Type="http://schemas.openxmlformats.org/officeDocument/2006/relationships/image" Target="../media/image9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3.png"/><Relationship Id="rId4" Type="http://schemas.openxmlformats.org/officeDocument/2006/relationships/image" Target="../media/image13.png"/><Relationship Id="rId5" Type="http://schemas.openxmlformats.org/officeDocument/2006/relationships/image" Target="../media/image9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3.png"/><Relationship Id="rId4" Type="http://schemas.openxmlformats.org/officeDocument/2006/relationships/image" Target="../media/image13.png"/><Relationship Id="rId5" Type="http://schemas.openxmlformats.org/officeDocument/2006/relationships/image" Target="../media/image9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5.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13.png"/><Relationship Id="rId5" Type="http://schemas.openxmlformats.org/officeDocument/2006/relationships/image" Target="../media/image78.png"/><Relationship Id="rId6" Type="http://schemas.openxmlformats.org/officeDocument/2006/relationships/image" Target="../media/image82.png"/><Relationship Id="rId7" Type="http://schemas.openxmlformats.org/officeDocument/2006/relationships/image" Target="../media/image77.png"/><Relationship Id="rId8"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5.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5.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5.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5.png"/><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9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home/claude/assets/image1.png" id="16" name="Google Shape;16;p1"/>
          <p:cNvPicPr preferRelativeResize="0"/>
          <p:nvPr/>
        </p:nvPicPr>
        <p:blipFill rotWithShape="1">
          <a:blip r:embed="rId3">
            <a:alphaModFix/>
          </a:blip>
          <a:srcRect b="0" l="0" r="0" t="0"/>
          <a:stretch/>
        </p:blipFill>
        <p:spPr>
          <a:xfrm>
            <a:off x="0" y="0"/>
            <a:ext cx="18288000" cy="10287000"/>
          </a:xfrm>
          <a:prstGeom prst="rect">
            <a:avLst/>
          </a:prstGeom>
          <a:noFill/>
          <a:ln>
            <a:noFill/>
          </a:ln>
        </p:spPr>
      </p:pic>
      <p:cxnSp>
        <p:nvCxnSpPr>
          <p:cNvPr id="17" name="Google Shape;17;p1"/>
          <p:cNvCxnSpPr/>
          <p:nvPr/>
        </p:nvCxnSpPr>
        <p:spPr>
          <a:xfrm>
            <a:off x="576072" y="2130552"/>
            <a:ext cx="0" cy="5321808"/>
          </a:xfrm>
          <a:prstGeom prst="straightConnector1">
            <a:avLst/>
          </a:prstGeom>
          <a:noFill/>
          <a:ln cap="flat" cmpd="sng" w="25400">
            <a:solidFill>
              <a:srgbClr val="FDFBFB"/>
            </a:solidFill>
            <a:prstDash val="solid"/>
            <a:round/>
            <a:headEnd len="sm" w="sm" type="none"/>
            <a:tailEnd len="sm" w="sm" type="none"/>
          </a:ln>
        </p:spPr>
      </p:cxnSp>
      <p:sp>
        <p:nvSpPr>
          <p:cNvPr id="18" name="Google Shape;18;p1"/>
          <p:cNvSpPr txBox="1"/>
          <p:nvPr/>
        </p:nvSpPr>
        <p:spPr>
          <a:xfrm>
            <a:off x="859536" y="2057400"/>
            <a:ext cx="8229600" cy="3291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Cambria"/>
              <a:buNone/>
            </a:pPr>
            <a:r>
              <a:rPr b="1" i="0" lang="en-US" sz="4800" u="none" cap="none" strike="noStrike">
                <a:solidFill>
                  <a:srgbClr val="FDFBFB"/>
                </a:solidFill>
                <a:latin typeface="Cambria"/>
                <a:ea typeface="Cambria"/>
                <a:cs typeface="Cambria"/>
                <a:sym typeface="Cambria"/>
              </a:rPr>
              <a:t>Pengenalan Go &amp;</a:t>
            </a:r>
            <a:endParaRPr b="0" i="0" sz="4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DFBFB"/>
              </a:buClr>
              <a:buSzPts val="4800"/>
              <a:buFont typeface="Cambria"/>
              <a:buNone/>
            </a:pPr>
            <a:r>
              <a:rPr b="1" i="0" lang="en-US" sz="4800" u="none" cap="none" strike="noStrike">
                <a:solidFill>
                  <a:srgbClr val="FDFBFB"/>
                </a:solidFill>
                <a:latin typeface="Cambria"/>
                <a:ea typeface="Cambria"/>
                <a:cs typeface="Cambria"/>
                <a:sym typeface="Cambria"/>
              </a:rPr>
              <a:t>Sintaks Dasar</a:t>
            </a:r>
            <a:endParaRPr b="0" i="0" sz="4800" u="none" cap="none" strike="noStrike">
              <a:solidFill>
                <a:schemeClr val="dk1"/>
              </a:solidFill>
              <a:latin typeface="Calibri"/>
              <a:ea typeface="Calibri"/>
              <a:cs typeface="Calibri"/>
              <a:sym typeface="Calibri"/>
            </a:endParaRPr>
          </a:p>
        </p:txBody>
      </p:sp>
      <p:sp>
        <p:nvSpPr>
          <p:cNvPr id="19" name="Google Shape;19;p1"/>
          <p:cNvSpPr txBox="1"/>
          <p:nvPr/>
        </p:nvSpPr>
        <p:spPr>
          <a:xfrm>
            <a:off x="859536" y="5486400"/>
            <a:ext cx="7772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400"/>
              <a:buFont typeface="Arial"/>
              <a:buNone/>
            </a:pPr>
            <a:r>
              <a:rPr b="1" i="0" lang="en-US" sz="2400" u="none" cap="none" strike="noStrike">
                <a:solidFill>
                  <a:srgbClr val="FCDF59"/>
                </a:solidFill>
                <a:latin typeface="Arial"/>
                <a:ea typeface="Arial"/>
                <a:cs typeface="Arial"/>
                <a:sym typeface="Arial"/>
              </a:rPr>
              <a:t>Sesi 2 · Modul Go</a:t>
            </a:r>
            <a:endParaRPr b="0" i="0" sz="2400" u="none" cap="none" strike="noStrike">
              <a:solidFill>
                <a:schemeClr val="dk1"/>
              </a:solidFill>
              <a:latin typeface="Calibri"/>
              <a:ea typeface="Calibri"/>
              <a:cs typeface="Calibri"/>
              <a:sym typeface="Calibri"/>
            </a:endParaRPr>
          </a:p>
        </p:txBody>
      </p:sp>
      <p:sp>
        <p:nvSpPr>
          <p:cNvPr id="20" name="Google Shape;20;p1"/>
          <p:cNvSpPr txBox="1"/>
          <p:nvPr/>
        </p:nvSpPr>
        <p:spPr>
          <a:xfrm>
            <a:off x="859536" y="6080760"/>
            <a:ext cx="78638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2200"/>
              <a:buFont typeface="Arial"/>
              <a:buNone/>
            </a:pPr>
            <a:r>
              <a:rPr b="0" i="0" lang="en-US" sz="2200" u="none" cap="none" strike="noStrike">
                <a:solidFill>
                  <a:srgbClr val="FDFBFB"/>
                </a:solidFill>
                <a:latin typeface="Arial"/>
                <a:ea typeface="Arial"/>
                <a:cs typeface="Arial"/>
                <a:sym typeface="Arial"/>
              </a:rPr>
              <a:t>Setup, variabel, tipe data, operator, dan komunikasi efektif</a:t>
            </a:r>
            <a:endParaRPr b="0" i="0" sz="2200" u="none" cap="none" strike="noStrike">
              <a:solidFill>
                <a:schemeClr val="dk1"/>
              </a:solidFill>
              <a:latin typeface="Calibri"/>
              <a:ea typeface="Calibri"/>
              <a:cs typeface="Calibri"/>
              <a:sym typeface="Calibri"/>
            </a:endParaRPr>
          </a:p>
        </p:txBody>
      </p:sp>
      <p:sp>
        <p:nvSpPr>
          <p:cNvPr id="21" name="Google Shape;21;p1"/>
          <p:cNvSpPr txBox="1"/>
          <p:nvPr/>
        </p:nvSpPr>
        <p:spPr>
          <a:xfrm>
            <a:off x="585216" y="9509760"/>
            <a:ext cx="8229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1800"/>
              <a:buFont typeface="Arial"/>
              <a:buNone/>
            </a:pPr>
            <a:r>
              <a:rPr b="0" i="0" lang="en-US" sz="1800" u="none" cap="none" strike="noStrike">
                <a:solidFill>
                  <a:srgbClr val="FDFBFB"/>
                </a:solidFill>
                <a:latin typeface="Arial"/>
                <a:ea typeface="Arial"/>
                <a:cs typeface="Arial"/>
                <a:sym typeface="Arial"/>
              </a:rPr>
              <a:t>Prepared for HiColleagues Bootcamp Batch 4</a:t>
            </a:r>
            <a:endParaRPr b="0" i="0" sz="1800" u="none" cap="none" strike="noStrike">
              <a:solidFill>
                <a:schemeClr val="dk1"/>
              </a:solidFill>
              <a:latin typeface="Calibri"/>
              <a:ea typeface="Calibri"/>
              <a:cs typeface="Calibri"/>
              <a:sym typeface="Calibri"/>
            </a:endParaRPr>
          </a:p>
        </p:txBody>
      </p:sp>
      <p:sp>
        <p:nvSpPr>
          <p:cNvPr id="22" name="Google Shape;22;p1"/>
          <p:cNvSpPr/>
          <p:nvPr/>
        </p:nvSpPr>
        <p:spPr>
          <a:xfrm>
            <a:off x="9436608" y="1527048"/>
            <a:ext cx="7232904" cy="7232904"/>
          </a:xfrm>
          <a:prstGeom prst="ellipse">
            <a:avLst/>
          </a:prstGeom>
          <a:solidFill>
            <a:srgbClr val="FDFBFB"/>
          </a:solidFill>
          <a:ln cap="flat" cmpd="sng" w="12700">
            <a:solidFill>
              <a:srgbClr val="FDFB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9852660" y="1943100"/>
            <a:ext cx="6400800" cy="6400800"/>
          </a:xfrm>
          <a:prstGeom prst="ellipse">
            <a:avLst/>
          </a:prstGeom>
          <a:solidFill>
            <a:srgbClr val="223F64"/>
          </a:solidFill>
          <a:ln cap="flat" cmpd="sng" w="12700">
            <a:solidFill>
              <a:srgbClr val="223F6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10949940" y="3040380"/>
            <a:ext cx="4206240" cy="4206240"/>
          </a:xfrm>
          <a:prstGeom prst="ellipse">
            <a:avLst/>
          </a:prstGeom>
          <a:solidFill>
            <a:srgbClr val="223F64"/>
          </a:solidFill>
          <a:ln cap="flat" cmpd="sng" w="25400">
            <a:solidFill>
              <a:srgbClr val="FDFB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txBox="1"/>
          <p:nvPr/>
        </p:nvSpPr>
        <p:spPr>
          <a:xfrm>
            <a:off x="11887200" y="4434840"/>
            <a:ext cx="233172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8EDDB"/>
              </a:buClr>
              <a:buSzPts val="3400"/>
              <a:buFont typeface="Arial"/>
              <a:buNone/>
            </a:pPr>
            <a:r>
              <a:rPr b="1" i="0" lang="en-US" sz="3400" u="none" cap="none" strike="noStrike">
                <a:solidFill>
                  <a:srgbClr val="F8EDDB"/>
                </a:solidFill>
                <a:latin typeface="Arial"/>
                <a:ea typeface="Arial"/>
                <a:cs typeface="Arial"/>
                <a:sym typeface="Arial"/>
              </a:rPr>
              <a:t>GO</a:t>
            </a:r>
            <a:endParaRPr b="0" i="0" sz="2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8EDDB"/>
              </a:buClr>
              <a:buSzPts val="2000"/>
              <a:buFont typeface="Arial"/>
              <a:buNone/>
            </a:pPr>
            <a:r>
              <a:rPr b="1" i="0" lang="en-US" sz="2000" u="none" cap="none" strike="noStrike">
                <a:solidFill>
                  <a:srgbClr val="F8EDDB"/>
                </a:solidFill>
                <a:latin typeface="Arial"/>
                <a:ea typeface="Arial"/>
                <a:cs typeface="Arial"/>
                <a:sym typeface="Arial"/>
              </a:rPr>
              <a:t>BASICS</a:t>
            </a:r>
            <a:endParaRPr b="0" i="0" sz="2400" u="none" cap="none" strike="noStrike">
              <a:solidFill>
                <a:schemeClr val="dk1"/>
              </a:solidFill>
              <a:latin typeface="Calibri"/>
              <a:ea typeface="Calibri"/>
              <a:cs typeface="Calibri"/>
              <a:sym typeface="Calibri"/>
            </a:endParaRPr>
          </a:p>
        </p:txBody>
      </p:sp>
      <p:sp>
        <p:nvSpPr>
          <p:cNvPr id="26" name="Google Shape;26;p1"/>
          <p:cNvSpPr/>
          <p:nvPr/>
        </p:nvSpPr>
        <p:spPr>
          <a:xfrm>
            <a:off x="12092940" y="2080260"/>
            <a:ext cx="1920240" cy="1920240"/>
          </a:xfrm>
          <a:prstGeom prst="ellipse">
            <a:avLst/>
          </a:prstGeom>
          <a:solidFill>
            <a:srgbClr val="F8EDDB"/>
          </a:solidFill>
          <a:ln cap="flat" cmpd="sng" w="25400">
            <a:solidFill>
              <a:srgbClr val="FDFB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 name="Google Shape;27;p1"/>
          <p:cNvPicPr preferRelativeResize="0"/>
          <p:nvPr/>
        </p:nvPicPr>
        <p:blipFill rotWithShape="1">
          <a:blip r:embed="rId4">
            <a:alphaModFix/>
          </a:blip>
          <a:srcRect b="0" l="0" r="0" t="0"/>
          <a:stretch/>
        </p:blipFill>
        <p:spPr>
          <a:xfrm>
            <a:off x="12778740" y="2473452"/>
            <a:ext cx="548640" cy="548640"/>
          </a:xfrm>
          <a:prstGeom prst="rect">
            <a:avLst/>
          </a:prstGeom>
          <a:noFill/>
          <a:ln>
            <a:noFill/>
          </a:ln>
        </p:spPr>
      </p:pic>
      <p:sp>
        <p:nvSpPr>
          <p:cNvPr id="28" name="Google Shape;28;p1"/>
          <p:cNvSpPr txBox="1"/>
          <p:nvPr/>
        </p:nvSpPr>
        <p:spPr>
          <a:xfrm>
            <a:off x="12138660" y="3131820"/>
            <a:ext cx="182880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23F64"/>
              </a:buClr>
              <a:buSzPts val="1600"/>
              <a:buFont typeface="Arial"/>
              <a:buNone/>
            </a:pPr>
            <a:r>
              <a:rPr b="1" i="0" lang="en-US" sz="1600" u="none" cap="none" strike="noStrike">
                <a:solidFill>
                  <a:srgbClr val="223F64"/>
                </a:solidFill>
                <a:latin typeface="Arial"/>
                <a:ea typeface="Arial"/>
                <a:cs typeface="Arial"/>
                <a:sym typeface="Arial"/>
              </a:rPr>
              <a:t>SETUP</a:t>
            </a:r>
            <a:endParaRPr b="0" i="0" sz="1600" u="none" cap="none" strike="noStrike">
              <a:solidFill>
                <a:schemeClr val="dk1"/>
              </a:solidFill>
              <a:latin typeface="Calibri"/>
              <a:ea typeface="Calibri"/>
              <a:cs typeface="Calibri"/>
              <a:sym typeface="Calibri"/>
            </a:endParaRPr>
          </a:p>
        </p:txBody>
      </p:sp>
      <p:sp>
        <p:nvSpPr>
          <p:cNvPr id="29" name="Google Shape;29;p1"/>
          <p:cNvSpPr/>
          <p:nvPr/>
        </p:nvSpPr>
        <p:spPr>
          <a:xfrm>
            <a:off x="14196060" y="4183380"/>
            <a:ext cx="1920240" cy="1920240"/>
          </a:xfrm>
          <a:prstGeom prst="ellipse">
            <a:avLst/>
          </a:prstGeom>
          <a:solidFill>
            <a:srgbClr val="F8EDDB"/>
          </a:solidFill>
          <a:ln cap="flat" cmpd="sng" w="25400">
            <a:solidFill>
              <a:srgbClr val="FDFB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 name="Google Shape;30;p1"/>
          <p:cNvPicPr preferRelativeResize="0"/>
          <p:nvPr/>
        </p:nvPicPr>
        <p:blipFill rotWithShape="1">
          <a:blip r:embed="rId5">
            <a:alphaModFix/>
          </a:blip>
          <a:srcRect b="0" l="0" r="0" t="0"/>
          <a:stretch/>
        </p:blipFill>
        <p:spPr>
          <a:xfrm>
            <a:off x="14881860" y="4576572"/>
            <a:ext cx="548640" cy="548640"/>
          </a:xfrm>
          <a:prstGeom prst="rect">
            <a:avLst/>
          </a:prstGeom>
          <a:noFill/>
          <a:ln>
            <a:noFill/>
          </a:ln>
        </p:spPr>
      </p:pic>
      <p:sp>
        <p:nvSpPr>
          <p:cNvPr id="31" name="Google Shape;31;p1"/>
          <p:cNvSpPr txBox="1"/>
          <p:nvPr/>
        </p:nvSpPr>
        <p:spPr>
          <a:xfrm>
            <a:off x="14241780" y="5234940"/>
            <a:ext cx="182880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23F64"/>
              </a:buClr>
              <a:buSzPts val="1600"/>
              <a:buFont typeface="Arial"/>
              <a:buNone/>
            </a:pPr>
            <a:r>
              <a:rPr b="1" i="0" lang="en-US" sz="1600" u="none" cap="none" strike="noStrike">
                <a:solidFill>
                  <a:srgbClr val="223F64"/>
                </a:solidFill>
                <a:latin typeface="Arial"/>
                <a:ea typeface="Arial"/>
                <a:cs typeface="Arial"/>
                <a:sym typeface="Arial"/>
              </a:rPr>
              <a:t>OPERATOR</a:t>
            </a:r>
            <a:endParaRPr b="0" i="0" sz="1600" u="none" cap="none" strike="noStrike">
              <a:solidFill>
                <a:schemeClr val="dk1"/>
              </a:solidFill>
              <a:latin typeface="Calibri"/>
              <a:ea typeface="Calibri"/>
              <a:cs typeface="Calibri"/>
              <a:sym typeface="Calibri"/>
            </a:endParaRPr>
          </a:p>
        </p:txBody>
      </p:sp>
      <p:sp>
        <p:nvSpPr>
          <p:cNvPr id="32" name="Google Shape;32;p1"/>
          <p:cNvSpPr/>
          <p:nvPr/>
        </p:nvSpPr>
        <p:spPr>
          <a:xfrm>
            <a:off x="12092940" y="6286500"/>
            <a:ext cx="1920240" cy="1920240"/>
          </a:xfrm>
          <a:prstGeom prst="ellipse">
            <a:avLst/>
          </a:prstGeom>
          <a:solidFill>
            <a:srgbClr val="F8EDDB"/>
          </a:solidFill>
          <a:ln cap="flat" cmpd="sng" w="25400">
            <a:solidFill>
              <a:srgbClr val="FDFB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1"/>
          <p:cNvPicPr preferRelativeResize="0"/>
          <p:nvPr/>
        </p:nvPicPr>
        <p:blipFill rotWithShape="1">
          <a:blip r:embed="rId6">
            <a:alphaModFix/>
          </a:blip>
          <a:srcRect b="0" l="0" r="0" t="0"/>
          <a:stretch/>
        </p:blipFill>
        <p:spPr>
          <a:xfrm>
            <a:off x="12778740" y="6679692"/>
            <a:ext cx="548640" cy="548640"/>
          </a:xfrm>
          <a:prstGeom prst="rect">
            <a:avLst/>
          </a:prstGeom>
          <a:noFill/>
          <a:ln>
            <a:noFill/>
          </a:ln>
        </p:spPr>
      </p:pic>
      <p:sp>
        <p:nvSpPr>
          <p:cNvPr id="34" name="Google Shape;34;p1"/>
          <p:cNvSpPr txBox="1"/>
          <p:nvPr/>
        </p:nvSpPr>
        <p:spPr>
          <a:xfrm>
            <a:off x="12138660" y="7338060"/>
            <a:ext cx="182880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23F64"/>
              </a:buClr>
              <a:buSzPts val="1600"/>
              <a:buFont typeface="Arial"/>
              <a:buNone/>
            </a:pPr>
            <a:r>
              <a:rPr b="1" i="0" lang="en-US" sz="1600" u="none" cap="none" strike="noStrike">
                <a:solidFill>
                  <a:srgbClr val="223F64"/>
                </a:solidFill>
                <a:latin typeface="Arial"/>
                <a:ea typeface="Arial"/>
                <a:cs typeface="Arial"/>
                <a:sym typeface="Arial"/>
              </a:rPr>
              <a:t>DATA TYPES</a:t>
            </a:r>
            <a:endParaRPr b="0" i="0" sz="1600" u="none" cap="none" strike="noStrike">
              <a:solidFill>
                <a:schemeClr val="dk1"/>
              </a:solidFill>
              <a:latin typeface="Calibri"/>
              <a:ea typeface="Calibri"/>
              <a:cs typeface="Calibri"/>
              <a:sym typeface="Calibri"/>
            </a:endParaRPr>
          </a:p>
        </p:txBody>
      </p:sp>
      <p:sp>
        <p:nvSpPr>
          <p:cNvPr id="35" name="Google Shape;35;p1"/>
          <p:cNvSpPr/>
          <p:nvPr/>
        </p:nvSpPr>
        <p:spPr>
          <a:xfrm>
            <a:off x="9989820" y="4183380"/>
            <a:ext cx="1920240" cy="1920240"/>
          </a:xfrm>
          <a:prstGeom prst="ellipse">
            <a:avLst/>
          </a:prstGeom>
          <a:solidFill>
            <a:srgbClr val="F8EDDB"/>
          </a:solidFill>
          <a:ln cap="flat" cmpd="sng" w="25400">
            <a:solidFill>
              <a:srgbClr val="FDFB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 name="Google Shape;36;p1"/>
          <p:cNvPicPr preferRelativeResize="0"/>
          <p:nvPr/>
        </p:nvPicPr>
        <p:blipFill rotWithShape="1">
          <a:blip r:embed="rId7">
            <a:alphaModFix/>
          </a:blip>
          <a:srcRect b="0" l="0" r="0" t="0"/>
          <a:stretch/>
        </p:blipFill>
        <p:spPr>
          <a:xfrm>
            <a:off x="10675620" y="4576572"/>
            <a:ext cx="548640" cy="548640"/>
          </a:xfrm>
          <a:prstGeom prst="rect">
            <a:avLst/>
          </a:prstGeom>
          <a:noFill/>
          <a:ln>
            <a:noFill/>
          </a:ln>
        </p:spPr>
      </p:pic>
      <p:sp>
        <p:nvSpPr>
          <p:cNvPr id="37" name="Google Shape;37;p1"/>
          <p:cNvSpPr txBox="1"/>
          <p:nvPr/>
        </p:nvSpPr>
        <p:spPr>
          <a:xfrm>
            <a:off x="10035540" y="5234940"/>
            <a:ext cx="182880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23F64"/>
              </a:buClr>
              <a:buSzPts val="1600"/>
              <a:buFont typeface="Arial"/>
              <a:buNone/>
            </a:pPr>
            <a:r>
              <a:rPr b="1" i="0" lang="en-US" sz="1600" u="none" cap="none" strike="noStrike">
                <a:solidFill>
                  <a:srgbClr val="223F64"/>
                </a:solidFill>
                <a:latin typeface="Arial"/>
                <a:ea typeface="Arial"/>
                <a:cs typeface="Arial"/>
                <a:sym typeface="Arial"/>
              </a:rPr>
              <a:t>VARIABLE</a:t>
            </a:r>
            <a:endParaRPr b="0" i="0" sz="1600" u="none" cap="none" strike="noStrike">
              <a:solidFill>
                <a:schemeClr val="dk1"/>
              </a:solidFill>
              <a:latin typeface="Calibri"/>
              <a:ea typeface="Calibri"/>
              <a:cs typeface="Calibri"/>
              <a:sym typeface="Calibri"/>
            </a:endParaRPr>
          </a:p>
        </p:txBody>
      </p:sp>
      <p:sp>
        <p:nvSpPr>
          <p:cNvPr id="38" name="Google Shape;38;p1"/>
          <p:cNvSpPr/>
          <p:nvPr/>
        </p:nvSpPr>
        <p:spPr>
          <a:xfrm>
            <a:off x="14173200" y="7635240"/>
            <a:ext cx="1344168" cy="1252728"/>
          </a:xfrm>
          <a:prstGeom prst="roundRect">
            <a:avLst>
              <a:gd fmla="val 14599" name="adj"/>
            </a:avLst>
          </a:prstGeom>
          <a:solidFill>
            <a:srgbClr val="FCDF59"/>
          </a:solidFill>
          <a:ln cap="flat" cmpd="sng" w="12700">
            <a:solidFill>
              <a:srgbClr val="FCDF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pic>
        <p:nvPicPr>
          <p:cNvPr descr="/home/claude/assets/image6.png" id="44" name="Google Shape;44;p2"/>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45" name="Google Shape;45;p2"/>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46" name="Google Shape;46;p2"/>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PEMBUKAAN · 5 MENIT</a:t>
            </a:r>
            <a:endParaRPr b="0" i="0" sz="2000" u="none" cap="none" strike="noStrike">
              <a:solidFill>
                <a:schemeClr val="dk1"/>
              </a:solidFill>
              <a:latin typeface="Calibri"/>
              <a:ea typeface="Calibri"/>
              <a:cs typeface="Calibri"/>
              <a:sym typeface="Calibri"/>
            </a:endParaRPr>
          </a:p>
        </p:txBody>
      </p:sp>
      <p:sp>
        <p:nvSpPr>
          <p:cNvPr id="47" name="Google Shape;47;p2"/>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Agenda 3 Jam</a:t>
            </a:r>
            <a:endParaRPr b="0" i="0" sz="4800" u="none" cap="none" strike="noStrike">
              <a:solidFill>
                <a:schemeClr val="dk1"/>
              </a:solidFill>
              <a:latin typeface="Calibri"/>
              <a:ea typeface="Calibri"/>
              <a:cs typeface="Calibri"/>
              <a:sym typeface="Calibri"/>
            </a:endParaRPr>
          </a:p>
        </p:txBody>
      </p:sp>
      <p:sp>
        <p:nvSpPr>
          <p:cNvPr id="48" name="Google Shape;48;p2"/>
          <p:cNvSpPr/>
          <p:nvPr/>
        </p:nvSpPr>
        <p:spPr>
          <a:xfrm>
            <a:off x="914400" y="4343400"/>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1143000" y="4444746"/>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00:00–00:05</a:t>
            </a:r>
            <a:endParaRPr b="0" i="0" sz="1800" u="none" cap="none" strike="noStrike">
              <a:solidFill>
                <a:schemeClr val="dk1"/>
              </a:solidFill>
              <a:latin typeface="Calibri"/>
              <a:ea typeface="Calibri"/>
              <a:cs typeface="Calibri"/>
              <a:sym typeface="Calibri"/>
            </a:endParaRPr>
          </a:p>
        </p:txBody>
      </p:sp>
      <p:sp>
        <p:nvSpPr>
          <p:cNvPr id="50" name="Google Shape;50;p2"/>
          <p:cNvSpPr txBox="1"/>
          <p:nvPr/>
        </p:nvSpPr>
        <p:spPr>
          <a:xfrm>
            <a:off x="3840480" y="4343400"/>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Pembukaan</a:t>
            </a:r>
            <a:endParaRPr b="0" i="0" sz="2200" u="none" cap="none" strike="noStrike">
              <a:solidFill>
                <a:schemeClr val="dk1"/>
              </a:solidFill>
              <a:latin typeface="Calibri"/>
              <a:ea typeface="Calibri"/>
              <a:cs typeface="Calibri"/>
              <a:sym typeface="Calibri"/>
            </a:endParaRPr>
          </a:p>
        </p:txBody>
      </p:sp>
      <p:sp>
        <p:nvSpPr>
          <p:cNvPr id="51" name="Google Shape;51;p2"/>
          <p:cNvSpPr txBox="1"/>
          <p:nvPr/>
        </p:nvSpPr>
        <p:spPr>
          <a:xfrm>
            <a:off x="7772400" y="4343400"/>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5'</a:t>
            </a:r>
            <a:endParaRPr b="0" i="0" sz="2100" u="none" cap="none" strike="noStrike">
              <a:solidFill>
                <a:schemeClr val="dk1"/>
              </a:solidFill>
              <a:latin typeface="Calibri"/>
              <a:ea typeface="Calibri"/>
              <a:cs typeface="Calibri"/>
              <a:sym typeface="Calibri"/>
            </a:endParaRPr>
          </a:p>
        </p:txBody>
      </p:sp>
      <p:sp>
        <p:nvSpPr>
          <p:cNvPr id="52" name="Google Shape;52;p2"/>
          <p:cNvSpPr/>
          <p:nvPr/>
        </p:nvSpPr>
        <p:spPr>
          <a:xfrm>
            <a:off x="914400" y="5222748"/>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1143000" y="5324094"/>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00:05–00:20</a:t>
            </a:r>
            <a:endParaRPr b="0" i="0" sz="1800" u="none" cap="none" strike="noStrike">
              <a:solidFill>
                <a:schemeClr val="dk1"/>
              </a:solidFill>
              <a:latin typeface="Calibri"/>
              <a:ea typeface="Calibri"/>
              <a:cs typeface="Calibri"/>
              <a:sym typeface="Calibri"/>
            </a:endParaRPr>
          </a:p>
        </p:txBody>
      </p:sp>
      <p:sp>
        <p:nvSpPr>
          <p:cNvPr id="54" name="Google Shape;54;p2"/>
          <p:cNvSpPr txBox="1"/>
          <p:nvPr/>
        </p:nvSpPr>
        <p:spPr>
          <a:xfrm>
            <a:off x="3840480" y="5222748"/>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Apa itu Go?</a:t>
            </a:r>
            <a:endParaRPr b="0" i="0" sz="2200" u="none" cap="none" strike="noStrike">
              <a:solidFill>
                <a:schemeClr val="dk1"/>
              </a:solidFill>
              <a:latin typeface="Calibri"/>
              <a:ea typeface="Calibri"/>
              <a:cs typeface="Calibri"/>
              <a:sym typeface="Calibri"/>
            </a:endParaRPr>
          </a:p>
        </p:txBody>
      </p:sp>
      <p:sp>
        <p:nvSpPr>
          <p:cNvPr id="55" name="Google Shape;55;p2"/>
          <p:cNvSpPr txBox="1"/>
          <p:nvPr/>
        </p:nvSpPr>
        <p:spPr>
          <a:xfrm>
            <a:off x="7772400" y="5222748"/>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15'</a:t>
            </a:r>
            <a:endParaRPr b="0" i="0" sz="2100" u="none" cap="none" strike="noStrike">
              <a:solidFill>
                <a:schemeClr val="dk1"/>
              </a:solidFill>
              <a:latin typeface="Calibri"/>
              <a:ea typeface="Calibri"/>
              <a:cs typeface="Calibri"/>
              <a:sym typeface="Calibri"/>
            </a:endParaRPr>
          </a:p>
        </p:txBody>
      </p:sp>
      <p:sp>
        <p:nvSpPr>
          <p:cNvPr id="56" name="Google Shape;56;p2"/>
          <p:cNvSpPr/>
          <p:nvPr/>
        </p:nvSpPr>
        <p:spPr>
          <a:xfrm>
            <a:off x="914400" y="6102096"/>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1143000" y="6203442"/>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00:20–00:45</a:t>
            </a:r>
            <a:endParaRPr b="0" i="0" sz="1800" u="none" cap="none" strike="noStrike">
              <a:solidFill>
                <a:schemeClr val="dk1"/>
              </a:solidFill>
              <a:latin typeface="Calibri"/>
              <a:ea typeface="Calibri"/>
              <a:cs typeface="Calibri"/>
              <a:sym typeface="Calibri"/>
            </a:endParaRPr>
          </a:p>
        </p:txBody>
      </p:sp>
      <p:sp>
        <p:nvSpPr>
          <p:cNvPr id="58" name="Google Shape;58;p2"/>
          <p:cNvSpPr txBox="1"/>
          <p:nvPr/>
        </p:nvSpPr>
        <p:spPr>
          <a:xfrm>
            <a:off x="3840480" y="6102096"/>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Instalasi &amp; setup</a:t>
            </a:r>
            <a:endParaRPr b="0" i="0" sz="2200" u="none" cap="none" strike="noStrike">
              <a:solidFill>
                <a:schemeClr val="dk1"/>
              </a:solidFill>
              <a:latin typeface="Calibri"/>
              <a:ea typeface="Calibri"/>
              <a:cs typeface="Calibri"/>
              <a:sym typeface="Calibri"/>
            </a:endParaRPr>
          </a:p>
        </p:txBody>
      </p:sp>
      <p:sp>
        <p:nvSpPr>
          <p:cNvPr id="59" name="Google Shape;59;p2"/>
          <p:cNvSpPr txBox="1"/>
          <p:nvPr/>
        </p:nvSpPr>
        <p:spPr>
          <a:xfrm>
            <a:off x="7772400" y="6102096"/>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25'</a:t>
            </a:r>
            <a:endParaRPr b="0" i="0" sz="2100" u="none" cap="none" strike="noStrike">
              <a:solidFill>
                <a:schemeClr val="dk1"/>
              </a:solidFill>
              <a:latin typeface="Calibri"/>
              <a:ea typeface="Calibri"/>
              <a:cs typeface="Calibri"/>
              <a:sym typeface="Calibri"/>
            </a:endParaRPr>
          </a:p>
        </p:txBody>
      </p:sp>
      <p:sp>
        <p:nvSpPr>
          <p:cNvPr id="60" name="Google Shape;60;p2"/>
          <p:cNvSpPr/>
          <p:nvPr/>
        </p:nvSpPr>
        <p:spPr>
          <a:xfrm>
            <a:off x="914400" y="6981444"/>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1143000" y="7082790"/>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00:45–01:00</a:t>
            </a:r>
            <a:endParaRPr b="0" i="0" sz="1800" u="none" cap="none" strike="noStrike">
              <a:solidFill>
                <a:schemeClr val="dk1"/>
              </a:solidFill>
              <a:latin typeface="Calibri"/>
              <a:ea typeface="Calibri"/>
              <a:cs typeface="Calibri"/>
              <a:sym typeface="Calibri"/>
            </a:endParaRPr>
          </a:p>
        </p:txBody>
      </p:sp>
      <p:sp>
        <p:nvSpPr>
          <p:cNvPr id="62" name="Google Shape;62;p2"/>
          <p:cNvSpPr txBox="1"/>
          <p:nvPr/>
        </p:nvSpPr>
        <p:spPr>
          <a:xfrm>
            <a:off x="3840480" y="6981444"/>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Struktur proyek &amp; Hello World</a:t>
            </a:r>
            <a:endParaRPr b="0" i="0" sz="2200" u="none" cap="none" strike="noStrike">
              <a:solidFill>
                <a:schemeClr val="dk1"/>
              </a:solidFill>
              <a:latin typeface="Calibri"/>
              <a:ea typeface="Calibri"/>
              <a:cs typeface="Calibri"/>
              <a:sym typeface="Calibri"/>
            </a:endParaRPr>
          </a:p>
        </p:txBody>
      </p:sp>
      <p:sp>
        <p:nvSpPr>
          <p:cNvPr id="63" name="Google Shape;63;p2"/>
          <p:cNvSpPr txBox="1"/>
          <p:nvPr/>
        </p:nvSpPr>
        <p:spPr>
          <a:xfrm>
            <a:off x="7772400" y="6981444"/>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15'</a:t>
            </a:r>
            <a:endParaRPr b="0" i="0" sz="2100" u="none" cap="none" strike="noStrike">
              <a:solidFill>
                <a:schemeClr val="dk1"/>
              </a:solidFill>
              <a:latin typeface="Calibri"/>
              <a:ea typeface="Calibri"/>
              <a:cs typeface="Calibri"/>
              <a:sym typeface="Calibri"/>
            </a:endParaRPr>
          </a:p>
        </p:txBody>
      </p:sp>
      <p:sp>
        <p:nvSpPr>
          <p:cNvPr id="64" name="Google Shape;64;p2"/>
          <p:cNvSpPr/>
          <p:nvPr/>
        </p:nvSpPr>
        <p:spPr>
          <a:xfrm>
            <a:off x="914400" y="7860792"/>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1143000" y="7962138"/>
            <a:ext cx="2468880" cy="566928"/>
          </a:xfrm>
          <a:prstGeom prst="roundRect">
            <a:avLst>
              <a:gd fmla="val 19355" name="adj"/>
            </a:avLst>
          </a:prstGeom>
          <a:solidFill>
            <a:srgbClr val="FCDF59"/>
          </a:solidFill>
          <a:ln cap="flat" cmpd="sng" w="9525">
            <a:solidFill>
              <a:srgbClr val="FCDF59"/>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1800"/>
              <a:buFont typeface="Calibri"/>
              <a:buNone/>
            </a:pPr>
            <a:r>
              <a:rPr b="1" i="0" lang="en-US" sz="1800" u="none" cap="none" strike="noStrike">
                <a:solidFill>
                  <a:srgbClr val="13123D"/>
                </a:solidFill>
                <a:latin typeface="Calibri"/>
                <a:ea typeface="Calibri"/>
                <a:cs typeface="Calibri"/>
                <a:sym typeface="Calibri"/>
              </a:rPr>
              <a:t>01:00–01:10</a:t>
            </a:r>
            <a:endParaRPr b="0" i="0" sz="1800" u="none" cap="none" strike="noStrike">
              <a:solidFill>
                <a:schemeClr val="dk1"/>
              </a:solidFill>
              <a:latin typeface="Calibri"/>
              <a:ea typeface="Calibri"/>
              <a:cs typeface="Calibri"/>
              <a:sym typeface="Calibri"/>
            </a:endParaRPr>
          </a:p>
        </p:txBody>
      </p:sp>
      <p:sp>
        <p:nvSpPr>
          <p:cNvPr id="66" name="Google Shape;66;p2"/>
          <p:cNvSpPr txBox="1"/>
          <p:nvPr/>
        </p:nvSpPr>
        <p:spPr>
          <a:xfrm>
            <a:off x="3840480" y="7860792"/>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Istirahat</a:t>
            </a:r>
            <a:endParaRPr b="0" i="0" sz="2200" u="none" cap="none" strike="noStrike">
              <a:solidFill>
                <a:schemeClr val="dk1"/>
              </a:solidFill>
              <a:latin typeface="Calibri"/>
              <a:ea typeface="Calibri"/>
              <a:cs typeface="Calibri"/>
              <a:sym typeface="Calibri"/>
            </a:endParaRPr>
          </a:p>
        </p:txBody>
      </p:sp>
      <p:sp>
        <p:nvSpPr>
          <p:cNvPr id="67" name="Google Shape;67;p2"/>
          <p:cNvSpPr txBox="1"/>
          <p:nvPr/>
        </p:nvSpPr>
        <p:spPr>
          <a:xfrm>
            <a:off x="7772400" y="7860792"/>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10'</a:t>
            </a:r>
            <a:endParaRPr b="0" i="0" sz="2100" u="none" cap="none" strike="noStrike">
              <a:solidFill>
                <a:schemeClr val="dk1"/>
              </a:solidFill>
              <a:latin typeface="Calibri"/>
              <a:ea typeface="Calibri"/>
              <a:cs typeface="Calibri"/>
              <a:sym typeface="Calibri"/>
            </a:endParaRPr>
          </a:p>
        </p:txBody>
      </p:sp>
      <p:sp>
        <p:nvSpPr>
          <p:cNvPr id="68" name="Google Shape;68;p2"/>
          <p:cNvSpPr/>
          <p:nvPr/>
        </p:nvSpPr>
        <p:spPr>
          <a:xfrm>
            <a:off x="914400" y="8740140"/>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1143000" y="8841486"/>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01:10–01:30</a:t>
            </a:r>
            <a:endParaRPr b="0" i="0" sz="1800" u="none" cap="none" strike="noStrike">
              <a:solidFill>
                <a:schemeClr val="dk1"/>
              </a:solidFill>
              <a:latin typeface="Calibri"/>
              <a:ea typeface="Calibri"/>
              <a:cs typeface="Calibri"/>
              <a:sym typeface="Calibri"/>
            </a:endParaRPr>
          </a:p>
        </p:txBody>
      </p:sp>
      <p:sp>
        <p:nvSpPr>
          <p:cNvPr id="70" name="Google Shape;70;p2"/>
          <p:cNvSpPr txBox="1"/>
          <p:nvPr/>
        </p:nvSpPr>
        <p:spPr>
          <a:xfrm>
            <a:off x="3840480" y="8740140"/>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Variabel &amp; konstanta</a:t>
            </a:r>
            <a:endParaRPr b="0" i="0" sz="2200" u="none" cap="none" strike="noStrike">
              <a:solidFill>
                <a:schemeClr val="dk1"/>
              </a:solidFill>
              <a:latin typeface="Calibri"/>
              <a:ea typeface="Calibri"/>
              <a:cs typeface="Calibri"/>
              <a:sym typeface="Calibri"/>
            </a:endParaRPr>
          </a:p>
        </p:txBody>
      </p:sp>
      <p:sp>
        <p:nvSpPr>
          <p:cNvPr id="71" name="Google Shape;71;p2"/>
          <p:cNvSpPr txBox="1"/>
          <p:nvPr/>
        </p:nvSpPr>
        <p:spPr>
          <a:xfrm>
            <a:off x="7772400" y="8740140"/>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20'</a:t>
            </a:r>
            <a:endParaRPr b="0" i="0" sz="2100" u="none" cap="none" strike="noStrike">
              <a:solidFill>
                <a:schemeClr val="dk1"/>
              </a:solidFill>
              <a:latin typeface="Calibri"/>
              <a:ea typeface="Calibri"/>
              <a:cs typeface="Calibri"/>
              <a:sym typeface="Calibri"/>
            </a:endParaRPr>
          </a:p>
        </p:txBody>
      </p:sp>
      <p:sp>
        <p:nvSpPr>
          <p:cNvPr id="72" name="Google Shape;72;p2"/>
          <p:cNvSpPr/>
          <p:nvPr/>
        </p:nvSpPr>
        <p:spPr>
          <a:xfrm>
            <a:off x="9418320" y="4343400"/>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9646920" y="4444746"/>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01:30–01:45</a:t>
            </a:r>
            <a:endParaRPr b="0" i="0" sz="1800" u="none" cap="none" strike="noStrike">
              <a:solidFill>
                <a:schemeClr val="dk1"/>
              </a:solidFill>
              <a:latin typeface="Calibri"/>
              <a:ea typeface="Calibri"/>
              <a:cs typeface="Calibri"/>
              <a:sym typeface="Calibri"/>
            </a:endParaRPr>
          </a:p>
        </p:txBody>
      </p:sp>
      <p:sp>
        <p:nvSpPr>
          <p:cNvPr id="74" name="Google Shape;74;p2"/>
          <p:cNvSpPr txBox="1"/>
          <p:nvPr/>
        </p:nvSpPr>
        <p:spPr>
          <a:xfrm>
            <a:off x="12344400" y="4343400"/>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Tipe data dasar</a:t>
            </a:r>
            <a:endParaRPr b="0" i="0" sz="2200" u="none" cap="none" strike="noStrike">
              <a:solidFill>
                <a:schemeClr val="dk1"/>
              </a:solidFill>
              <a:latin typeface="Calibri"/>
              <a:ea typeface="Calibri"/>
              <a:cs typeface="Calibri"/>
              <a:sym typeface="Calibri"/>
            </a:endParaRPr>
          </a:p>
        </p:txBody>
      </p:sp>
      <p:sp>
        <p:nvSpPr>
          <p:cNvPr id="75" name="Google Shape;75;p2"/>
          <p:cNvSpPr txBox="1"/>
          <p:nvPr/>
        </p:nvSpPr>
        <p:spPr>
          <a:xfrm>
            <a:off x="16276320" y="4343400"/>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15'</a:t>
            </a:r>
            <a:endParaRPr b="0" i="0" sz="2100" u="none" cap="none" strike="noStrike">
              <a:solidFill>
                <a:schemeClr val="dk1"/>
              </a:solidFill>
              <a:latin typeface="Calibri"/>
              <a:ea typeface="Calibri"/>
              <a:cs typeface="Calibri"/>
              <a:sym typeface="Calibri"/>
            </a:endParaRPr>
          </a:p>
        </p:txBody>
      </p:sp>
      <p:sp>
        <p:nvSpPr>
          <p:cNvPr id="76" name="Google Shape;76;p2"/>
          <p:cNvSpPr/>
          <p:nvPr/>
        </p:nvSpPr>
        <p:spPr>
          <a:xfrm>
            <a:off x="9418320" y="5222748"/>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9646920" y="5324094"/>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01:45–01:55</a:t>
            </a:r>
            <a:endParaRPr b="0" i="0" sz="1800" u="none" cap="none" strike="noStrike">
              <a:solidFill>
                <a:schemeClr val="dk1"/>
              </a:solidFill>
              <a:latin typeface="Calibri"/>
              <a:ea typeface="Calibri"/>
              <a:cs typeface="Calibri"/>
              <a:sym typeface="Calibri"/>
            </a:endParaRPr>
          </a:p>
        </p:txBody>
      </p:sp>
      <p:sp>
        <p:nvSpPr>
          <p:cNvPr id="78" name="Google Shape;78;p2"/>
          <p:cNvSpPr txBox="1"/>
          <p:nvPr/>
        </p:nvSpPr>
        <p:spPr>
          <a:xfrm>
            <a:off x="12344400" y="5222748"/>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Operator</a:t>
            </a:r>
            <a:endParaRPr b="0" i="0" sz="2200" u="none" cap="none" strike="noStrike">
              <a:solidFill>
                <a:schemeClr val="dk1"/>
              </a:solidFill>
              <a:latin typeface="Calibri"/>
              <a:ea typeface="Calibri"/>
              <a:cs typeface="Calibri"/>
              <a:sym typeface="Calibri"/>
            </a:endParaRPr>
          </a:p>
        </p:txBody>
      </p:sp>
      <p:sp>
        <p:nvSpPr>
          <p:cNvPr id="79" name="Google Shape;79;p2"/>
          <p:cNvSpPr txBox="1"/>
          <p:nvPr/>
        </p:nvSpPr>
        <p:spPr>
          <a:xfrm>
            <a:off x="16276320" y="5222748"/>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10'</a:t>
            </a:r>
            <a:endParaRPr b="0" i="0" sz="2100" u="none" cap="none" strike="noStrike">
              <a:solidFill>
                <a:schemeClr val="dk1"/>
              </a:solidFill>
              <a:latin typeface="Calibri"/>
              <a:ea typeface="Calibri"/>
              <a:cs typeface="Calibri"/>
              <a:sym typeface="Calibri"/>
            </a:endParaRPr>
          </a:p>
        </p:txBody>
      </p:sp>
      <p:sp>
        <p:nvSpPr>
          <p:cNvPr id="80" name="Google Shape;80;p2"/>
          <p:cNvSpPr/>
          <p:nvPr/>
        </p:nvSpPr>
        <p:spPr>
          <a:xfrm>
            <a:off x="9418320" y="6102096"/>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9646920" y="6203442"/>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01:55–02:20</a:t>
            </a:r>
            <a:endParaRPr b="0" i="0" sz="1800" u="none" cap="none" strike="noStrike">
              <a:solidFill>
                <a:schemeClr val="dk1"/>
              </a:solidFill>
              <a:latin typeface="Calibri"/>
              <a:ea typeface="Calibri"/>
              <a:cs typeface="Calibri"/>
              <a:sym typeface="Calibri"/>
            </a:endParaRPr>
          </a:p>
        </p:txBody>
      </p:sp>
      <p:sp>
        <p:nvSpPr>
          <p:cNvPr id="82" name="Google Shape;82;p2"/>
          <p:cNvSpPr txBox="1"/>
          <p:nvPr/>
        </p:nvSpPr>
        <p:spPr>
          <a:xfrm>
            <a:off x="12344400" y="6102096"/>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Latihan hands-on</a:t>
            </a:r>
            <a:endParaRPr b="0" i="0" sz="2200" u="none" cap="none" strike="noStrike">
              <a:solidFill>
                <a:schemeClr val="dk1"/>
              </a:solidFill>
              <a:latin typeface="Calibri"/>
              <a:ea typeface="Calibri"/>
              <a:cs typeface="Calibri"/>
              <a:sym typeface="Calibri"/>
            </a:endParaRPr>
          </a:p>
        </p:txBody>
      </p:sp>
      <p:sp>
        <p:nvSpPr>
          <p:cNvPr id="83" name="Google Shape;83;p2"/>
          <p:cNvSpPr txBox="1"/>
          <p:nvPr/>
        </p:nvSpPr>
        <p:spPr>
          <a:xfrm>
            <a:off x="16276320" y="6102096"/>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25'</a:t>
            </a:r>
            <a:endParaRPr b="0" i="0" sz="2100" u="none" cap="none" strike="noStrike">
              <a:solidFill>
                <a:schemeClr val="dk1"/>
              </a:solidFill>
              <a:latin typeface="Calibri"/>
              <a:ea typeface="Calibri"/>
              <a:cs typeface="Calibri"/>
              <a:sym typeface="Calibri"/>
            </a:endParaRPr>
          </a:p>
        </p:txBody>
      </p:sp>
      <p:sp>
        <p:nvSpPr>
          <p:cNvPr id="84" name="Google Shape;84;p2"/>
          <p:cNvSpPr/>
          <p:nvPr/>
        </p:nvSpPr>
        <p:spPr>
          <a:xfrm>
            <a:off x="9418320" y="6981444"/>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9646920" y="7082790"/>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02:20–02:55</a:t>
            </a:r>
            <a:endParaRPr b="0" i="0" sz="1800" u="none" cap="none" strike="noStrike">
              <a:solidFill>
                <a:schemeClr val="dk1"/>
              </a:solidFill>
              <a:latin typeface="Calibri"/>
              <a:ea typeface="Calibri"/>
              <a:cs typeface="Calibri"/>
              <a:sym typeface="Calibri"/>
            </a:endParaRPr>
          </a:p>
        </p:txBody>
      </p:sp>
      <p:sp>
        <p:nvSpPr>
          <p:cNvPr id="86" name="Google Shape;86;p2"/>
          <p:cNvSpPr txBox="1"/>
          <p:nvPr/>
        </p:nvSpPr>
        <p:spPr>
          <a:xfrm>
            <a:off x="12344400" y="6981444"/>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Soft skill: komunikasi</a:t>
            </a:r>
            <a:endParaRPr b="0" i="0" sz="2200" u="none" cap="none" strike="noStrike">
              <a:solidFill>
                <a:schemeClr val="dk1"/>
              </a:solidFill>
              <a:latin typeface="Calibri"/>
              <a:ea typeface="Calibri"/>
              <a:cs typeface="Calibri"/>
              <a:sym typeface="Calibri"/>
            </a:endParaRPr>
          </a:p>
        </p:txBody>
      </p:sp>
      <p:sp>
        <p:nvSpPr>
          <p:cNvPr id="87" name="Google Shape;87;p2"/>
          <p:cNvSpPr txBox="1"/>
          <p:nvPr/>
        </p:nvSpPr>
        <p:spPr>
          <a:xfrm>
            <a:off x="16276320" y="6981444"/>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35'</a:t>
            </a:r>
            <a:endParaRPr b="0" i="0" sz="2100" u="none" cap="none" strike="noStrike">
              <a:solidFill>
                <a:schemeClr val="dk1"/>
              </a:solidFill>
              <a:latin typeface="Calibri"/>
              <a:ea typeface="Calibri"/>
              <a:cs typeface="Calibri"/>
              <a:sym typeface="Calibri"/>
            </a:endParaRPr>
          </a:p>
        </p:txBody>
      </p:sp>
      <p:sp>
        <p:nvSpPr>
          <p:cNvPr id="88" name="Google Shape;88;p2"/>
          <p:cNvSpPr/>
          <p:nvPr/>
        </p:nvSpPr>
        <p:spPr>
          <a:xfrm>
            <a:off x="9418320" y="7860792"/>
            <a:ext cx="7955280" cy="769620"/>
          </a:xfrm>
          <a:prstGeom prst="roundRect">
            <a:avLst>
              <a:gd fmla="val 178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9646920" y="7962138"/>
            <a:ext cx="2468880" cy="566928"/>
          </a:xfrm>
          <a:prstGeom prst="roundRect">
            <a:avLst>
              <a:gd fmla="val 19355"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02:55–03:00</a:t>
            </a:r>
            <a:endParaRPr b="0" i="0" sz="1800" u="none" cap="none" strike="noStrike">
              <a:solidFill>
                <a:schemeClr val="dk1"/>
              </a:solidFill>
              <a:latin typeface="Calibri"/>
              <a:ea typeface="Calibri"/>
              <a:cs typeface="Calibri"/>
              <a:sym typeface="Calibri"/>
            </a:endParaRPr>
          </a:p>
        </p:txBody>
      </p:sp>
      <p:sp>
        <p:nvSpPr>
          <p:cNvPr id="90" name="Google Shape;90;p2"/>
          <p:cNvSpPr txBox="1"/>
          <p:nvPr/>
        </p:nvSpPr>
        <p:spPr>
          <a:xfrm>
            <a:off x="12344400" y="7860792"/>
            <a:ext cx="3931920" cy="7696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Penutup &amp; tugas</a:t>
            </a:r>
            <a:endParaRPr b="0" i="0" sz="2200" u="none" cap="none" strike="noStrike">
              <a:solidFill>
                <a:schemeClr val="dk1"/>
              </a:solidFill>
              <a:latin typeface="Calibri"/>
              <a:ea typeface="Calibri"/>
              <a:cs typeface="Calibri"/>
              <a:sym typeface="Calibri"/>
            </a:endParaRPr>
          </a:p>
        </p:txBody>
      </p:sp>
      <p:sp>
        <p:nvSpPr>
          <p:cNvPr id="91" name="Google Shape;91;p2"/>
          <p:cNvSpPr txBox="1"/>
          <p:nvPr/>
        </p:nvSpPr>
        <p:spPr>
          <a:xfrm>
            <a:off x="16276320" y="7860792"/>
            <a:ext cx="914400" cy="7696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5'</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descr="/home/claude/assets/image6.png" id="97" name="Google Shape;97;p3"/>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98" name="Google Shape;98;p3"/>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99" name="Google Shape;99;p3"/>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PEMBUKAAN · 5 MENIT</a:t>
            </a:r>
            <a:endParaRPr b="0" i="0" sz="2000" u="none" cap="none" strike="noStrike">
              <a:solidFill>
                <a:schemeClr val="dk1"/>
              </a:solidFill>
              <a:latin typeface="Calibri"/>
              <a:ea typeface="Calibri"/>
              <a:cs typeface="Calibri"/>
              <a:sym typeface="Calibri"/>
            </a:endParaRPr>
          </a:p>
        </p:txBody>
      </p:sp>
      <p:sp>
        <p:nvSpPr>
          <p:cNvPr id="100" name="Google Shape;100;p3"/>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Tujuan Pembelajaran</a:t>
            </a:r>
            <a:endParaRPr b="0" i="0" sz="4800" u="none" cap="none" strike="noStrike">
              <a:solidFill>
                <a:schemeClr val="dk1"/>
              </a:solidFill>
              <a:latin typeface="Calibri"/>
              <a:ea typeface="Calibri"/>
              <a:cs typeface="Calibri"/>
              <a:sym typeface="Calibri"/>
            </a:endParaRPr>
          </a:p>
        </p:txBody>
      </p:sp>
      <p:sp>
        <p:nvSpPr>
          <p:cNvPr id="101" name="Google Shape;101;p3"/>
          <p:cNvSpPr/>
          <p:nvPr/>
        </p:nvSpPr>
        <p:spPr>
          <a:xfrm>
            <a:off x="914400" y="4343400"/>
            <a:ext cx="79552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1234440" y="502920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 name="Google Shape;103;p3"/>
          <p:cNvPicPr preferRelativeResize="0"/>
          <p:nvPr/>
        </p:nvPicPr>
        <p:blipFill rotWithShape="1">
          <a:blip r:embed="rId5">
            <a:alphaModFix/>
          </a:blip>
          <a:srcRect b="0" l="0" r="0" t="0"/>
          <a:stretch/>
        </p:blipFill>
        <p:spPr>
          <a:xfrm>
            <a:off x="1497787" y="5292547"/>
            <a:ext cx="570586" cy="570586"/>
          </a:xfrm>
          <a:prstGeom prst="rect">
            <a:avLst/>
          </a:prstGeom>
          <a:noFill/>
          <a:ln>
            <a:noFill/>
          </a:ln>
        </p:spPr>
      </p:pic>
      <p:sp>
        <p:nvSpPr>
          <p:cNvPr id="104" name="Google Shape;104;p3"/>
          <p:cNvSpPr txBox="1"/>
          <p:nvPr/>
        </p:nvSpPr>
        <p:spPr>
          <a:xfrm>
            <a:off x="2697480" y="4709160"/>
            <a:ext cx="5943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Mengenal Go</a:t>
            </a:r>
            <a:endParaRPr b="0" i="0" sz="2800" u="none" cap="none" strike="noStrike">
              <a:solidFill>
                <a:schemeClr val="dk1"/>
              </a:solidFill>
              <a:latin typeface="Calibri"/>
              <a:ea typeface="Calibri"/>
              <a:cs typeface="Calibri"/>
              <a:sym typeface="Calibri"/>
            </a:endParaRPr>
          </a:p>
        </p:txBody>
      </p:sp>
      <p:sp>
        <p:nvSpPr>
          <p:cNvPr id="105" name="Google Shape;105;p3"/>
          <p:cNvSpPr txBox="1"/>
          <p:nvPr/>
        </p:nvSpPr>
        <p:spPr>
          <a:xfrm>
            <a:off x="2697480" y="5349240"/>
            <a:ext cx="58521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Menjelaskan sejarah, keunggulan, dan filosofi Go.</a:t>
            </a:r>
            <a:endParaRPr b="0" i="0" sz="2200" u="none" cap="none" strike="noStrike">
              <a:solidFill>
                <a:schemeClr val="dk1"/>
              </a:solidFill>
              <a:latin typeface="Calibri"/>
              <a:ea typeface="Calibri"/>
              <a:cs typeface="Calibri"/>
              <a:sym typeface="Calibri"/>
            </a:endParaRPr>
          </a:p>
        </p:txBody>
      </p:sp>
      <p:sp>
        <p:nvSpPr>
          <p:cNvPr id="106" name="Google Shape;106;p3"/>
          <p:cNvSpPr/>
          <p:nvPr/>
        </p:nvSpPr>
        <p:spPr>
          <a:xfrm>
            <a:off x="9418320" y="4343400"/>
            <a:ext cx="79552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9738360" y="502920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 name="Google Shape;108;p3"/>
          <p:cNvPicPr preferRelativeResize="0"/>
          <p:nvPr/>
        </p:nvPicPr>
        <p:blipFill rotWithShape="1">
          <a:blip r:embed="rId6">
            <a:alphaModFix/>
          </a:blip>
          <a:srcRect b="0" l="0" r="0" t="0"/>
          <a:stretch/>
        </p:blipFill>
        <p:spPr>
          <a:xfrm>
            <a:off x="10001707" y="5292547"/>
            <a:ext cx="570586" cy="570586"/>
          </a:xfrm>
          <a:prstGeom prst="rect">
            <a:avLst/>
          </a:prstGeom>
          <a:noFill/>
          <a:ln>
            <a:noFill/>
          </a:ln>
        </p:spPr>
      </p:pic>
      <p:sp>
        <p:nvSpPr>
          <p:cNvPr id="109" name="Google Shape;109;p3"/>
          <p:cNvSpPr txBox="1"/>
          <p:nvPr/>
        </p:nvSpPr>
        <p:spPr>
          <a:xfrm>
            <a:off x="11201400" y="4709160"/>
            <a:ext cx="5943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Menyiapkan lingkungan</a:t>
            </a:r>
            <a:endParaRPr b="0" i="0" sz="2800" u="none" cap="none" strike="noStrike">
              <a:solidFill>
                <a:schemeClr val="dk1"/>
              </a:solidFill>
              <a:latin typeface="Calibri"/>
              <a:ea typeface="Calibri"/>
              <a:cs typeface="Calibri"/>
              <a:sym typeface="Calibri"/>
            </a:endParaRPr>
          </a:p>
        </p:txBody>
      </p:sp>
      <p:sp>
        <p:nvSpPr>
          <p:cNvPr id="110" name="Google Shape;110;p3"/>
          <p:cNvSpPr txBox="1"/>
          <p:nvPr/>
        </p:nvSpPr>
        <p:spPr>
          <a:xfrm>
            <a:off x="11201400" y="5349240"/>
            <a:ext cx="58521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Memasang Go SDK, VS Code, dan membuat Go module.</a:t>
            </a:r>
            <a:endParaRPr b="0" i="0" sz="2200" u="none" cap="none" strike="noStrike">
              <a:solidFill>
                <a:schemeClr val="dk1"/>
              </a:solidFill>
              <a:latin typeface="Calibri"/>
              <a:ea typeface="Calibri"/>
              <a:cs typeface="Calibri"/>
              <a:sym typeface="Calibri"/>
            </a:endParaRPr>
          </a:p>
        </p:txBody>
      </p:sp>
      <p:sp>
        <p:nvSpPr>
          <p:cNvPr id="111" name="Google Shape;111;p3"/>
          <p:cNvSpPr/>
          <p:nvPr/>
        </p:nvSpPr>
        <p:spPr>
          <a:xfrm>
            <a:off x="914400" y="7086600"/>
            <a:ext cx="79552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1234440" y="777240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 name="Google Shape;113;p3"/>
          <p:cNvPicPr preferRelativeResize="0"/>
          <p:nvPr/>
        </p:nvPicPr>
        <p:blipFill rotWithShape="1">
          <a:blip r:embed="rId7">
            <a:alphaModFix/>
          </a:blip>
          <a:srcRect b="0" l="0" r="0" t="0"/>
          <a:stretch/>
        </p:blipFill>
        <p:spPr>
          <a:xfrm>
            <a:off x="1497787" y="8035747"/>
            <a:ext cx="570586" cy="570586"/>
          </a:xfrm>
          <a:prstGeom prst="rect">
            <a:avLst/>
          </a:prstGeom>
          <a:noFill/>
          <a:ln>
            <a:noFill/>
          </a:ln>
        </p:spPr>
      </p:pic>
      <p:sp>
        <p:nvSpPr>
          <p:cNvPr id="114" name="Google Shape;114;p3"/>
          <p:cNvSpPr txBox="1"/>
          <p:nvPr/>
        </p:nvSpPr>
        <p:spPr>
          <a:xfrm>
            <a:off x="2697480" y="7452360"/>
            <a:ext cx="5943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Menulis sintaks dasar</a:t>
            </a:r>
            <a:endParaRPr b="0" i="0" sz="2800" u="none" cap="none" strike="noStrike">
              <a:solidFill>
                <a:schemeClr val="dk1"/>
              </a:solidFill>
              <a:latin typeface="Calibri"/>
              <a:ea typeface="Calibri"/>
              <a:cs typeface="Calibri"/>
              <a:sym typeface="Calibri"/>
            </a:endParaRPr>
          </a:p>
        </p:txBody>
      </p:sp>
      <p:sp>
        <p:nvSpPr>
          <p:cNvPr id="115" name="Google Shape;115;p3"/>
          <p:cNvSpPr txBox="1"/>
          <p:nvPr/>
        </p:nvSpPr>
        <p:spPr>
          <a:xfrm>
            <a:off x="2697480" y="8092440"/>
            <a:ext cx="58521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Memakai variabel, konstanta, tipe data, dan operator.</a:t>
            </a:r>
            <a:endParaRPr b="0" i="0" sz="2200" u="none" cap="none" strike="noStrike">
              <a:solidFill>
                <a:schemeClr val="dk1"/>
              </a:solidFill>
              <a:latin typeface="Calibri"/>
              <a:ea typeface="Calibri"/>
              <a:cs typeface="Calibri"/>
              <a:sym typeface="Calibri"/>
            </a:endParaRPr>
          </a:p>
        </p:txBody>
      </p:sp>
      <p:sp>
        <p:nvSpPr>
          <p:cNvPr id="116" name="Google Shape;116;p3"/>
          <p:cNvSpPr/>
          <p:nvPr/>
        </p:nvSpPr>
        <p:spPr>
          <a:xfrm>
            <a:off x="9418320" y="7086600"/>
            <a:ext cx="79552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9738360" y="777240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8" name="Google Shape;118;p3"/>
          <p:cNvPicPr preferRelativeResize="0"/>
          <p:nvPr/>
        </p:nvPicPr>
        <p:blipFill rotWithShape="1">
          <a:blip r:embed="rId8">
            <a:alphaModFix/>
          </a:blip>
          <a:srcRect b="0" l="0" r="0" t="0"/>
          <a:stretch/>
        </p:blipFill>
        <p:spPr>
          <a:xfrm>
            <a:off x="10001707" y="8035747"/>
            <a:ext cx="570586" cy="570586"/>
          </a:xfrm>
          <a:prstGeom prst="rect">
            <a:avLst/>
          </a:prstGeom>
          <a:noFill/>
          <a:ln>
            <a:noFill/>
          </a:ln>
        </p:spPr>
      </p:pic>
      <p:sp>
        <p:nvSpPr>
          <p:cNvPr id="119" name="Google Shape;119;p3"/>
          <p:cNvSpPr txBox="1"/>
          <p:nvPr/>
        </p:nvSpPr>
        <p:spPr>
          <a:xfrm>
            <a:off x="11201400" y="7452360"/>
            <a:ext cx="5943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Berkomunikasi efektif</a:t>
            </a:r>
            <a:endParaRPr b="0" i="0" sz="2800" u="none" cap="none" strike="noStrike">
              <a:solidFill>
                <a:schemeClr val="dk1"/>
              </a:solidFill>
              <a:latin typeface="Calibri"/>
              <a:ea typeface="Calibri"/>
              <a:cs typeface="Calibri"/>
              <a:sym typeface="Calibri"/>
            </a:endParaRPr>
          </a:p>
        </p:txBody>
      </p:sp>
      <p:sp>
        <p:nvSpPr>
          <p:cNvPr id="120" name="Google Shape;120;p3"/>
          <p:cNvSpPr txBox="1"/>
          <p:nvPr/>
        </p:nvSpPr>
        <p:spPr>
          <a:xfrm>
            <a:off x="11201400" y="8092440"/>
            <a:ext cx="58521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Menerapkan teknik mendengarkan aktif dan melaporkan masalah dengan jelas.</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descr="/home/claude/assets/image6.png" id="126" name="Google Shape;126;p4"/>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127" name="Google Shape;127;p4"/>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128" name="Google Shape;128;p4"/>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PEMBUKAAN · 5 MENIT</a:t>
            </a:r>
            <a:endParaRPr b="0" i="0" sz="2000" u="none" cap="none" strike="noStrike">
              <a:solidFill>
                <a:schemeClr val="dk1"/>
              </a:solidFill>
              <a:latin typeface="Calibri"/>
              <a:ea typeface="Calibri"/>
              <a:cs typeface="Calibri"/>
              <a:sym typeface="Calibri"/>
            </a:endParaRPr>
          </a:p>
        </p:txBody>
      </p:sp>
      <p:sp>
        <p:nvSpPr>
          <p:cNvPr id="129" name="Google Shape;129;p4"/>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Dari Logika ke Kode Go</a:t>
            </a:r>
            <a:endParaRPr b="0" i="0" sz="4800" u="none" cap="none" strike="noStrike">
              <a:solidFill>
                <a:schemeClr val="dk1"/>
              </a:solidFill>
              <a:latin typeface="Calibri"/>
              <a:ea typeface="Calibri"/>
              <a:cs typeface="Calibri"/>
              <a:sym typeface="Calibri"/>
            </a:endParaRPr>
          </a:p>
        </p:txBody>
      </p:sp>
      <p:sp>
        <p:nvSpPr>
          <p:cNvPr id="130" name="Google Shape;130;p4"/>
          <p:cNvSpPr txBox="1"/>
          <p:nvPr/>
        </p:nvSpPr>
        <p:spPr>
          <a:xfrm>
            <a:off x="914400" y="4114800"/>
            <a:ext cx="4572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200"/>
              <a:buFont typeface="Calibri"/>
              <a:buNone/>
            </a:pPr>
            <a:r>
              <a:rPr b="1" i="0" lang="en-US" sz="2200" u="none" cap="none" strike="noStrike">
                <a:solidFill>
                  <a:srgbClr val="5A5F86"/>
                </a:solidFill>
                <a:latin typeface="Calibri"/>
                <a:ea typeface="Calibri"/>
                <a:cs typeface="Calibri"/>
                <a:sym typeface="Calibri"/>
              </a:rPr>
              <a:t>Konsep universal</a:t>
            </a:r>
            <a:endParaRPr b="0" i="0" sz="2200" u="none" cap="none" strike="noStrike">
              <a:solidFill>
                <a:schemeClr val="dk1"/>
              </a:solidFill>
              <a:latin typeface="Calibri"/>
              <a:ea typeface="Calibri"/>
              <a:cs typeface="Calibri"/>
              <a:sym typeface="Calibri"/>
            </a:endParaRPr>
          </a:p>
        </p:txBody>
      </p:sp>
      <p:sp>
        <p:nvSpPr>
          <p:cNvPr id="131" name="Google Shape;131;p4"/>
          <p:cNvSpPr txBox="1"/>
          <p:nvPr/>
        </p:nvSpPr>
        <p:spPr>
          <a:xfrm>
            <a:off x="6583680" y="4114800"/>
            <a:ext cx="5486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200"/>
              <a:buFont typeface="Calibri"/>
              <a:buNone/>
            </a:pPr>
            <a:r>
              <a:rPr b="1" i="0" lang="en-US" sz="2200" u="none" cap="none" strike="noStrike">
                <a:solidFill>
                  <a:srgbClr val="5A5F86"/>
                </a:solidFill>
                <a:latin typeface="Calibri"/>
                <a:ea typeface="Calibri"/>
                <a:cs typeface="Calibri"/>
                <a:sym typeface="Calibri"/>
              </a:rPr>
              <a:t>Bentuknya di Go</a:t>
            </a:r>
            <a:endParaRPr b="0" i="0" sz="2200" u="none" cap="none" strike="noStrike">
              <a:solidFill>
                <a:schemeClr val="dk1"/>
              </a:solidFill>
              <a:latin typeface="Calibri"/>
              <a:ea typeface="Calibri"/>
              <a:cs typeface="Calibri"/>
              <a:sym typeface="Calibri"/>
            </a:endParaRPr>
          </a:p>
        </p:txBody>
      </p:sp>
      <p:sp>
        <p:nvSpPr>
          <p:cNvPr id="132" name="Google Shape;132;p4"/>
          <p:cNvSpPr/>
          <p:nvPr/>
        </p:nvSpPr>
        <p:spPr>
          <a:xfrm>
            <a:off x="914400" y="4572000"/>
            <a:ext cx="16459200" cy="713232"/>
          </a:xfrm>
          <a:prstGeom prst="roundRect">
            <a:avLst>
              <a:gd fmla="val 19231"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txBox="1"/>
          <p:nvPr/>
        </p:nvSpPr>
        <p:spPr>
          <a:xfrm>
            <a:off x="1188720" y="4572000"/>
            <a:ext cx="52120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300"/>
              <a:buFont typeface="Calibri"/>
              <a:buNone/>
            </a:pPr>
            <a:r>
              <a:rPr b="1" i="0" lang="en-US" sz="2300" u="none" cap="none" strike="noStrike">
                <a:solidFill>
                  <a:srgbClr val="13123D"/>
                </a:solidFill>
                <a:latin typeface="Calibri"/>
                <a:ea typeface="Calibri"/>
                <a:cs typeface="Calibri"/>
                <a:sym typeface="Calibri"/>
              </a:rPr>
              <a:t>Variabel</a:t>
            </a:r>
            <a:endParaRPr b="0" i="0" sz="2300" u="none" cap="none" strike="noStrike">
              <a:solidFill>
                <a:schemeClr val="dk1"/>
              </a:solidFill>
              <a:latin typeface="Calibri"/>
              <a:ea typeface="Calibri"/>
              <a:cs typeface="Calibri"/>
              <a:sym typeface="Calibri"/>
            </a:endParaRPr>
          </a:p>
        </p:txBody>
      </p:sp>
      <p:sp>
        <p:nvSpPr>
          <p:cNvPr id="134" name="Google Shape;134;p4"/>
          <p:cNvSpPr txBox="1"/>
          <p:nvPr/>
        </p:nvSpPr>
        <p:spPr>
          <a:xfrm>
            <a:off x="6583680" y="4572000"/>
            <a:ext cx="77724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var umur int = 20  atau  umur := 20</a:t>
            </a:r>
            <a:endParaRPr b="0" i="0" sz="2100" u="none" cap="none" strike="noStrike">
              <a:solidFill>
                <a:schemeClr val="dk1"/>
              </a:solidFill>
              <a:latin typeface="Calibri"/>
              <a:ea typeface="Calibri"/>
              <a:cs typeface="Calibri"/>
              <a:sym typeface="Calibri"/>
            </a:endParaRPr>
          </a:p>
        </p:txBody>
      </p:sp>
      <p:sp>
        <p:nvSpPr>
          <p:cNvPr id="135" name="Google Shape;135;p4"/>
          <p:cNvSpPr/>
          <p:nvPr/>
        </p:nvSpPr>
        <p:spPr>
          <a:xfrm>
            <a:off x="14996160" y="4672584"/>
            <a:ext cx="2103120" cy="512064"/>
          </a:xfrm>
          <a:prstGeom prst="roundRect">
            <a:avLst>
              <a:gd fmla="val 21429" name="adj"/>
            </a:avLst>
          </a:prstGeom>
          <a:solidFill>
            <a:srgbClr val="FCDF59"/>
          </a:solidFill>
          <a:ln cap="flat" cmpd="sng" w="9525">
            <a:solidFill>
              <a:srgbClr val="FCDF59"/>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000"/>
              <a:buFont typeface="Calibri"/>
              <a:buNone/>
            </a:pPr>
            <a:r>
              <a:rPr b="1" i="0" lang="en-US" sz="2000" u="none" cap="none" strike="noStrike">
                <a:solidFill>
                  <a:srgbClr val="13123D"/>
                </a:solidFill>
                <a:latin typeface="Calibri"/>
                <a:ea typeface="Calibri"/>
                <a:cs typeface="Calibri"/>
                <a:sym typeface="Calibri"/>
              </a:rPr>
              <a:t>Hari ini</a:t>
            </a:r>
            <a:endParaRPr b="0" i="0" sz="2000" u="none" cap="none" strike="noStrike">
              <a:solidFill>
                <a:schemeClr val="dk1"/>
              </a:solidFill>
              <a:latin typeface="Calibri"/>
              <a:ea typeface="Calibri"/>
              <a:cs typeface="Calibri"/>
              <a:sym typeface="Calibri"/>
            </a:endParaRPr>
          </a:p>
        </p:txBody>
      </p:sp>
      <p:sp>
        <p:nvSpPr>
          <p:cNvPr id="136" name="Google Shape;136;p4"/>
          <p:cNvSpPr/>
          <p:nvPr/>
        </p:nvSpPr>
        <p:spPr>
          <a:xfrm>
            <a:off x="914400" y="5394960"/>
            <a:ext cx="16459200" cy="713232"/>
          </a:xfrm>
          <a:prstGeom prst="roundRect">
            <a:avLst>
              <a:gd fmla="val 19231"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txBox="1"/>
          <p:nvPr/>
        </p:nvSpPr>
        <p:spPr>
          <a:xfrm>
            <a:off x="1188720" y="5394960"/>
            <a:ext cx="52120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300"/>
              <a:buFont typeface="Calibri"/>
              <a:buNone/>
            </a:pPr>
            <a:r>
              <a:rPr b="1" i="0" lang="en-US" sz="2300" u="none" cap="none" strike="noStrike">
                <a:solidFill>
                  <a:srgbClr val="13123D"/>
                </a:solidFill>
                <a:latin typeface="Calibri"/>
                <a:ea typeface="Calibri"/>
                <a:cs typeface="Calibri"/>
                <a:sym typeface="Calibri"/>
              </a:rPr>
              <a:t>Tipe data</a:t>
            </a:r>
            <a:endParaRPr b="0" i="0" sz="2300" u="none" cap="none" strike="noStrike">
              <a:solidFill>
                <a:schemeClr val="dk1"/>
              </a:solidFill>
              <a:latin typeface="Calibri"/>
              <a:ea typeface="Calibri"/>
              <a:cs typeface="Calibri"/>
              <a:sym typeface="Calibri"/>
            </a:endParaRPr>
          </a:p>
        </p:txBody>
      </p:sp>
      <p:sp>
        <p:nvSpPr>
          <p:cNvPr id="138" name="Google Shape;138;p4"/>
          <p:cNvSpPr txBox="1"/>
          <p:nvPr/>
        </p:nvSpPr>
        <p:spPr>
          <a:xfrm>
            <a:off x="6583680" y="5394960"/>
            <a:ext cx="77724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int, float64, string, bool</a:t>
            </a:r>
            <a:endParaRPr b="0" i="0" sz="2100" u="none" cap="none" strike="noStrike">
              <a:solidFill>
                <a:schemeClr val="dk1"/>
              </a:solidFill>
              <a:latin typeface="Calibri"/>
              <a:ea typeface="Calibri"/>
              <a:cs typeface="Calibri"/>
              <a:sym typeface="Calibri"/>
            </a:endParaRPr>
          </a:p>
        </p:txBody>
      </p:sp>
      <p:sp>
        <p:nvSpPr>
          <p:cNvPr id="139" name="Google Shape;139;p4"/>
          <p:cNvSpPr/>
          <p:nvPr/>
        </p:nvSpPr>
        <p:spPr>
          <a:xfrm>
            <a:off x="14996160" y="5495544"/>
            <a:ext cx="2103120" cy="512064"/>
          </a:xfrm>
          <a:prstGeom prst="roundRect">
            <a:avLst>
              <a:gd fmla="val 21429" name="adj"/>
            </a:avLst>
          </a:prstGeom>
          <a:solidFill>
            <a:srgbClr val="FCDF59"/>
          </a:solidFill>
          <a:ln cap="flat" cmpd="sng" w="9525">
            <a:solidFill>
              <a:srgbClr val="FCDF59"/>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000"/>
              <a:buFont typeface="Calibri"/>
              <a:buNone/>
            </a:pPr>
            <a:r>
              <a:rPr b="1" i="0" lang="en-US" sz="2000" u="none" cap="none" strike="noStrike">
                <a:solidFill>
                  <a:srgbClr val="13123D"/>
                </a:solidFill>
                <a:latin typeface="Calibri"/>
                <a:ea typeface="Calibri"/>
                <a:cs typeface="Calibri"/>
                <a:sym typeface="Calibri"/>
              </a:rPr>
              <a:t>Hari ini</a:t>
            </a:r>
            <a:endParaRPr b="0" i="0" sz="2000" u="none" cap="none" strike="noStrike">
              <a:solidFill>
                <a:schemeClr val="dk1"/>
              </a:solidFill>
              <a:latin typeface="Calibri"/>
              <a:ea typeface="Calibri"/>
              <a:cs typeface="Calibri"/>
              <a:sym typeface="Calibri"/>
            </a:endParaRPr>
          </a:p>
        </p:txBody>
      </p:sp>
      <p:sp>
        <p:nvSpPr>
          <p:cNvPr id="140" name="Google Shape;140;p4"/>
          <p:cNvSpPr/>
          <p:nvPr/>
        </p:nvSpPr>
        <p:spPr>
          <a:xfrm>
            <a:off x="914400" y="6217920"/>
            <a:ext cx="16459200" cy="713232"/>
          </a:xfrm>
          <a:prstGeom prst="roundRect">
            <a:avLst>
              <a:gd fmla="val 19231"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txBox="1"/>
          <p:nvPr/>
        </p:nvSpPr>
        <p:spPr>
          <a:xfrm>
            <a:off x="1188720" y="6217920"/>
            <a:ext cx="52120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300"/>
              <a:buFont typeface="Calibri"/>
              <a:buNone/>
            </a:pPr>
            <a:r>
              <a:rPr b="1" i="0" lang="en-US" sz="2300" u="none" cap="none" strike="noStrike">
                <a:solidFill>
                  <a:srgbClr val="13123D"/>
                </a:solidFill>
                <a:latin typeface="Calibri"/>
                <a:ea typeface="Calibri"/>
                <a:cs typeface="Calibri"/>
                <a:sym typeface="Calibri"/>
              </a:rPr>
              <a:t>Operator</a:t>
            </a:r>
            <a:endParaRPr b="0" i="0" sz="2300" u="none" cap="none" strike="noStrike">
              <a:solidFill>
                <a:schemeClr val="dk1"/>
              </a:solidFill>
              <a:latin typeface="Calibri"/>
              <a:ea typeface="Calibri"/>
              <a:cs typeface="Calibri"/>
              <a:sym typeface="Calibri"/>
            </a:endParaRPr>
          </a:p>
        </p:txBody>
      </p:sp>
      <p:sp>
        <p:nvSpPr>
          <p:cNvPr id="142" name="Google Shape;142;p4"/>
          <p:cNvSpPr txBox="1"/>
          <p:nvPr/>
        </p:nvSpPr>
        <p:spPr>
          <a:xfrm>
            <a:off x="6583680" y="6217920"/>
            <a:ext cx="77724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  %  ==  &amp;&amp;</a:t>
            </a:r>
            <a:endParaRPr b="0" i="0" sz="2100" u="none" cap="none" strike="noStrike">
              <a:solidFill>
                <a:schemeClr val="dk1"/>
              </a:solidFill>
              <a:latin typeface="Calibri"/>
              <a:ea typeface="Calibri"/>
              <a:cs typeface="Calibri"/>
              <a:sym typeface="Calibri"/>
            </a:endParaRPr>
          </a:p>
        </p:txBody>
      </p:sp>
      <p:sp>
        <p:nvSpPr>
          <p:cNvPr id="143" name="Google Shape;143;p4"/>
          <p:cNvSpPr/>
          <p:nvPr/>
        </p:nvSpPr>
        <p:spPr>
          <a:xfrm>
            <a:off x="14996160" y="6318504"/>
            <a:ext cx="2103120" cy="512064"/>
          </a:xfrm>
          <a:prstGeom prst="roundRect">
            <a:avLst>
              <a:gd fmla="val 21429" name="adj"/>
            </a:avLst>
          </a:prstGeom>
          <a:solidFill>
            <a:srgbClr val="FCDF59"/>
          </a:solidFill>
          <a:ln cap="flat" cmpd="sng" w="9525">
            <a:solidFill>
              <a:srgbClr val="FCDF59"/>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000"/>
              <a:buFont typeface="Calibri"/>
              <a:buNone/>
            </a:pPr>
            <a:r>
              <a:rPr b="1" i="0" lang="en-US" sz="2000" u="none" cap="none" strike="noStrike">
                <a:solidFill>
                  <a:srgbClr val="13123D"/>
                </a:solidFill>
                <a:latin typeface="Calibri"/>
                <a:ea typeface="Calibri"/>
                <a:cs typeface="Calibri"/>
                <a:sym typeface="Calibri"/>
              </a:rPr>
              <a:t>Hari ini</a:t>
            </a:r>
            <a:endParaRPr b="0" i="0" sz="2000" u="none" cap="none" strike="noStrike">
              <a:solidFill>
                <a:schemeClr val="dk1"/>
              </a:solidFill>
              <a:latin typeface="Calibri"/>
              <a:ea typeface="Calibri"/>
              <a:cs typeface="Calibri"/>
              <a:sym typeface="Calibri"/>
            </a:endParaRPr>
          </a:p>
        </p:txBody>
      </p:sp>
      <p:sp>
        <p:nvSpPr>
          <p:cNvPr id="144" name="Google Shape;144;p4"/>
          <p:cNvSpPr/>
          <p:nvPr/>
        </p:nvSpPr>
        <p:spPr>
          <a:xfrm>
            <a:off x="914400" y="7040880"/>
            <a:ext cx="16459200" cy="713232"/>
          </a:xfrm>
          <a:prstGeom prst="roundRect">
            <a:avLst>
              <a:gd fmla="val 19231"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txBox="1"/>
          <p:nvPr/>
        </p:nvSpPr>
        <p:spPr>
          <a:xfrm>
            <a:off x="1188720" y="7040880"/>
            <a:ext cx="52120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300"/>
              <a:buFont typeface="Calibri"/>
              <a:buNone/>
            </a:pPr>
            <a:r>
              <a:rPr b="1" i="0" lang="en-US" sz="2300" u="none" cap="none" strike="noStrike">
                <a:solidFill>
                  <a:srgbClr val="13123D"/>
                </a:solidFill>
                <a:latin typeface="Calibri"/>
                <a:ea typeface="Calibri"/>
                <a:cs typeface="Calibri"/>
                <a:sym typeface="Calibri"/>
              </a:rPr>
              <a:t>Percabangan &amp; perulangan</a:t>
            </a:r>
            <a:endParaRPr b="0" i="0" sz="2300" u="none" cap="none" strike="noStrike">
              <a:solidFill>
                <a:schemeClr val="dk1"/>
              </a:solidFill>
              <a:latin typeface="Calibri"/>
              <a:ea typeface="Calibri"/>
              <a:cs typeface="Calibri"/>
              <a:sym typeface="Calibri"/>
            </a:endParaRPr>
          </a:p>
        </p:txBody>
      </p:sp>
      <p:sp>
        <p:nvSpPr>
          <p:cNvPr id="146" name="Google Shape;146;p4"/>
          <p:cNvSpPr txBox="1"/>
          <p:nvPr/>
        </p:nvSpPr>
        <p:spPr>
          <a:xfrm>
            <a:off x="6583680" y="7040880"/>
            <a:ext cx="77724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if, switch, for</a:t>
            </a:r>
            <a:endParaRPr b="0" i="0" sz="2100" u="none" cap="none" strike="noStrike">
              <a:solidFill>
                <a:schemeClr val="dk1"/>
              </a:solidFill>
              <a:latin typeface="Calibri"/>
              <a:ea typeface="Calibri"/>
              <a:cs typeface="Calibri"/>
              <a:sym typeface="Calibri"/>
            </a:endParaRPr>
          </a:p>
        </p:txBody>
      </p:sp>
      <p:sp>
        <p:nvSpPr>
          <p:cNvPr id="147" name="Google Shape;147;p4"/>
          <p:cNvSpPr/>
          <p:nvPr/>
        </p:nvSpPr>
        <p:spPr>
          <a:xfrm>
            <a:off x="14996160" y="7141464"/>
            <a:ext cx="2103120" cy="512064"/>
          </a:xfrm>
          <a:prstGeom prst="roundRect">
            <a:avLst>
              <a:gd fmla="val 21429"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000"/>
              <a:buFont typeface="Calibri"/>
              <a:buNone/>
            </a:pPr>
            <a:r>
              <a:rPr b="1" i="0" lang="en-US" sz="2000" u="none" cap="none" strike="noStrike">
                <a:solidFill>
                  <a:srgbClr val="13123D"/>
                </a:solidFill>
                <a:latin typeface="Calibri"/>
                <a:ea typeface="Calibri"/>
                <a:cs typeface="Calibri"/>
                <a:sym typeface="Calibri"/>
              </a:rPr>
              <a:t>Sesi 3</a:t>
            </a:r>
            <a:endParaRPr b="0" i="0" sz="2000" u="none" cap="none" strike="noStrike">
              <a:solidFill>
                <a:schemeClr val="dk1"/>
              </a:solidFill>
              <a:latin typeface="Calibri"/>
              <a:ea typeface="Calibri"/>
              <a:cs typeface="Calibri"/>
              <a:sym typeface="Calibri"/>
            </a:endParaRPr>
          </a:p>
        </p:txBody>
      </p:sp>
      <p:sp>
        <p:nvSpPr>
          <p:cNvPr id="148" name="Google Shape;148;p4"/>
          <p:cNvSpPr/>
          <p:nvPr/>
        </p:nvSpPr>
        <p:spPr>
          <a:xfrm>
            <a:off x="914400" y="7863840"/>
            <a:ext cx="16459200" cy="713232"/>
          </a:xfrm>
          <a:prstGeom prst="roundRect">
            <a:avLst>
              <a:gd fmla="val 19231"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txBox="1"/>
          <p:nvPr/>
        </p:nvSpPr>
        <p:spPr>
          <a:xfrm>
            <a:off x="1188720" y="7863840"/>
            <a:ext cx="52120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300"/>
              <a:buFont typeface="Calibri"/>
              <a:buNone/>
            </a:pPr>
            <a:r>
              <a:rPr b="1" i="0" lang="en-US" sz="2300" u="none" cap="none" strike="noStrike">
                <a:solidFill>
                  <a:srgbClr val="13123D"/>
                </a:solidFill>
                <a:latin typeface="Calibri"/>
                <a:ea typeface="Calibri"/>
                <a:cs typeface="Calibri"/>
                <a:sym typeface="Calibri"/>
              </a:rPr>
              <a:t>Array &amp; list</a:t>
            </a:r>
            <a:endParaRPr b="0" i="0" sz="2300" u="none" cap="none" strike="noStrike">
              <a:solidFill>
                <a:schemeClr val="dk1"/>
              </a:solidFill>
              <a:latin typeface="Calibri"/>
              <a:ea typeface="Calibri"/>
              <a:cs typeface="Calibri"/>
              <a:sym typeface="Calibri"/>
            </a:endParaRPr>
          </a:p>
        </p:txBody>
      </p:sp>
      <p:sp>
        <p:nvSpPr>
          <p:cNvPr id="150" name="Google Shape;150;p4"/>
          <p:cNvSpPr txBox="1"/>
          <p:nvPr/>
        </p:nvSpPr>
        <p:spPr>
          <a:xfrm>
            <a:off x="6583680" y="7863840"/>
            <a:ext cx="77724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array, slice, map</a:t>
            </a:r>
            <a:endParaRPr b="0" i="0" sz="2100" u="none" cap="none" strike="noStrike">
              <a:solidFill>
                <a:schemeClr val="dk1"/>
              </a:solidFill>
              <a:latin typeface="Calibri"/>
              <a:ea typeface="Calibri"/>
              <a:cs typeface="Calibri"/>
              <a:sym typeface="Calibri"/>
            </a:endParaRPr>
          </a:p>
        </p:txBody>
      </p:sp>
      <p:sp>
        <p:nvSpPr>
          <p:cNvPr id="151" name="Google Shape;151;p4"/>
          <p:cNvSpPr/>
          <p:nvPr/>
        </p:nvSpPr>
        <p:spPr>
          <a:xfrm>
            <a:off x="14996160" y="7964424"/>
            <a:ext cx="2103120" cy="512064"/>
          </a:xfrm>
          <a:prstGeom prst="roundRect">
            <a:avLst>
              <a:gd fmla="val 21429"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000"/>
              <a:buFont typeface="Calibri"/>
              <a:buNone/>
            </a:pPr>
            <a:r>
              <a:rPr b="1" i="0" lang="en-US" sz="2000" u="none" cap="none" strike="noStrike">
                <a:solidFill>
                  <a:srgbClr val="13123D"/>
                </a:solidFill>
                <a:latin typeface="Calibri"/>
                <a:ea typeface="Calibri"/>
                <a:cs typeface="Calibri"/>
                <a:sym typeface="Calibri"/>
              </a:rPr>
              <a:t>Sesi 3</a:t>
            </a:r>
            <a:endParaRPr b="0" i="0" sz="2000" u="none" cap="none" strike="noStrike">
              <a:solidFill>
                <a:schemeClr val="dk1"/>
              </a:solidFill>
              <a:latin typeface="Calibri"/>
              <a:ea typeface="Calibri"/>
              <a:cs typeface="Calibri"/>
              <a:sym typeface="Calibri"/>
            </a:endParaRPr>
          </a:p>
        </p:txBody>
      </p:sp>
      <p:sp>
        <p:nvSpPr>
          <p:cNvPr id="152" name="Google Shape;152;p4"/>
          <p:cNvSpPr/>
          <p:nvPr/>
        </p:nvSpPr>
        <p:spPr>
          <a:xfrm>
            <a:off x="914400" y="8686800"/>
            <a:ext cx="16459200" cy="713232"/>
          </a:xfrm>
          <a:prstGeom prst="roundRect">
            <a:avLst>
              <a:gd fmla="val 19231"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txBox="1"/>
          <p:nvPr/>
        </p:nvSpPr>
        <p:spPr>
          <a:xfrm>
            <a:off x="1188720" y="8686800"/>
            <a:ext cx="52120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300"/>
              <a:buFont typeface="Calibri"/>
              <a:buNone/>
            </a:pPr>
            <a:r>
              <a:rPr b="1" i="0" lang="en-US" sz="2300" u="none" cap="none" strike="noStrike">
                <a:solidFill>
                  <a:srgbClr val="13123D"/>
                </a:solidFill>
                <a:latin typeface="Calibri"/>
                <a:ea typeface="Calibri"/>
                <a:cs typeface="Calibri"/>
                <a:sym typeface="Calibri"/>
              </a:rPr>
              <a:t>Fungsi</a:t>
            </a:r>
            <a:endParaRPr b="0" i="0" sz="2300" u="none" cap="none" strike="noStrike">
              <a:solidFill>
                <a:schemeClr val="dk1"/>
              </a:solidFill>
              <a:latin typeface="Calibri"/>
              <a:ea typeface="Calibri"/>
              <a:cs typeface="Calibri"/>
              <a:sym typeface="Calibri"/>
            </a:endParaRPr>
          </a:p>
        </p:txBody>
      </p:sp>
      <p:sp>
        <p:nvSpPr>
          <p:cNvPr id="154" name="Google Shape;154;p4"/>
          <p:cNvSpPr txBox="1"/>
          <p:nvPr/>
        </p:nvSpPr>
        <p:spPr>
          <a:xfrm>
            <a:off x="6583680" y="8686800"/>
            <a:ext cx="77724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func nama(param) hasil</a:t>
            </a:r>
            <a:endParaRPr b="0" i="0" sz="2100" u="none" cap="none" strike="noStrike">
              <a:solidFill>
                <a:schemeClr val="dk1"/>
              </a:solidFill>
              <a:latin typeface="Calibri"/>
              <a:ea typeface="Calibri"/>
              <a:cs typeface="Calibri"/>
              <a:sym typeface="Calibri"/>
            </a:endParaRPr>
          </a:p>
        </p:txBody>
      </p:sp>
      <p:sp>
        <p:nvSpPr>
          <p:cNvPr id="155" name="Google Shape;155;p4"/>
          <p:cNvSpPr/>
          <p:nvPr/>
        </p:nvSpPr>
        <p:spPr>
          <a:xfrm>
            <a:off x="14996160" y="8787384"/>
            <a:ext cx="2103120" cy="512064"/>
          </a:xfrm>
          <a:prstGeom prst="roundRect">
            <a:avLst>
              <a:gd fmla="val 21429"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000"/>
              <a:buFont typeface="Calibri"/>
              <a:buNone/>
            </a:pPr>
            <a:r>
              <a:rPr b="1" i="0" lang="en-US" sz="2000" u="none" cap="none" strike="noStrike">
                <a:solidFill>
                  <a:srgbClr val="13123D"/>
                </a:solidFill>
                <a:latin typeface="Calibri"/>
                <a:ea typeface="Calibri"/>
                <a:cs typeface="Calibri"/>
                <a:sym typeface="Calibri"/>
              </a:rPr>
              <a:t>Sesi 4</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home/claude/assets/image6.png" id="161" name="Google Shape;161;p5"/>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162" name="Google Shape;162;p5"/>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163" name="Google Shape;163;p5"/>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1 · 15 MENIT</a:t>
            </a:r>
            <a:endParaRPr b="0" i="0" sz="2000" u="none" cap="none" strike="noStrike">
              <a:solidFill>
                <a:schemeClr val="dk1"/>
              </a:solidFill>
              <a:latin typeface="Calibri"/>
              <a:ea typeface="Calibri"/>
              <a:cs typeface="Calibri"/>
              <a:sym typeface="Calibri"/>
            </a:endParaRPr>
          </a:p>
        </p:txBody>
      </p:sp>
      <p:sp>
        <p:nvSpPr>
          <p:cNvPr id="164" name="Google Shape;164;p5"/>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Apa Itu Go?</a:t>
            </a:r>
            <a:endParaRPr b="0" i="0" sz="4800" u="none" cap="none" strike="noStrike">
              <a:solidFill>
                <a:schemeClr val="dk1"/>
              </a:solidFill>
              <a:latin typeface="Calibri"/>
              <a:ea typeface="Calibri"/>
              <a:cs typeface="Calibri"/>
              <a:sym typeface="Calibri"/>
            </a:endParaRPr>
          </a:p>
        </p:txBody>
      </p:sp>
      <p:sp>
        <p:nvSpPr>
          <p:cNvPr id="165" name="Google Shape;165;p5"/>
          <p:cNvSpPr txBox="1"/>
          <p:nvPr/>
        </p:nvSpPr>
        <p:spPr>
          <a:xfrm>
            <a:off x="914400" y="4343400"/>
            <a:ext cx="7955280" cy="3291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3000"/>
              <a:buFont typeface="Cambria"/>
              <a:buNone/>
            </a:pPr>
            <a:r>
              <a:rPr b="0" i="0" lang="en-US" sz="3000" u="none" cap="none" strike="noStrike">
                <a:solidFill>
                  <a:srgbClr val="13123D"/>
                </a:solidFill>
                <a:latin typeface="Cambria"/>
                <a:ea typeface="Cambria"/>
                <a:cs typeface="Cambria"/>
                <a:sym typeface="Cambria"/>
              </a:rPr>
              <a:t>Go adalah bahasa pemrograman open source yang statically typed dan compiled, dirancang agar perangkat lunak mudah dibuat, cepat, dan andal.</a:t>
            </a:r>
            <a:endParaRPr b="0" i="0" sz="3000" u="none" cap="none" strike="noStrike">
              <a:solidFill>
                <a:schemeClr val="dk1"/>
              </a:solidFill>
              <a:latin typeface="Calibri"/>
              <a:ea typeface="Calibri"/>
              <a:cs typeface="Calibri"/>
              <a:sym typeface="Calibri"/>
            </a:endParaRPr>
          </a:p>
        </p:txBody>
      </p:sp>
      <p:sp>
        <p:nvSpPr>
          <p:cNvPr id="166" name="Google Shape;166;p5"/>
          <p:cNvSpPr/>
          <p:nvPr/>
        </p:nvSpPr>
        <p:spPr>
          <a:xfrm>
            <a:off x="914400" y="7680960"/>
            <a:ext cx="7955280" cy="1828800"/>
          </a:xfrm>
          <a:prstGeom prst="roundRect">
            <a:avLst>
              <a:gd fmla="val 7500"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txBox="1"/>
          <p:nvPr/>
        </p:nvSpPr>
        <p:spPr>
          <a:xfrm>
            <a:off x="1188720" y="7680960"/>
            <a:ext cx="7406640" cy="182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500"/>
              <a:buFont typeface="Calibri"/>
              <a:buNone/>
            </a:pPr>
            <a:r>
              <a:rPr b="0" i="0" lang="en-US" sz="2500" u="none" cap="none" strike="noStrike">
                <a:solidFill>
                  <a:srgbClr val="13123D"/>
                </a:solidFill>
                <a:latin typeface="Calibri"/>
                <a:ea typeface="Calibri"/>
                <a:cs typeface="Calibri"/>
                <a:sym typeface="Calibri"/>
              </a:rPr>
              <a:t>Dibuat di Google oleh </a:t>
            </a:r>
            <a:r>
              <a:rPr b="1" i="0" lang="en-US" sz="2500" u="none" cap="none" strike="noStrike">
                <a:solidFill>
                  <a:srgbClr val="13123D"/>
                </a:solidFill>
                <a:latin typeface="Calibri"/>
                <a:ea typeface="Calibri"/>
                <a:cs typeface="Calibri"/>
                <a:sym typeface="Calibri"/>
              </a:rPr>
              <a:t>Robert Griesemer, Rob Pike, dan Ken Thompson.</a:t>
            </a:r>
            <a:endParaRPr b="0" i="0" sz="2500" u="none" cap="none" strike="noStrike">
              <a:solidFill>
                <a:schemeClr val="dk1"/>
              </a:solidFill>
              <a:latin typeface="Calibri"/>
              <a:ea typeface="Calibri"/>
              <a:cs typeface="Calibri"/>
              <a:sym typeface="Calibri"/>
            </a:endParaRPr>
          </a:p>
        </p:txBody>
      </p:sp>
      <p:sp>
        <p:nvSpPr>
          <p:cNvPr id="168" name="Google Shape;168;p5"/>
          <p:cNvSpPr/>
          <p:nvPr/>
        </p:nvSpPr>
        <p:spPr>
          <a:xfrm>
            <a:off x="9418320" y="4343400"/>
            <a:ext cx="7955280" cy="5166360"/>
          </a:xfrm>
          <a:prstGeom prst="roundRect">
            <a:avLst>
              <a:gd fmla="val 265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txBox="1"/>
          <p:nvPr/>
        </p:nvSpPr>
        <p:spPr>
          <a:xfrm>
            <a:off x="9692640" y="4526280"/>
            <a:ext cx="7315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Sekilas sejarah</a:t>
            </a:r>
            <a:endParaRPr b="0" i="0" sz="2800" u="none" cap="none" strike="noStrike">
              <a:solidFill>
                <a:schemeClr val="dk1"/>
              </a:solidFill>
              <a:latin typeface="Calibri"/>
              <a:ea typeface="Calibri"/>
              <a:cs typeface="Calibri"/>
              <a:sym typeface="Calibri"/>
            </a:endParaRPr>
          </a:p>
        </p:txBody>
      </p:sp>
      <p:sp>
        <p:nvSpPr>
          <p:cNvPr id="170" name="Google Shape;170;p5"/>
          <p:cNvSpPr/>
          <p:nvPr/>
        </p:nvSpPr>
        <p:spPr>
          <a:xfrm>
            <a:off x="9692640" y="5349240"/>
            <a:ext cx="1828800" cy="914400"/>
          </a:xfrm>
          <a:prstGeom prst="roundRect">
            <a:avLst>
              <a:gd fmla="val 12000"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800"/>
              <a:buFont typeface="Calibri"/>
              <a:buNone/>
            </a:pPr>
            <a:r>
              <a:rPr b="1" i="0" lang="en-US" sz="2800" u="none" cap="none" strike="noStrike">
                <a:solidFill>
                  <a:srgbClr val="FDFBFB"/>
                </a:solidFill>
                <a:latin typeface="Calibri"/>
                <a:ea typeface="Calibri"/>
                <a:cs typeface="Calibri"/>
                <a:sym typeface="Calibri"/>
              </a:rPr>
              <a:t>2007</a:t>
            </a:r>
            <a:endParaRPr b="0" i="0" sz="2800" u="none" cap="none" strike="noStrike">
              <a:solidFill>
                <a:schemeClr val="dk1"/>
              </a:solidFill>
              <a:latin typeface="Calibri"/>
              <a:ea typeface="Calibri"/>
              <a:cs typeface="Calibri"/>
              <a:sym typeface="Calibri"/>
            </a:endParaRPr>
          </a:p>
        </p:txBody>
      </p:sp>
      <p:sp>
        <p:nvSpPr>
          <p:cNvPr id="171" name="Google Shape;171;p5"/>
          <p:cNvSpPr txBox="1"/>
          <p:nvPr/>
        </p:nvSpPr>
        <p:spPr>
          <a:xfrm>
            <a:off x="11795760" y="5349240"/>
            <a:ext cx="5394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Mulai dirancang di Google</a:t>
            </a:r>
            <a:endParaRPr b="0" i="0" sz="2400" u="none" cap="none" strike="noStrike">
              <a:solidFill>
                <a:schemeClr val="dk1"/>
              </a:solidFill>
              <a:latin typeface="Calibri"/>
              <a:ea typeface="Calibri"/>
              <a:cs typeface="Calibri"/>
              <a:sym typeface="Calibri"/>
            </a:endParaRPr>
          </a:p>
        </p:txBody>
      </p:sp>
      <p:sp>
        <p:nvSpPr>
          <p:cNvPr id="172" name="Google Shape;172;p5"/>
          <p:cNvSpPr/>
          <p:nvPr/>
        </p:nvSpPr>
        <p:spPr>
          <a:xfrm>
            <a:off x="9692640" y="6720840"/>
            <a:ext cx="1828800" cy="914400"/>
          </a:xfrm>
          <a:prstGeom prst="roundRect">
            <a:avLst>
              <a:gd fmla="val 12000"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800"/>
              <a:buFont typeface="Calibri"/>
              <a:buNone/>
            </a:pPr>
            <a:r>
              <a:rPr b="1" i="0" lang="en-US" sz="2800" u="none" cap="none" strike="noStrike">
                <a:solidFill>
                  <a:srgbClr val="FDFBFB"/>
                </a:solidFill>
                <a:latin typeface="Calibri"/>
                <a:ea typeface="Calibri"/>
                <a:cs typeface="Calibri"/>
                <a:sym typeface="Calibri"/>
              </a:rPr>
              <a:t>2009</a:t>
            </a:r>
            <a:endParaRPr b="0" i="0" sz="2800" u="none" cap="none" strike="noStrike">
              <a:solidFill>
                <a:schemeClr val="dk1"/>
              </a:solidFill>
              <a:latin typeface="Calibri"/>
              <a:ea typeface="Calibri"/>
              <a:cs typeface="Calibri"/>
              <a:sym typeface="Calibri"/>
            </a:endParaRPr>
          </a:p>
        </p:txBody>
      </p:sp>
      <p:sp>
        <p:nvSpPr>
          <p:cNvPr id="173" name="Google Shape;173;p5"/>
          <p:cNvSpPr txBox="1"/>
          <p:nvPr/>
        </p:nvSpPr>
        <p:spPr>
          <a:xfrm>
            <a:off x="11795760" y="6720840"/>
            <a:ext cx="5394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Diumumkan sebagai open source</a:t>
            </a:r>
            <a:endParaRPr b="0" i="0" sz="2400" u="none" cap="none" strike="noStrike">
              <a:solidFill>
                <a:schemeClr val="dk1"/>
              </a:solidFill>
              <a:latin typeface="Calibri"/>
              <a:ea typeface="Calibri"/>
              <a:cs typeface="Calibri"/>
              <a:sym typeface="Calibri"/>
            </a:endParaRPr>
          </a:p>
        </p:txBody>
      </p:sp>
      <p:sp>
        <p:nvSpPr>
          <p:cNvPr id="174" name="Google Shape;174;p5"/>
          <p:cNvSpPr/>
          <p:nvPr/>
        </p:nvSpPr>
        <p:spPr>
          <a:xfrm>
            <a:off x="9692640" y="8092440"/>
            <a:ext cx="1828800" cy="914400"/>
          </a:xfrm>
          <a:prstGeom prst="roundRect">
            <a:avLst>
              <a:gd fmla="val 12000"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800"/>
              <a:buFont typeface="Calibri"/>
              <a:buNone/>
            </a:pPr>
            <a:r>
              <a:rPr b="1" i="0" lang="en-US" sz="2800" u="none" cap="none" strike="noStrike">
                <a:solidFill>
                  <a:srgbClr val="FDFBFB"/>
                </a:solidFill>
                <a:latin typeface="Calibri"/>
                <a:ea typeface="Calibri"/>
                <a:cs typeface="Calibri"/>
                <a:sym typeface="Calibri"/>
              </a:rPr>
              <a:t>2012</a:t>
            </a:r>
            <a:endParaRPr b="0" i="0" sz="2800" u="none" cap="none" strike="noStrike">
              <a:solidFill>
                <a:schemeClr val="dk1"/>
              </a:solidFill>
              <a:latin typeface="Calibri"/>
              <a:ea typeface="Calibri"/>
              <a:cs typeface="Calibri"/>
              <a:sym typeface="Calibri"/>
            </a:endParaRPr>
          </a:p>
        </p:txBody>
      </p:sp>
      <p:sp>
        <p:nvSpPr>
          <p:cNvPr id="175" name="Google Shape;175;p5"/>
          <p:cNvSpPr txBox="1"/>
          <p:nvPr/>
        </p:nvSpPr>
        <p:spPr>
          <a:xfrm>
            <a:off x="11795760" y="8092440"/>
            <a:ext cx="5394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Go 1.0 dirilis dengan janji kompatibilitas</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home/claude/assets/image6.png" id="181" name="Google Shape;181;p6"/>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182" name="Google Shape;182;p6"/>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183" name="Google Shape;183;p6"/>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1 · 15 MENIT</a:t>
            </a:r>
            <a:endParaRPr b="0" i="0" sz="2000" u="none" cap="none" strike="noStrike">
              <a:solidFill>
                <a:schemeClr val="dk1"/>
              </a:solidFill>
              <a:latin typeface="Calibri"/>
              <a:ea typeface="Calibri"/>
              <a:cs typeface="Calibri"/>
              <a:sym typeface="Calibri"/>
            </a:endParaRPr>
          </a:p>
        </p:txBody>
      </p:sp>
      <p:sp>
        <p:nvSpPr>
          <p:cNvPr id="184" name="Google Shape;184;p6"/>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Keunggulan Go</a:t>
            </a:r>
            <a:endParaRPr b="0" i="0" sz="4800" u="none" cap="none" strike="noStrike">
              <a:solidFill>
                <a:schemeClr val="dk1"/>
              </a:solidFill>
              <a:latin typeface="Calibri"/>
              <a:ea typeface="Calibri"/>
              <a:cs typeface="Calibri"/>
              <a:sym typeface="Calibri"/>
            </a:endParaRPr>
          </a:p>
        </p:txBody>
      </p:sp>
      <p:sp>
        <p:nvSpPr>
          <p:cNvPr id="185" name="Google Shape;185;p6"/>
          <p:cNvSpPr/>
          <p:nvPr/>
        </p:nvSpPr>
        <p:spPr>
          <a:xfrm>
            <a:off x="914400" y="4343400"/>
            <a:ext cx="52120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1188720" y="4617720"/>
            <a:ext cx="914400" cy="91440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7" name="Google Shape;187;p6"/>
          <p:cNvPicPr preferRelativeResize="0"/>
          <p:nvPr/>
        </p:nvPicPr>
        <p:blipFill rotWithShape="1">
          <a:blip r:embed="rId5">
            <a:alphaModFix/>
          </a:blip>
          <a:srcRect b="0" l="0" r="0" t="0"/>
          <a:stretch/>
        </p:blipFill>
        <p:spPr>
          <a:xfrm>
            <a:off x="1408176" y="4837176"/>
            <a:ext cx="475488" cy="475488"/>
          </a:xfrm>
          <a:prstGeom prst="rect">
            <a:avLst/>
          </a:prstGeom>
          <a:noFill/>
          <a:ln>
            <a:noFill/>
          </a:ln>
        </p:spPr>
      </p:pic>
      <p:sp>
        <p:nvSpPr>
          <p:cNvPr id="188" name="Google Shape;188;p6"/>
          <p:cNvSpPr txBox="1"/>
          <p:nvPr/>
        </p:nvSpPr>
        <p:spPr>
          <a:xfrm>
            <a:off x="2286000" y="4617720"/>
            <a:ext cx="3657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500"/>
              <a:buFont typeface="Calibri"/>
              <a:buNone/>
            </a:pPr>
            <a:r>
              <a:rPr b="1" i="0" lang="en-US" sz="2500" u="none" cap="none" strike="noStrike">
                <a:solidFill>
                  <a:srgbClr val="162CA2"/>
                </a:solidFill>
                <a:latin typeface="Calibri"/>
                <a:ea typeface="Calibri"/>
                <a:cs typeface="Calibri"/>
                <a:sym typeface="Calibri"/>
              </a:rPr>
              <a:t>Sederhana</a:t>
            </a:r>
            <a:endParaRPr b="0" i="0" sz="2500" u="none" cap="none" strike="noStrike">
              <a:solidFill>
                <a:schemeClr val="dk1"/>
              </a:solidFill>
              <a:latin typeface="Calibri"/>
              <a:ea typeface="Calibri"/>
              <a:cs typeface="Calibri"/>
              <a:sym typeface="Calibri"/>
            </a:endParaRPr>
          </a:p>
        </p:txBody>
      </p:sp>
      <p:sp>
        <p:nvSpPr>
          <p:cNvPr id="189" name="Google Shape;189;p6"/>
          <p:cNvSpPr txBox="1"/>
          <p:nvPr/>
        </p:nvSpPr>
        <p:spPr>
          <a:xfrm>
            <a:off x="1188720" y="5715000"/>
            <a:ext cx="46634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Hanya 25 keyword, sintaks ringkas dan mudah dibaca.</a:t>
            </a:r>
            <a:endParaRPr b="0" i="0" sz="2100" u="none" cap="none" strike="noStrike">
              <a:solidFill>
                <a:schemeClr val="dk1"/>
              </a:solidFill>
              <a:latin typeface="Calibri"/>
              <a:ea typeface="Calibri"/>
              <a:cs typeface="Calibri"/>
              <a:sym typeface="Calibri"/>
            </a:endParaRPr>
          </a:p>
        </p:txBody>
      </p:sp>
      <p:sp>
        <p:nvSpPr>
          <p:cNvPr id="190" name="Google Shape;190;p6"/>
          <p:cNvSpPr/>
          <p:nvPr/>
        </p:nvSpPr>
        <p:spPr>
          <a:xfrm>
            <a:off x="6537960" y="4343400"/>
            <a:ext cx="52120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6812280" y="4617720"/>
            <a:ext cx="914400" cy="91440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2" name="Google Shape;192;p6"/>
          <p:cNvPicPr preferRelativeResize="0"/>
          <p:nvPr/>
        </p:nvPicPr>
        <p:blipFill rotWithShape="1">
          <a:blip r:embed="rId6">
            <a:alphaModFix/>
          </a:blip>
          <a:srcRect b="0" l="0" r="0" t="0"/>
          <a:stretch/>
        </p:blipFill>
        <p:spPr>
          <a:xfrm>
            <a:off x="7031736" y="4837176"/>
            <a:ext cx="475488" cy="475488"/>
          </a:xfrm>
          <a:prstGeom prst="rect">
            <a:avLst/>
          </a:prstGeom>
          <a:noFill/>
          <a:ln>
            <a:noFill/>
          </a:ln>
        </p:spPr>
      </p:pic>
      <p:sp>
        <p:nvSpPr>
          <p:cNvPr id="193" name="Google Shape;193;p6"/>
          <p:cNvSpPr txBox="1"/>
          <p:nvPr/>
        </p:nvSpPr>
        <p:spPr>
          <a:xfrm>
            <a:off x="7909560" y="4617720"/>
            <a:ext cx="3657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500"/>
              <a:buFont typeface="Calibri"/>
              <a:buNone/>
            </a:pPr>
            <a:r>
              <a:rPr b="1" i="0" lang="en-US" sz="2500" u="none" cap="none" strike="noStrike">
                <a:solidFill>
                  <a:srgbClr val="162CA2"/>
                </a:solidFill>
                <a:latin typeface="Calibri"/>
                <a:ea typeface="Calibri"/>
                <a:cs typeface="Calibri"/>
                <a:sym typeface="Calibri"/>
              </a:rPr>
              <a:t>Kompilasi cepat</a:t>
            </a:r>
            <a:endParaRPr b="0" i="0" sz="2500" u="none" cap="none" strike="noStrike">
              <a:solidFill>
                <a:schemeClr val="dk1"/>
              </a:solidFill>
              <a:latin typeface="Calibri"/>
              <a:ea typeface="Calibri"/>
              <a:cs typeface="Calibri"/>
              <a:sym typeface="Calibri"/>
            </a:endParaRPr>
          </a:p>
        </p:txBody>
      </p:sp>
      <p:sp>
        <p:nvSpPr>
          <p:cNvPr id="194" name="Google Shape;194;p6"/>
          <p:cNvSpPr txBox="1"/>
          <p:nvPr/>
        </p:nvSpPr>
        <p:spPr>
          <a:xfrm>
            <a:off x="6812280" y="5715000"/>
            <a:ext cx="46634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Siklus tulis, jalankan, perbaiki terasa singkat.</a:t>
            </a:r>
            <a:endParaRPr b="0" i="0" sz="2100" u="none" cap="none" strike="noStrike">
              <a:solidFill>
                <a:schemeClr val="dk1"/>
              </a:solidFill>
              <a:latin typeface="Calibri"/>
              <a:ea typeface="Calibri"/>
              <a:cs typeface="Calibri"/>
              <a:sym typeface="Calibri"/>
            </a:endParaRPr>
          </a:p>
        </p:txBody>
      </p:sp>
      <p:sp>
        <p:nvSpPr>
          <p:cNvPr id="195" name="Google Shape;195;p6"/>
          <p:cNvSpPr/>
          <p:nvPr/>
        </p:nvSpPr>
        <p:spPr>
          <a:xfrm>
            <a:off x="12161520" y="4343400"/>
            <a:ext cx="52120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12435840" y="4617720"/>
            <a:ext cx="914400" cy="91440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7" name="Google Shape;197;p6"/>
          <p:cNvPicPr preferRelativeResize="0"/>
          <p:nvPr/>
        </p:nvPicPr>
        <p:blipFill rotWithShape="1">
          <a:blip r:embed="rId7">
            <a:alphaModFix/>
          </a:blip>
          <a:srcRect b="0" l="0" r="0" t="0"/>
          <a:stretch/>
        </p:blipFill>
        <p:spPr>
          <a:xfrm>
            <a:off x="12655296" y="4837176"/>
            <a:ext cx="475488" cy="475488"/>
          </a:xfrm>
          <a:prstGeom prst="rect">
            <a:avLst/>
          </a:prstGeom>
          <a:noFill/>
          <a:ln>
            <a:noFill/>
          </a:ln>
        </p:spPr>
      </p:pic>
      <p:sp>
        <p:nvSpPr>
          <p:cNvPr id="198" name="Google Shape;198;p6"/>
          <p:cNvSpPr txBox="1"/>
          <p:nvPr/>
        </p:nvSpPr>
        <p:spPr>
          <a:xfrm>
            <a:off x="13533120" y="4617720"/>
            <a:ext cx="3657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500"/>
              <a:buFont typeface="Calibri"/>
              <a:buNone/>
            </a:pPr>
            <a:r>
              <a:rPr b="1" i="0" lang="en-US" sz="2500" u="none" cap="none" strike="noStrike">
                <a:solidFill>
                  <a:srgbClr val="162CA2"/>
                </a:solidFill>
                <a:latin typeface="Calibri"/>
                <a:ea typeface="Calibri"/>
                <a:cs typeface="Calibri"/>
                <a:sym typeface="Calibri"/>
              </a:rPr>
              <a:t>Binary tunggal</a:t>
            </a:r>
            <a:endParaRPr b="0" i="0" sz="2500" u="none" cap="none" strike="noStrike">
              <a:solidFill>
                <a:schemeClr val="dk1"/>
              </a:solidFill>
              <a:latin typeface="Calibri"/>
              <a:ea typeface="Calibri"/>
              <a:cs typeface="Calibri"/>
              <a:sym typeface="Calibri"/>
            </a:endParaRPr>
          </a:p>
        </p:txBody>
      </p:sp>
      <p:sp>
        <p:nvSpPr>
          <p:cNvPr id="199" name="Google Shape;199;p6"/>
          <p:cNvSpPr txBox="1"/>
          <p:nvPr/>
        </p:nvSpPr>
        <p:spPr>
          <a:xfrm>
            <a:off x="12435840" y="5715000"/>
            <a:ext cx="46634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Hasil build satu file, mudah dideploy (Fase 4).</a:t>
            </a:r>
            <a:endParaRPr b="0" i="0" sz="2100" u="none" cap="none" strike="noStrike">
              <a:solidFill>
                <a:schemeClr val="dk1"/>
              </a:solidFill>
              <a:latin typeface="Calibri"/>
              <a:ea typeface="Calibri"/>
              <a:cs typeface="Calibri"/>
              <a:sym typeface="Calibri"/>
            </a:endParaRPr>
          </a:p>
        </p:txBody>
      </p:sp>
      <p:sp>
        <p:nvSpPr>
          <p:cNvPr id="200" name="Google Shape;200;p6"/>
          <p:cNvSpPr/>
          <p:nvPr/>
        </p:nvSpPr>
        <p:spPr>
          <a:xfrm>
            <a:off x="914400" y="7086600"/>
            <a:ext cx="52120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1188720" y="7360920"/>
            <a:ext cx="914400" cy="91440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2" name="Google Shape;202;p6"/>
          <p:cNvPicPr preferRelativeResize="0"/>
          <p:nvPr/>
        </p:nvPicPr>
        <p:blipFill rotWithShape="1">
          <a:blip r:embed="rId8">
            <a:alphaModFix/>
          </a:blip>
          <a:srcRect b="0" l="0" r="0" t="0"/>
          <a:stretch/>
        </p:blipFill>
        <p:spPr>
          <a:xfrm>
            <a:off x="1408176" y="7580376"/>
            <a:ext cx="475488" cy="475488"/>
          </a:xfrm>
          <a:prstGeom prst="rect">
            <a:avLst/>
          </a:prstGeom>
          <a:noFill/>
          <a:ln>
            <a:noFill/>
          </a:ln>
        </p:spPr>
      </p:pic>
      <p:sp>
        <p:nvSpPr>
          <p:cNvPr id="203" name="Google Shape;203;p6"/>
          <p:cNvSpPr txBox="1"/>
          <p:nvPr/>
        </p:nvSpPr>
        <p:spPr>
          <a:xfrm>
            <a:off x="2286000" y="7360920"/>
            <a:ext cx="3657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500"/>
              <a:buFont typeface="Calibri"/>
              <a:buNone/>
            </a:pPr>
            <a:r>
              <a:rPr b="1" i="0" lang="en-US" sz="2500" u="none" cap="none" strike="noStrike">
                <a:solidFill>
                  <a:srgbClr val="162CA2"/>
                </a:solidFill>
                <a:latin typeface="Calibri"/>
                <a:ea typeface="Calibri"/>
                <a:cs typeface="Calibri"/>
                <a:sym typeface="Calibri"/>
              </a:rPr>
              <a:t>Concurrency bawaan</a:t>
            </a:r>
            <a:endParaRPr b="0" i="0" sz="2500" u="none" cap="none" strike="noStrike">
              <a:solidFill>
                <a:schemeClr val="dk1"/>
              </a:solidFill>
              <a:latin typeface="Calibri"/>
              <a:ea typeface="Calibri"/>
              <a:cs typeface="Calibri"/>
              <a:sym typeface="Calibri"/>
            </a:endParaRPr>
          </a:p>
        </p:txBody>
      </p:sp>
      <p:sp>
        <p:nvSpPr>
          <p:cNvPr id="204" name="Google Shape;204;p6"/>
          <p:cNvSpPr txBox="1"/>
          <p:nvPr/>
        </p:nvSpPr>
        <p:spPr>
          <a:xfrm>
            <a:off x="1188720" y="8458200"/>
            <a:ext cx="46634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Goroutine dan channel (Fase 3).</a:t>
            </a:r>
            <a:endParaRPr b="0" i="0" sz="2100" u="none" cap="none" strike="noStrike">
              <a:solidFill>
                <a:schemeClr val="dk1"/>
              </a:solidFill>
              <a:latin typeface="Calibri"/>
              <a:ea typeface="Calibri"/>
              <a:cs typeface="Calibri"/>
              <a:sym typeface="Calibri"/>
            </a:endParaRPr>
          </a:p>
        </p:txBody>
      </p:sp>
      <p:sp>
        <p:nvSpPr>
          <p:cNvPr id="205" name="Google Shape;205;p6"/>
          <p:cNvSpPr/>
          <p:nvPr/>
        </p:nvSpPr>
        <p:spPr>
          <a:xfrm>
            <a:off x="6537960" y="7086600"/>
            <a:ext cx="52120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6812280" y="7360920"/>
            <a:ext cx="914400" cy="91440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7" name="Google Shape;207;p6"/>
          <p:cNvPicPr preferRelativeResize="0"/>
          <p:nvPr/>
        </p:nvPicPr>
        <p:blipFill rotWithShape="1">
          <a:blip r:embed="rId9">
            <a:alphaModFix/>
          </a:blip>
          <a:srcRect b="0" l="0" r="0" t="0"/>
          <a:stretch/>
        </p:blipFill>
        <p:spPr>
          <a:xfrm>
            <a:off x="7031736" y="7580376"/>
            <a:ext cx="475488" cy="475488"/>
          </a:xfrm>
          <a:prstGeom prst="rect">
            <a:avLst/>
          </a:prstGeom>
          <a:noFill/>
          <a:ln>
            <a:noFill/>
          </a:ln>
        </p:spPr>
      </p:pic>
      <p:sp>
        <p:nvSpPr>
          <p:cNvPr id="208" name="Google Shape;208;p6"/>
          <p:cNvSpPr txBox="1"/>
          <p:nvPr/>
        </p:nvSpPr>
        <p:spPr>
          <a:xfrm>
            <a:off x="7909560" y="7360920"/>
            <a:ext cx="3657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500"/>
              <a:buFont typeface="Calibri"/>
              <a:buNone/>
            </a:pPr>
            <a:r>
              <a:rPr b="1" i="0" lang="en-US" sz="2500" u="none" cap="none" strike="noStrike">
                <a:solidFill>
                  <a:srgbClr val="162CA2"/>
                </a:solidFill>
                <a:latin typeface="Calibri"/>
                <a:ea typeface="Calibri"/>
                <a:cs typeface="Calibri"/>
                <a:sym typeface="Calibri"/>
              </a:rPr>
              <a:t>Standard library lengkap</a:t>
            </a:r>
            <a:endParaRPr b="0" i="0" sz="2500" u="none" cap="none" strike="noStrike">
              <a:solidFill>
                <a:schemeClr val="dk1"/>
              </a:solidFill>
              <a:latin typeface="Calibri"/>
              <a:ea typeface="Calibri"/>
              <a:cs typeface="Calibri"/>
              <a:sym typeface="Calibri"/>
            </a:endParaRPr>
          </a:p>
        </p:txBody>
      </p:sp>
      <p:sp>
        <p:nvSpPr>
          <p:cNvPr id="209" name="Google Shape;209;p6"/>
          <p:cNvSpPr txBox="1"/>
          <p:nvPr/>
        </p:nvSpPr>
        <p:spPr>
          <a:xfrm>
            <a:off x="6812280" y="8458200"/>
            <a:ext cx="46634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net/http, encoding/json, testing sudah tersedia.</a:t>
            </a:r>
            <a:endParaRPr b="0" i="0" sz="2100" u="none" cap="none" strike="noStrike">
              <a:solidFill>
                <a:schemeClr val="dk1"/>
              </a:solidFill>
              <a:latin typeface="Calibri"/>
              <a:ea typeface="Calibri"/>
              <a:cs typeface="Calibri"/>
              <a:sym typeface="Calibri"/>
            </a:endParaRPr>
          </a:p>
        </p:txBody>
      </p:sp>
      <p:sp>
        <p:nvSpPr>
          <p:cNvPr id="210" name="Google Shape;210;p6"/>
          <p:cNvSpPr/>
          <p:nvPr/>
        </p:nvSpPr>
        <p:spPr>
          <a:xfrm>
            <a:off x="12161520" y="7086600"/>
            <a:ext cx="52120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
          <p:cNvSpPr/>
          <p:nvPr/>
        </p:nvSpPr>
        <p:spPr>
          <a:xfrm>
            <a:off x="12435840" y="7360920"/>
            <a:ext cx="914400" cy="91440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2" name="Google Shape;212;p6"/>
          <p:cNvPicPr preferRelativeResize="0"/>
          <p:nvPr/>
        </p:nvPicPr>
        <p:blipFill rotWithShape="1">
          <a:blip r:embed="rId10">
            <a:alphaModFix/>
          </a:blip>
          <a:srcRect b="0" l="0" r="0" t="0"/>
          <a:stretch/>
        </p:blipFill>
        <p:spPr>
          <a:xfrm>
            <a:off x="12655296" y="7580376"/>
            <a:ext cx="475488" cy="475488"/>
          </a:xfrm>
          <a:prstGeom prst="rect">
            <a:avLst/>
          </a:prstGeom>
          <a:noFill/>
          <a:ln>
            <a:noFill/>
          </a:ln>
        </p:spPr>
      </p:pic>
      <p:sp>
        <p:nvSpPr>
          <p:cNvPr id="213" name="Google Shape;213;p6"/>
          <p:cNvSpPr txBox="1"/>
          <p:nvPr/>
        </p:nvSpPr>
        <p:spPr>
          <a:xfrm>
            <a:off x="13533120" y="7360920"/>
            <a:ext cx="3657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500"/>
              <a:buFont typeface="Calibri"/>
              <a:buNone/>
            </a:pPr>
            <a:r>
              <a:rPr b="1" i="0" lang="en-US" sz="2500" u="none" cap="none" strike="noStrike">
                <a:solidFill>
                  <a:srgbClr val="162CA2"/>
                </a:solidFill>
                <a:latin typeface="Calibri"/>
                <a:ea typeface="Calibri"/>
                <a:cs typeface="Calibri"/>
                <a:sym typeface="Calibri"/>
              </a:rPr>
              <a:t>Cross-platform</a:t>
            </a:r>
            <a:endParaRPr b="0" i="0" sz="2500" u="none" cap="none" strike="noStrike">
              <a:solidFill>
                <a:schemeClr val="dk1"/>
              </a:solidFill>
              <a:latin typeface="Calibri"/>
              <a:ea typeface="Calibri"/>
              <a:cs typeface="Calibri"/>
              <a:sym typeface="Calibri"/>
            </a:endParaRPr>
          </a:p>
        </p:txBody>
      </p:sp>
      <p:sp>
        <p:nvSpPr>
          <p:cNvPr id="214" name="Google Shape;214;p6"/>
          <p:cNvSpPr txBox="1"/>
          <p:nvPr/>
        </p:nvSpPr>
        <p:spPr>
          <a:xfrm>
            <a:off x="12435840" y="8458200"/>
            <a:ext cx="46634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Kompilasi untuk Linux, Windows, macOS dari satu mesin.</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descr="/home/claude/assets/image6.png" id="220" name="Google Shape;220;p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221" name="Google Shape;221;p7"/>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222" name="Google Shape;222;p7"/>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1 · 15 MENIT</a:t>
            </a:r>
            <a:endParaRPr b="0" i="0" sz="2000" u="none" cap="none" strike="noStrike">
              <a:solidFill>
                <a:schemeClr val="dk1"/>
              </a:solidFill>
              <a:latin typeface="Calibri"/>
              <a:ea typeface="Calibri"/>
              <a:cs typeface="Calibri"/>
              <a:sym typeface="Calibri"/>
            </a:endParaRPr>
          </a:p>
        </p:txBody>
      </p:sp>
      <p:sp>
        <p:nvSpPr>
          <p:cNvPr id="223" name="Google Shape;223;p7"/>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Filosofi &amp; Penggunaan Go</a:t>
            </a:r>
            <a:endParaRPr b="0" i="0" sz="4800" u="none" cap="none" strike="noStrike">
              <a:solidFill>
                <a:schemeClr val="dk1"/>
              </a:solidFill>
              <a:latin typeface="Calibri"/>
              <a:ea typeface="Calibri"/>
              <a:cs typeface="Calibri"/>
              <a:sym typeface="Calibri"/>
            </a:endParaRPr>
          </a:p>
        </p:txBody>
      </p:sp>
      <p:sp>
        <p:nvSpPr>
          <p:cNvPr id="224" name="Google Shape;224;p7"/>
          <p:cNvSpPr/>
          <p:nvPr/>
        </p:nvSpPr>
        <p:spPr>
          <a:xfrm>
            <a:off x="914400" y="4343400"/>
            <a:ext cx="8412480" cy="5166360"/>
          </a:xfrm>
          <a:prstGeom prst="roundRect">
            <a:avLst>
              <a:gd fmla="val 265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txBox="1"/>
          <p:nvPr/>
        </p:nvSpPr>
        <p:spPr>
          <a:xfrm>
            <a:off x="1188720" y="4526280"/>
            <a:ext cx="7863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Prinsip desain</a:t>
            </a:r>
            <a:endParaRPr b="0" i="0" sz="2800" u="none" cap="none" strike="noStrike">
              <a:solidFill>
                <a:schemeClr val="dk1"/>
              </a:solidFill>
              <a:latin typeface="Calibri"/>
              <a:ea typeface="Calibri"/>
              <a:cs typeface="Calibri"/>
              <a:sym typeface="Calibri"/>
            </a:endParaRPr>
          </a:p>
        </p:txBody>
      </p:sp>
      <p:sp>
        <p:nvSpPr>
          <p:cNvPr id="226" name="Google Shape;226;p7"/>
          <p:cNvSpPr txBox="1"/>
          <p:nvPr/>
        </p:nvSpPr>
        <p:spPr>
          <a:xfrm>
            <a:off x="1188720" y="5257800"/>
            <a:ext cx="7863840" cy="41148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3123D"/>
              </a:buClr>
              <a:buSzPts val="2500"/>
              <a:buFont typeface="Calibri"/>
              <a:buChar char="•"/>
            </a:pPr>
            <a:r>
              <a:rPr b="0" i="0" lang="en-US" sz="2500" u="none" cap="none" strike="noStrike">
                <a:solidFill>
                  <a:srgbClr val="13123D"/>
                </a:solidFill>
                <a:latin typeface="Calibri"/>
                <a:ea typeface="Calibri"/>
                <a:cs typeface="Calibri"/>
                <a:sym typeface="Calibri"/>
              </a:rPr>
              <a:t>Sederhana lebih baik daripada rumit</a:t>
            </a:r>
            <a:endParaRPr b="0" i="0" sz="2500" u="none" cap="none" strike="noStrike">
              <a:solidFill>
                <a:schemeClr val="dk1"/>
              </a:solidFill>
              <a:latin typeface="Calibri"/>
              <a:ea typeface="Calibri"/>
              <a:cs typeface="Calibri"/>
              <a:sym typeface="Calibri"/>
            </a:endParaRPr>
          </a:p>
          <a:p>
            <a:pPr indent="-342900" lvl="0" marL="342900" marR="0" rtl="0" algn="l">
              <a:spcBef>
                <a:spcPts val="1800"/>
              </a:spcBef>
              <a:spcAft>
                <a:spcPts val="0"/>
              </a:spcAft>
              <a:buClr>
                <a:srgbClr val="13123D"/>
              </a:buClr>
              <a:buSzPts val="2500"/>
              <a:buFont typeface="Calibri"/>
              <a:buChar char="•"/>
            </a:pPr>
            <a:r>
              <a:rPr b="0" i="0" lang="en-US" sz="2500" u="none" cap="none" strike="noStrike">
                <a:solidFill>
                  <a:srgbClr val="13123D"/>
                </a:solidFill>
                <a:latin typeface="Calibri"/>
                <a:ea typeface="Calibri"/>
                <a:cs typeface="Calibri"/>
                <a:sym typeface="Calibri"/>
              </a:rPr>
              <a:t>Eksplisit daripada tersembunyi: tipe dan error dinyatakan jelas</a:t>
            </a:r>
            <a:endParaRPr b="0" i="0" sz="2500" u="none" cap="none" strike="noStrike">
              <a:solidFill>
                <a:schemeClr val="dk1"/>
              </a:solidFill>
              <a:latin typeface="Calibri"/>
              <a:ea typeface="Calibri"/>
              <a:cs typeface="Calibri"/>
              <a:sym typeface="Calibri"/>
            </a:endParaRPr>
          </a:p>
          <a:p>
            <a:pPr indent="-342900" lvl="0" marL="342900" marR="0" rtl="0" algn="l">
              <a:spcBef>
                <a:spcPts val="1800"/>
              </a:spcBef>
              <a:spcAft>
                <a:spcPts val="0"/>
              </a:spcAft>
              <a:buClr>
                <a:srgbClr val="13123D"/>
              </a:buClr>
              <a:buSzPts val="2500"/>
              <a:buFont typeface="Calibri"/>
              <a:buChar char="•"/>
            </a:pPr>
            <a:r>
              <a:rPr b="0" i="0" lang="en-US" sz="2500" u="none" cap="none" strike="noStrike">
                <a:solidFill>
                  <a:srgbClr val="13123D"/>
                </a:solidFill>
                <a:latin typeface="Calibri"/>
                <a:ea typeface="Calibri"/>
                <a:cs typeface="Calibri"/>
                <a:sym typeface="Calibri"/>
              </a:rPr>
              <a:t>Komposisi daripada pewarisan</a:t>
            </a:r>
            <a:endParaRPr b="0" i="0" sz="2500" u="none" cap="none" strike="noStrike">
              <a:solidFill>
                <a:schemeClr val="dk1"/>
              </a:solidFill>
              <a:latin typeface="Calibri"/>
              <a:ea typeface="Calibri"/>
              <a:cs typeface="Calibri"/>
              <a:sym typeface="Calibri"/>
            </a:endParaRPr>
          </a:p>
          <a:p>
            <a:pPr indent="-342900" lvl="0" marL="342900" marR="0" rtl="0" algn="l">
              <a:spcBef>
                <a:spcPts val="1800"/>
              </a:spcBef>
              <a:spcAft>
                <a:spcPts val="0"/>
              </a:spcAft>
              <a:buClr>
                <a:srgbClr val="13123D"/>
              </a:buClr>
              <a:buSzPts val="2500"/>
              <a:buFont typeface="Calibri"/>
              <a:buChar char="•"/>
            </a:pPr>
            <a:r>
              <a:rPr b="0" i="0" lang="en-US" sz="2500" u="none" cap="none" strike="noStrike">
                <a:solidFill>
                  <a:srgbClr val="13123D"/>
                </a:solidFill>
                <a:latin typeface="Calibri"/>
                <a:ea typeface="Calibri"/>
                <a:cs typeface="Calibri"/>
                <a:sym typeface="Calibri"/>
              </a:rPr>
              <a:t>Satu format standar untuk semua kode (gofmt)</a:t>
            </a:r>
            <a:endParaRPr b="0" i="0" sz="2500" u="none" cap="none" strike="noStrike">
              <a:solidFill>
                <a:schemeClr val="dk1"/>
              </a:solidFill>
              <a:latin typeface="Calibri"/>
              <a:ea typeface="Calibri"/>
              <a:cs typeface="Calibri"/>
              <a:sym typeface="Calibri"/>
            </a:endParaRPr>
          </a:p>
        </p:txBody>
      </p:sp>
      <p:sp>
        <p:nvSpPr>
          <p:cNvPr id="227" name="Google Shape;227;p7"/>
          <p:cNvSpPr txBox="1"/>
          <p:nvPr/>
        </p:nvSpPr>
        <p:spPr>
          <a:xfrm>
            <a:off x="9692640" y="4343400"/>
            <a:ext cx="7315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Dipakai membangun</a:t>
            </a:r>
            <a:endParaRPr b="0" i="0" sz="2800" u="none" cap="none" strike="noStrike">
              <a:solidFill>
                <a:schemeClr val="dk1"/>
              </a:solidFill>
              <a:latin typeface="Calibri"/>
              <a:ea typeface="Calibri"/>
              <a:cs typeface="Calibri"/>
              <a:sym typeface="Calibri"/>
            </a:endParaRPr>
          </a:p>
        </p:txBody>
      </p:sp>
      <p:sp>
        <p:nvSpPr>
          <p:cNvPr id="228" name="Google Shape;228;p7"/>
          <p:cNvSpPr/>
          <p:nvPr/>
        </p:nvSpPr>
        <p:spPr>
          <a:xfrm>
            <a:off x="9692640" y="5074920"/>
            <a:ext cx="2468880" cy="914400"/>
          </a:xfrm>
          <a:prstGeom prst="roundRect">
            <a:avLst>
              <a:gd fmla="val 12000" name="adj"/>
            </a:avLst>
          </a:prstGeom>
          <a:solidFill>
            <a:srgbClr val="13123D"/>
          </a:solidFill>
          <a:ln cap="flat" cmpd="sng" w="9525">
            <a:solidFill>
              <a:srgbClr val="13123D"/>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400"/>
              <a:buFont typeface="Calibri"/>
              <a:buNone/>
            </a:pPr>
            <a:r>
              <a:rPr b="1" i="0" lang="en-US" sz="2400" u="none" cap="none" strike="noStrike">
                <a:solidFill>
                  <a:srgbClr val="FDFBFB"/>
                </a:solidFill>
                <a:latin typeface="Calibri"/>
                <a:ea typeface="Calibri"/>
                <a:cs typeface="Calibri"/>
                <a:sym typeface="Calibri"/>
              </a:rPr>
              <a:t>Docker</a:t>
            </a:r>
            <a:endParaRPr b="0" i="0" sz="2400" u="none" cap="none" strike="noStrike">
              <a:solidFill>
                <a:schemeClr val="dk1"/>
              </a:solidFill>
              <a:latin typeface="Calibri"/>
              <a:ea typeface="Calibri"/>
              <a:cs typeface="Calibri"/>
              <a:sym typeface="Calibri"/>
            </a:endParaRPr>
          </a:p>
        </p:txBody>
      </p:sp>
      <p:sp>
        <p:nvSpPr>
          <p:cNvPr id="229" name="Google Shape;229;p7"/>
          <p:cNvSpPr/>
          <p:nvPr/>
        </p:nvSpPr>
        <p:spPr>
          <a:xfrm>
            <a:off x="12298680" y="5074920"/>
            <a:ext cx="2468880" cy="914400"/>
          </a:xfrm>
          <a:prstGeom prst="roundRect">
            <a:avLst>
              <a:gd fmla="val 12000" name="adj"/>
            </a:avLst>
          </a:prstGeom>
          <a:solidFill>
            <a:srgbClr val="13123D"/>
          </a:solidFill>
          <a:ln cap="flat" cmpd="sng" w="9525">
            <a:solidFill>
              <a:srgbClr val="13123D"/>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400"/>
              <a:buFont typeface="Calibri"/>
              <a:buNone/>
            </a:pPr>
            <a:r>
              <a:rPr b="1" i="0" lang="en-US" sz="2400" u="none" cap="none" strike="noStrike">
                <a:solidFill>
                  <a:srgbClr val="FDFBFB"/>
                </a:solidFill>
                <a:latin typeface="Calibri"/>
                <a:ea typeface="Calibri"/>
                <a:cs typeface="Calibri"/>
                <a:sym typeface="Calibri"/>
              </a:rPr>
              <a:t>Kubernetes</a:t>
            </a:r>
            <a:endParaRPr b="0" i="0" sz="2400" u="none" cap="none" strike="noStrike">
              <a:solidFill>
                <a:schemeClr val="dk1"/>
              </a:solidFill>
              <a:latin typeface="Calibri"/>
              <a:ea typeface="Calibri"/>
              <a:cs typeface="Calibri"/>
              <a:sym typeface="Calibri"/>
            </a:endParaRPr>
          </a:p>
        </p:txBody>
      </p:sp>
      <p:sp>
        <p:nvSpPr>
          <p:cNvPr id="230" name="Google Shape;230;p7"/>
          <p:cNvSpPr/>
          <p:nvPr/>
        </p:nvSpPr>
        <p:spPr>
          <a:xfrm>
            <a:off x="14904720" y="5074920"/>
            <a:ext cx="2468880" cy="914400"/>
          </a:xfrm>
          <a:prstGeom prst="roundRect">
            <a:avLst>
              <a:gd fmla="val 12000" name="adj"/>
            </a:avLst>
          </a:prstGeom>
          <a:solidFill>
            <a:srgbClr val="13123D"/>
          </a:solidFill>
          <a:ln cap="flat" cmpd="sng" w="9525">
            <a:solidFill>
              <a:srgbClr val="13123D"/>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400"/>
              <a:buFont typeface="Calibri"/>
              <a:buNone/>
            </a:pPr>
            <a:r>
              <a:rPr b="1" i="0" lang="en-US" sz="2400" u="none" cap="none" strike="noStrike">
                <a:solidFill>
                  <a:srgbClr val="FDFBFB"/>
                </a:solidFill>
                <a:latin typeface="Calibri"/>
                <a:ea typeface="Calibri"/>
                <a:cs typeface="Calibri"/>
                <a:sym typeface="Calibri"/>
              </a:rPr>
              <a:t>Terraform</a:t>
            </a:r>
            <a:endParaRPr b="0" i="0" sz="2400" u="none" cap="none" strike="noStrike">
              <a:solidFill>
                <a:schemeClr val="dk1"/>
              </a:solidFill>
              <a:latin typeface="Calibri"/>
              <a:ea typeface="Calibri"/>
              <a:cs typeface="Calibri"/>
              <a:sym typeface="Calibri"/>
            </a:endParaRPr>
          </a:p>
        </p:txBody>
      </p:sp>
      <p:sp>
        <p:nvSpPr>
          <p:cNvPr id="231" name="Google Shape;231;p7"/>
          <p:cNvSpPr/>
          <p:nvPr/>
        </p:nvSpPr>
        <p:spPr>
          <a:xfrm>
            <a:off x="9692640" y="6355080"/>
            <a:ext cx="7680960" cy="3154680"/>
          </a:xfrm>
          <a:prstGeom prst="roundRect">
            <a:avLst>
              <a:gd fmla="val 4348"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
          <p:cNvSpPr txBox="1"/>
          <p:nvPr/>
        </p:nvSpPr>
        <p:spPr>
          <a:xfrm>
            <a:off x="9966960" y="6492240"/>
            <a:ext cx="71323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600"/>
              <a:buFont typeface="Calibri"/>
              <a:buNone/>
            </a:pPr>
            <a:r>
              <a:rPr b="1" i="0" lang="en-US" sz="2600" u="none" cap="none" strike="noStrike">
                <a:solidFill>
                  <a:srgbClr val="13123D"/>
                </a:solidFill>
                <a:latin typeface="Calibri"/>
                <a:ea typeface="Calibri"/>
                <a:cs typeface="Calibri"/>
                <a:sym typeface="Calibri"/>
              </a:rPr>
              <a:t>Cocok untuk</a:t>
            </a:r>
            <a:endParaRPr b="0" i="0" sz="2600" u="none" cap="none" strike="noStrike">
              <a:solidFill>
                <a:schemeClr val="dk1"/>
              </a:solidFill>
              <a:latin typeface="Calibri"/>
              <a:ea typeface="Calibri"/>
              <a:cs typeface="Calibri"/>
              <a:sym typeface="Calibri"/>
            </a:endParaRPr>
          </a:p>
        </p:txBody>
      </p:sp>
      <p:sp>
        <p:nvSpPr>
          <p:cNvPr id="233" name="Google Shape;233;p7"/>
          <p:cNvSpPr txBox="1"/>
          <p:nvPr/>
        </p:nvSpPr>
        <p:spPr>
          <a:xfrm>
            <a:off x="9966960" y="7132320"/>
            <a:ext cx="713232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3123D"/>
              </a:buClr>
              <a:buSzPts val="2400"/>
              <a:buFont typeface="Calibri"/>
              <a:buChar char="•"/>
            </a:pPr>
            <a:r>
              <a:rPr b="0" i="0" lang="en-US" sz="2400" u="none" cap="none" strike="noStrike">
                <a:solidFill>
                  <a:srgbClr val="13123D"/>
                </a:solidFill>
                <a:latin typeface="Calibri"/>
                <a:ea typeface="Calibri"/>
                <a:cs typeface="Calibri"/>
                <a:sym typeface="Calibri"/>
              </a:rPr>
              <a:t>REST API dan layanan backend</a:t>
            </a:r>
            <a:endParaRPr b="0" i="0" sz="2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3123D"/>
              </a:buClr>
              <a:buSzPts val="2400"/>
              <a:buFont typeface="Calibri"/>
              <a:buChar char="•"/>
            </a:pPr>
            <a:r>
              <a:rPr b="0" i="0" lang="en-US" sz="2400" u="none" cap="none" strike="noStrike">
                <a:solidFill>
                  <a:srgbClr val="13123D"/>
                </a:solidFill>
                <a:latin typeface="Calibri"/>
                <a:ea typeface="Calibri"/>
                <a:cs typeface="Calibri"/>
                <a:sym typeface="Calibri"/>
              </a:rPr>
              <a:t>Alat command line (CLI)</a:t>
            </a:r>
            <a:endParaRPr b="0" i="0" sz="24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3123D"/>
              </a:buClr>
              <a:buSzPts val="2400"/>
              <a:buFont typeface="Calibri"/>
              <a:buChar char="•"/>
            </a:pPr>
            <a:r>
              <a:rPr b="0" i="0" lang="en-US" sz="2400" u="none" cap="none" strike="noStrike">
                <a:solidFill>
                  <a:srgbClr val="13123D"/>
                </a:solidFill>
                <a:latin typeface="Calibri"/>
                <a:ea typeface="Calibri"/>
                <a:cs typeface="Calibri"/>
                <a:sym typeface="Calibri"/>
              </a:rPr>
              <a:t>Layanan cloud dan microservices</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descr="/home/claude/assets/image6.png" id="239" name="Google Shape;239;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240" name="Google Shape;240;p8"/>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241" name="Google Shape;241;p8"/>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1 · 15 MENIT</a:t>
            </a:r>
            <a:endParaRPr b="0" i="0" sz="2000" u="none" cap="none" strike="noStrike">
              <a:solidFill>
                <a:schemeClr val="dk1"/>
              </a:solidFill>
              <a:latin typeface="Calibri"/>
              <a:ea typeface="Calibri"/>
              <a:cs typeface="Calibri"/>
              <a:sym typeface="Calibri"/>
            </a:endParaRPr>
          </a:p>
        </p:txBody>
      </p:sp>
      <p:sp>
        <p:nvSpPr>
          <p:cNvPr id="242" name="Google Shape;242;p8"/>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Cara Kerja Go: Compiled</a:t>
            </a:r>
            <a:endParaRPr b="0" i="0" sz="4800" u="none" cap="none" strike="noStrike">
              <a:solidFill>
                <a:schemeClr val="dk1"/>
              </a:solidFill>
              <a:latin typeface="Calibri"/>
              <a:ea typeface="Calibri"/>
              <a:cs typeface="Calibri"/>
              <a:sym typeface="Calibri"/>
            </a:endParaRPr>
          </a:p>
        </p:txBody>
      </p:sp>
      <p:sp>
        <p:nvSpPr>
          <p:cNvPr id="243" name="Google Shape;243;p8"/>
          <p:cNvSpPr/>
          <p:nvPr/>
        </p:nvSpPr>
        <p:spPr>
          <a:xfrm>
            <a:off x="914400" y="4343400"/>
            <a:ext cx="3383280" cy="1280160"/>
          </a:xfrm>
          <a:prstGeom prst="roundRect">
            <a:avLst>
              <a:gd fmla="val 8571"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600"/>
              <a:buFont typeface="Calibri"/>
              <a:buNone/>
            </a:pPr>
            <a:r>
              <a:rPr b="1" i="0" lang="en-US" sz="2600" u="none" cap="none" strike="noStrike">
                <a:solidFill>
                  <a:srgbClr val="13123D"/>
                </a:solidFill>
                <a:latin typeface="Calibri"/>
                <a:ea typeface="Calibri"/>
                <a:cs typeface="Calibri"/>
                <a:sym typeface="Calibri"/>
              </a:rPr>
              <a:t>main.go</a:t>
            </a:r>
            <a:endParaRPr b="0" i="0" sz="2600" u="none" cap="none" strike="noStrike">
              <a:solidFill>
                <a:schemeClr val="dk1"/>
              </a:solidFill>
              <a:latin typeface="Calibri"/>
              <a:ea typeface="Calibri"/>
              <a:cs typeface="Calibri"/>
              <a:sym typeface="Calibri"/>
            </a:endParaRPr>
          </a:p>
        </p:txBody>
      </p:sp>
      <p:cxnSp>
        <p:nvCxnSpPr>
          <p:cNvPr id="244" name="Google Shape;244;p8"/>
          <p:cNvCxnSpPr/>
          <p:nvPr/>
        </p:nvCxnSpPr>
        <p:spPr>
          <a:xfrm>
            <a:off x="4343400" y="4983480"/>
            <a:ext cx="777240" cy="0"/>
          </a:xfrm>
          <a:prstGeom prst="straightConnector1">
            <a:avLst/>
          </a:prstGeom>
          <a:noFill/>
          <a:ln cap="flat" cmpd="sng" w="31750">
            <a:solidFill>
              <a:srgbClr val="162CA2"/>
            </a:solidFill>
            <a:prstDash val="solid"/>
            <a:round/>
            <a:headEnd len="sm" w="sm" type="none"/>
            <a:tailEnd len="med" w="med" type="triangle"/>
          </a:ln>
        </p:spPr>
      </p:cxnSp>
      <p:sp>
        <p:nvSpPr>
          <p:cNvPr id="245" name="Google Shape;245;p8"/>
          <p:cNvSpPr/>
          <p:nvPr/>
        </p:nvSpPr>
        <p:spPr>
          <a:xfrm>
            <a:off x="5166360" y="4343400"/>
            <a:ext cx="3383280" cy="1280160"/>
          </a:xfrm>
          <a:prstGeom prst="roundRect">
            <a:avLst>
              <a:gd fmla="val 8571" name="adj"/>
            </a:avLst>
          </a:prstGeom>
          <a:solidFill>
            <a:srgbClr val="13123D"/>
          </a:solidFill>
          <a:ln cap="flat" cmpd="sng" w="9525">
            <a:solidFill>
              <a:srgbClr val="13123D"/>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600"/>
              <a:buFont typeface="Calibri"/>
              <a:buNone/>
            </a:pPr>
            <a:r>
              <a:rPr b="1" i="0" lang="en-US" sz="2600" u="none" cap="none" strike="noStrike">
                <a:solidFill>
                  <a:srgbClr val="FDFBFB"/>
                </a:solidFill>
                <a:latin typeface="Calibri"/>
                <a:ea typeface="Calibri"/>
                <a:cs typeface="Calibri"/>
                <a:sym typeface="Calibri"/>
              </a:rPr>
              <a:t>Compiler</a:t>
            </a:r>
            <a:endParaRPr b="0" i="0" sz="2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DFBFB"/>
              </a:buClr>
              <a:buSzPts val="2600"/>
              <a:buFont typeface="Calibri"/>
              <a:buNone/>
            </a:pPr>
            <a:r>
              <a:rPr b="1" i="0" lang="en-US" sz="2600" u="none" cap="none" strike="noStrike">
                <a:solidFill>
                  <a:srgbClr val="FDFBFB"/>
                </a:solidFill>
                <a:latin typeface="Calibri"/>
                <a:ea typeface="Calibri"/>
                <a:cs typeface="Calibri"/>
                <a:sym typeface="Calibri"/>
              </a:rPr>
              <a:t>(go build)</a:t>
            </a:r>
            <a:endParaRPr b="0" i="0" sz="2600" u="none" cap="none" strike="noStrike">
              <a:solidFill>
                <a:schemeClr val="dk1"/>
              </a:solidFill>
              <a:latin typeface="Calibri"/>
              <a:ea typeface="Calibri"/>
              <a:cs typeface="Calibri"/>
              <a:sym typeface="Calibri"/>
            </a:endParaRPr>
          </a:p>
        </p:txBody>
      </p:sp>
      <p:cxnSp>
        <p:nvCxnSpPr>
          <p:cNvPr id="246" name="Google Shape;246;p8"/>
          <p:cNvCxnSpPr/>
          <p:nvPr/>
        </p:nvCxnSpPr>
        <p:spPr>
          <a:xfrm>
            <a:off x="8595360" y="4983480"/>
            <a:ext cx="777240" cy="0"/>
          </a:xfrm>
          <a:prstGeom prst="straightConnector1">
            <a:avLst/>
          </a:prstGeom>
          <a:noFill/>
          <a:ln cap="flat" cmpd="sng" w="31750">
            <a:solidFill>
              <a:srgbClr val="162CA2"/>
            </a:solidFill>
            <a:prstDash val="solid"/>
            <a:round/>
            <a:headEnd len="sm" w="sm" type="none"/>
            <a:tailEnd len="med" w="med" type="triangle"/>
          </a:ln>
        </p:spPr>
      </p:cxnSp>
      <p:sp>
        <p:nvSpPr>
          <p:cNvPr id="247" name="Google Shape;247;p8"/>
          <p:cNvSpPr/>
          <p:nvPr/>
        </p:nvSpPr>
        <p:spPr>
          <a:xfrm>
            <a:off x="9418320" y="4343400"/>
            <a:ext cx="3383280" cy="1280160"/>
          </a:xfrm>
          <a:prstGeom prst="roundRect">
            <a:avLst>
              <a:gd fmla="val 8571" name="adj"/>
            </a:avLst>
          </a:prstGeom>
          <a:solidFill>
            <a:srgbClr val="FCDF59"/>
          </a:solidFill>
          <a:ln cap="flat" cmpd="sng" w="9525">
            <a:solidFill>
              <a:srgbClr val="FCDF59"/>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600"/>
              <a:buFont typeface="Calibri"/>
              <a:buNone/>
            </a:pPr>
            <a:r>
              <a:rPr b="1" i="0" lang="en-US" sz="2600" u="none" cap="none" strike="noStrike">
                <a:solidFill>
                  <a:srgbClr val="13123D"/>
                </a:solidFill>
                <a:latin typeface="Calibri"/>
                <a:ea typeface="Calibri"/>
                <a:cs typeface="Calibri"/>
                <a:sym typeface="Calibri"/>
              </a:rPr>
              <a:t>File binary</a:t>
            </a:r>
            <a:endParaRPr b="0" i="0" sz="2600" u="none" cap="none" strike="noStrike">
              <a:solidFill>
                <a:schemeClr val="dk1"/>
              </a:solidFill>
              <a:latin typeface="Calibri"/>
              <a:ea typeface="Calibri"/>
              <a:cs typeface="Calibri"/>
              <a:sym typeface="Calibri"/>
            </a:endParaRPr>
          </a:p>
        </p:txBody>
      </p:sp>
      <p:cxnSp>
        <p:nvCxnSpPr>
          <p:cNvPr id="248" name="Google Shape;248;p8"/>
          <p:cNvCxnSpPr/>
          <p:nvPr/>
        </p:nvCxnSpPr>
        <p:spPr>
          <a:xfrm>
            <a:off x="12847320" y="4983480"/>
            <a:ext cx="777240" cy="0"/>
          </a:xfrm>
          <a:prstGeom prst="straightConnector1">
            <a:avLst/>
          </a:prstGeom>
          <a:noFill/>
          <a:ln cap="flat" cmpd="sng" w="31750">
            <a:solidFill>
              <a:srgbClr val="162CA2"/>
            </a:solidFill>
            <a:prstDash val="solid"/>
            <a:round/>
            <a:headEnd len="sm" w="sm" type="none"/>
            <a:tailEnd len="med" w="med" type="triangle"/>
          </a:ln>
        </p:spPr>
      </p:cxnSp>
      <p:sp>
        <p:nvSpPr>
          <p:cNvPr id="249" name="Google Shape;249;p8"/>
          <p:cNvSpPr/>
          <p:nvPr/>
        </p:nvSpPr>
        <p:spPr>
          <a:xfrm>
            <a:off x="13670280" y="4343400"/>
            <a:ext cx="3383280" cy="1280160"/>
          </a:xfrm>
          <a:prstGeom prst="roundRect">
            <a:avLst>
              <a:gd fmla="val 8571"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600"/>
              <a:buFont typeface="Calibri"/>
              <a:buNone/>
            </a:pPr>
            <a:r>
              <a:rPr b="1" i="0" lang="en-US" sz="2600" u="none" cap="none" strike="noStrike">
                <a:solidFill>
                  <a:srgbClr val="FDFBFB"/>
                </a:solidFill>
                <a:latin typeface="Calibri"/>
                <a:ea typeface="Calibri"/>
                <a:cs typeface="Calibri"/>
                <a:sym typeface="Calibri"/>
              </a:rPr>
              <a:t>Jalankan</a:t>
            </a:r>
            <a:endParaRPr b="0" i="0" sz="2600" u="none" cap="none" strike="noStrike">
              <a:solidFill>
                <a:schemeClr val="dk1"/>
              </a:solidFill>
              <a:latin typeface="Calibri"/>
              <a:ea typeface="Calibri"/>
              <a:cs typeface="Calibri"/>
              <a:sym typeface="Calibri"/>
            </a:endParaRPr>
          </a:p>
        </p:txBody>
      </p:sp>
      <p:sp>
        <p:nvSpPr>
          <p:cNvPr id="250" name="Google Shape;250;p8"/>
          <p:cNvSpPr/>
          <p:nvPr/>
        </p:nvSpPr>
        <p:spPr>
          <a:xfrm>
            <a:off x="914400" y="5943600"/>
            <a:ext cx="7955280" cy="2286000"/>
          </a:xfrm>
          <a:prstGeom prst="roundRect">
            <a:avLst>
              <a:gd fmla="val 600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txBox="1"/>
          <p:nvPr/>
        </p:nvSpPr>
        <p:spPr>
          <a:xfrm>
            <a:off x="1188720" y="5943600"/>
            <a:ext cx="7406640" cy="228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400"/>
              <a:buFont typeface="Calibri"/>
              <a:buNone/>
            </a:pPr>
            <a:r>
              <a:rPr b="1" i="0" lang="en-US" sz="2400" u="none" cap="none" strike="noStrike">
                <a:solidFill>
                  <a:srgbClr val="162CA2"/>
                </a:solidFill>
                <a:latin typeface="Calibri"/>
                <a:ea typeface="Calibri"/>
                <a:cs typeface="Calibri"/>
                <a:sym typeface="Calibri"/>
              </a:rPr>
              <a:t>Compiled (Go)</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Kode diterjemahkan dulu menjadi file eksekusi. Berjalan tanpa interpreter, dan banyak error ketahuan sebelum program dijalankan.</a:t>
            </a:r>
            <a:endParaRPr b="0" i="0" sz="2400" u="none" cap="none" strike="noStrike">
              <a:solidFill>
                <a:schemeClr val="dk1"/>
              </a:solidFill>
              <a:latin typeface="Calibri"/>
              <a:ea typeface="Calibri"/>
              <a:cs typeface="Calibri"/>
              <a:sym typeface="Calibri"/>
            </a:endParaRPr>
          </a:p>
        </p:txBody>
      </p:sp>
      <p:sp>
        <p:nvSpPr>
          <p:cNvPr id="252" name="Google Shape;252;p8"/>
          <p:cNvSpPr/>
          <p:nvPr/>
        </p:nvSpPr>
        <p:spPr>
          <a:xfrm>
            <a:off x="9418320" y="5943600"/>
            <a:ext cx="7955280" cy="2286000"/>
          </a:xfrm>
          <a:prstGeom prst="roundRect">
            <a:avLst>
              <a:gd fmla="val 600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txBox="1"/>
          <p:nvPr/>
        </p:nvSpPr>
        <p:spPr>
          <a:xfrm>
            <a:off x="9692640" y="5943600"/>
            <a:ext cx="7406640" cy="228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400"/>
              <a:buFont typeface="Calibri"/>
              <a:buNone/>
            </a:pPr>
            <a:r>
              <a:rPr b="1" i="0" lang="en-US" sz="2400" u="none" cap="none" strike="noStrike">
                <a:solidFill>
                  <a:srgbClr val="162CA2"/>
                </a:solidFill>
                <a:latin typeface="Calibri"/>
                <a:ea typeface="Calibri"/>
                <a:cs typeface="Calibri"/>
                <a:sym typeface="Calibri"/>
              </a:rPr>
              <a:t>Interpreted (mis. Python)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Kode dibaca dan dijalankan oleh interpreter saat program berjalan. Fleksibel, tetapi bergantung pada interpreter terpasang.</a:t>
            </a:r>
            <a:endParaRPr b="0" i="0" sz="2400" u="none" cap="none" strike="noStrike">
              <a:solidFill>
                <a:schemeClr val="dk1"/>
              </a:solidFill>
              <a:latin typeface="Calibri"/>
              <a:ea typeface="Calibri"/>
              <a:cs typeface="Calibri"/>
              <a:sym typeface="Calibri"/>
            </a:endParaRPr>
          </a:p>
        </p:txBody>
      </p:sp>
      <p:sp>
        <p:nvSpPr>
          <p:cNvPr id="254" name="Google Shape;254;p8"/>
          <p:cNvSpPr/>
          <p:nvPr/>
        </p:nvSpPr>
        <p:spPr>
          <a:xfrm>
            <a:off x="914400" y="8503920"/>
            <a:ext cx="16459200" cy="1005840"/>
          </a:xfrm>
          <a:prstGeom prst="roundRect">
            <a:avLst>
              <a:gd fmla="val 13636" name="adj"/>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txBox="1"/>
          <p:nvPr/>
        </p:nvSpPr>
        <p:spPr>
          <a:xfrm>
            <a:off x="1188720" y="8503920"/>
            <a:ext cx="1591056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CDF59"/>
              </a:buClr>
              <a:buSzPts val="2800"/>
              <a:buFont typeface="Calibri"/>
              <a:buNone/>
            </a:pPr>
            <a:r>
              <a:rPr b="1" i="0" lang="en-US" sz="2800" u="none" cap="none" strike="noStrike">
                <a:solidFill>
                  <a:srgbClr val="FCDF59"/>
                </a:solidFill>
                <a:latin typeface="Calibri"/>
                <a:ea typeface="Calibri"/>
                <a:cs typeface="Calibri"/>
                <a:sym typeface="Calibri"/>
              </a:rPr>
              <a:t>Dampaknya: </a:t>
            </a:r>
            <a:r>
              <a:rPr b="0" i="0" lang="en-US" sz="2800" u="none" cap="none" strike="noStrike">
                <a:solidFill>
                  <a:srgbClr val="FDFBFB"/>
                </a:solidFill>
                <a:latin typeface="Calibri"/>
                <a:ea typeface="Calibri"/>
                <a:cs typeface="Calibri"/>
                <a:sym typeface="Calibri"/>
              </a:rPr>
              <a:t>tipe tidak cocok dan variabel tak terpakai ketahuan sebelum program jalan.</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descr="/home/claude/assets/image6.png" id="261" name="Google Shape;261;p9"/>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262" name="Google Shape;262;p9"/>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263" name="Google Shape;263;p9"/>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2 · 25 MENIT</a:t>
            </a:r>
            <a:endParaRPr b="0" i="0" sz="2000" u="none" cap="none" strike="noStrike">
              <a:solidFill>
                <a:schemeClr val="dk1"/>
              </a:solidFill>
              <a:latin typeface="Calibri"/>
              <a:ea typeface="Calibri"/>
              <a:cs typeface="Calibri"/>
              <a:sym typeface="Calibri"/>
            </a:endParaRPr>
          </a:p>
        </p:txBody>
      </p:sp>
      <p:sp>
        <p:nvSpPr>
          <p:cNvPr id="264" name="Google Shape;264;p9"/>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Instalasi Go SDK</a:t>
            </a:r>
            <a:endParaRPr b="0" i="0" sz="4800" u="none" cap="none" strike="noStrike">
              <a:solidFill>
                <a:schemeClr val="dk1"/>
              </a:solidFill>
              <a:latin typeface="Calibri"/>
              <a:ea typeface="Calibri"/>
              <a:cs typeface="Calibri"/>
              <a:sym typeface="Calibri"/>
            </a:endParaRPr>
          </a:p>
        </p:txBody>
      </p:sp>
      <p:sp>
        <p:nvSpPr>
          <p:cNvPr id="265" name="Google Shape;265;p9"/>
          <p:cNvSpPr/>
          <p:nvPr/>
        </p:nvSpPr>
        <p:spPr>
          <a:xfrm>
            <a:off x="914400" y="4343400"/>
            <a:ext cx="5212080" cy="2651760"/>
          </a:xfrm>
          <a:prstGeom prst="roundRect">
            <a:avLst>
              <a:gd fmla="val 517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9"/>
          <p:cNvSpPr/>
          <p:nvPr/>
        </p:nvSpPr>
        <p:spPr>
          <a:xfrm>
            <a:off x="1188720" y="4572000"/>
            <a:ext cx="822960" cy="82296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3000"/>
              <a:buFont typeface="Arial"/>
              <a:buNone/>
            </a:pPr>
            <a:r>
              <a:rPr b="1" i="0" lang="en-US" sz="3000" u="none" cap="none" strike="noStrike">
                <a:solidFill>
                  <a:srgbClr val="13123D"/>
                </a:solidFill>
                <a:latin typeface="Arial"/>
                <a:ea typeface="Arial"/>
                <a:cs typeface="Arial"/>
                <a:sym typeface="Arial"/>
              </a:rPr>
              <a:t>1</a:t>
            </a:r>
            <a:endParaRPr b="0" i="0" sz="3000" u="none" cap="none" strike="noStrike">
              <a:solidFill>
                <a:schemeClr val="dk1"/>
              </a:solidFill>
              <a:latin typeface="Calibri"/>
              <a:ea typeface="Calibri"/>
              <a:cs typeface="Calibri"/>
              <a:sym typeface="Calibri"/>
            </a:endParaRPr>
          </a:p>
        </p:txBody>
      </p:sp>
      <p:sp>
        <p:nvSpPr>
          <p:cNvPr id="267" name="Google Shape;267;p9"/>
          <p:cNvSpPr txBox="1"/>
          <p:nvPr/>
        </p:nvSpPr>
        <p:spPr>
          <a:xfrm>
            <a:off x="2011680" y="457200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Unduh</a:t>
            </a:r>
            <a:endParaRPr b="0" i="0" sz="2800" u="none" cap="none" strike="noStrike">
              <a:solidFill>
                <a:schemeClr val="dk1"/>
              </a:solidFill>
              <a:latin typeface="Calibri"/>
              <a:ea typeface="Calibri"/>
              <a:cs typeface="Calibri"/>
              <a:sym typeface="Calibri"/>
            </a:endParaRPr>
          </a:p>
        </p:txBody>
      </p:sp>
      <p:sp>
        <p:nvSpPr>
          <p:cNvPr id="268" name="Google Shape;268;p9"/>
          <p:cNvSpPr txBox="1"/>
          <p:nvPr/>
        </p:nvSpPr>
        <p:spPr>
          <a:xfrm>
            <a:off x="1188720" y="5577840"/>
            <a:ext cx="46634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Buka go.dev/dl, pilih installer sesuai sistem operasi.</a:t>
            </a:r>
            <a:endParaRPr b="0" i="0" sz="2200" u="none" cap="none" strike="noStrike">
              <a:solidFill>
                <a:schemeClr val="dk1"/>
              </a:solidFill>
              <a:latin typeface="Calibri"/>
              <a:ea typeface="Calibri"/>
              <a:cs typeface="Calibri"/>
              <a:sym typeface="Calibri"/>
            </a:endParaRPr>
          </a:p>
        </p:txBody>
      </p:sp>
      <p:sp>
        <p:nvSpPr>
          <p:cNvPr id="269" name="Google Shape;269;p9"/>
          <p:cNvSpPr/>
          <p:nvPr/>
        </p:nvSpPr>
        <p:spPr>
          <a:xfrm>
            <a:off x="6537960" y="4343400"/>
            <a:ext cx="5212080" cy="2651760"/>
          </a:xfrm>
          <a:prstGeom prst="roundRect">
            <a:avLst>
              <a:gd fmla="val 517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9"/>
          <p:cNvSpPr/>
          <p:nvPr/>
        </p:nvSpPr>
        <p:spPr>
          <a:xfrm>
            <a:off x="6812280" y="4572000"/>
            <a:ext cx="822960" cy="82296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3000"/>
              <a:buFont typeface="Arial"/>
              <a:buNone/>
            </a:pPr>
            <a:r>
              <a:rPr b="1" i="0" lang="en-US" sz="3000" u="none" cap="none" strike="noStrike">
                <a:solidFill>
                  <a:srgbClr val="13123D"/>
                </a:solidFill>
                <a:latin typeface="Arial"/>
                <a:ea typeface="Arial"/>
                <a:cs typeface="Arial"/>
                <a:sym typeface="Arial"/>
              </a:rPr>
              <a:t>2</a:t>
            </a:r>
            <a:endParaRPr b="0" i="0" sz="3000" u="none" cap="none" strike="noStrike">
              <a:solidFill>
                <a:schemeClr val="dk1"/>
              </a:solidFill>
              <a:latin typeface="Calibri"/>
              <a:ea typeface="Calibri"/>
              <a:cs typeface="Calibri"/>
              <a:sym typeface="Calibri"/>
            </a:endParaRPr>
          </a:p>
        </p:txBody>
      </p:sp>
      <p:sp>
        <p:nvSpPr>
          <p:cNvPr id="271" name="Google Shape;271;p9"/>
          <p:cNvSpPr txBox="1"/>
          <p:nvPr/>
        </p:nvSpPr>
        <p:spPr>
          <a:xfrm>
            <a:off x="7635240" y="457200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Instal</a:t>
            </a:r>
            <a:endParaRPr b="0" i="0" sz="2800" u="none" cap="none" strike="noStrike">
              <a:solidFill>
                <a:schemeClr val="dk1"/>
              </a:solidFill>
              <a:latin typeface="Calibri"/>
              <a:ea typeface="Calibri"/>
              <a:cs typeface="Calibri"/>
              <a:sym typeface="Calibri"/>
            </a:endParaRPr>
          </a:p>
        </p:txBody>
      </p:sp>
      <p:sp>
        <p:nvSpPr>
          <p:cNvPr id="272" name="Google Shape;272;p9"/>
          <p:cNvSpPr txBox="1"/>
          <p:nvPr/>
        </p:nvSpPr>
        <p:spPr>
          <a:xfrm>
            <a:off x="6812280" y="5577840"/>
            <a:ext cx="46634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Jalankan installer dan ikuti wizard. PATH diatur otomatis.</a:t>
            </a:r>
            <a:endParaRPr b="0" i="0" sz="2200" u="none" cap="none" strike="noStrike">
              <a:solidFill>
                <a:schemeClr val="dk1"/>
              </a:solidFill>
              <a:latin typeface="Calibri"/>
              <a:ea typeface="Calibri"/>
              <a:cs typeface="Calibri"/>
              <a:sym typeface="Calibri"/>
            </a:endParaRPr>
          </a:p>
        </p:txBody>
      </p:sp>
      <p:sp>
        <p:nvSpPr>
          <p:cNvPr id="273" name="Google Shape;273;p9"/>
          <p:cNvSpPr/>
          <p:nvPr/>
        </p:nvSpPr>
        <p:spPr>
          <a:xfrm>
            <a:off x="12161520" y="4343400"/>
            <a:ext cx="5212080" cy="2651760"/>
          </a:xfrm>
          <a:prstGeom prst="roundRect">
            <a:avLst>
              <a:gd fmla="val 517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a:off x="12435840" y="4572000"/>
            <a:ext cx="822960" cy="82296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3000"/>
              <a:buFont typeface="Arial"/>
              <a:buNone/>
            </a:pPr>
            <a:r>
              <a:rPr b="1" i="0" lang="en-US" sz="3000" u="none" cap="none" strike="noStrike">
                <a:solidFill>
                  <a:srgbClr val="13123D"/>
                </a:solidFill>
                <a:latin typeface="Arial"/>
                <a:ea typeface="Arial"/>
                <a:cs typeface="Arial"/>
                <a:sym typeface="Arial"/>
              </a:rPr>
              <a:t>3</a:t>
            </a:r>
            <a:endParaRPr b="0" i="0" sz="3000" u="none" cap="none" strike="noStrike">
              <a:solidFill>
                <a:schemeClr val="dk1"/>
              </a:solidFill>
              <a:latin typeface="Calibri"/>
              <a:ea typeface="Calibri"/>
              <a:cs typeface="Calibri"/>
              <a:sym typeface="Calibri"/>
            </a:endParaRPr>
          </a:p>
        </p:txBody>
      </p:sp>
      <p:sp>
        <p:nvSpPr>
          <p:cNvPr id="275" name="Google Shape;275;p9"/>
          <p:cNvSpPr txBox="1"/>
          <p:nvPr/>
        </p:nvSpPr>
        <p:spPr>
          <a:xfrm>
            <a:off x="13258800" y="457200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Verifikasi</a:t>
            </a:r>
            <a:endParaRPr b="0" i="0" sz="2800" u="none" cap="none" strike="noStrike">
              <a:solidFill>
                <a:schemeClr val="dk1"/>
              </a:solidFill>
              <a:latin typeface="Calibri"/>
              <a:ea typeface="Calibri"/>
              <a:cs typeface="Calibri"/>
              <a:sym typeface="Calibri"/>
            </a:endParaRPr>
          </a:p>
        </p:txBody>
      </p:sp>
      <p:sp>
        <p:nvSpPr>
          <p:cNvPr id="276" name="Google Shape;276;p9"/>
          <p:cNvSpPr txBox="1"/>
          <p:nvPr/>
        </p:nvSpPr>
        <p:spPr>
          <a:xfrm>
            <a:off x="12435840" y="5577840"/>
            <a:ext cx="46634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Buka terminal baru, jalankan go version.</a:t>
            </a:r>
            <a:endParaRPr b="0" i="0" sz="2200" u="none" cap="none" strike="noStrike">
              <a:solidFill>
                <a:schemeClr val="dk1"/>
              </a:solidFill>
              <a:latin typeface="Calibri"/>
              <a:ea typeface="Calibri"/>
              <a:cs typeface="Calibri"/>
              <a:sym typeface="Calibri"/>
            </a:endParaRPr>
          </a:p>
        </p:txBody>
      </p:sp>
      <p:sp>
        <p:nvSpPr>
          <p:cNvPr id="277" name="Google Shape;277;p9"/>
          <p:cNvSpPr/>
          <p:nvPr/>
        </p:nvSpPr>
        <p:spPr>
          <a:xfrm>
            <a:off x="914400" y="7315200"/>
            <a:ext cx="10515600" cy="1571244"/>
          </a:xfrm>
          <a:prstGeom prst="roundRect">
            <a:avLst>
              <a:gd fmla="val 8729"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9"/>
          <p:cNvSpPr txBox="1"/>
          <p:nvPr/>
        </p:nvSpPr>
        <p:spPr>
          <a:xfrm>
            <a:off x="1188720" y="7571232"/>
            <a:ext cx="9966960" cy="11140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go</a:t>
            </a:r>
            <a:r>
              <a:rPr b="0" i="0" lang="en-US" sz="2200" u="none" cap="none" strike="noStrike">
                <a:solidFill>
                  <a:srgbClr val="E8ECFF"/>
                </a:solidFill>
                <a:latin typeface="Courier New"/>
                <a:ea typeface="Courier New"/>
                <a:cs typeface="Courier New"/>
                <a:sym typeface="Courier New"/>
              </a:rPr>
              <a:t> version</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go</a:t>
            </a:r>
            <a:r>
              <a:rPr b="0" i="0" lang="en-US" sz="2200" u="none" cap="none" strike="noStrike">
                <a:solidFill>
                  <a:srgbClr val="E8ECFF"/>
                </a:solidFill>
                <a:latin typeface="Courier New"/>
                <a:ea typeface="Courier New"/>
                <a:cs typeface="Courier New"/>
                <a:sym typeface="Courier New"/>
              </a:rPr>
              <a:t> version go1.xx linux/amd64</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go</a:t>
            </a:r>
            <a:r>
              <a:rPr b="0" i="0" lang="en-US" sz="2200" u="none" cap="none" strike="noStrike">
                <a:solidFill>
                  <a:srgbClr val="E8ECFF"/>
                </a:solidFill>
                <a:latin typeface="Courier New"/>
                <a:ea typeface="Courier New"/>
                <a:cs typeface="Courier New"/>
                <a:sym typeface="Courier New"/>
              </a:rPr>
              <a:t> env GOPATH</a:t>
            </a:r>
            <a:endParaRPr b="0" i="0" sz="2200" u="none" cap="none" strike="noStrike">
              <a:solidFill>
                <a:schemeClr val="dk1"/>
              </a:solidFill>
              <a:latin typeface="Calibri"/>
              <a:ea typeface="Calibri"/>
              <a:cs typeface="Calibri"/>
              <a:sym typeface="Calibri"/>
            </a:endParaRPr>
          </a:p>
        </p:txBody>
      </p:sp>
      <p:sp>
        <p:nvSpPr>
          <p:cNvPr id="279" name="Google Shape;279;p9"/>
          <p:cNvSpPr/>
          <p:nvPr/>
        </p:nvSpPr>
        <p:spPr>
          <a:xfrm>
            <a:off x="11795760" y="7315200"/>
            <a:ext cx="5577840" cy="2194560"/>
          </a:xfrm>
          <a:prstGeom prst="roundRect">
            <a:avLst>
              <a:gd fmla="val 6250"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txBox="1"/>
          <p:nvPr/>
        </p:nvSpPr>
        <p:spPr>
          <a:xfrm>
            <a:off x="12070080" y="7315200"/>
            <a:ext cx="502920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Tips</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Pilih versi stabil terbaru. Setelah instal, tutup dan buka ulang terminal.</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descr="/home/claude/assets/image6.png" id="286" name="Google Shape;286;p10"/>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287" name="Google Shape;287;p10"/>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288" name="Google Shape;288;p10"/>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2 · 25 MENIT</a:t>
            </a:r>
            <a:endParaRPr b="0" i="0" sz="2000" u="none" cap="none" strike="noStrike">
              <a:solidFill>
                <a:schemeClr val="dk1"/>
              </a:solidFill>
              <a:latin typeface="Calibri"/>
              <a:ea typeface="Calibri"/>
              <a:cs typeface="Calibri"/>
              <a:sym typeface="Calibri"/>
            </a:endParaRPr>
          </a:p>
        </p:txBody>
      </p:sp>
      <p:sp>
        <p:nvSpPr>
          <p:cNvPr id="289" name="Google Shape;289;p10"/>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Setup VS Code untuk Go</a:t>
            </a:r>
            <a:endParaRPr b="0" i="0" sz="4800" u="none" cap="none" strike="noStrike">
              <a:solidFill>
                <a:schemeClr val="dk1"/>
              </a:solidFill>
              <a:latin typeface="Calibri"/>
              <a:ea typeface="Calibri"/>
              <a:cs typeface="Calibri"/>
              <a:sym typeface="Calibri"/>
            </a:endParaRPr>
          </a:p>
        </p:txBody>
      </p:sp>
      <p:sp>
        <p:nvSpPr>
          <p:cNvPr id="290" name="Google Shape;290;p10"/>
          <p:cNvSpPr/>
          <p:nvPr/>
        </p:nvSpPr>
        <p:spPr>
          <a:xfrm>
            <a:off x="914400" y="4343400"/>
            <a:ext cx="10058400" cy="1188720"/>
          </a:xfrm>
          <a:prstGeom prst="roundRect">
            <a:avLst>
              <a:gd fmla="val 1153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0"/>
          <p:cNvSpPr/>
          <p:nvPr/>
        </p:nvSpPr>
        <p:spPr>
          <a:xfrm>
            <a:off x="1143000" y="4594860"/>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1</a:t>
            </a:r>
            <a:endParaRPr b="0" i="0" sz="2400" u="none" cap="none" strike="noStrike">
              <a:solidFill>
                <a:schemeClr val="dk1"/>
              </a:solidFill>
              <a:latin typeface="Calibri"/>
              <a:ea typeface="Calibri"/>
              <a:cs typeface="Calibri"/>
              <a:sym typeface="Calibri"/>
            </a:endParaRPr>
          </a:p>
        </p:txBody>
      </p:sp>
      <p:sp>
        <p:nvSpPr>
          <p:cNvPr id="292" name="Google Shape;292;p10"/>
          <p:cNvSpPr txBox="1"/>
          <p:nvPr/>
        </p:nvSpPr>
        <p:spPr>
          <a:xfrm>
            <a:off x="2011680" y="4343400"/>
            <a:ext cx="877824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Pasang VS Code</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Unduh dari situs resmi lalu instal.</a:t>
            </a:r>
            <a:endParaRPr b="0" i="0" sz="2400" u="none" cap="none" strike="noStrike">
              <a:solidFill>
                <a:schemeClr val="dk1"/>
              </a:solidFill>
              <a:latin typeface="Calibri"/>
              <a:ea typeface="Calibri"/>
              <a:cs typeface="Calibri"/>
              <a:sym typeface="Calibri"/>
            </a:endParaRPr>
          </a:p>
        </p:txBody>
      </p:sp>
      <p:sp>
        <p:nvSpPr>
          <p:cNvPr id="293" name="Google Shape;293;p10"/>
          <p:cNvSpPr/>
          <p:nvPr/>
        </p:nvSpPr>
        <p:spPr>
          <a:xfrm>
            <a:off x="914400" y="5669280"/>
            <a:ext cx="10058400" cy="1188720"/>
          </a:xfrm>
          <a:prstGeom prst="roundRect">
            <a:avLst>
              <a:gd fmla="val 1153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0"/>
          <p:cNvSpPr/>
          <p:nvPr/>
        </p:nvSpPr>
        <p:spPr>
          <a:xfrm>
            <a:off x="1143000" y="5920740"/>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2</a:t>
            </a:r>
            <a:endParaRPr b="0" i="0" sz="2400" u="none" cap="none" strike="noStrike">
              <a:solidFill>
                <a:schemeClr val="dk1"/>
              </a:solidFill>
              <a:latin typeface="Calibri"/>
              <a:ea typeface="Calibri"/>
              <a:cs typeface="Calibri"/>
              <a:sym typeface="Calibri"/>
            </a:endParaRPr>
          </a:p>
        </p:txBody>
      </p:sp>
      <p:sp>
        <p:nvSpPr>
          <p:cNvPr id="295" name="Google Shape;295;p10"/>
          <p:cNvSpPr txBox="1"/>
          <p:nvPr/>
        </p:nvSpPr>
        <p:spPr>
          <a:xfrm>
            <a:off x="2011680" y="5669280"/>
            <a:ext cx="877824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Pasang ekstensi Go</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Buka Extensions, cari "Go" (Go Team at Google), klik Install.</a:t>
            </a:r>
            <a:endParaRPr b="0" i="0" sz="2400" u="none" cap="none" strike="noStrike">
              <a:solidFill>
                <a:schemeClr val="dk1"/>
              </a:solidFill>
              <a:latin typeface="Calibri"/>
              <a:ea typeface="Calibri"/>
              <a:cs typeface="Calibri"/>
              <a:sym typeface="Calibri"/>
            </a:endParaRPr>
          </a:p>
        </p:txBody>
      </p:sp>
      <p:sp>
        <p:nvSpPr>
          <p:cNvPr id="296" name="Google Shape;296;p10"/>
          <p:cNvSpPr/>
          <p:nvPr/>
        </p:nvSpPr>
        <p:spPr>
          <a:xfrm>
            <a:off x="914400" y="6995160"/>
            <a:ext cx="10058400" cy="1188720"/>
          </a:xfrm>
          <a:prstGeom prst="roundRect">
            <a:avLst>
              <a:gd fmla="val 1153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
          <p:cNvSpPr/>
          <p:nvPr/>
        </p:nvSpPr>
        <p:spPr>
          <a:xfrm>
            <a:off x="1143000" y="7246620"/>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3</a:t>
            </a:r>
            <a:endParaRPr b="0" i="0" sz="2400" u="none" cap="none" strike="noStrike">
              <a:solidFill>
                <a:schemeClr val="dk1"/>
              </a:solidFill>
              <a:latin typeface="Calibri"/>
              <a:ea typeface="Calibri"/>
              <a:cs typeface="Calibri"/>
              <a:sym typeface="Calibri"/>
            </a:endParaRPr>
          </a:p>
        </p:txBody>
      </p:sp>
      <p:sp>
        <p:nvSpPr>
          <p:cNvPr id="298" name="Google Shape;298;p10"/>
          <p:cNvSpPr txBox="1"/>
          <p:nvPr/>
        </p:nvSpPr>
        <p:spPr>
          <a:xfrm>
            <a:off x="2011680" y="6995160"/>
            <a:ext cx="877824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Pasang Go tools</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Ctrl+Shift+P, pilih "Go: Install/Update Tools", centang semua.</a:t>
            </a:r>
            <a:endParaRPr b="0" i="0" sz="2400" u="none" cap="none" strike="noStrike">
              <a:solidFill>
                <a:schemeClr val="dk1"/>
              </a:solidFill>
              <a:latin typeface="Calibri"/>
              <a:ea typeface="Calibri"/>
              <a:cs typeface="Calibri"/>
              <a:sym typeface="Calibri"/>
            </a:endParaRPr>
          </a:p>
        </p:txBody>
      </p:sp>
      <p:sp>
        <p:nvSpPr>
          <p:cNvPr id="299" name="Google Shape;299;p10"/>
          <p:cNvSpPr/>
          <p:nvPr/>
        </p:nvSpPr>
        <p:spPr>
          <a:xfrm>
            <a:off x="914400" y="8321040"/>
            <a:ext cx="10058400" cy="1188720"/>
          </a:xfrm>
          <a:prstGeom prst="roundRect">
            <a:avLst>
              <a:gd fmla="val 1153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0"/>
          <p:cNvSpPr/>
          <p:nvPr/>
        </p:nvSpPr>
        <p:spPr>
          <a:xfrm>
            <a:off x="1143000" y="8572500"/>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4</a:t>
            </a:r>
            <a:endParaRPr b="0" i="0" sz="2400" u="none" cap="none" strike="noStrike">
              <a:solidFill>
                <a:schemeClr val="dk1"/>
              </a:solidFill>
              <a:latin typeface="Calibri"/>
              <a:ea typeface="Calibri"/>
              <a:cs typeface="Calibri"/>
              <a:sym typeface="Calibri"/>
            </a:endParaRPr>
          </a:p>
        </p:txBody>
      </p:sp>
      <p:sp>
        <p:nvSpPr>
          <p:cNvPr id="301" name="Google Shape;301;p10"/>
          <p:cNvSpPr txBox="1"/>
          <p:nvPr/>
        </p:nvSpPr>
        <p:spPr>
          <a:xfrm>
            <a:off x="2011680" y="8321040"/>
            <a:ext cx="877824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Buka folder proyek</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Simpan file .go: kode terformat otomatis.</a:t>
            </a:r>
            <a:endParaRPr b="0" i="0" sz="2400" u="none" cap="none" strike="noStrike">
              <a:solidFill>
                <a:schemeClr val="dk1"/>
              </a:solidFill>
              <a:latin typeface="Calibri"/>
              <a:ea typeface="Calibri"/>
              <a:cs typeface="Calibri"/>
              <a:sym typeface="Calibri"/>
            </a:endParaRPr>
          </a:p>
        </p:txBody>
      </p:sp>
      <p:sp>
        <p:nvSpPr>
          <p:cNvPr id="302" name="Google Shape;302;p10"/>
          <p:cNvSpPr/>
          <p:nvPr/>
        </p:nvSpPr>
        <p:spPr>
          <a:xfrm>
            <a:off x="11247120" y="4343400"/>
            <a:ext cx="6126480" cy="5166360"/>
          </a:xfrm>
          <a:prstGeom prst="roundRect">
            <a:avLst>
              <a:gd fmla="val 265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0"/>
          <p:cNvSpPr txBox="1"/>
          <p:nvPr/>
        </p:nvSpPr>
        <p:spPr>
          <a:xfrm>
            <a:off x="11521440" y="4526280"/>
            <a:ext cx="5577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Alat yang terpasang</a:t>
            </a:r>
            <a:endParaRPr b="0" i="0" sz="2600" u="none" cap="none" strike="noStrike">
              <a:solidFill>
                <a:schemeClr val="dk1"/>
              </a:solidFill>
              <a:latin typeface="Calibri"/>
              <a:ea typeface="Calibri"/>
              <a:cs typeface="Calibri"/>
              <a:sym typeface="Calibri"/>
            </a:endParaRPr>
          </a:p>
        </p:txBody>
      </p:sp>
      <p:sp>
        <p:nvSpPr>
          <p:cNvPr id="304" name="Google Shape;304;p10"/>
          <p:cNvSpPr/>
          <p:nvPr/>
        </p:nvSpPr>
        <p:spPr>
          <a:xfrm>
            <a:off x="11521440" y="5303520"/>
            <a:ext cx="2560320" cy="594360"/>
          </a:xfrm>
          <a:prstGeom prst="roundRect">
            <a:avLst>
              <a:gd fmla="val 18462" name="adj"/>
            </a:avLst>
          </a:prstGeom>
          <a:solidFill>
            <a:srgbClr val="13123D"/>
          </a:solidFill>
          <a:ln cap="flat" cmpd="sng" w="9525">
            <a:solidFill>
              <a:srgbClr val="13123D"/>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E8ECFF"/>
              </a:buClr>
              <a:buSzPts val="2100"/>
              <a:buFont typeface="Courier New"/>
              <a:buNone/>
            </a:pPr>
            <a:r>
              <a:rPr b="1" i="0" lang="en-US" sz="2100" u="none" cap="none" strike="noStrike">
                <a:solidFill>
                  <a:srgbClr val="E8ECFF"/>
                </a:solidFill>
                <a:latin typeface="Courier New"/>
                <a:ea typeface="Courier New"/>
                <a:cs typeface="Courier New"/>
                <a:sym typeface="Courier New"/>
              </a:rPr>
              <a:t>gopls</a:t>
            </a:r>
            <a:endParaRPr b="0" i="0" sz="2100" u="none" cap="none" strike="noStrike">
              <a:solidFill>
                <a:schemeClr val="dk1"/>
              </a:solidFill>
              <a:latin typeface="Calibri"/>
              <a:ea typeface="Calibri"/>
              <a:cs typeface="Calibri"/>
              <a:sym typeface="Calibri"/>
            </a:endParaRPr>
          </a:p>
        </p:txBody>
      </p:sp>
      <p:sp>
        <p:nvSpPr>
          <p:cNvPr id="305" name="Google Shape;305;p10"/>
          <p:cNvSpPr txBox="1"/>
          <p:nvPr/>
        </p:nvSpPr>
        <p:spPr>
          <a:xfrm>
            <a:off x="11521440" y="5989320"/>
            <a:ext cx="5577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autocomplete dan deteksi error</a:t>
            </a:r>
            <a:endParaRPr b="0" i="0" sz="2200" u="none" cap="none" strike="noStrike">
              <a:solidFill>
                <a:schemeClr val="dk1"/>
              </a:solidFill>
              <a:latin typeface="Calibri"/>
              <a:ea typeface="Calibri"/>
              <a:cs typeface="Calibri"/>
              <a:sym typeface="Calibri"/>
            </a:endParaRPr>
          </a:p>
        </p:txBody>
      </p:sp>
      <p:sp>
        <p:nvSpPr>
          <p:cNvPr id="306" name="Google Shape;306;p10"/>
          <p:cNvSpPr/>
          <p:nvPr/>
        </p:nvSpPr>
        <p:spPr>
          <a:xfrm>
            <a:off x="11521440" y="6675120"/>
            <a:ext cx="2560320" cy="594360"/>
          </a:xfrm>
          <a:prstGeom prst="roundRect">
            <a:avLst>
              <a:gd fmla="val 18462" name="adj"/>
            </a:avLst>
          </a:prstGeom>
          <a:solidFill>
            <a:srgbClr val="13123D"/>
          </a:solidFill>
          <a:ln cap="flat" cmpd="sng" w="9525">
            <a:solidFill>
              <a:srgbClr val="13123D"/>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E8ECFF"/>
              </a:buClr>
              <a:buSzPts val="2100"/>
              <a:buFont typeface="Courier New"/>
              <a:buNone/>
            </a:pPr>
            <a:r>
              <a:rPr b="1" i="0" lang="en-US" sz="2100" u="none" cap="none" strike="noStrike">
                <a:solidFill>
                  <a:srgbClr val="E8ECFF"/>
                </a:solidFill>
                <a:latin typeface="Courier New"/>
                <a:ea typeface="Courier New"/>
                <a:cs typeface="Courier New"/>
                <a:sym typeface="Courier New"/>
              </a:rPr>
              <a:t>dlv (Delve)</a:t>
            </a:r>
            <a:endParaRPr b="0" i="0" sz="2100" u="none" cap="none" strike="noStrike">
              <a:solidFill>
                <a:schemeClr val="dk1"/>
              </a:solidFill>
              <a:latin typeface="Calibri"/>
              <a:ea typeface="Calibri"/>
              <a:cs typeface="Calibri"/>
              <a:sym typeface="Calibri"/>
            </a:endParaRPr>
          </a:p>
        </p:txBody>
      </p:sp>
      <p:sp>
        <p:nvSpPr>
          <p:cNvPr id="307" name="Google Shape;307;p10"/>
          <p:cNvSpPr txBox="1"/>
          <p:nvPr/>
        </p:nvSpPr>
        <p:spPr>
          <a:xfrm>
            <a:off x="11521440" y="7360920"/>
            <a:ext cx="5577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debugger</a:t>
            </a:r>
            <a:endParaRPr b="0" i="0" sz="2200" u="none" cap="none" strike="noStrike">
              <a:solidFill>
                <a:schemeClr val="dk1"/>
              </a:solidFill>
              <a:latin typeface="Calibri"/>
              <a:ea typeface="Calibri"/>
              <a:cs typeface="Calibri"/>
              <a:sym typeface="Calibri"/>
            </a:endParaRPr>
          </a:p>
        </p:txBody>
      </p:sp>
      <p:sp>
        <p:nvSpPr>
          <p:cNvPr id="308" name="Google Shape;308;p10"/>
          <p:cNvSpPr/>
          <p:nvPr/>
        </p:nvSpPr>
        <p:spPr>
          <a:xfrm>
            <a:off x="11521440" y="8046720"/>
            <a:ext cx="2560320" cy="594360"/>
          </a:xfrm>
          <a:prstGeom prst="roundRect">
            <a:avLst>
              <a:gd fmla="val 18462" name="adj"/>
            </a:avLst>
          </a:prstGeom>
          <a:solidFill>
            <a:srgbClr val="13123D"/>
          </a:solidFill>
          <a:ln cap="flat" cmpd="sng" w="9525">
            <a:solidFill>
              <a:srgbClr val="13123D"/>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E8ECFF"/>
              </a:buClr>
              <a:buSzPts val="2100"/>
              <a:buFont typeface="Courier New"/>
              <a:buNone/>
            </a:pPr>
            <a:r>
              <a:rPr b="1" i="0" lang="en-US" sz="2100" u="none" cap="none" strike="noStrike">
                <a:solidFill>
                  <a:srgbClr val="E8ECFF"/>
                </a:solidFill>
                <a:latin typeface="Courier New"/>
                <a:ea typeface="Courier New"/>
                <a:cs typeface="Courier New"/>
                <a:sym typeface="Courier New"/>
              </a:rPr>
              <a:t>gofmt</a:t>
            </a:r>
            <a:endParaRPr b="0" i="0" sz="2100" u="none" cap="none" strike="noStrike">
              <a:solidFill>
                <a:schemeClr val="dk1"/>
              </a:solidFill>
              <a:latin typeface="Calibri"/>
              <a:ea typeface="Calibri"/>
              <a:cs typeface="Calibri"/>
              <a:sym typeface="Calibri"/>
            </a:endParaRPr>
          </a:p>
        </p:txBody>
      </p:sp>
      <p:sp>
        <p:nvSpPr>
          <p:cNvPr id="309" name="Google Shape;309;p10"/>
          <p:cNvSpPr txBox="1"/>
          <p:nvPr/>
        </p:nvSpPr>
        <p:spPr>
          <a:xfrm>
            <a:off x="11521440" y="8732520"/>
            <a:ext cx="5577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merapikan format kode</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descr="/home/claude/assets/image6.png" id="315" name="Google Shape;315;p11"/>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316" name="Google Shape;316;p11"/>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317" name="Google Shape;317;p11"/>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2 · 25 MENIT</a:t>
            </a:r>
            <a:endParaRPr b="0" i="0" sz="2000" u="none" cap="none" strike="noStrike">
              <a:solidFill>
                <a:schemeClr val="dk1"/>
              </a:solidFill>
              <a:latin typeface="Calibri"/>
              <a:ea typeface="Calibri"/>
              <a:cs typeface="Calibri"/>
              <a:sym typeface="Calibri"/>
            </a:endParaRPr>
          </a:p>
        </p:txBody>
      </p:sp>
      <p:sp>
        <p:nvSpPr>
          <p:cNvPr id="318" name="Google Shape;318;p11"/>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Go Modules</a:t>
            </a:r>
            <a:endParaRPr b="0" i="0" sz="4800" u="none" cap="none" strike="noStrike">
              <a:solidFill>
                <a:schemeClr val="dk1"/>
              </a:solidFill>
              <a:latin typeface="Calibri"/>
              <a:ea typeface="Calibri"/>
              <a:cs typeface="Calibri"/>
              <a:sym typeface="Calibri"/>
            </a:endParaRPr>
          </a:p>
        </p:txBody>
      </p:sp>
      <p:sp>
        <p:nvSpPr>
          <p:cNvPr id="319" name="Google Shape;319;p11"/>
          <p:cNvSpPr txBox="1"/>
          <p:nvPr/>
        </p:nvSpPr>
        <p:spPr>
          <a:xfrm>
            <a:off x="914400" y="4160520"/>
            <a:ext cx="79552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Perintah di terminal</a:t>
            </a:r>
            <a:endParaRPr b="0" i="0" sz="2600" u="none" cap="none" strike="noStrike">
              <a:solidFill>
                <a:schemeClr val="dk1"/>
              </a:solidFill>
              <a:latin typeface="Calibri"/>
              <a:ea typeface="Calibri"/>
              <a:cs typeface="Calibri"/>
              <a:sym typeface="Calibri"/>
            </a:endParaRPr>
          </a:p>
        </p:txBody>
      </p:sp>
      <p:sp>
        <p:nvSpPr>
          <p:cNvPr id="320" name="Google Shape;320;p11"/>
          <p:cNvSpPr/>
          <p:nvPr/>
        </p:nvSpPr>
        <p:spPr>
          <a:xfrm>
            <a:off x="914400" y="4709160"/>
            <a:ext cx="7955280" cy="1571244"/>
          </a:xfrm>
          <a:prstGeom prst="roundRect">
            <a:avLst>
              <a:gd fmla="val 8729"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1"/>
          <p:cNvSpPr txBox="1"/>
          <p:nvPr/>
        </p:nvSpPr>
        <p:spPr>
          <a:xfrm>
            <a:off x="1188720" y="4965192"/>
            <a:ext cx="7406640" cy="11140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mkdir belajar-go</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cd belajar-go</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CDF59"/>
                </a:solidFill>
                <a:latin typeface="Courier New"/>
                <a:ea typeface="Courier New"/>
                <a:cs typeface="Courier New"/>
                <a:sym typeface="Courier New"/>
              </a:rPr>
              <a:t>go</a:t>
            </a:r>
            <a:r>
              <a:rPr b="0" i="0" lang="en-US" sz="2200" u="none" cap="none" strike="noStrike">
                <a:solidFill>
                  <a:srgbClr val="E8ECFF"/>
                </a:solidFill>
                <a:latin typeface="Courier New"/>
                <a:ea typeface="Courier New"/>
                <a:cs typeface="Courier New"/>
                <a:sym typeface="Courier New"/>
              </a:rPr>
              <a:t> mod init belajar-go</a:t>
            </a:r>
            <a:endParaRPr b="0" i="0" sz="2200" u="none" cap="none" strike="noStrike">
              <a:solidFill>
                <a:schemeClr val="dk1"/>
              </a:solidFill>
              <a:latin typeface="Calibri"/>
              <a:ea typeface="Calibri"/>
              <a:cs typeface="Calibri"/>
              <a:sym typeface="Calibri"/>
            </a:endParaRPr>
          </a:p>
        </p:txBody>
      </p:sp>
      <p:sp>
        <p:nvSpPr>
          <p:cNvPr id="322" name="Google Shape;322;p11"/>
          <p:cNvSpPr txBox="1"/>
          <p:nvPr/>
        </p:nvSpPr>
        <p:spPr>
          <a:xfrm>
            <a:off x="9418320" y="4160520"/>
            <a:ext cx="79552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Isi file go.mod</a:t>
            </a:r>
            <a:endParaRPr b="0" i="0" sz="2600" u="none" cap="none" strike="noStrike">
              <a:solidFill>
                <a:schemeClr val="dk1"/>
              </a:solidFill>
              <a:latin typeface="Calibri"/>
              <a:ea typeface="Calibri"/>
              <a:cs typeface="Calibri"/>
              <a:sym typeface="Calibri"/>
            </a:endParaRPr>
          </a:p>
        </p:txBody>
      </p:sp>
      <p:sp>
        <p:nvSpPr>
          <p:cNvPr id="323" name="Google Shape;323;p11"/>
          <p:cNvSpPr/>
          <p:nvPr/>
        </p:nvSpPr>
        <p:spPr>
          <a:xfrm>
            <a:off x="9418320" y="4709160"/>
            <a:ext cx="7955280" cy="2148840"/>
          </a:xfrm>
          <a:prstGeom prst="roundRect">
            <a:avLst>
              <a:gd fmla="val 6383"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
          <p:cNvSpPr txBox="1"/>
          <p:nvPr/>
        </p:nvSpPr>
        <p:spPr>
          <a:xfrm>
            <a:off x="9692640" y="4965192"/>
            <a:ext cx="7406640" cy="1691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module belajar-go</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200"/>
              <a:buFont typeface="Courier New"/>
              <a:buNone/>
            </a:pPr>
            <a:r>
              <a:rPr b="0" i="0" lang="en-US" sz="2200" u="none" cap="none" strike="noStrike">
                <a:solidFill>
                  <a:srgbClr val="000000"/>
                </a:solidFill>
                <a:latin typeface="Courier New"/>
                <a:ea typeface="Courier New"/>
                <a:cs typeface="Courier New"/>
                <a:sym typeface="Courier New"/>
              </a:rPr>
              <a:t> </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go</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FFC58A"/>
                </a:solidFill>
                <a:latin typeface="Courier New"/>
                <a:ea typeface="Courier New"/>
                <a:cs typeface="Courier New"/>
                <a:sym typeface="Courier New"/>
              </a:rPr>
              <a:t>1</a:t>
            </a:r>
            <a:r>
              <a:rPr b="0" i="0" lang="en-US" sz="2200" u="none" cap="none" strike="noStrike">
                <a:solidFill>
                  <a:srgbClr val="E8ECFF"/>
                </a:solidFill>
                <a:latin typeface="Courier New"/>
                <a:ea typeface="Courier New"/>
                <a:cs typeface="Courier New"/>
                <a:sym typeface="Courier New"/>
              </a:rPr>
              <a:t>.xx</a:t>
            </a:r>
            <a:endParaRPr b="0" i="0" sz="2200" u="none" cap="none" strike="noStrike">
              <a:solidFill>
                <a:schemeClr val="dk1"/>
              </a:solidFill>
              <a:latin typeface="Calibri"/>
              <a:ea typeface="Calibri"/>
              <a:cs typeface="Calibri"/>
              <a:sym typeface="Calibri"/>
            </a:endParaRPr>
          </a:p>
        </p:txBody>
      </p:sp>
      <p:sp>
        <p:nvSpPr>
          <p:cNvPr id="325" name="Google Shape;325;p11"/>
          <p:cNvSpPr/>
          <p:nvPr/>
        </p:nvSpPr>
        <p:spPr>
          <a:xfrm>
            <a:off x="914400" y="7498080"/>
            <a:ext cx="7955280" cy="2011680"/>
          </a:xfrm>
          <a:prstGeom prst="roundRect">
            <a:avLst>
              <a:gd fmla="val 681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
          <p:cNvSpPr txBox="1"/>
          <p:nvPr/>
        </p:nvSpPr>
        <p:spPr>
          <a:xfrm>
            <a:off x="1188720" y="7498080"/>
            <a:ext cx="740664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400"/>
              <a:buFont typeface="Calibri"/>
              <a:buNone/>
            </a:pPr>
            <a:r>
              <a:rPr b="1" i="0" lang="en-US" sz="2400" u="none" cap="none" strike="noStrike">
                <a:solidFill>
                  <a:srgbClr val="162CA2"/>
                </a:solidFill>
                <a:latin typeface="Calibri"/>
                <a:ea typeface="Calibri"/>
                <a:cs typeface="Calibri"/>
                <a:sym typeface="Calibri"/>
              </a:rPr>
              <a:t>Module</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Kumpulan package Go yang dikelola bersama lewat satu file go.mod.</a:t>
            </a:r>
            <a:endParaRPr b="0" i="0" sz="2400" u="none" cap="none" strike="noStrike">
              <a:solidFill>
                <a:schemeClr val="dk1"/>
              </a:solidFill>
              <a:latin typeface="Calibri"/>
              <a:ea typeface="Calibri"/>
              <a:cs typeface="Calibri"/>
              <a:sym typeface="Calibri"/>
            </a:endParaRPr>
          </a:p>
        </p:txBody>
      </p:sp>
      <p:sp>
        <p:nvSpPr>
          <p:cNvPr id="327" name="Google Shape;327;p11"/>
          <p:cNvSpPr/>
          <p:nvPr/>
        </p:nvSpPr>
        <p:spPr>
          <a:xfrm>
            <a:off x="9418320" y="7498080"/>
            <a:ext cx="7955280" cy="2011680"/>
          </a:xfrm>
          <a:prstGeom prst="roundRect">
            <a:avLst>
              <a:gd fmla="val 6818"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
          <p:cNvSpPr txBox="1"/>
          <p:nvPr/>
        </p:nvSpPr>
        <p:spPr>
          <a:xfrm>
            <a:off x="9692640" y="7498080"/>
            <a:ext cx="740664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go.mod mencatat</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Nama modul, versi Go, dan dependency eksternal yang dipakai proyek.</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descr="/home/claude/assets/image6.png" id="334" name="Google Shape;334;p12"/>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335" name="Google Shape;335;p12"/>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336" name="Google Shape;336;p12"/>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2 · 25 MENIT</a:t>
            </a:r>
            <a:endParaRPr b="0" i="0" sz="2000" u="none" cap="none" strike="noStrike">
              <a:solidFill>
                <a:schemeClr val="dk1"/>
              </a:solidFill>
              <a:latin typeface="Calibri"/>
              <a:ea typeface="Calibri"/>
              <a:cs typeface="Calibri"/>
              <a:sym typeface="Calibri"/>
            </a:endParaRPr>
          </a:p>
        </p:txBody>
      </p:sp>
      <p:sp>
        <p:nvSpPr>
          <p:cNvPr id="337" name="Google Shape;337;p12"/>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Checklist Setup</a:t>
            </a:r>
            <a:endParaRPr b="0" i="0" sz="4800" u="none" cap="none" strike="noStrike">
              <a:solidFill>
                <a:schemeClr val="dk1"/>
              </a:solidFill>
              <a:latin typeface="Calibri"/>
              <a:ea typeface="Calibri"/>
              <a:cs typeface="Calibri"/>
              <a:sym typeface="Calibri"/>
            </a:endParaRPr>
          </a:p>
        </p:txBody>
      </p:sp>
      <p:sp>
        <p:nvSpPr>
          <p:cNvPr id="338" name="Google Shape;338;p12"/>
          <p:cNvSpPr/>
          <p:nvPr/>
        </p:nvSpPr>
        <p:spPr>
          <a:xfrm>
            <a:off x="914400" y="4343400"/>
            <a:ext cx="7955280" cy="5166360"/>
          </a:xfrm>
          <a:prstGeom prst="roundRect">
            <a:avLst>
              <a:gd fmla="val 265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2"/>
          <p:cNvSpPr txBox="1"/>
          <p:nvPr/>
        </p:nvSpPr>
        <p:spPr>
          <a:xfrm>
            <a:off x="1188720" y="4526280"/>
            <a:ext cx="7315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Pastikan sudah:</a:t>
            </a:r>
            <a:endParaRPr b="0" i="0" sz="2800" u="none" cap="none" strike="noStrike">
              <a:solidFill>
                <a:schemeClr val="dk1"/>
              </a:solidFill>
              <a:latin typeface="Calibri"/>
              <a:ea typeface="Calibri"/>
              <a:cs typeface="Calibri"/>
              <a:sym typeface="Calibri"/>
            </a:endParaRPr>
          </a:p>
        </p:txBody>
      </p:sp>
      <p:pic>
        <p:nvPicPr>
          <p:cNvPr descr="preencoded.png" id="340" name="Google Shape;340;p12"/>
          <p:cNvPicPr preferRelativeResize="0"/>
          <p:nvPr/>
        </p:nvPicPr>
        <p:blipFill rotWithShape="1">
          <a:blip r:embed="rId5">
            <a:alphaModFix/>
          </a:blip>
          <a:srcRect b="0" l="0" r="0" t="0"/>
          <a:stretch/>
        </p:blipFill>
        <p:spPr>
          <a:xfrm>
            <a:off x="1188720" y="5440680"/>
            <a:ext cx="640080" cy="640080"/>
          </a:xfrm>
          <a:prstGeom prst="rect">
            <a:avLst/>
          </a:prstGeom>
          <a:noFill/>
          <a:ln>
            <a:noFill/>
          </a:ln>
        </p:spPr>
      </p:pic>
      <p:sp>
        <p:nvSpPr>
          <p:cNvPr id="341" name="Google Shape;341;p12"/>
          <p:cNvSpPr txBox="1"/>
          <p:nvPr/>
        </p:nvSpPr>
        <p:spPr>
          <a:xfrm>
            <a:off x="2103120" y="5349240"/>
            <a:ext cx="65836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go version menampilkan versi Go</a:t>
            </a:r>
            <a:endParaRPr b="0" i="0" sz="2400" u="none" cap="none" strike="noStrike">
              <a:solidFill>
                <a:schemeClr val="dk1"/>
              </a:solidFill>
              <a:latin typeface="Calibri"/>
              <a:ea typeface="Calibri"/>
              <a:cs typeface="Calibri"/>
              <a:sym typeface="Calibri"/>
            </a:endParaRPr>
          </a:p>
        </p:txBody>
      </p:sp>
      <p:pic>
        <p:nvPicPr>
          <p:cNvPr descr="preencoded.png" id="342" name="Google Shape;342;p12"/>
          <p:cNvPicPr preferRelativeResize="0"/>
          <p:nvPr/>
        </p:nvPicPr>
        <p:blipFill rotWithShape="1">
          <a:blip r:embed="rId5">
            <a:alphaModFix/>
          </a:blip>
          <a:srcRect b="0" l="0" r="0" t="0"/>
          <a:stretch/>
        </p:blipFill>
        <p:spPr>
          <a:xfrm>
            <a:off x="1188720" y="6446520"/>
            <a:ext cx="640080" cy="640080"/>
          </a:xfrm>
          <a:prstGeom prst="rect">
            <a:avLst/>
          </a:prstGeom>
          <a:noFill/>
          <a:ln>
            <a:noFill/>
          </a:ln>
        </p:spPr>
      </p:pic>
      <p:sp>
        <p:nvSpPr>
          <p:cNvPr id="343" name="Google Shape;343;p12"/>
          <p:cNvSpPr txBox="1"/>
          <p:nvPr/>
        </p:nvSpPr>
        <p:spPr>
          <a:xfrm>
            <a:off x="2103120" y="6355080"/>
            <a:ext cx="65836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VS Code dan ekstensi Go terpasang</a:t>
            </a:r>
            <a:endParaRPr b="0" i="0" sz="2400" u="none" cap="none" strike="noStrike">
              <a:solidFill>
                <a:schemeClr val="dk1"/>
              </a:solidFill>
              <a:latin typeface="Calibri"/>
              <a:ea typeface="Calibri"/>
              <a:cs typeface="Calibri"/>
              <a:sym typeface="Calibri"/>
            </a:endParaRPr>
          </a:p>
        </p:txBody>
      </p:sp>
      <p:pic>
        <p:nvPicPr>
          <p:cNvPr descr="preencoded.png" id="344" name="Google Shape;344;p12"/>
          <p:cNvPicPr preferRelativeResize="0"/>
          <p:nvPr/>
        </p:nvPicPr>
        <p:blipFill rotWithShape="1">
          <a:blip r:embed="rId5">
            <a:alphaModFix/>
          </a:blip>
          <a:srcRect b="0" l="0" r="0" t="0"/>
          <a:stretch/>
        </p:blipFill>
        <p:spPr>
          <a:xfrm>
            <a:off x="1188720" y="7452360"/>
            <a:ext cx="640080" cy="640080"/>
          </a:xfrm>
          <a:prstGeom prst="rect">
            <a:avLst/>
          </a:prstGeom>
          <a:noFill/>
          <a:ln>
            <a:noFill/>
          </a:ln>
        </p:spPr>
      </p:pic>
      <p:sp>
        <p:nvSpPr>
          <p:cNvPr id="345" name="Google Shape;345;p12"/>
          <p:cNvSpPr txBox="1"/>
          <p:nvPr/>
        </p:nvSpPr>
        <p:spPr>
          <a:xfrm>
            <a:off x="2103120" y="7360920"/>
            <a:ext cx="65836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Go tools (gopls, dlv) terinstal</a:t>
            </a:r>
            <a:endParaRPr b="0" i="0" sz="2400" u="none" cap="none" strike="noStrike">
              <a:solidFill>
                <a:schemeClr val="dk1"/>
              </a:solidFill>
              <a:latin typeface="Calibri"/>
              <a:ea typeface="Calibri"/>
              <a:cs typeface="Calibri"/>
              <a:sym typeface="Calibri"/>
            </a:endParaRPr>
          </a:p>
        </p:txBody>
      </p:sp>
      <p:pic>
        <p:nvPicPr>
          <p:cNvPr descr="preencoded.png" id="346" name="Google Shape;346;p12"/>
          <p:cNvPicPr preferRelativeResize="0"/>
          <p:nvPr/>
        </p:nvPicPr>
        <p:blipFill rotWithShape="1">
          <a:blip r:embed="rId5">
            <a:alphaModFix/>
          </a:blip>
          <a:srcRect b="0" l="0" r="0" t="0"/>
          <a:stretch/>
        </p:blipFill>
        <p:spPr>
          <a:xfrm>
            <a:off x="1188720" y="8458200"/>
            <a:ext cx="640080" cy="640080"/>
          </a:xfrm>
          <a:prstGeom prst="rect">
            <a:avLst/>
          </a:prstGeom>
          <a:noFill/>
          <a:ln>
            <a:noFill/>
          </a:ln>
        </p:spPr>
      </p:pic>
      <p:sp>
        <p:nvSpPr>
          <p:cNvPr id="347" name="Google Shape;347;p12"/>
          <p:cNvSpPr txBox="1"/>
          <p:nvPr/>
        </p:nvSpPr>
        <p:spPr>
          <a:xfrm>
            <a:off x="2103120" y="8366760"/>
            <a:ext cx="65836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Folder belajar-go berisi go.mod</a:t>
            </a:r>
            <a:endParaRPr b="0" i="0" sz="2400" u="none" cap="none" strike="noStrike">
              <a:solidFill>
                <a:schemeClr val="dk1"/>
              </a:solidFill>
              <a:latin typeface="Calibri"/>
              <a:ea typeface="Calibri"/>
              <a:cs typeface="Calibri"/>
              <a:sym typeface="Calibri"/>
            </a:endParaRPr>
          </a:p>
        </p:txBody>
      </p:sp>
      <p:sp>
        <p:nvSpPr>
          <p:cNvPr id="348" name="Google Shape;348;p12"/>
          <p:cNvSpPr/>
          <p:nvPr/>
        </p:nvSpPr>
        <p:spPr>
          <a:xfrm>
            <a:off x="9418320" y="4343400"/>
            <a:ext cx="7955280" cy="1600200"/>
          </a:xfrm>
          <a:prstGeom prst="roundRect">
            <a:avLst>
              <a:gd fmla="val 8571"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2"/>
          <p:cNvSpPr txBox="1"/>
          <p:nvPr/>
        </p:nvSpPr>
        <p:spPr>
          <a:xfrm>
            <a:off x="9692640" y="4343400"/>
            <a:ext cx="7406640" cy="16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go: command not found</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300"/>
              <a:buFont typeface="Calibri"/>
              <a:buNone/>
            </a:pPr>
            <a:r>
              <a:rPr b="0" i="0" lang="en-US" sz="2300" u="none" cap="none" strike="noStrike">
                <a:solidFill>
                  <a:srgbClr val="13123D"/>
                </a:solidFill>
                <a:latin typeface="Calibri"/>
                <a:ea typeface="Calibri"/>
                <a:cs typeface="Calibri"/>
                <a:sym typeface="Calibri"/>
              </a:rPr>
              <a:t>Buka ulang terminal, cek PATH.</a:t>
            </a:r>
            <a:endParaRPr b="0" i="0" sz="2400" u="none" cap="none" strike="noStrike">
              <a:solidFill>
                <a:schemeClr val="dk1"/>
              </a:solidFill>
              <a:latin typeface="Calibri"/>
              <a:ea typeface="Calibri"/>
              <a:cs typeface="Calibri"/>
              <a:sym typeface="Calibri"/>
            </a:endParaRPr>
          </a:p>
        </p:txBody>
      </p:sp>
      <p:sp>
        <p:nvSpPr>
          <p:cNvPr id="350" name="Google Shape;350;p12"/>
          <p:cNvSpPr/>
          <p:nvPr/>
        </p:nvSpPr>
        <p:spPr>
          <a:xfrm>
            <a:off x="9418320" y="6126480"/>
            <a:ext cx="7955280" cy="1600200"/>
          </a:xfrm>
          <a:prstGeom prst="roundRect">
            <a:avLst>
              <a:gd fmla="val 8571"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2"/>
          <p:cNvSpPr txBox="1"/>
          <p:nvPr/>
        </p:nvSpPr>
        <p:spPr>
          <a:xfrm>
            <a:off x="9692640" y="6126480"/>
            <a:ext cx="7406640" cy="16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gopls tidak ditemukan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300"/>
              <a:buFont typeface="Calibri"/>
              <a:buNone/>
            </a:pPr>
            <a:r>
              <a:rPr b="0" i="0" lang="en-US" sz="2300" u="none" cap="none" strike="noStrike">
                <a:solidFill>
                  <a:srgbClr val="13123D"/>
                </a:solidFill>
                <a:latin typeface="Calibri"/>
                <a:ea typeface="Calibri"/>
                <a:cs typeface="Calibri"/>
                <a:sym typeface="Calibri"/>
              </a:rPr>
              <a:t>Jalankan Go: Install/Update Tools.</a:t>
            </a:r>
            <a:endParaRPr b="0" i="0" sz="2400" u="none" cap="none" strike="noStrike">
              <a:solidFill>
                <a:schemeClr val="dk1"/>
              </a:solidFill>
              <a:latin typeface="Calibri"/>
              <a:ea typeface="Calibri"/>
              <a:cs typeface="Calibri"/>
              <a:sym typeface="Calibri"/>
            </a:endParaRPr>
          </a:p>
        </p:txBody>
      </p:sp>
      <p:sp>
        <p:nvSpPr>
          <p:cNvPr id="352" name="Google Shape;352;p12"/>
          <p:cNvSpPr/>
          <p:nvPr/>
        </p:nvSpPr>
        <p:spPr>
          <a:xfrm>
            <a:off x="9418320" y="7909560"/>
            <a:ext cx="7955280" cy="1600200"/>
          </a:xfrm>
          <a:prstGeom prst="roundRect">
            <a:avLst>
              <a:gd fmla="val 8571"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2"/>
          <p:cNvSpPr txBox="1"/>
          <p:nvPr/>
        </p:nvSpPr>
        <p:spPr>
          <a:xfrm>
            <a:off x="9692640" y="7909560"/>
            <a:ext cx="7406640" cy="16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go.mod tidak ada</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300"/>
              <a:buFont typeface="Calibri"/>
              <a:buNone/>
            </a:pPr>
            <a:r>
              <a:rPr b="0" i="0" lang="en-US" sz="2300" u="none" cap="none" strike="noStrike">
                <a:solidFill>
                  <a:srgbClr val="13123D"/>
                </a:solidFill>
                <a:latin typeface="Calibri"/>
                <a:ea typeface="Calibri"/>
                <a:cs typeface="Calibri"/>
                <a:sym typeface="Calibri"/>
              </a:rPr>
              <a:t>Pastikan di folder yang benar, ulangi go mod init.</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descr="/home/claude/assets/image4.png" id="359" name="Google Shape;359;p13"/>
          <p:cNvPicPr preferRelativeResize="0"/>
          <p:nvPr/>
        </p:nvPicPr>
        <p:blipFill rotWithShape="1">
          <a:blip r:embed="rId3">
            <a:alphaModFix/>
          </a:blip>
          <a:srcRect b="0" l="0" r="0" t="0"/>
          <a:stretch/>
        </p:blipFill>
        <p:spPr>
          <a:xfrm>
            <a:off x="0" y="16355"/>
            <a:ext cx="18288000" cy="10287000"/>
          </a:xfrm>
          <a:prstGeom prst="rect">
            <a:avLst/>
          </a:prstGeom>
          <a:noFill/>
          <a:ln>
            <a:noFill/>
          </a:ln>
        </p:spPr>
      </p:pic>
      <p:pic>
        <p:nvPicPr>
          <p:cNvPr descr="/home/claude/assets/image8.png" id="360" name="Google Shape;360;p13"/>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361" name="Google Shape;361;p13"/>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BAGIAN 3 · 15 MENIT</a:t>
            </a:r>
            <a:endParaRPr b="0" i="0" sz="1800" u="none" cap="none" strike="noStrike">
              <a:solidFill>
                <a:schemeClr val="dk1"/>
              </a:solidFill>
              <a:latin typeface="Calibri"/>
              <a:ea typeface="Calibri"/>
              <a:cs typeface="Calibri"/>
              <a:sym typeface="Calibri"/>
            </a:endParaRPr>
          </a:p>
        </p:txBody>
      </p:sp>
      <p:sp>
        <p:nvSpPr>
          <p:cNvPr id="362" name="Google Shape;362;p13"/>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Struktur Proyek Go Dasar</a:t>
            </a:r>
            <a:endParaRPr b="0" i="0" sz="4400" u="none" cap="none" strike="noStrike">
              <a:solidFill>
                <a:schemeClr val="dk1"/>
              </a:solidFill>
              <a:latin typeface="Calibri"/>
              <a:ea typeface="Calibri"/>
              <a:cs typeface="Calibri"/>
              <a:sym typeface="Calibri"/>
            </a:endParaRPr>
          </a:p>
        </p:txBody>
      </p:sp>
      <p:sp>
        <p:nvSpPr>
          <p:cNvPr id="363" name="Google Shape;363;p13"/>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Satu folder = satu package</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main.go: titik masuk program</a:t>
            </a:r>
            <a:endParaRPr b="0" i="0" sz="2600" u="none" cap="none" strike="noStrike">
              <a:solidFill>
                <a:schemeClr val="dk1"/>
              </a:solidFill>
              <a:latin typeface="Calibri"/>
              <a:ea typeface="Calibri"/>
              <a:cs typeface="Calibri"/>
              <a:sym typeface="Calibri"/>
            </a:endParaRPr>
          </a:p>
        </p:txBody>
      </p:sp>
      <p:sp>
        <p:nvSpPr>
          <p:cNvPr id="364" name="Google Shape;364;p13"/>
          <p:cNvSpPr/>
          <p:nvPr/>
        </p:nvSpPr>
        <p:spPr>
          <a:xfrm>
            <a:off x="8229600" y="731520"/>
            <a:ext cx="9418320" cy="1664208"/>
          </a:xfrm>
          <a:prstGeom prst="roundRect">
            <a:avLst>
              <a:gd fmla="val 8242"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3"/>
          <p:cNvSpPr txBox="1"/>
          <p:nvPr/>
        </p:nvSpPr>
        <p:spPr>
          <a:xfrm>
            <a:off x="8503920" y="987552"/>
            <a:ext cx="8869680" cy="12070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CFF"/>
              </a:buClr>
              <a:buSzPts val="2400"/>
              <a:buFont typeface="Courier New"/>
              <a:buNone/>
            </a:pPr>
            <a:r>
              <a:rPr b="0" i="0" lang="en-US" sz="2400" u="none" cap="none" strike="noStrike">
                <a:solidFill>
                  <a:srgbClr val="E8ECFF"/>
                </a:solidFill>
                <a:latin typeface="Courier New"/>
                <a:ea typeface="Courier New"/>
                <a:cs typeface="Courier New"/>
                <a:sym typeface="Courier New"/>
              </a:rPr>
              <a:t>belajar-go/</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400"/>
              <a:buFont typeface="Courier New"/>
              <a:buNone/>
            </a:pPr>
            <a:r>
              <a:rPr b="0" i="0" lang="en-US" sz="2400" u="none" cap="none" strike="noStrike">
                <a:solidFill>
                  <a:srgbClr val="E8ECFF"/>
                </a:solidFill>
                <a:latin typeface="Courier New"/>
                <a:ea typeface="Courier New"/>
                <a:cs typeface="Courier New"/>
                <a:sym typeface="Courier New"/>
              </a:rPr>
              <a:t>|-- go.mod</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400"/>
              <a:buFont typeface="Courier New"/>
              <a:buNone/>
            </a:pPr>
            <a:r>
              <a:rPr b="0" i="0" lang="en-US" sz="2400" u="none" cap="none" strike="noStrike">
                <a:solidFill>
                  <a:srgbClr val="E8ECFF"/>
                </a:solidFill>
                <a:latin typeface="Courier New"/>
                <a:ea typeface="Courier New"/>
                <a:cs typeface="Courier New"/>
                <a:sym typeface="Courier New"/>
              </a:rPr>
              <a:t>`-- main.go</a:t>
            </a:r>
            <a:endParaRPr b="0" i="0" sz="2400" u="none" cap="none" strike="noStrike">
              <a:solidFill>
                <a:schemeClr val="dk1"/>
              </a:solidFill>
              <a:latin typeface="Calibri"/>
              <a:ea typeface="Calibri"/>
              <a:cs typeface="Calibri"/>
              <a:sym typeface="Calibri"/>
            </a:endParaRPr>
          </a:p>
        </p:txBody>
      </p:sp>
      <p:sp>
        <p:nvSpPr>
          <p:cNvPr id="366" name="Google Shape;366;p13"/>
          <p:cNvSpPr/>
          <p:nvPr/>
        </p:nvSpPr>
        <p:spPr>
          <a:xfrm>
            <a:off x="8229600" y="3566160"/>
            <a:ext cx="9418320" cy="1737360"/>
          </a:xfrm>
          <a:prstGeom prst="roundRect">
            <a:avLst>
              <a:gd fmla="val 7895"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3"/>
          <p:cNvSpPr txBox="1"/>
          <p:nvPr/>
        </p:nvSpPr>
        <p:spPr>
          <a:xfrm>
            <a:off x="8503920" y="3566160"/>
            <a:ext cx="886968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Satu folder = satu package</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Semua file .go dalam satu folder memakai nama package yang sama.</a:t>
            </a:r>
            <a:endParaRPr b="0" i="0" sz="2400" u="none" cap="none" strike="noStrike">
              <a:solidFill>
                <a:schemeClr val="dk1"/>
              </a:solidFill>
              <a:latin typeface="Calibri"/>
              <a:ea typeface="Calibri"/>
              <a:cs typeface="Calibri"/>
              <a:sym typeface="Calibri"/>
            </a:endParaRPr>
          </a:p>
        </p:txBody>
      </p:sp>
      <p:sp>
        <p:nvSpPr>
          <p:cNvPr id="368" name="Google Shape;368;p13"/>
          <p:cNvSpPr/>
          <p:nvPr/>
        </p:nvSpPr>
        <p:spPr>
          <a:xfrm>
            <a:off x="8229600" y="5577840"/>
            <a:ext cx="9418320" cy="1188720"/>
          </a:xfrm>
          <a:prstGeom prst="roundRect">
            <a:avLst>
              <a:gd fmla="val 1153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3"/>
          <p:cNvSpPr txBox="1"/>
          <p:nvPr/>
        </p:nvSpPr>
        <p:spPr>
          <a:xfrm>
            <a:off x="8503920" y="5577840"/>
            <a:ext cx="886968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300"/>
              <a:buFont typeface="Courier New"/>
              <a:buNone/>
            </a:pPr>
            <a:r>
              <a:rPr b="1" i="0" lang="en-US" sz="2300" u="none" cap="none" strike="noStrike">
                <a:solidFill>
                  <a:srgbClr val="162CA2"/>
                </a:solidFill>
                <a:latin typeface="Courier New"/>
                <a:ea typeface="Courier New"/>
                <a:cs typeface="Courier New"/>
                <a:sym typeface="Courier New"/>
              </a:rPr>
              <a:t>go.mod</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Identitas modul dan daftar dependency</a:t>
            </a:r>
            <a:endParaRPr b="0" i="0" sz="2400" u="none" cap="none" strike="noStrike">
              <a:solidFill>
                <a:schemeClr val="dk1"/>
              </a:solidFill>
              <a:latin typeface="Calibri"/>
              <a:ea typeface="Calibri"/>
              <a:cs typeface="Calibri"/>
              <a:sym typeface="Calibri"/>
            </a:endParaRPr>
          </a:p>
        </p:txBody>
      </p:sp>
      <p:sp>
        <p:nvSpPr>
          <p:cNvPr id="370" name="Google Shape;370;p13"/>
          <p:cNvSpPr/>
          <p:nvPr/>
        </p:nvSpPr>
        <p:spPr>
          <a:xfrm>
            <a:off x="8229600" y="6949440"/>
            <a:ext cx="9418320" cy="1188720"/>
          </a:xfrm>
          <a:prstGeom prst="roundRect">
            <a:avLst>
              <a:gd fmla="val 1153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3"/>
          <p:cNvSpPr txBox="1"/>
          <p:nvPr/>
        </p:nvSpPr>
        <p:spPr>
          <a:xfrm>
            <a:off x="8503920" y="6949440"/>
            <a:ext cx="886968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300"/>
              <a:buFont typeface="Courier New"/>
              <a:buNone/>
            </a:pPr>
            <a:r>
              <a:rPr b="1" i="0" lang="en-US" sz="2300" u="none" cap="none" strike="noStrike">
                <a:solidFill>
                  <a:srgbClr val="162CA2"/>
                </a:solidFill>
                <a:latin typeface="Courier New"/>
                <a:ea typeface="Courier New"/>
                <a:cs typeface="Courier New"/>
                <a:sym typeface="Courier New"/>
              </a:rPr>
              <a:t>main.go</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Titik masuk program</a:t>
            </a:r>
            <a:endParaRPr b="0" i="0" sz="2400" u="none" cap="none" strike="noStrike">
              <a:solidFill>
                <a:schemeClr val="dk1"/>
              </a:solidFill>
              <a:latin typeface="Calibri"/>
              <a:ea typeface="Calibri"/>
              <a:cs typeface="Calibri"/>
              <a:sym typeface="Calibri"/>
            </a:endParaRPr>
          </a:p>
        </p:txBody>
      </p:sp>
      <p:sp>
        <p:nvSpPr>
          <p:cNvPr id="372" name="Google Shape;372;p13"/>
          <p:cNvSpPr/>
          <p:nvPr/>
        </p:nvSpPr>
        <p:spPr>
          <a:xfrm>
            <a:off x="8229600" y="8321040"/>
            <a:ext cx="9418320" cy="1188720"/>
          </a:xfrm>
          <a:prstGeom prst="roundRect">
            <a:avLst>
              <a:gd fmla="val 1153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3"/>
          <p:cNvSpPr txBox="1"/>
          <p:nvPr/>
        </p:nvSpPr>
        <p:spPr>
          <a:xfrm>
            <a:off x="8503920" y="8321040"/>
            <a:ext cx="886968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300"/>
              <a:buFont typeface="Courier New"/>
              <a:buNone/>
            </a:pPr>
            <a:r>
              <a:rPr b="1" i="0" lang="en-US" sz="2300" u="none" cap="none" strike="noStrike">
                <a:solidFill>
                  <a:srgbClr val="162CA2"/>
                </a:solidFill>
                <a:latin typeface="Courier New"/>
                <a:ea typeface="Courier New"/>
                <a:cs typeface="Courier New"/>
                <a:sym typeface="Courier New"/>
              </a:rPr>
              <a:t>package main + func main()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Tanda bahwa file ini dapat dijalankan</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pic>
        <p:nvPicPr>
          <p:cNvPr descr="/home/claude/assets/image4.png" id="379" name="Google Shape;379;p14"/>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380" name="Google Shape;380;p14"/>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381" name="Google Shape;381;p14"/>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BAGIAN 3 · 15 MENIT</a:t>
            </a:r>
            <a:endParaRPr b="0" i="0" sz="1800" u="none" cap="none" strike="noStrike">
              <a:solidFill>
                <a:schemeClr val="dk1"/>
              </a:solidFill>
              <a:latin typeface="Calibri"/>
              <a:ea typeface="Calibri"/>
              <a:cs typeface="Calibri"/>
              <a:sym typeface="Calibri"/>
            </a:endParaRPr>
          </a:p>
        </p:txBody>
      </p:sp>
      <p:sp>
        <p:nvSpPr>
          <p:cNvPr id="382" name="Google Shape;382;p14"/>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Program Pertama: Hello World</a:t>
            </a:r>
            <a:endParaRPr b="0" i="0" sz="4400" u="none" cap="none" strike="noStrike">
              <a:solidFill>
                <a:schemeClr val="dk1"/>
              </a:solidFill>
              <a:latin typeface="Calibri"/>
              <a:ea typeface="Calibri"/>
              <a:cs typeface="Calibri"/>
              <a:sym typeface="Calibri"/>
            </a:endParaRPr>
          </a:p>
        </p:txBody>
      </p:sp>
      <p:sp>
        <p:nvSpPr>
          <p:cNvPr id="383" name="Google Shape;383;p14"/>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Ketik sendiri, jalankan dengan go run .</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Kurung { harus di baris yang sama dengan func</a:t>
            </a:r>
            <a:endParaRPr b="0" i="0" sz="2600" u="none" cap="none" strike="noStrike">
              <a:solidFill>
                <a:schemeClr val="dk1"/>
              </a:solidFill>
              <a:latin typeface="Calibri"/>
              <a:ea typeface="Calibri"/>
              <a:cs typeface="Calibri"/>
              <a:sym typeface="Calibri"/>
            </a:endParaRPr>
          </a:p>
        </p:txBody>
      </p:sp>
      <p:sp>
        <p:nvSpPr>
          <p:cNvPr id="384" name="Google Shape;384;p14"/>
          <p:cNvSpPr/>
          <p:nvPr/>
        </p:nvSpPr>
        <p:spPr>
          <a:xfrm>
            <a:off x="8229600" y="731520"/>
            <a:ext cx="9418320" cy="2934716"/>
          </a:xfrm>
          <a:prstGeom prst="roundRect">
            <a:avLst>
              <a:gd fmla="val 4674"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4"/>
          <p:cNvSpPr txBox="1"/>
          <p:nvPr/>
        </p:nvSpPr>
        <p:spPr>
          <a:xfrm>
            <a:off x="8503920" y="987552"/>
            <a:ext cx="8869680" cy="24775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package</a:t>
            </a:r>
            <a:r>
              <a:rPr b="0" i="0" lang="en-US" sz="2200" u="none" cap="none" strike="noStrike">
                <a:solidFill>
                  <a:srgbClr val="E8ECFF"/>
                </a:solidFill>
                <a:latin typeface="Courier New"/>
                <a:ea typeface="Courier New"/>
                <a:cs typeface="Courier New"/>
                <a:sym typeface="Courier New"/>
              </a:rPr>
              <a:t> main</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200"/>
              <a:buFont typeface="Courier New"/>
              <a:buNone/>
            </a:pPr>
            <a:r>
              <a:rPr b="0" i="0" lang="en-US" sz="2200" u="none" cap="none" strike="noStrike">
                <a:solidFill>
                  <a:srgbClr val="000000"/>
                </a:solidFill>
                <a:latin typeface="Courier New"/>
                <a:ea typeface="Courier New"/>
                <a:cs typeface="Courier New"/>
                <a:sym typeface="Courier New"/>
              </a:rPr>
              <a:t> </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import</a:t>
            </a:r>
            <a:r>
              <a:rPr b="0" i="0" lang="en-US" sz="2200" u="none" cap="none" strike="noStrike">
                <a:solidFill>
                  <a:srgbClr val="E8ECFF"/>
                </a:solidFill>
                <a:latin typeface="Courier New"/>
                <a:ea typeface="Courier New"/>
                <a:cs typeface="Courier New"/>
                <a:sym typeface="Courier New"/>
              </a:rPr>
              <a:t> </a:t>
            </a:r>
            <a:r>
              <a:rPr b="0" i="0" lang="en-US" sz="2200" u="none" cap="none" strike="noStrike">
                <a:solidFill>
                  <a:srgbClr val="A8E6CF"/>
                </a:solidFill>
                <a:latin typeface="Courier New"/>
                <a:ea typeface="Courier New"/>
                <a:cs typeface="Courier New"/>
                <a:sym typeface="Courier New"/>
              </a:rPr>
              <a:t>"fmt"</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200"/>
              <a:buFont typeface="Courier New"/>
              <a:buNone/>
            </a:pPr>
            <a:r>
              <a:rPr b="0" i="0" lang="en-US" sz="2200" u="none" cap="none" strike="noStrike">
                <a:solidFill>
                  <a:srgbClr val="000000"/>
                </a:solidFill>
                <a:latin typeface="Courier New"/>
                <a:ea typeface="Courier New"/>
                <a:cs typeface="Courier New"/>
                <a:sym typeface="Courier New"/>
              </a:rPr>
              <a:t> </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func</a:t>
            </a:r>
            <a:r>
              <a:rPr b="0" i="0" lang="en-US" sz="2200" u="none" cap="none" strike="noStrike">
                <a:solidFill>
                  <a:srgbClr val="E8ECFF"/>
                </a:solidFill>
                <a:latin typeface="Courier New"/>
                <a:ea typeface="Courier New"/>
                <a:cs typeface="Courier New"/>
                <a:sym typeface="Courier New"/>
              </a:rPr>
              <a:t> main() {</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fmt.Println(</a:t>
            </a:r>
            <a:r>
              <a:rPr b="0" i="0" lang="en-US" sz="2200" u="none" cap="none" strike="noStrike">
                <a:solidFill>
                  <a:srgbClr val="A8E6CF"/>
                </a:solidFill>
                <a:latin typeface="Courier New"/>
                <a:ea typeface="Courier New"/>
                <a:cs typeface="Courier New"/>
                <a:sym typeface="Courier New"/>
              </a:rPr>
              <a:t>"Halo, Go!"</a:t>
            </a:r>
            <a:r>
              <a:rPr b="0" i="0" lang="en-US" sz="2200" u="none" cap="none" strike="noStrike">
                <a:solidFill>
                  <a:srgbClr val="E8ECFF"/>
                </a:solidFill>
                <a:latin typeface="Courier New"/>
                <a:ea typeface="Courier New"/>
                <a:cs typeface="Courier New"/>
                <a:sym typeface="Courier New"/>
              </a:rPr>
              <a:t>)</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a:t>
            </a:r>
            <a:endParaRPr b="0" i="0" sz="2200" u="none" cap="none" strike="noStrike">
              <a:solidFill>
                <a:schemeClr val="dk1"/>
              </a:solidFill>
              <a:latin typeface="Calibri"/>
              <a:ea typeface="Calibri"/>
              <a:cs typeface="Calibri"/>
              <a:sym typeface="Calibri"/>
            </a:endParaRPr>
          </a:p>
        </p:txBody>
      </p:sp>
      <p:sp>
        <p:nvSpPr>
          <p:cNvPr id="386" name="Google Shape;386;p14"/>
          <p:cNvSpPr/>
          <p:nvPr/>
        </p:nvSpPr>
        <p:spPr>
          <a:xfrm>
            <a:off x="8229600" y="3977640"/>
            <a:ext cx="5029200" cy="777240"/>
          </a:xfrm>
          <a:prstGeom prst="roundRect">
            <a:avLst>
              <a:gd fmla="val 14118" name="adj"/>
            </a:avLst>
          </a:prstGeom>
          <a:solidFill>
            <a:srgbClr val="FCDF59"/>
          </a:solidFill>
          <a:ln cap="flat" cmpd="sng" w="9525">
            <a:solidFill>
              <a:srgbClr val="FCDF59"/>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400"/>
              <a:buFont typeface="Courier New"/>
              <a:buNone/>
            </a:pPr>
            <a:r>
              <a:rPr b="1" i="0" lang="en-US" sz="2400" u="none" cap="none" strike="noStrike">
                <a:solidFill>
                  <a:srgbClr val="13123D"/>
                </a:solidFill>
                <a:latin typeface="Courier New"/>
                <a:ea typeface="Courier New"/>
                <a:cs typeface="Courier New"/>
                <a:sym typeface="Courier New"/>
              </a:rPr>
              <a:t>Output: Halo, Go!</a:t>
            </a:r>
            <a:endParaRPr b="0" i="0" sz="2400" u="none" cap="none" strike="noStrike">
              <a:solidFill>
                <a:schemeClr val="dk1"/>
              </a:solidFill>
              <a:latin typeface="Calibri"/>
              <a:ea typeface="Calibri"/>
              <a:cs typeface="Calibri"/>
              <a:sym typeface="Calibri"/>
            </a:endParaRPr>
          </a:p>
        </p:txBody>
      </p:sp>
      <p:sp>
        <p:nvSpPr>
          <p:cNvPr id="387" name="Google Shape;387;p14"/>
          <p:cNvSpPr/>
          <p:nvPr/>
        </p:nvSpPr>
        <p:spPr>
          <a:xfrm>
            <a:off x="8229600" y="5029200"/>
            <a:ext cx="9418320" cy="1005840"/>
          </a:xfrm>
          <a:prstGeom prst="roundRect">
            <a:avLst>
              <a:gd fmla="val 1363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a:off x="8458200" y="5189220"/>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1</a:t>
            </a:r>
            <a:endParaRPr b="0" i="0" sz="2400" u="none" cap="none" strike="noStrike">
              <a:solidFill>
                <a:schemeClr val="dk1"/>
              </a:solidFill>
              <a:latin typeface="Calibri"/>
              <a:ea typeface="Calibri"/>
              <a:cs typeface="Calibri"/>
              <a:sym typeface="Calibri"/>
            </a:endParaRPr>
          </a:p>
        </p:txBody>
      </p:sp>
      <p:sp>
        <p:nvSpPr>
          <p:cNvPr id="389" name="Google Shape;389;p14"/>
          <p:cNvSpPr txBox="1"/>
          <p:nvPr/>
        </p:nvSpPr>
        <p:spPr>
          <a:xfrm>
            <a:off x="9326880" y="5029200"/>
            <a:ext cx="81381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package main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program yang dapat dijalankan</a:t>
            </a:r>
            <a:endParaRPr b="0" i="0" sz="2400" u="none" cap="none" strike="noStrike">
              <a:solidFill>
                <a:schemeClr val="dk1"/>
              </a:solidFill>
              <a:latin typeface="Calibri"/>
              <a:ea typeface="Calibri"/>
              <a:cs typeface="Calibri"/>
              <a:sym typeface="Calibri"/>
            </a:endParaRPr>
          </a:p>
        </p:txBody>
      </p:sp>
      <p:sp>
        <p:nvSpPr>
          <p:cNvPr id="390" name="Google Shape;390;p14"/>
          <p:cNvSpPr/>
          <p:nvPr/>
        </p:nvSpPr>
        <p:spPr>
          <a:xfrm>
            <a:off x="8229600" y="6144768"/>
            <a:ext cx="9418320" cy="1005840"/>
          </a:xfrm>
          <a:prstGeom prst="roundRect">
            <a:avLst>
              <a:gd fmla="val 1363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4"/>
          <p:cNvSpPr/>
          <p:nvPr/>
        </p:nvSpPr>
        <p:spPr>
          <a:xfrm>
            <a:off x="8458200" y="6304788"/>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2</a:t>
            </a:r>
            <a:endParaRPr b="0" i="0" sz="2400" u="none" cap="none" strike="noStrike">
              <a:solidFill>
                <a:schemeClr val="dk1"/>
              </a:solidFill>
              <a:latin typeface="Calibri"/>
              <a:ea typeface="Calibri"/>
              <a:cs typeface="Calibri"/>
              <a:sym typeface="Calibri"/>
            </a:endParaRPr>
          </a:p>
        </p:txBody>
      </p:sp>
      <p:sp>
        <p:nvSpPr>
          <p:cNvPr id="392" name="Google Shape;392;p14"/>
          <p:cNvSpPr txBox="1"/>
          <p:nvPr/>
        </p:nvSpPr>
        <p:spPr>
          <a:xfrm>
            <a:off x="9326880" y="6144768"/>
            <a:ext cx="81381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import "fmt"</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memuat package format dan output</a:t>
            </a:r>
            <a:endParaRPr b="0" i="0" sz="2400" u="none" cap="none" strike="noStrike">
              <a:solidFill>
                <a:schemeClr val="dk1"/>
              </a:solidFill>
              <a:latin typeface="Calibri"/>
              <a:ea typeface="Calibri"/>
              <a:cs typeface="Calibri"/>
              <a:sym typeface="Calibri"/>
            </a:endParaRPr>
          </a:p>
        </p:txBody>
      </p:sp>
      <p:sp>
        <p:nvSpPr>
          <p:cNvPr id="393" name="Google Shape;393;p14"/>
          <p:cNvSpPr/>
          <p:nvPr/>
        </p:nvSpPr>
        <p:spPr>
          <a:xfrm>
            <a:off x="8229600" y="7260336"/>
            <a:ext cx="9418320" cy="1005840"/>
          </a:xfrm>
          <a:prstGeom prst="roundRect">
            <a:avLst>
              <a:gd fmla="val 1363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4"/>
          <p:cNvSpPr/>
          <p:nvPr/>
        </p:nvSpPr>
        <p:spPr>
          <a:xfrm>
            <a:off x="8458200" y="7420356"/>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3</a:t>
            </a:r>
            <a:endParaRPr b="0" i="0" sz="2400" u="none" cap="none" strike="noStrike">
              <a:solidFill>
                <a:schemeClr val="dk1"/>
              </a:solidFill>
              <a:latin typeface="Calibri"/>
              <a:ea typeface="Calibri"/>
              <a:cs typeface="Calibri"/>
              <a:sym typeface="Calibri"/>
            </a:endParaRPr>
          </a:p>
        </p:txBody>
      </p:sp>
      <p:sp>
        <p:nvSpPr>
          <p:cNvPr id="395" name="Google Shape;395;p14"/>
          <p:cNvSpPr txBox="1"/>
          <p:nvPr/>
        </p:nvSpPr>
        <p:spPr>
          <a:xfrm>
            <a:off x="9326880" y="7260336"/>
            <a:ext cx="81381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func main()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titik awal eksekusi</a:t>
            </a:r>
            <a:endParaRPr b="0" i="0" sz="2400" u="none" cap="none" strike="noStrike">
              <a:solidFill>
                <a:schemeClr val="dk1"/>
              </a:solidFill>
              <a:latin typeface="Calibri"/>
              <a:ea typeface="Calibri"/>
              <a:cs typeface="Calibri"/>
              <a:sym typeface="Calibri"/>
            </a:endParaRPr>
          </a:p>
        </p:txBody>
      </p:sp>
      <p:sp>
        <p:nvSpPr>
          <p:cNvPr id="396" name="Google Shape;396;p14"/>
          <p:cNvSpPr/>
          <p:nvPr/>
        </p:nvSpPr>
        <p:spPr>
          <a:xfrm>
            <a:off x="8229600" y="8375904"/>
            <a:ext cx="9418320" cy="1005840"/>
          </a:xfrm>
          <a:prstGeom prst="roundRect">
            <a:avLst>
              <a:gd fmla="val 1363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4"/>
          <p:cNvSpPr/>
          <p:nvPr/>
        </p:nvSpPr>
        <p:spPr>
          <a:xfrm>
            <a:off x="8458200" y="8535924"/>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4</a:t>
            </a:r>
            <a:endParaRPr b="0" i="0" sz="2400" u="none" cap="none" strike="noStrike">
              <a:solidFill>
                <a:schemeClr val="dk1"/>
              </a:solidFill>
              <a:latin typeface="Calibri"/>
              <a:ea typeface="Calibri"/>
              <a:cs typeface="Calibri"/>
              <a:sym typeface="Calibri"/>
            </a:endParaRPr>
          </a:p>
        </p:txBody>
      </p:sp>
      <p:sp>
        <p:nvSpPr>
          <p:cNvPr id="398" name="Google Shape;398;p14"/>
          <p:cNvSpPr txBox="1"/>
          <p:nvPr/>
        </p:nvSpPr>
        <p:spPr>
          <a:xfrm>
            <a:off x="9326880" y="8375904"/>
            <a:ext cx="81381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fmt.Println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mencetak teks dan baris baru</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pic>
        <p:nvPicPr>
          <p:cNvPr descr="/home/claude/assets/image6.png" id="404" name="Google Shape;404;p15"/>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405" name="Google Shape;405;p15"/>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406" name="Google Shape;406;p15"/>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3 · 15 MENIT</a:t>
            </a:r>
            <a:endParaRPr b="0" i="0" sz="2000" u="none" cap="none" strike="noStrike">
              <a:solidFill>
                <a:schemeClr val="dk1"/>
              </a:solidFill>
              <a:latin typeface="Calibri"/>
              <a:ea typeface="Calibri"/>
              <a:cs typeface="Calibri"/>
              <a:sym typeface="Calibri"/>
            </a:endParaRPr>
          </a:p>
        </p:txBody>
      </p:sp>
      <p:sp>
        <p:nvSpPr>
          <p:cNvPr id="407" name="Google Shape;407;p15"/>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Perintah Dasar Go CLI</a:t>
            </a:r>
            <a:endParaRPr b="0" i="0" sz="4800" u="none" cap="none" strike="noStrike">
              <a:solidFill>
                <a:schemeClr val="dk1"/>
              </a:solidFill>
              <a:latin typeface="Calibri"/>
              <a:ea typeface="Calibri"/>
              <a:cs typeface="Calibri"/>
              <a:sym typeface="Calibri"/>
            </a:endParaRPr>
          </a:p>
        </p:txBody>
      </p:sp>
      <p:sp>
        <p:nvSpPr>
          <p:cNvPr id="408" name="Google Shape;408;p15"/>
          <p:cNvSpPr/>
          <p:nvPr/>
        </p:nvSpPr>
        <p:spPr>
          <a:xfrm>
            <a:off x="914400" y="4343400"/>
            <a:ext cx="16459200" cy="1024128"/>
          </a:xfrm>
          <a:prstGeom prst="roundRect">
            <a:avLst>
              <a:gd fmla="val 13393"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5"/>
          <p:cNvSpPr/>
          <p:nvPr/>
        </p:nvSpPr>
        <p:spPr>
          <a:xfrm>
            <a:off x="1188720" y="4526280"/>
            <a:ext cx="3840480" cy="658368"/>
          </a:xfrm>
          <a:prstGeom prst="roundRect">
            <a:avLst>
              <a:gd fmla="val 16667" name="adj"/>
            </a:avLst>
          </a:prstGeom>
          <a:solidFill>
            <a:srgbClr val="13123D"/>
          </a:solidFill>
          <a:ln cap="flat" cmpd="sng" w="9525">
            <a:solidFill>
              <a:srgbClr val="13123D"/>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E8ECFF"/>
              </a:buClr>
              <a:buSzPts val="2400"/>
              <a:buFont typeface="Courier New"/>
              <a:buNone/>
            </a:pPr>
            <a:r>
              <a:rPr b="1" i="0" lang="en-US" sz="2400" u="none" cap="none" strike="noStrike">
                <a:solidFill>
                  <a:srgbClr val="E8ECFF"/>
                </a:solidFill>
                <a:latin typeface="Courier New"/>
                <a:ea typeface="Courier New"/>
                <a:cs typeface="Courier New"/>
                <a:sym typeface="Courier New"/>
              </a:rPr>
              <a:t>go run .</a:t>
            </a:r>
            <a:endParaRPr b="0" i="0" sz="2400" u="none" cap="none" strike="noStrike">
              <a:solidFill>
                <a:schemeClr val="dk1"/>
              </a:solidFill>
              <a:latin typeface="Calibri"/>
              <a:ea typeface="Calibri"/>
              <a:cs typeface="Calibri"/>
              <a:sym typeface="Calibri"/>
            </a:endParaRPr>
          </a:p>
        </p:txBody>
      </p:sp>
      <p:sp>
        <p:nvSpPr>
          <p:cNvPr id="410" name="Google Shape;410;p15"/>
          <p:cNvSpPr txBox="1"/>
          <p:nvPr/>
        </p:nvSpPr>
        <p:spPr>
          <a:xfrm>
            <a:off x="5394960" y="4343400"/>
            <a:ext cx="11795760" cy="10241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500"/>
              <a:buFont typeface="Calibri"/>
              <a:buNone/>
            </a:pPr>
            <a:r>
              <a:rPr b="0" i="0" lang="en-US" sz="2500" u="none" cap="none" strike="noStrike">
                <a:solidFill>
                  <a:srgbClr val="13123D"/>
                </a:solidFill>
                <a:latin typeface="Calibri"/>
                <a:ea typeface="Calibri"/>
                <a:cs typeface="Calibri"/>
                <a:sym typeface="Calibri"/>
              </a:rPr>
              <a:t>Kompilasi dan langsung jalankan program (tanpa menyimpan file hasil).</a:t>
            </a:r>
            <a:endParaRPr b="0" i="0" sz="2500" u="none" cap="none" strike="noStrike">
              <a:solidFill>
                <a:schemeClr val="dk1"/>
              </a:solidFill>
              <a:latin typeface="Calibri"/>
              <a:ea typeface="Calibri"/>
              <a:cs typeface="Calibri"/>
              <a:sym typeface="Calibri"/>
            </a:endParaRPr>
          </a:p>
        </p:txBody>
      </p:sp>
      <p:sp>
        <p:nvSpPr>
          <p:cNvPr id="411" name="Google Shape;411;p15"/>
          <p:cNvSpPr/>
          <p:nvPr/>
        </p:nvSpPr>
        <p:spPr>
          <a:xfrm>
            <a:off x="914400" y="5513832"/>
            <a:ext cx="16459200" cy="1024128"/>
          </a:xfrm>
          <a:prstGeom prst="roundRect">
            <a:avLst>
              <a:gd fmla="val 13393"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5"/>
          <p:cNvSpPr/>
          <p:nvPr/>
        </p:nvSpPr>
        <p:spPr>
          <a:xfrm>
            <a:off x="1188720" y="5696712"/>
            <a:ext cx="3840480" cy="658368"/>
          </a:xfrm>
          <a:prstGeom prst="roundRect">
            <a:avLst>
              <a:gd fmla="val 16667" name="adj"/>
            </a:avLst>
          </a:prstGeom>
          <a:solidFill>
            <a:srgbClr val="13123D"/>
          </a:solidFill>
          <a:ln cap="flat" cmpd="sng" w="9525">
            <a:solidFill>
              <a:srgbClr val="13123D"/>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E8ECFF"/>
              </a:buClr>
              <a:buSzPts val="2400"/>
              <a:buFont typeface="Courier New"/>
              <a:buNone/>
            </a:pPr>
            <a:r>
              <a:rPr b="1" i="0" lang="en-US" sz="2400" u="none" cap="none" strike="noStrike">
                <a:solidFill>
                  <a:srgbClr val="E8ECFF"/>
                </a:solidFill>
                <a:latin typeface="Courier New"/>
                <a:ea typeface="Courier New"/>
                <a:cs typeface="Courier New"/>
                <a:sym typeface="Courier New"/>
              </a:rPr>
              <a:t>go build</a:t>
            </a:r>
            <a:endParaRPr b="0" i="0" sz="2400" u="none" cap="none" strike="noStrike">
              <a:solidFill>
                <a:schemeClr val="dk1"/>
              </a:solidFill>
              <a:latin typeface="Calibri"/>
              <a:ea typeface="Calibri"/>
              <a:cs typeface="Calibri"/>
              <a:sym typeface="Calibri"/>
            </a:endParaRPr>
          </a:p>
        </p:txBody>
      </p:sp>
      <p:sp>
        <p:nvSpPr>
          <p:cNvPr id="413" name="Google Shape;413;p15"/>
          <p:cNvSpPr txBox="1"/>
          <p:nvPr/>
        </p:nvSpPr>
        <p:spPr>
          <a:xfrm>
            <a:off x="5394960" y="5513832"/>
            <a:ext cx="11795760" cy="10241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500"/>
              <a:buFont typeface="Calibri"/>
              <a:buNone/>
            </a:pPr>
            <a:r>
              <a:rPr b="0" i="0" lang="en-US" sz="2500" u="none" cap="none" strike="noStrike">
                <a:solidFill>
                  <a:srgbClr val="13123D"/>
                </a:solidFill>
                <a:latin typeface="Calibri"/>
                <a:ea typeface="Calibri"/>
                <a:cs typeface="Calibri"/>
                <a:sym typeface="Calibri"/>
              </a:rPr>
              <a:t>Hasilkan file binary yang dapat dijalankan langsung.</a:t>
            </a:r>
            <a:endParaRPr b="0" i="0" sz="2500" u="none" cap="none" strike="noStrike">
              <a:solidFill>
                <a:schemeClr val="dk1"/>
              </a:solidFill>
              <a:latin typeface="Calibri"/>
              <a:ea typeface="Calibri"/>
              <a:cs typeface="Calibri"/>
              <a:sym typeface="Calibri"/>
            </a:endParaRPr>
          </a:p>
        </p:txBody>
      </p:sp>
      <p:sp>
        <p:nvSpPr>
          <p:cNvPr id="414" name="Google Shape;414;p15"/>
          <p:cNvSpPr/>
          <p:nvPr/>
        </p:nvSpPr>
        <p:spPr>
          <a:xfrm>
            <a:off x="914400" y="6684264"/>
            <a:ext cx="16459200" cy="1024128"/>
          </a:xfrm>
          <a:prstGeom prst="roundRect">
            <a:avLst>
              <a:gd fmla="val 13393"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5"/>
          <p:cNvSpPr/>
          <p:nvPr/>
        </p:nvSpPr>
        <p:spPr>
          <a:xfrm>
            <a:off x="1188720" y="6867144"/>
            <a:ext cx="3840480" cy="658368"/>
          </a:xfrm>
          <a:prstGeom prst="roundRect">
            <a:avLst>
              <a:gd fmla="val 16667" name="adj"/>
            </a:avLst>
          </a:prstGeom>
          <a:solidFill>
            <a:srgbClr val="13123D"/>
          </a:solidFill>
          <a:ln cap="flat" cmpd="sng" w="9525">
            <a:solidFill>
              <a:srgbClr val="13123D"/>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E8ECFF"/>
              </a:buClr>
              <a:buSzPts val="2400"/>
              <a:buFont typeface="Courier New"/>
              <a:buNone/>
            </a:pPr>
            <a:r>
              <a:rPr b="1" i="0" lang="en-US" sz="2400" u="none" cap="none" strike="noStrike">
                <a:solidFill>
                  <a:srgbClr val="E8ECFF"/>
                </a:solidFill>
                <a:latin typeface="Courier New"/>
                <a:ea typeface="Courier New"/>
                <a:cs typeface="Courier New"/>
                <a:sym typeface="Courier New"/>
              </a:rPr>
              <a:t>go fmt ./...</a:t>
            </a:r>
            <a:endParaRPr b="0" i="0" sz="2400" u="none" cap="none" strike="noStrike">
              <a:solidFill>
                <a:schemeClr val="dk1"/>
              </a:solidFill>
              <a:latin typeface="Calibri"/>
              <a:ea typeface="Calibri"/>
              <a:cs typeface="Calibri"/>
              <a:sym typeface="Calibri"/>
            </a:endParaRPr>
          </a:p>
        </p:txBody>
      </p:sp>
      <p:sp>
        <p:nvSpPr>
          <p:cNvPr id="416" name="Google Shape;416;p15"/>
          <p:cNvSpPr txBox="1"/>
          <p:nvPr/>
        </p:nvSpPr>
        <p:spPr>
          <a:xfrm>
            <a:off x="5394960" y="6684264"/>
            <a:ext cx="11795760" cy="10241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500"/>
              <a:buFont typeface="Calibri"/>
              <a:buNone/>
            </a:pPr>
            <a:r>
              <a:rPr b="0" i="0" lang="en-US" sz="2500" u="none" cap="none" strike="noStrike">
                <a:solidFill>
                  <a:srgbClr val="13123D"/>
                </a:solidFill>
                <a:latin typeface="Calibri"/>
                <a:ea typeface="Calibri"/>
                <a:cs typeface="Calibri"/>
                <a:sym typeface="Calibri"/>
              </a:rPr>
              <a:t>Rapikan format semua kode di proyek.</a:t>
            </a:r>
            <a:endParaRPr b="0" i="0" sz="2500" u="none" cap="none" strike="noStrike">
              <a:solidFill>
                <a:schemeClr val="dk1"/>
              </a:solidFill>
              <a:latin typeface="Calibri"/>
              <a:ea typeface="Calibri"/>
              <a:cs typeface="Calibri"/>
              <a:sym typeface="Calibri"/>
            </a:endParaRPr>
          </a:p>
        </p:txBody>
      </p:sp>
      <p:sp>
        <p:nvSpPr>
          <p:cNvPr id="417" name="Google Shape;417;p15"/>
          <p:cNvSpPr/>
          <p:nvPr/>
        </p:nvSpPr>
        <p:spPr>
          <a:xfrm>
            <a:off x="914400" y="7854696"/>
            <a:ext cx="16459200" cy="1024128"/>
          </a:xfrm>
          <a:prstGeom prst="roundRect">
            <a:avLst>
              <a:gd fmla="val 13393"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5"/>
          <p:cNvSpPr/>
          <p:nvPr/>
        </p:nvSpPr>
        <p:spPr>
          <a:xfrm>
            <a:off x="1188720" y="8037576"/>
            <a:ext cx="3840480" cy="658368"/>
          </a:xfrm>
          <a:prstGeom prst="roundRect">
            <a:avLst>
              <a:gd fmla="val 16667" name="adj"/>
            </a:avLst>
          </a:prstGeom>
          <a:solidFill>
            <a:srgbClr val="13123D"/>
          </a:solidFill>
          <a:ln cap="flat" cmpd="sng" w="9525">
            <a:solidFill>
              <a:srgbClr val="13123D"/>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E8ECFF"/>
              </a:buClr>
              <a:buSzPts val="2400"/>
              <a:buFont typeface="Courier New"/>
              <a:buNone/>
            </a:pPr>
            <a:r>
              <a:rPr b="1" i="0" lang="en-US" sz="2400" u="none" cap="none" strike="noStrike">
                <a:solidFill>
                  <a:srgbClr val="E8ECFF"/>
                </a:solidFill>
                <a:latin typeface="Courier New"/>
                <a:ea typeface="Courier New"/>
                <a:cs typeface="Courier New"/>
                <a:sym typeface="Courier New"/>
              </a:rPr>
              <a:t>go mod tidy</a:t>
            </a:r>
            <a:endParaRPr b="0" i="0" sz="2400" u="none" cap="none" strike="noStrike">
              <a:solidFill>
                <a:schemeClr val="dk1"/>
              </a:solidFill>
              <a:latin typeface="Calibri"/>
              <a:ea typeface="Calibri"/>
              <a:cs typeface="Calibri"/>
              <a:sym typeface="Calibri"/>
            </a:endParaRPr>
          </a:p>
        </p:txBody>
      </p:sp>
      <p:sp>
        <p:nvSpPr>
          <p:cNvPr id="419" name="Google Shape;419;p15"/>
          <p:cNvSpPr txBox="1"/>
          <p:nvPr/>
        </p:nvSpPr>
        <p:spPr>
          <a:xfrm>
            <a:off x="5394960" y="7854696"/>
            <a:ext cx="11795760" cy="10241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500"/>
              <a:buFont typeface="Calibri"/>
              <a:buNone/>
            </a:pPr>
            <a:r>
              <a:rPr b="0" i="0" lang="en-US" sz="2500" u="none" cap="none" strike="noStrike">
                <a:solidFill>
                  <a:srgbClr val="13123D"/>
                </a:solidFill>
                <a:latin typeface="Calibri"/>
                <a:ea typeface="Calibri"/>
                <a:cs typeface="Calibri"/>
                <a:sym typeface="Calibri"/>
              </a:rPr>
              <a:t>Sinkronkan dependency di go.mod dengan kode.</a:t>
            </a:r>
            <a:endParaRPr b="0" i="0" sz="2500" u="none" cap="none" strike="noStrike">
              <a:solidFill>
                <a:schemeClr val="dk1"/>
              </a:solidFill>
              <a:latin typeface="Calibri"/>
              <a:ea typeface="Calibri"/>
              <a:cs typeface="Calibri"/>
              <a:sym typeface="Calibri"/>
            </a:endParaRPr>
          </a:p>
        </p:txBody>
      </p:sp>
      <p:sp>
        <p:nvSpPr>
          <p:cNvPr id="420" name="Google Shape;420;p15"/>
          <p:cNvSpPr/>
          <p:nvPr/>
        </p:nvSpPr>
        <p:spPr>
          <a:xfrm>
            <a:off x="914400" y="9098280"/>
            <a:ext cx="16459200" cy="914400"/>
          </a:xfrm>
          <a:prstGeom prst="roundRect">
            <a:avLst>
              <a:gd fmla="val 15000" name="adj"/>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5"/>
          <p:cNvSpPr txBox="1"/>
          <p:nvPr/>
        </p:nvSpPr>
        <p:spPr>
          <a:xfrm>
            <a:off x="1188720" y="9098280"/>
            <a:ext cx="159105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CDF59"/>
              </a:buClr>
              <a:buSzPts val="2800"/>
              <a:buFont typeface="Calibri"/>
              <a:buNone/>
            </a:pPr>
            <a:r>
              <a:rPr b="1" i="0" lang="en-US" sz="2800" u="none" cap="none" strike="noStrike">
                <a:solidFill>
                  <a:srgbClr val="FCDF59"/>
                </a:solidFill>
                <a:latin typeface="Calibri"/>
                <a:ea typeface="Calibri"/>
                <a:cs typeface="Calibri"/>
                <a:sym typeface="Calibri"/>
              </a:rPr>
              <a:t>Coba sekarang: </a:t>
            </a:r>
            <a:r>
              <a:rPr b="0" i="0" lang="en-US" sz="2800" u="none" cap="none" strike="noStrike">
                <a:solidFill>
                  <a:srgbClr val="FDFBFB"/>
                </a:solidFill>
                <a:latin typeface="Calibri"/>
                <a:ea typeface="Calibri"/>
                <a:cs typeface="Calibri"/>
                <a:sym typeface="Calibri"/>
              </a:rPr>
              <a:t>jalankan go run . lalu go build, dan bandingkan hasilnya.</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descr="/home/claude/assets/image4.png" id="427" name="Google Shape;427;p16"/>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428" name="Google Shape;428;p16"/>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429" name="Google Shape;429;p16"/>
          <p:cNvSpPr txBox="1"/>
          <p:nvPr/>
        </p:nvSpPr>
        <p:spPr>
          <a:xfrm>
            <a:off x="1024128" y="2194560"/>
            <a:ext cx="594360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6000"/>
              <a:buFont typeface="Arial"/>
              <a:buNone/>
            </a:pPr>
            <a:r>
              <a:rPr b="1" i="0" lang="en-US" sz="6000" u="none" cap="none" strike="noStrike">
                <a:solidFill>
                  <a:srgbClr val="FDFBFB"/>
                </a:solidFill>
                <a:latin typeface="Arial"/>
                <a:ea typeface="Arial"/>
                <a:cs typeface="Arial"/>
                <a:sym typeface="Arial"/>
              </a:rPr>
              <a:t>Istirahat</a:t>
            </a:r>
            <a:endParaRPr b="0" i="0" sz="6000" u="none" cap="none" strike="noStrike">
              <a:solidFill>
                <a:schemeClr val="dk1"/>
              </a:solidFill>
              <a:latin typeface="Calibri"/>
              <a:ea typeface="Calibri"/>
              <a:cs typeface="Calibri"/>
              <a:sym typeface="Calibri"/>
            </a:endParaRPr>
          </a:p>
        </p:txBody>
      </p:sp>
      <p:sp>
        <p:nvSpPr>
          <p:cNvPr id="430" name="Google Shape;430;p16"/>
          <p:cNvSpPr txBox="1"/>
          <p:nvPr/>
        </p:nvSpPr>
        <p:spPr>
          <a:xfrm>
            <a:off x="1024128" y="3566160"/>
            <a:ext cx="57607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4000"/>
              <a:buFont typeface="Arial"/>
              <a:buNone/>
            </a:pPr>
            <a:r>
              <a:rPr b="1" i="0" lang="en-US" sz="4000" u="none" cap="none" strike="noStrike">
                <a:solidFill>
                  <a:srgbClr val="FCDF59"/>
                </a:solidFill>
                <a:latin typeface="Arial"/>
                <a:ea typeface="Arial"/>
                <a:cs typeface="Arial"/>
                <a:sym typeface="Arial"/>
              </a:rPr>
              <a:t>10 menit</a:t>
            </a:r>
            <a:endParaRPr b="0" i="0" sz="4000" u="none" cap="none" strike="noStrike">
              <a:solidFill>
                <a:schemeClr val="dk1"/>
              </a:solidFill>
              <a:latin typeface="Calibri"/>
              <a:ea typeface="Calibri"/>
              <a:cs typeface="Calibri"/>
              <a:sym typeface="Calibri"/>
            </a:endParaRPr>
          </a:p>
        </p:txBody>
      </p:sp>
      <p:sp>
        <p:nvSpPr>
          <p:cNvPr id="431" name="Google Shape;431;p16"/>
          <p:cNvSpPr/>
          <p:nvPr/>
        </p:nvSpPr>
        <p:spPr>
          <a:xfrm>
            <a:off x="11430000" y="2377440"/>
            <a:ext cx="3291840" cy="3291840"/>
          </a:xfrm>
          <a:prstGeom prst="ellipse">
            <a:avLst/>
          </a:prstGeom>
          <a:solidFill>
            <a:srgbClr val="FCDF59"/>
          </a:solidFill>
          <a:ln cap="flat" cmpd="sng" w="12700">
            <a:solidFill>
              <a:srgbClr val="FCDF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2" name="Google Shape;432;p16"/>
          <p:cNvPicPr preferRelativeResize="0"/>
          <p:nvPr/>
        </p:nvPicPr>
        <p:blipFill rotWithShape="1">
          <a:blip r:embed="rId5">
            <a:alphaModFix/>
          </a:blip>
          <a:srcRect b="0" l="0" r="0" t="0"/>
          <a:stretch/>
        </p:blipFill>
        <p:spPr>
          <a:xfrm>
            <a:off x="12435840" y="3383280"/>
            <a:ext cx="1280160" cy="1280160"/>
          </a:xfrm>
          <a:prstGeom prst="rect">
            <a:avLst/>
          </a:prstGeom>
          <a:noFill/>
          <a:ln>
            <a:noFill/>
          </a:ln>
        </p:spPr>
      </p:pic>
      <p:sp>
        <p:nvSpPr>
          <p:cNvPr id="433" name="Google Shape;433;p16"/>
          <p:cNvSpPr txBox="1"/>
          <p:nvPr/>
        </p:nvSpPr>
        <p:spPr>
          <a:xfrm>
            <a:off x="8229600" y="6309360"/>
            <a:ext cx="9418320" cy="1463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CA2"/>
              </a:buClr>
              <a:buSzPts val="3200"/>
              <a:buFont typeface="Calibri"/>
              <a:buNone/>
            </a:pPr>
            <a:r>
              <a:rPr b="1" i="0" lang="en-US" sz="3200" u="none" cap="none" strike="noStrike">
                <a:solidFill>
                  <a:srgbClr val="162CA2"/>
                </a:solidFill>
                <a:latin typeface="Calibri"/>
                <a:ea typeface="Calibri"/>
                <a:cs typeface="Calibri"/>
                <a:sym typeface="Calibri"/>
              </a:rPr>
              <a:t>Setelah ini: variabel, konstanta, tipe data, dan operator</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pic>
        <p:nvPicPr>
          <p:cNvPr descr="/home/claude/assets/image6.png" id="439" name="Google Shape;439;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440" name="Google Shape;440;p17"/>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441" name="Google Shape;441;p17"/>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4 · 20 MENIT</a:t>
            </a:r>
            <a:endParaRPr b="0" i="0" sz="2000" u="none" cap="none" strike="noStrike">
              <a:solidFill>
                <a:schemeClr val="dk1"/>
              </a:solidFill>
              <a:latin typeface="Calibri"/>
              <a:ea typeface="Calibri"/>
              <a:cs typeface="Calibri"/>
              <a:sym typeface="Calibri"/>
            </a:endParaRPr>
          </a:p>
        </p:txBody>
      </p:sp>
      <p:sp>
        <p:nvSpPr>
          <p:cNvPr id="442" name="Google Shape;442;p17"/>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Deklarasi Variabel</a:t>
            </a:r>
            <a:endParaRPr b="0" i="0" sz="4800" u="none" cap="none" strike="noStrike">
              <a:solidFill>
                <a:schemeClr val="dk1"/>
              </a:solidFill>
              <a:latin typeface="Calibri"/>
              <a:ea typeface="Calibri"/>
              <a:cs typeface="Calibri"/>
              <a:sym typeface="Calibri"/>
            </a:endParaRPr>
          </a:p>
        </p:txBody>
      </p:sp>
      <p:sp>
        <p:nvSpPr>
          <p:cNvPr id="443" name="Google Shape;443;p17"/>
          <p:cNvSpPr/>
          <p:nvPr/>
        </p:nvSpPr>
        <p:spPr>
          <a:xfrm>
            <a:off x="914400" y="4343400"/>
            <a:ext cx="7955280" cy="5166360"/>
          </a:xfrm>
          <a:prstGeom prst="roundRect">
            <a:avLst>
              <a:gd fmla="val 265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7"/>
          <p:cNvSpPr txBox="1"/>
          <p:nvPr/>
        </p:nvSpPr>
        <p:spPr>
          <a:xfrm>
            <a:off x="1188720" y="4526280"/>
            <a:ext cx="74066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700"/>
              <a:buFont typeface="Calibri"/>
              <a:buNone/>
            </a:pPr>
            <a:r>
              <a:rPr b="1" i="0" lang="en-US" sz="2700" u="none" cap="none" strike="noStrike">
                <a:solidFill>
                  <a:srgbClr val="162CA2"/>
                </a:solidFill>
                <a:latin typeface="Calibri"/>
                <a:ea typeface="Calibri"/>
                <a:cs typeface="Calibri"/>
                <a:sym typeface="Calibri"/>
              </a:rPr>
              <a:t>var — eksplisit</a:t>
            </a:r>
            <a:endParaRPr b="0" i="0" sz="2700" u="none" cap="none" strike="noStrike">
              <a:solidFill>
                <a:schemeClr val="dk1"/>
              </a:solidFill>
              <a:latin typeface="Calibri"/>
              <a:ea typeface="Calibri"/>
              <a:cs typeface="Calibri"/>
              <a:sym typeface="Calibri"/>
            </a:endParaRPr>
          </a:p>
        </p:txBody>
      </p:sp>
      <p:sp>
        <p:nvSpPr>
          <p:cNvPr id="445" name="Google Shape;445;p17"/>
          <p:cNvSpPr/>
          <p:nvPr/>
        </p:nvSpPr>
        <p:spPr>
          <a:xfrm>
            <a:off x="1188720" y="5212080"/>
            <a:ext cx="7406640" cy="1524762"/>
          </a:xfrm>
          <a:prstGeom prst="roundRect">
            <a:avLst>
              <a:gd fmla="val 8996"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7"/>
          <p:cNvSpPr txBox="1"/>
          <p:nvPr/>
        </p:nvSpPr>
        <p:spPr>
          <a:xfrm>
            <a:off x="1463040" y="5468112"/>
            <a:ext cx="6858000" cy="106756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100"/>
              <a:buFont typeface="Courier New"/>
              <a:buNone/>
            </a:pPr>
            <a:r>
              <a:rPr b="0" i="0" lang="en-US" sz="2100" u="none" cap="none" strike="noStrike">
                <a:solidFill>
                  <a:srgbClr val="FCDF59"/>
                </a:solidFill>
                <a:latin typeface="Courier New"/>
                <a:ea typeface="Courier New"/>
                <a:cs typeface="Courier New"/>
                <a:sym typeface="Courier New"/>
              </a:rPr>
              <a:t>var</a:t>
            </a:r>
            <a:r>
              <a:rPr b="0" i="0" lang="en-US" sz="2100" u="none" cap="none" strike="noStrike">
                <a:solidFill>
                  <a:srgbClr val="E8ECFF"/>
                </a:solidFill>
                <a:latin typeface="Courier New"/>
                <a:ea typeface="Courier New"/>
                <a:cs typeface="Courier New"/>
                <a:sym typeface="Courier New"/>
              </a:rPr>
              <a:t> nama </a:t>
            </a:r>
            <a:r>
              <a:rPr b="0" i="0" lang="en-US" sz="2100" u="none" cap="none" strike="noStrike">
                <a:solidFill>
                  <a:srgbClr val="A5C8FF"/>
                </a:solidFill>
                <a:latin typeface="Courier New"/>
                <a:ea typeface="Courier New"/>
                <a:cs typeface="Courier New"/>
                <a:sym typeface="Courier New"/>
              </a:rPr>
              <a:t>string</a:t>
            </a:r>
            <a:r>
              <a:rPr b="0" i="0" lang="en-US" sz="2100" u="none" cap="none" strike="noStrike">
                <a:solidFill>
                  <a:srgbClr val="E8ECFF"/>
                </a:solidFill>
                <a:latin typeface="Courier New"/>
                <a:ea typeface="Courier New"/>
                <a:cs typeface="Courier New"/>
                <a:sym typeface="Courier New"/>
              </a:rPr>
              <a:t> = </a:t>
            </a:r>
            <a:r>
              <a:rPr b="0" i="0" lang="en-US" sz="2100" u="none" cap="none" strike="noStrike">
                <a:solidFill>
                  <a:srgbClr val="A8E6CF"/>
                </a:solidFill>
                <a:latin typeface="Courier New"/>
                <a:ea typeface="Courier New"/>
                <a:cs typeface="Courier New"/>
                <a:sym typeface="Courier New"/>
              </a:rPr>
              <a:t>"Budi"</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100"/>
              <a:buFont typeface="Courier New"/>
              <a:buNone/>
            </a:pPr>
            <a:r>
              <a:rPr b="0" i="0" lang="en-US" sz="2100" u="none" cap="none" strike="noStrike">
                <a:solidFill>
                  <a:srgbClr val="FCDF59"/>
                </a:solidFill>
                <a:latin typeface="Courier New"/>
                <a:ea typeface="Courier New"/>
                <a:cs typeface="Courier New"/>
                <a:sym typeface="Courier New"/>
              </a:rPr>
              <a:t>var</a:t>
            </a:r>
            <a:r>
              <a:rPr b="0" i="0" lang="en-US" sz="2100" u="none" cap="none" strike="noStrike">
                <a:solidFill>
                  <a:srgbClr val="E8ECFF"/>
                </a:solidFill>
                <a:latin typeface="Courier New"/>
                <a:ea typeface="Courier New"/>
                <a:cs typeface="Courier New"/>
                <a:sym typeface="Courier New"/>
              </a:rPr>
              <a:t> umur </a:t>
            </a:r>
            <a:r>
              <a:rPr b="0" i="0" lang="en-US" sz="2100" u="none" cap="none" strike="noStrike">
                <a:solidFill>
                  <a:srgbClr val="A5C8FF"/>
                </a:solidFill>
                <a:latin typeface="Courier New"/>
                <a:ea typeface="Courier New"/>
                <a:cs typeface="Courier New"/>
                <a:sym typeface="Courier New"/>
              </a:rPr>
              <a:t>int</a:t>
            </a:r>
            <a:r>
              <a:rPr b="0" i="0" lang="en-US" sz="2100" u="none" cap="none" strike="noStrike">
                <a:solidFill>
                  <a:srgbClr val="E8ECFF"/>
                </a:solidFill>
                <a:latin typeface="Courier New"/>
                <a:ea typeface="Courier New"/>
                <a:cs typeface="Courier New"/>
                <a:sym typeface="Courier New"/>
              </a:rPr>
              <a:t> = </a:t>
            </a:r>
            <a:r>
              <a:rPr b="0" i="0" lang="en-US" sz="2100" u="none" cap="none" strike="noStrike">
                <a:solidFill>
                  <a:srgbClr val="FFC58A"/>
                </a:solidFill>
                <a:latin typeface="Courier New"/>
                <a:ea typeface="Courier New"/>
                <a:cs typeface="Courier New"/>
                <a:sym typeface="Courier New"/>
              </a:rPr>
              <a:t>20</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100"/>
              <a:buFont typeface="Courier New"/>
              <a:buNone/>
            </a:pPr>
            <a:r>
              <a:rPr b="0" i="0" lang="en-US" sz="2100" u="none" cap="none" strike="noStrike">
                <a:solidFill>
                  <a:srgbClr val="FCDF59"/>
                </a:solidFill>
                <a:latin typeface="Courier New"/>
                <a:ea typeface="Courier New"/>
                <a:cs typeface="Courier New"/>
                <a:sym typeface="Courier New"/>
              </a:rPr>
              <a:t>var</a:t>
            </a:r>
            <a:r>
              <a:rPr b="0" i="0" lang="en-US" sz="2100" u="none" cap="none" strike="noStrike">
                <a:solidFill>
                  <a:srgbClr val="E8ECFF"/>
                </a:solidFill>
                <a:latin typeface="Courier New"/>
                <a:ea typeface="Courier New"/>
                <a:cs typeface="Courier New"/>
                <a:sym typeface="Courier New"/>
              </a:rPr>
              <a:t> kota = </a:t>
            </a:r>
            <a:r>
              <a:rPr b="0" i="0" lang="en-US" sz="2100" u="none" cap="none" strike="noStrike">
                <a:solidFill>
                  <a:srgbClr val="A8E6CF"/>
                </a:solidFill>
                <a:latin typeface="Courier New"/>
                <a:ea typeface="Courier New"/>
                <a:cs typeface="Courier New"/>
                <a:sym typeface="Courier New"/>
              </a:rPr>
              <a:t>"Jakarta"</a:t>
            </a:r>
            <a:endParaRPr b="0" i="0" sz="2100" u="none" cap="none" strike="noStrike">
              <a:solidFill>
                <a:schemeClr val="dk1"/>
              </a:solidFill>
              <a:latin typeface="Calibri"/>
              <a:ea typeface="Calibri"/>
              <a:cs typeface="Calibri"/>
              <a:sym typeface="Calibri"/>
            </a:endParaRPr>
          </a:p>
        </p:txBody>
      </p:sp>
      <p:sp>
        <p:nvSpPr>
          <p:cNvPr id="447" name="Google Shape;447;p17"/>
          <p:cNvSpPr txBox="1"/>
          <p:nvPr/>
        </p:nvSpPr>
        <p:spPr>
          <a:xfrm>
            <a:off x="1188720" y="7589520"/>
            <a:ext cx="740664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Boleh di luar fungsi. Tipe boleh ditulis atau dibiarkan Go menebak.</a:t>
            </a:r>
            <a:endParaRPr b="0" i="0" sz="2400" u="none" cap="none" strike="noStrike">
              <a:solidFill>
                <a:schemeClr val="dk1"/>
              </a:solidFill>
              <a:latin typeface="Calibri"/>
              <a:ea typeface="Calibri"/>
              <a:cs typeface="Calibri"/>
              <a:sym typeface="Calibri"/>
            </a:endParaRPr>
          </a:p>
        </p:txBody>
      </p:sp>
      <p:sp>
        <p:nvSpPr>
          <p:cNvPr id="448" name="Google Shape;448;p17"/>
          <p:cNvSpPr/>
          <p:nvPr/>
        </p:nvSpPr>
        <p:spPr>
          <a:xfrm>
            <a:off x="9418320" y="4343400"/>
            <a:ext cx="7955280" cy="5166360"/>
          </a:xfrm>
          <a:prstGeom prst="roundRect">
            <a:avLst>
              <a:gd fmla="val 265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7"/>
          <p:cNvSpPr txBox="1"/>
          <p:nvPr/>
        </p:nvSpPr>
        <p:spPr>
          <a:xfrm>
            <a:off x="9692640" y="4526280"/>
            <a:ext cx="74066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700"/>
              <a:buFont typeface="Calibri"/>
              <a:buNone/>
            </a:pPr>
            <a:r>
              <a:rPr b="1" i="0" lang="en-US" sz="2700" u="none" cap="none" strike="noStrike">
                <a:solidFill>
                  <a:srgbClr val="162CA2"/>
                </a:solidFill>
                <a:latin typeface="Calibri"/>
                <a:ea typeface="Calibri"/>
                <a:cs typeface="Calibri"/>
                <a:sym typeface="Calibri"/>
              </a:rPr>
              <a:t>:= — deklarasi singkat</a:t>
            </a:r>
            <a:endParaRPr b="0" i="0" sz="2700" u="none" cap="none" strike="noStrike">
              <a:solidFill>
                <a:schemeClr val="dk1"/>
              </a:solidFill>
              <a:latin typeface="Calibri"/>
              <a:ea typeface="Calibri"/>
              <a:cs typeface="Calibri"/>
              <a:sym typeface="Calibri"/>
            </a:endParaRPr>
          </a:p>
        </p:txBody>
      </p:sp>
      <p:sp>
        <p:nvSpPr>
          <p:cNvPr id="450" name="Google Shape;450;p17"/>
          <p:cNvSpPr/>
          <p:nvPr/>
        </p:nvSpPr>
        <p:spPr>
          <a:xfrm>
            <a:off x="9692640" y="5212080"/>
            <a:ext cx="7406640" cy="1524762"/>
          </a:xfrm>
          <a:prstGeom prst="roundRect">
            <a:avLst>
              <a:gd fmla="val 8996"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7"/>
          <p:cNvSpPr txBox="1"/>
          <p:nvPr/>
        </p:nvSpPr>
        <p:spPr>
          <a:xfrm>
            <a:off x="9966960" y="5468112"/>
            <a:ext cx="6858000" cy="106756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nama := </a:t>
            </a:r>
            <a:r>
              <a:rPr b="0" i="0" lang="en-US" sz="2100" u="none" cap="none" strike="noStrike">
                <a:solidFill>
                  <a:srgbClr val="A8E6CF"/>
                </a:solidFill>
                <a:latin typeface="Courier New"/>
                <a:ea typeface="Courier New"/>
                <a:cs typeface="Courier New"/>
                <a:sym typeface="Courier New"/>
              </a:rPr>
              <a:t>"Budi"</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umur := </a:t>
            </a:r>
            <a:r>
              <a:rPr b="0" i="0" lang="en-US" sz="2100" u="none" cap="none" strike="noStrike">
                <a:solidFill>
                  <a:srgbClr val="FFC58A"/>
                </a:solidFill>
                <a:latin typeface="Courier New"/>
                <a:ea typeface="Courier New"/>
                <a:cs typeface="Courier New"/>
                <a:sym typeface="Courier New"/>
              </a:rPr>
              <a:t>20</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100"/>
              <a:buFont typeface="Courier New"/>
              <a:buNone/>
            </a:pPr>
            <a:r>
              <a:rPr b="0" i="0" lang="en-US" sz="2100" u="none" cap="none" strike="noStrike">
                <a:solidFill>
                  <a:srgbClr val="E8ECFF"/>
                </a:solidFill>
                <a:latin typeface="Courier New"/>
                <a:ea typeface="Courier New"/>
                <a:cs typeface="Courier New"/>
                <a:sym typeface="Courier New"/>
              </a:rPr>
              <a:t>a, b := </a:t>
            </a:r>
            <a:r>
              <a:rPr b="0" i="0" lang="en-US" sz="2100" u="none" cap="none" strike="noStrike">
                <a:solidFill>
                  <a:srgbClr val="FFC58A"/>
                </a:solidFill>
                <a:latin typeface="Courier New"/>
                <a:ea typeface="Courier New"/>
                <a:cs typeface="Courier New"/>
                <a:sym typeface="Courier New"/>
              </a:rPr>
              <a:t>1</a:t>
            </a:r>
            <a:r>
              <a:rPr b="0" i="0" lang="en-US" sz="2100" u="none" cap="none" strike="noStrike">
                <a:solidFill>
                  <a:srgbClr val="E8ECFF"/>
                </a:solidFill>
                <a:latin typeface="Courier New"/>
                <a:ea typeface="Courier New"/>
                <a:cs typeface="Courier New"/>
                <a:sym typeface="Courier New"/>
              </a:rPr>
              <a:t>, </a:t>
            </a:r>
            <a:r>
              <a:rPr b="0" i="0" lang="en-US" sz="2100" u="none" cap="none" strike="noStrike">
                <a:solidFill>
                  <a:srgbClr val="FFC58A"/>
                </a:solidFill>
                <a:latin typeface="Courier New"/>
                <a:ea typeface="Courier New"/>
                <a:cs typeface="Courier New"/>
                <a:sym typeface="Courier New"/>
              </a:rPr>
              <a:t>2</a:t>
            </a:r>
            <a:endParaRPr b="0" i="0" sz="2100" u="none" cap="none" strike="noStrike">
              <a:solidFill>
                <a:schemeClr val="dk1"/>
              </a:solidFill>
              <a:latin typeface="Calibri"/>
              <a:ea typeface="Calibri"/>
              <a:cs typeface="Calibri"/>
              <a:sym typeface="Calibri"/>
            </a:endParaRPr>
          </a:p>
        </p:txBody>
      </p:sp>
      <p:sp>
        <p:nvSpPr>
          <p:cNvPr id="452" name="Google Shape;452;p17"/>
          <p:cNvSpPr txBox="1"/>
          <p:nvPr/>
        </p:nvSpPr>
        <p:spPr>
          <a:xfrm>
            <a:off x="9692640" y="7589520"/>
            <a:ext cx="740664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Hanya di dalam fungsi. Tipe ditebak dari nilai. </a:t>
            </a:r>
            <a:r>
              <a:rPr b="1" i="0" lang="en-US" sz="2400" u="none" cap="none" strike="noStrike">
                <a:solidFill>
                  <a:srgbClr val="13123D"/>
                </a:solidFill>
                <a:latin typeface="Calibri"/>
                <a:ea typeface="Calibri"/>
                <a:cs typeface="Calibri"/>
                <a:sym typeface="Calibri"/>
              </a:rPr>
              <a:t>Ubah nilai: umur = 21 (tanpa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pic>
        <p:nvPicPr>
          <p:cNvPr descr="/home/claude/assets/image4.png" id="458" name="Google Shape;458;p1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459" name="Google Shape;459;p18"/>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460" name="Google Shape;460;p18"/>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BAGIAN 4 · 20 MENIT</a:t>
            </a:r>
            <a:endParaRPr b="0" i="0" sz="1800" u="none" cap="none" strike="noStrike">
              <a:solidFill>
                <a:schemeClr val="dk1"/>
              </a:solidFill>
              <a:latin typeface="Calibri"/>
              <a:ea typeface="Calibri"/>
              <a:cs typeface="Calibri"/>
              <a:sym typeface="Calibri"/>
            </a:endParaRPr>
          </a:p>
        </p:txBody>
      </p:sp>
      <p:sp>
        <p:nvSpPr>
          <p:cNvPr id="461" name="Google Shape;461;p18"/>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Nilai Awal &amp; Aturan Variabel</a:t>
            </a:r>
            <a:endParaRPr b="0" i="0" sz="4400" u="none" cap="none" strike="noStrike">
              <a:solidFill>
                <a:schemeClr val="dk1"/>
              </a:solidFill>
              <a:latin typeface="Calibri"/>
              <a:ea typeface="Calibri"/>
              <a:cs typeface="Calibri"/>
              <a:sym typeface="Calibri"/>
            </a:endParaRPr>
          </a:p>
        </p:txBody>
      </p:sp>
      <p:sp>
        <p:nvSpPr>
          <p:cNvPr id="462" name="Google Shape;462;p18"/>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Variabel Go selalu punya nilai awal</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Variabel tak terpakai = error kompilasi</a:t>
            </a:r>
            <a:endParaRPr b="0" i="0" sz="2600" u="none" cap="none" strike="noStrike">
              <a:solidFill>
                <a:schemeClr val="dk1"/>
              </a:solidFill>
              <a:latin typeface="Calibri"/>
              <a:ea typeface="Calibri"/>
              <a:cs typeface="Calibri"/>
              <a:sym typeface="Calibri"/>
            </a:endParaRPr>
          </a:p>
        </p:txBody>
      </p:sp>
      <p:sp>
        <p:nvSpPr>
          <p:cNvPr id="463" name="Google Shape;463;p18"/>
          <p:cNvSpPr txBox="1"/>
          <p:nvPr/>
        </p:nvSpPr>
        <p:spPr>
          <a:xfrm>
            <a:off x="8229600" y="640080"/>
            <a:ext cx="9144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Zero value</a:t>
            </a:r>
            <a:endParaRPr b="0" i="0" sz="2600" u="none" cap="none" strike="noStrike">
              <a:solidFill>
                <a:schemeClr val="dk1"/>
              </a:solidFill>
              <a:latin typeface="Calibri"/>
              <a:ea typeface="Calibri"/>
              <a:cs typeface="Calibri"/>
              <a:sym typeface="Calibri"/>
            </a:endParaRPr>
          </a:p>
        </p:txBody>
      </p:sp>
      <p:sp>
        <p:nvSpPr>
          <p:cNvPr id="464" name="Google Shape;464;p18"/>
          <p:cNvSpPr/>
          <p:nvPr/>
        </p:nvSpPr>
        <p:spPr>
          <a:xfrm>
            <a:off x="8229600" y="1188720"/>
            <a:ext cx="9418320" cy="2098040"/>
          </a:xfrm>
          <a:prstGeom prst="roundRect">
            <a:avLst>
              <a:gd fmla="val 6538"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8"/>
          <p:cNvSpPr txBox="1"/>
          <p:nvPr/>
        </p:nvSpPr>
        <p:spPr>
          <a:xfrm>
            <a:off x="8503920" y="1444752"/>
            <a:ext cx="8869680" cy="1640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Courier New"/>
              <a:buNone/>
            </a:pPr>
            <a:r>
              <a:rPr b="0" i="0" lang="en-US" sz="2000" u="none" cap="none" strike="noStrike">
                <a:solidFill>
                  <a:srgbClr val="FCDF59"/>
                </a:solidFill>
                <a:latin typeface="Courier New"/>
                <a:ea typeface="Courier New"/>
                <a:cs typeface="Courier New"/>
                <a:sym typeface="Courier New"/>
              </a:rPr>
              <a:t>var</a:t>
            </a:r>
            <a:r>
              <a:rPr b="0" i="0" lang="en-US" sz="2000" u="none" cap="none" strike="noStrike">
                <a:solidFill>
                  <a:srgbClr val="E8ECFF"/>
                </a:solidFill>
                <a:latin typeface="Courier New"/>
                <a:ea typeface="Courier New"/>
                <a:cs typeface="Courier New"/>
                <a:sym typeface="Courier New"/>
              </a:rPr>
              <a:t> n </a:t>
            </a:r>
            <a:r>
              <a:rPr b="0" i="0" lang="en-US" sz="2000" u="none" cap="none" strike="noStrike">
                <a:solidFill>
                  <a:srgbClr val="A5C8FF"/>
                </a:solidFill>
                <a:latin typeface="Courier New"/>
                <a:ea typeface="Courier New"/>
                <a:cs typeface="Courier New"/>
                <a:sym typeface="Courier New"/>
              </a:rPr>
              <a:t>int</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000"/>
              <a:buFont typeface="Courier New"/>
              <a:buNone/>
            </a:pPr>
            <a:r>
              <a:rPr b="0" i="0" lang="en-US" sz="2000" u="none" cap="none" strike="noStrike">
                <a:solidFill>
                  <a:srgbClr val="FCDF59"/>
                </a:solidFill>
                <a:latin typeface="Courier New"/>
                <a:ea typeface="Courier New"/>
                <a:cs typeface="Courier New"/>
                <a:sym typeface="Courier New"/>
              </a:rPr>
              <a:t>var</a:t>
            </a:r>
            <a:r>
              <a:rPr b="0" i="0" lang="en-US" sz="2000" u="none" cap="none" strike="noStrike">
                <a:solidFill>
                  <a:srgbClr val="E8ECFF"/>
                </a:solidFill>
                <a:latin typeface="Courier New"/>
                <a:ea typeface="Courier New"/>
                <a:cs typeface="Courier New"/>
                <a:sym typeface="Courier New"/>
              </a:rPr>
              <a:t> f </a:t>
            </a:r>
            <a:r>
              <a:rPr b="0" i="0" lang="en-US" sz="2000" u="none" cap="none" strike="noStrike">
                <a:solidFill>
                  <a:srgbClr val="A5C8FF"/>
                </a:solidFill>
                <a:latin typeface="Courier New"/>
                <a:ea typeface="Courier New"/>
                <a:cs typeface="Courier New"/>
                <a:sym typeface="Courier New"/>
              </a:rPr>
              <a:t>float64</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000"/>
              <a:buFont typeface="Courier New"/>
              <a:buNone/>
            </a:pPr>
            <a:r>
              <a:rPr b="0" i="0" lang="en-US" sz="2000" u="none" cap="none" strike="noStrike">
                <a:solidFill>
                  <a:srgbClr val="FCDF59"/>
                </a:solidFill>
                <a:latin typeface="Courier New"/>
                <a:ea typeface="Courier New"/>
                <a:cs typeface="Courier New"/>
                <a:sym typeface="Courier New"/>
              </a:rPr>
              <a:t>var</a:t>
            </a:r>
            <a:r>
              <a:rPr b="0" i="0" lang="en-US" sz="2000" u="none" cap="none" strike="noStrike">
                <a:solidFill>
                  <a:srgbClr val="E8ECFF"/>
                </a:solidFill>
                <a:latin typeface="Courier New"/>
                <a:ea typeface="Courier New"/>
                <a:cs typeface="Courier New"/>
                <a:sym typeface="Courier New"/>
              </a:rPr>
              <a:t> s </a:t>
            </a:r>
            <a:r>
              <a:rPr b="0" i="0" lang="en-US" sz="2000" u="none" cap="none" strike="noStrike">
                <a:solidFill>
                  <a:srgbClr val="A5C8FF"/>
                </a:solidFill>
                <a:latin typeface="Courier New"/>
                <a:ea typeface="Courier New"/>
                <a:cs typeface="Courier New"/>
                <a:sym typeface="Courier New"/>
              </a:rPr>
              <a:t>string</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000"/>
              <a:buFont typeface="Courier New"/>
              <a:buNone/>
            </a:pPr>
            <a:r>
              <a:rPr b="0" i="0" lang="en-US" sz="2000" u="none" cap="none" strike="noStrike">
                <a:solidFill>
                  <a:srgbClr val="FCDF59"/>
                </a:solidFill>
                <a:latin typeface="Courier New"/>
                <a:ea typeface="Courier New"/>
                <a:cs typeface="Courier New"/>
                <a:sym typeface="Courier New"/>
              </a:rPr>
              <a:t>var</a:t>
            </a:r>
            <a:r>
              <a:rPr b="0" i="0" lang="en-US" sz="2000" u="none" cap="none" strike="noStrike">
                <a:solidFill>
                  <a:srgbClr val="E8ECFF"/>
                </a:solidFill>
                <a:latin typeface="Courier New"/>
                <a:ea typeface="Courier New"/>
                <a:cs typeface="Courier New"/>
                <a:sym typeface="Courier New"/>
              </a:rPr>
              <a:t> ok </a:t>
            </a:r>
            <a:r>
              <a:rPr b="0" i="0" lang="en-US" sz="2000" u="none" cap="none" strike="noStrike">
                <a:solidFill>
                  <a:srgbClr val="A5C8FF"/>
                </a:solidFill>
                <a:latin typeface="Courier New"/>
                <a:ea typeface="Courier New"/>
                <a:cs typeface="Courier New"/>
                <a:sym typeface="Courier New"/>
              </a:rPr>
              <a:t>bool</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000"/>
              <a:buFont typeface="Courier New"/>
              <a:buNone/>
            </a:pPr>
            <a:r>
              <a:rPr b="0" i="0" lang="en-US" sz="2000" u="none" cap="none" strike="noStrike">
                <a:solidFill>
                  <a:srgbClr val="E8ECFF"/>
                </a:solidFill>
                <a:latin typeface="Courier New"/>
                <a:ea typeface="Courier New"/>
                <a:cs typeface="Courier New"/>
                <a:sym typeface="Courier New"/>
              </a:rPr>
              <a:t>fmt.Println(n, f, s, ok) </a:t>
            </a:r>
            <a:r>
              <a:rPr b="0" i="0" lang="en-US" sz="2000" u="none" cap="none" strike="noStrike">
                <a:solidFill>
                  <a:srgbClr val="8C93C9"/>
                </a:solidFill>
                <a:latin typeface="Courier New"/>
                <a:ea typeface="Courier New"/>
                <a:cs typeface="Courier New"/>
                <a:sym typeface="Courier New"/>
              </a:rPr>
              <a:t>// 0 0  false</a:t>
            </a:r>
            <a:endParaRPr b="0" i="0" sz="2000" u="none" cap="none" strike="noStrike">
              <a:solidFill>
                <a:schemeClr val="dk1"/>
              </a:solidFill>
              <a:latin typeface="Calibri"/>
              <a:ea typeface="Calibri"/>
              <a:cs typeface="Calibri"/>
              <a:sym typeface="Calibri"/>
            </a:endParaRPr>
          </a:p>
        </p:txBody>
      </p:sp>
      <p:sp>
        <p:nvSpPr>
          <p:cNvPr id="466" name="Google Shape;466;p18"/>
          <p:cNvSpPr txBox="1"/>
          <p:nvPr/>
        </p:nvSpPr>
        <p:spPr>
          <a:xfrm>
            <a:off x="8229600" y="4297680"/>
            <a:ext cx="91440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Variabel tak terpakai</a:t>
            </a:r>
            <a:endParaRPr b="0" i="0" sz="2600" u="none" cap="none" strike="noStrike">
              <a:solidFill>
                <a:schemeClr val="dk1"/>
              </a:solidFill>
              <a:latin typeface="Calibri"/>
              <a:ea typeface="Calibri"/>
              <a:cs typeface="Calibri"/>
              <a:sym typeface="Calibri"/>
            </a:endParaRPr>
          </a:p>
        </p:txBody>
      </p:sp>
      <p:sp>
        <p:nvSpPr>
          <p:cNvPr id="467" name="Google Shape;467;p18"/>
          <p:cNvSpPr/>
          <p:nvPr/>
        </p:nvSpPr>
        <p:spPr>
          <a:xfrm>
            <a:off x="8229600" y="4846320"/>
            <a:ext cx="9418320" cy="1478280"/>
          </a:xfrm>
          <a:prstGeom prst="roundRect">
            <a:avLst>
              <a:gd fmla="val 9278"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8"/>
          <p:cNvSpPr txBox="1"/>
          <p:nvPr/>
        </p:nvSpPr>
        <p:spPr>
          <a:xfrm>
            <a:off x="8503920" y="5102352"/>
            <a:ext cx="8869680" cy="1021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Courier New"/>
              <a:buNone/>
            </a:pPr>
            <a:r>
              <a:rPr b="0" i="0" lang="en-US" sz="2000" u="none" cap="none" strike="noStrike">
                <a:solidFill>
                  <a:srgbClr val="FCDF59"/>
                </a:solidFill>
                <a:latin typeface="Courier New"/>
                <a:ea typeface="Courier New"/>
                <a:cs typeface="Courier New"/>
                <a:sym typeface="Courier New"/>
              </a:rPr>
              <a:t>func</a:t>
            </a:r>
            <a:r>
              <a:rPr b="0" i="0" lang="en-US" sz="2000" u="none" cap="none" strike="noStrike">
                <a:solidFill>
                  <a:srgbClr val="E8ECFF"/>
                </a:solidFill>
                <a:latin typeface="Courier New"/>
                <a:ea typeface="Courier New"/>
                <a:cs typeface="Courier New"/>
                <a:sym typeface="Courier New"/>
              </a:rPr>
              <a:t> main() {</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000"/>
              <a:buFont typeface="Courier New"/>
              <a:buNone/>
            </a:pPr>
            <a:r>
              <a:rPr b="0" i="0" lang="en-US" sz="2000" u="none" cap="none" strike="noStrike">
                <a:solidFill>
                  <a:srgbClr val="E8ECFF"/>
                </a:solidFill>
                <a:latin typeface="Courier New"/>
                <a:ea typeface="Courier New"/>
                <a:cs typeface="Courier New"/>
                <a:sym typeface="Courier New"/>
              </a:rPr>
              <a:t>    umur := </a:t>
            </a:r>
            <a:r>
              <a:rPr b="0" i="0" lang="en-US" sz="2000" u="none" cap="none" strike="noStrike">
                <a:solidFill>
                  <a:srgbClr val="FFC58A"/>
                </a:solidFill>
                <a:latin typeface="Courier New"/>
                <a:ea typeface="Courier New"/>
                <a:cs typeface="Courier New"/>
                <a:sym typeface="Courier New"/>
              </a:rPr>
              <a:t>20</a:t>
            </a:r>
            <a:r>
              <a:rPr b="0" i="0" lang="en-US" sz="2000" u="none" cap="none" strike="noStrike">
                <a:solidFill>
                  <a:srgbClr val="E8ECFF"/>
                </a:solidFill>
                <a:latin typeface="Courier New"/>
                <a:ea typeface="Courier New"/>
                <a:cs typeface="Courier New"/>
                <a:sym typeface="Courier New"/>
              </a:rPr>
              <a:t> </a:t>
            </a:r>
            <a:r>
              <a:rPr b="0" i="0" lang="en-US" sz="2000" u="none" cap="none" strike="noStrike">
                <a:solidFill>
                  <a:srgbClr val="8C93C9"/>
                </a:solidFill>
                <a:latin typeface="Courier New"/>
                <a:ea typeface="Courier New"/>
                <a:cs typeface="Courier New"/>
                <a:sym typeface="Courier New"/>
              </a:rPr>
              <a:t>// error: tidak dipakai</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000"/>
              <a:buFont typeface="Courier New"/>
              <a:buNone/>
            </a:pPr>
            <a:r>
              <a:rPr b="0" i="0" lang="en-US" sz="2000" u="none" cap="none" strike="noStrike">
                <a:solidFill>
                  <a:srgbClr val="E8ECFF"/>
                </a:solidFill>
                <a:latin typeface="Courier New"/>
                <a:ea typeface="Courier New"/>
                <a:cs typeface="Courier New"/>
                <a:sym typeface="Courier New"/>
              </a:rPr>
              <a:t>}</a:t>
            </a:r>
            <a:endParaRPr b="0" i="0" sz="2000" u="none" cap="none" strike="noStrike">
              <a:solidFill>
                <a:schemeClr val="dk1"/>
              </a:solidFill>
              <a:latin typeface="Calibri"/>
              <a:ea typeface="Calibri"/>
              <a:cs typeface="Calibri"/>
              <a:sym typeface="Calibri"/>
            </a:endParaRPr>
          </a:p>
        </p:txBody>
      </p:sp>
      <p:graphicFrame>
        <p:nvGraphicFramePr>
          <p:cNvPr id="469" name="Google Shape;469;p18"/>
          <p:cNvGraphicFramePr/>
          <p:nvPr/>
        </p:nvGraphicFramePr>
        <p:xfrm>
          <a:off x="8229600" y="7086600"/>
          <a:ext cx="3000000" cy="3000000"/>
        </p:xfrm>
        <a:graphic>
          <a:graphicData uri="http://schemas.openxmlformats.org/drawingml/2006/table">
            <a:tbl>
              <a:tblPr>
                <a:noFill/>
                <a:tableStyleId>{6F93AA03-78E1-4CC0-99D5-BEF3B4DFFC71}</a:tableStyleId>
              </a:tblPr>
              <a:tblGrid>
                <a:gridCol w="3657600"/>
                <a:gridCol w="5760725"/>
              </a:tblGrid>
              <a:tr h="457200">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Tipe</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Nilai awal</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r>
              <a:tr h="457200">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int</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0</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float64</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0</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string</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 (kosong)</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457200">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bool</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false</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pic>
        <p:nvPicPr>
          <p:cNvPr descr="/home/claude/assets/image4.png" id="475" name="Google Shape;475;p19"/>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476" name="Google Shape;476;p19"/>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477" name="Google Shape;477;p19"/>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BAGIAN 4 · 20 MENIT</a:t>
            </a:r>
            <a:endParaRPr b="0" i="0" sz="1800" u="none" cap="none" strike="noStrike">
              <a:solidFill>
                <a:schemeClr val="dk1"/>
              </a:solidFill>
              <a:latin typeface="Calibri"/>
              <a:ea typeface="Calibri"/>
              <a:cs typeface="Calibri"/>
              <a:sym typeface="Calibri"/>
            </a:endParaRPr>
          </a:p>
        </p:txBody>
      </p:sp>
      <p:sp>
        <p:nvSpPr>
          <p:cNvPr id="478" name="Google Shape;478;p19"/>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Konstanta dengan const</a:t>
            </a:r>
            <a:endParaRPr b="0" i="0" sz="4400" u="none" cap="none" strike="noStrike">
              <a:solidFill>
                <a:schemeClr val="dk1"/>
              </a:solidFill>
              <a:latin typeface="Calibri"/>
              <a:ea typeface="Calibri"/>
              <a:cs typeface="Calibri"/>
              <a:sym typeface="Calibri"/>
            </a:endParaRPr>
          </a:p>
        </p:txBody>
      </p:sp>
      <p:sp>
        <p:nvSpPr>
          <p:cNvPr id="479" name="Google Shape;479;p19"/>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Nilai tetap, tidak dapat diubah</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Mengubah const = error kompilasi</a:t>
            </a:r>
            <a:endParaRPr b="0" i="0" sz="2600" u="none" cap="none" strike="noStrike">
              <a:solidFill>
                <a:schemeClr val="dk1"/>
              </a:solidFill>
              <a:latin typeface="Calibri"/>
              <a:ea typeface="Calibri"/>
              <a:cs typeface="Calibri"/>
              <a:sym typeface="Calibri"/>
            </a:endParaRPr>
          </a:p>
        </p:txBody>
      </p:sp>
      <p:sp>
        <p:nvSpPr>
          <p:cNvPr id="480" name="Google Shape;480;p19"/>
          <p:cNvSpPr/>
          <p:nvPr/>
        </p:nvSpPr>
        <p:spPr>
          <a:xfrm>
            <a:off x="8229600" y="731520"/>
            <a:ext cx="9418320" cy="2934716"/>
          </a:xfrm>
          <a:prstGeom prst="roundRect">
            <a:avLst>
              <a:gd fmla="val 4674"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9"/>
          <p:cNvSpPr txBox="1"/>
          <p:nvPr/>
        </p:nvSpPr>
        <p:spPr>
          <a:xfrm>
            <a:off x="8503920" y="987552"/>
            <a:ext cx="8869680" cy="24775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const</a:t>
            </a:r>
            <a:r>
              <a:rPr b="0" i="0" lang="en-US" sz="2200" u="none" cap="none" strike="noStrike">
                <a:solidFill>
                  <a:srgbClr val="E8ECFF"/>
                </a:solidFill>
                <a:latin typeface="Courier New"/>
                <a:ea typeface="Courier New"/>
                <a:cs typeface="Courier New"/>
                <a:sym typeface="Courier New"/>
              </a:rPr>
              <a:t> Pi = </a:t>
            </a:r>
            <a:r>
              <a:rPr b="0" i="0" lang="en-US" sz="2200" u="none" cap="none" strike="noStrike">
                <a:solidFill>
                  <a:srgbClr val="FFC58A"/>
                </a:solidFill>
                <a:latin typeface="Courier New"/>
                <a:ea typeface="Courier New"/>
                <a:cs typeface="Courier New"/>
                <a:sym typeface="Courier New"/>
              </a:rPr>
              <a:t>3.14159</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const</a:t>
            </a:r>
            <a:r>
              <a:rPr b="0" i="0" lang="en-US" sz="2200" u="none" cap="none" strike="noStrike">
                <a:solidFill>
                  <a:srgbClr val="E8ECFF"/>
                </a:solidFill>
                <a:latin typeface="Courier New"/>
                <a:ea typeface="Courier New"/>
                <a:cs typeface="Courier New"/>
                <a:sym typeface="Courier New"/>
              </a:rPr>
              <a:t> NamaApp = </a:t>
            </a:r>
            <a:r>
              <a:rPr b="0" i="0" lang="en-US" sz="2200" u="none" cap="none" strike="noStrike">
                <a:solidFill>
                  <a:srgbClr val="A8E6CF"/>
                </a:solidFill>
                <a:latin typeface="Courier New"/>
                <a:ea typeface="Courier New"/>
                <a:cs typeface="Courier New"/>
                <a:sym typeface="Courier New"/>
              </a:rPr>
              <a:t>"Belajar Go"</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2200"/>
              <a:buFont typeface="Courier New"/>
              <a:buNone/>
            </a:pPr>
            <a:r>
              <a:rPr b="0" i="0" lang="en-US" sz="2200" u="none" cap="none" strike="noStrike">
                <a:solidFill>
                  <a:srgbClr val="000000"/>
                </a:solidFill>
                <a:latin typeface="Courier New"/>
                <a:ea typeface="Courier New"/>
                <a:cs typeface="Courier New"/>
                <a:sym typeface="Courier New"/>
              </a:rPr>
              <a:t> </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2200"/>
              <a:buFont typeface="Courier New"/>
              <a:buNone/>
            </a:pPr>
            <a:r>
              <a:rPr b="0" i="0" lang="en-US" sz="2200" u="none" cap="none" strike="noStrike">
                <a:solidFill>
                  <a:srgbClr val="FCDF59"/>
                </a:solidFill>
                <a:latin typeface="Courier New"/>
                <a:ea typeface="Courier New"/>
                <a:cs typeface="Courier New"/>
                <a:sym typeface="Courier New"/>
              </a:rPr>
              <a:t>const</a:t>
            </a:r>
            <a:r>
              <a:rPr b="0" i="0" lang="en-US" sz="2200" u="none" cap="none" strike="noStrike">
                <a:solidFill>
                  <a:srgbClr val="E8ECFF"/>
                </a:solidFill>
                <a:latin typeface="Courier New"/>
                <a:ea typeface="Courier New"/>
                <a:cs typeface="Courier New"/>
                <a:sym typeface="Courier New"/>
              </a:rPr>
              <a:t> (</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MaxUser = </a:t>
            </a:r>
            <a:r>
              <a:rPr b="0" i="0" lang="en-US" sz="2200" u="none" cap="none" strike="noStrike">
                <a:solidFill>
                  <a:srgbClr val="FFC58A"/>
                </a:solidFill>
                <a:latin typeface="Courier New"/>
                <a:ea typeface="Courier New"/>
                <a:cs typeface="Courier New"/>
                <a:sym typeface="Courier New"/>
              </a:rPr>
              <a:t>100</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    Versi   = </a:t>
            </a:r>
            <a:r>
              <a:rPr b="0" i="0" lang="en-US" sz="2200" u="none" cap="none" strike="noStrike">
                <a:solidFill>
                  <a:srgbClr val="A8E6CF"/>
                </a:solidFill>
                <a:latin typeface="Courier New"/>
                <a:ea typeface="Courier New"/>
                <a:cs typeface="Courier New"/>
                <a:sym typeface="Courier New"/>
              </a:rPr>
              <a:t>"1.0"</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200"/>
              <a:buFont typeface="Courier New"/>
              <a:buNone/>
            </a:pPr>
            <a:r>
              <a:rPr b="0" i="0" lang="en-US" sz="2200" u="none" cap="none" strike="noStrike">
                <a:solidFill>
                  <a:srgbClr val="E8ECFF"/>
                </a:solidFill>
                <a:latin typeface="Courier New"/>
                <a:ea typeface="Courier New"/>
                <a:cs typeface="Courier New"/>
                <a:sym typeface="Courier New"/>
              </a:rPr>
              <a:t>)</a:t>
            </a:r>
            <a:endParaRPr b="0" i="0" sz="2200" u="none" cap="none" strike="noStrike">
              <a:solidFill>
                <a:schemeClr val="dk1"/>
              </a:solidFill>
              <a:latin typeface="Calibri"/>
              <a:ea typeface="Calibri"/>
              <a:cs typeface="Calibri"/>
              <a:sym typeface="Calibri"/>
            </a:endParaRPr>
          </a:p>
        </p:txBody>
      </p:sp>
      <p:sp>
        <p:nvSpPr>
          <p:cNvPr id="482" name="Google Shape;482;p19"/>
          <p:cNvSpPr/>
          <p:nvPr/>
        </p:nvSpPr>
        <p:spPr>
          <a:xfrm>
            <a:off x="8229600" y="4434840"/>
            <a:ext cx="9418320" cy="1737360"/>
          </a:xfrm>
          <a:prstGeom prst="roundRect">
            <a:avLst>
              <a:gd fmla="val 789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9"/>
          <p:cNvSpPr txBox="1"/>
          <p:nvPr/>
        </p:nvSpPr>
        <p:spPr>
          <a:xfrm>
            <a:off x="8503920" y="4434840"/>
            <a:ext cx="886968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400"/>
              <a:buFont typeface="Calibri"/>
              <a:buNone/>
            </a:pPr>
            <a:r>
              <a:rPr b="1" i="0" lang="en-US" sz="2400" u="none" cap="none" strike="noStrike">
                <a:solidFill>
                  <a:srgbClr val="162CA2"/>
                </a:solidFill>
                <a:latin typeface="Calibri"/>
                <a:ea typeface="Calibri"/>
                <a:cs typeface="Calibri"/>
                <a:sym typeface="Calibri"/>
              </a:rPr>
              <a:t>Cocok untuk</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Nilai matematis, batas maksimum, dan konfigurasi yang tidak berubah.</a:t>
            </a:r>
            <a:endParaRPr b="0" i="0" sz="2400" u="none" cap="none" strike="noStrike">
              <a:solidFill>
                <a:schemeClr val="dk1"/>
              </a:solidFill>
              <a:latin typeface="Calibri"/>
              <a:ea typeface="Calibri"/>
              <a:cs typeface="Calibri"/>
              <a:sym typeface="Calibri"/>
            </a:endParaRPr>
          </a:p>
        </p:txBody>
      </p:sp>
      <p:sp>
        <p:nvSpPr>
          <p:cNvPr id="484" name="Google Shape;484;p19"/>
          <p:cNvSpPr/>
          <p:nvPr/>
        </p:nvSpPr>
        <p:spPr>
          <a:xfrm>
            <a:off x="8229600" y="6400800"/>
            <a:ext cx="9418320" cy="1737360"/>
          </a:xfrm>
          <a:prstGeom prst="roundRect">
            <a:avLst>
              <a:gd fmla="val 7895"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9"/>
          <p:cNvSpPr txBox="1"/>
          <p:nvPr/>
        </p:nvSpPr>
        <p:spPr>
          <a:xfrm>
            <a:off x="8503920" y="6400800"/>
            <a:ext cx="886968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Penamaan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camelCase (namaLengkap). Huruf besar di awal = dapat diakses package lain.</a:t>
            </a:r>
            <a:endParaRPr b="0" i="0" sz="2400" u="none" cap="none" strike="noStrike">
              <a:solidFill>
                <a:schemeClr val="dk1"/>
              </a:solidFill>
              <a:latin typeface="Calibri"/>
              <a:ea typeface="Calibri"/>
              <a:cs typeface="Calibri"/>
              <a:sym typeface="Calibri"/>
            </a:endParaRPr>
          </a:p>
        </p:txBody>
      </p:sp>
      <p:sp>
        <p:nvSpPr>
          <p:cNvPr id="486" name="Google Shape;486;p19"/>
          <p:cNvSpPr/>
          <p:nvPr/>
        </p:nvSpPr>
        <p:spPr>
          <a:xfrm>
            <a:off x="8229600" y="8321040"/>
            <a:ext cx="9418320" cy="1188720"/>
          </a:xfrm>
          <a:prstGeom prst="roundRect">
            <a:avLst>
              <a:gd fmla="val 1153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9"/>
          <p:cNvSpPr txBox="1"/>
          <p:nvPr/>
        </p:nvSpPr>
        <p:spPr>
          <a:xfrm>
            <a:off x="8503920" y="8321040"/>
            <a:ext cx="886968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300"/>
              <a:buFont typeface="Calibri"/>
              <a:buNone/>
            </a:pPr>
            <a:r>
              <a:rPr b="1" i="0" lang="en-US" sz="2300" u="none" cap="none" strike="noStrike">
                <a:solidFill>
                  <a:srgbClr val="162CA2"/>
                </a:solidFill>
                <a:latin typeface="Calibri"/>
                <a:ea typeface="Calibri"/>
                <a:cs typeface="Calibri"/>
                <a:sym typeface="Calibri"/>
              </a:rPr>
              <a:t>Ingat</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100"/>
              <a:buFont typeface="Calibri"/>
              <a:buNone/>
            </a:pPr>
            <a:r>
              <a:rPr b="0" i="0" lang="en-US" sz="2100" u="none" cap="none" strike="noStrike">
                <a:solidFill>
                  <a:srgbClr val="13123D"/>
                </a:solidFill>
                <a:latin typeface="Calibri"/>
                <a:ea typeface="Calibri"/>
                <a:cs typeface="Calibri"/>
                <a:sym typeface="Calibri"/>
              </a:rPr>
              <a:t>Mengubah const setelah dideklarasikan = error kompilasi.</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pic>
        <p:nvPicPr>
          <p:cNvPr descr="/home/claude/assets/image4.png" id="493" name="Google Shape;493;p20"/>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494" name="Google Shape;494;p20"/>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495" name="Google Shape;495;p20"/>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BAGIAN 4 · 20 MENIT</a:t>
            </a:r>
            <a:endParaRPr b="0" i="0" sz="1800" u="none" cap="none" strike="noStrike">
              <a:solidFill>
                <a:schemeClr val="dk1"/>
              </a:solidFill>
              <a:latin typeface="Calibri"/>
              <a:ea typeface="Calibri"/>
              <a:cs typeface="Calibri"/>
              <a:sym typeface="Calibri"/>
            </a:endParaRPr>
          </a:p>
        </p:txBody>
      </p:sp>
      <p:sp>
        <p:nvSpPr>
          <p:cNvPr id="496" name="Google Shape;496;p20"/>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Mencetak Output dengan fmt</a:t>
            </a:r>
            <a:endParaRPr b="0" i="0" sz="4400" u="none" cap="none" strike="noStrike">
              <a:solidFill>
                <a:schemeClr val="dk1"/>
              </a:solidFill>
              <a:latin typeface="Calibri"/>
              <a:ea typeface="Calibri"/>
              <a:cs typeface="Calibri"/>
              <a:sym typeface="Calibri"/>
            </a:endParaRPr>
          </a:p>
        </p:txBody>
      </p:sp>
      <p:sp>
        <p:nvSpPr>
          <p:cNvPr id="497" name="Google Shape;497;p20"/>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Println: cetak + baris baru</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Printf: cetak berformat</a:t>
            </a:r>
            <a:endParaRPr b="0" i="0" sz="2600" u="none" cap="none" strike="noStrike">
              <a:solidFill>
                <a:schemeClr val="dk1"/>
              </a:solidFill>
              <a:latin typeface="Calibri"/>
              <a:ea typeface="Calibri"/>
              <a:cs typeface="Calibri"/>
              <a:sym typeface="Calibri"/>
            </a:endParaRPr>
          </a:p>
        </p:txBody>
      </p:sp>
      <p:sp>
        <p:nvSpPr>
          <p:cNvPr id="498" name="Google Shape;498;p20"/>
          <p:cNvSpPr/>
          <p:nvPr/>
        </p:nvSpPr>
        <p:spPr>
          <a:xfrm>
            <a:off x="8229600" y="731520"/>
            <a:ext cx="9418320" cy="2314956"/>
          </a:xfrm>
          <a:prstGeom prst="roundRect">
            <a:avLst>
              <a:gd fmla="val 5925"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0"/>
          <p:cNvSpPr txBox="1"/>
          <p:nvPr/>
        </p:nvSpPr>
        <p:spPr>
          <a:xfrm>
            <a:off x="8503920" y="987552"/>
            <a:ext cx="8869680" cy="18577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nama := </a:t>
            </a:r>
            <a:r>
              <a:rPr b="0" i="0" lang="en-US" sz="1900" u="none" cap="none" strike="noStrike">
                <a:solidFill>
                  <a:srgbClr val="A8E6CF"/>
                </a:solidFill>
                <a:latin typeface="Courier New"/>
                <a:ea typeface="Courier New"/>
                <a:cs typeface="Courier New"/>
                <a:sym typeface="Courier New"/>
              </a:rPr>
              <a:t>"Budi"</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umur := </a:t>
            </a:r>
            <a:r>
              <a:rPr b="0" i="0" lang="en-US" sz="1900" u="none" cap="none" strike="noStrike">
                <a:solidFill>
                  <a:srgbClr val="FFC58A"/>
                </a:solidFill>
                <a:latin typeface="Courier New"/>
                <a:ea typeface="Courier New"/>
                <a:cs typeface="Courier New"/>
                <a:sym typeface="Courier New"/>
              </a:rPr>
              <a:t>20</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tinggi := </a:t>
            </a:r>
            <a:r>
              <a:rPr b="0" i="0" lang="en-US" sz="1900" u="none" cap="none" strike="noStrike">
                <a:solidFill>
                  <a:srgbClr val="FFC58A"/>
                </a:solidFill>
                <a:latin typeface="Courier New"/>
                <a:ea typeface="Courier New"/>
                <a:cs typeface="Courier New"/>
                <a:sym typeface="Courier New"/>
              </a:rPr>
              <a:t>172.5</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fmt.Println(</a:t>
            </a:r>
            <a:r>
              <a:rPr b="0" i="0" lang="en-US" sz="1900" u="none" cap="none" strike="noStrike">
                <a:solidFill>
                  <a:srgbClr val="A8E6CF"/>
                </a:solidFill>
                <a:latin typeface="Courier New"/>
                <a:ea typeface="Courier New"/>
                <a:cs typeface="Courier New"/>
                <a:sym typeface="Courier New"/>
              </a:rPr>
              <a:t>"Halo,"</a:t>
            </a:r>
            <a:r>
              <a:rPr b="0" i="0" lang="en-US" sz="1900" u="none" cap="none" strike="noStrike">
                <a:solidFill>
                  <a:srgbClr val="E8ECFF"/>
                </a:solidFill>
                <a:latin typeface="Courier New"/>
                <a:ea typeface="Courier New"/>
                <a:cs typeface="Courier New"/>
                <a:sym typeface="Courier New"/>
              </a:rPr>
              <a:t>, nama)</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fmt.Printf(</a:t>
            </a:r>
            <a:r>
              <a:rPr b="0" i="0" lang="en-US" sz="1900" u="none" cap="none" strike="noStrike">
                <a:solidFill>
                  <a:srgbClr val="A8E6CF"/>
                </a:solidFill>
                <a:latin typeface="Courier New"/>
                <a:ea typeface="Courier New"/>
                <a:cs typeface="Courier New"/>
                <a:sym typeface="Courier New"/>
              </a:rPr>
              <a:t>"Umur: %d, Tinggi: %.1f\n"</a:t>
            </a:r>
            <a:r>
              <a:rPr b="0" i="0" lang="en-US" sz="1900" u="none" cap="none" strike="noStrike">
                <a:solidFill>
                  <a:srgbClr val="E8ECFF"/>
                </a:solidFill>
                <a:latin typeface="Courier New"/>
                <a:ea typeface="Courier New"/>
                <a:cs typeface="Courier New"/>
                <a:sym typeface="Courier New"/>
              </a:rPr>
              <a:t>, umur, tinggi)</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fmt.Printf(</a:t>
            </a:r>
            <a:r>
              <a:rPr b="0" i="0" lang="en-US" sz="1900" u="none" cap="none" strike="noStrike">
                <a:solidFill>
                  <a:srgbClr val="A8E6CF"/>
                </a:solidFill>
                <a:latin typeface="Courier New"/>
                <a:ea typeface="Courier New"/>
                <a:cs typeface="Courier New"/>
                <a:sym typeface="Courier New"/>
              </a:rPr>
              <a:t>"Tipe umur: %T\n"</a:t>
            </a:r>
            <a:r>
              <a:rPr b="0" i="0" lang="en-US" sz="1900" u="none" cap="none" strike="noStrike">
                <a:solidFill>
                  <a:srgbClr val="E8ECFF"/>
                </a:solidFill>
                <a:latin typeface="Courier New"/>
                <a:ea typeface="Courier New"/>
                <a:cs typeface="Courier New"/>
                <a:sym typeface="Courier New"/>
              </a:rPr>
              <a:t>, umur)</a:t>
            </a:r>
            <a:endParaRPr b="0" i="0" sz="1900" u="none" cap="none" strike="noStrike">
              <a:solidFill>
                <a:schemeClr val="dk1"/>
              </a:solidFill>
              <a:latin typeface="Calibri"/>
              <a:ea typeface="Calibri"/>
              <a:cs typeface="Calibri"/>
              <a:sym typeface="Calibri"/>
            </a:endParaRPr>
          </a:p>
        </p:txBody>
      </p:sp>
      <p:sp>
        <p:nvSpPr>
          <p:cNvPr id="500" name="Google Shape;500;p20"/>
          <p:cNvSpPr/>
          <p:nvPr/>
        </p:nvSpPr>
        <p:spPr>
          <a:xfrm>
            <a:off x="8229600" y="3794760"/>
            <a:ext cx="9418320" cy="1737360"/>
          </a:xfrm>
          <a:prstGeom prst="roundRect">
            <a:avLst>
              <a:gd fmla="val 7895"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0"/>
          <p:cNvSpPr txBox="1"/>
          <p:nvPr/>
        </p:nvSpPr>
        <p:spPr>
          <a:xfrm>
            <a:off x="8503920" y="3794760"/>
            <a:ext cx="886968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Halo, Budi</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Umur: 20, Tinggi: 172.5</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100"/>
              <a:buFont typeface="Courier New"/>
              <a:buNone/>
            </a:pPr>
            <a:r>
              <a:rPr b="0" i="0" lang="en-US" sz="2100" u="none" cap="none" strike="noStrike">
                <a:solidFill>
                  <a:srgbClr val="13123D"/>
                </a:solidFill>
                <a:latin typeface="Courier New"/>
                <a:ea typeface="Courier New"/>
                <a:cs typeface="Courier New"/>
                <a:sym typeface="Courier New"/>
              </a:rPr>
              <a:t>Tipe umur: int</a:t>
            </a:r>
            <a:endParaRPr b="0" i="0" sz="2100" u="none" cap="none" strike="noStrike">
              <a:solidFill>
                <a:schemeClr val="dk1"/>
              </a:solidFill>
              <a:latin typeface="Calibri"/>
              <a:ea typeface="Calibri"/>
              <a:cs typeface="Calibri"/>
              <a:sym typeface="Calibri"/>
            </a:endParaRPr>
          </a:p>
        </p:txBody>
      </p:sp>
      <p:graphicFrame>
        <p:nvGraphicFramePr>
          <p:cNvPr id="502" name="Google Shape;502;p20"/>
          <p:cNvGraphicFramePr/>
          <p:nvPr/>
        </p:nvGraphicFramePr>
        <p:xfrm>
          <a:off x="8229600" y="5760720"/>
          <a:ext cx="3000000" cy="3000000"/>
        </p:xfrm>
        <a:graphic>
          <a:graphicData uri="http://schemas.openxmlformats.org/drawingml/2006/table">
            <a:tbl>
              <a:tblPr>
                <a:noFill/>
                <a:tableStyleId>{6F93AA03-78E1-4CC0-99D5-BEF3B4DFFC71}</a:tableStyleId>
              </a:tblPr>
              <a:tblGrid>
                <a:gridCol w="3017525"/>
                <a:gridCol w="6400800"/>
              </a:tblGrid>
              <a:tr h="530350">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Verb</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Arti</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r>
              <a:tr h="530350">
                <a:tc>
                  <a:txBody>
                    <a:bodyPr/>
                    <a:lstStyle/>
                    <a:p>
                      <a:pPr indent="0" lvl="0" marL="0" marR="0" rtl="0" algn="l">
                        <a:spcBef>
                          <a:spcPts val="0"/>
                        </a:spcBef>
                        <a:spcAft>
                          <a:spcPts val="0"/>
                        </a:spcAft>
                        <a:buClr>
                          <a:srgbClr val="13123D"/>
                        </a:buClr>
                        <a:buSzPts val="2100"/>
                        <a:buFont typeface="Courier New"/>
                        <a:buNone/>
                      </a:pPr>
                      <a:r>
                        <a:rPr lang="en-US" sz="2100" u="none" cap="none" strike="noStrike">
                          <a:solidFill>
                            <a:srgbClr val="13123D"/>
                          </a:solidFill>
                          <a:latin typeface="Courier New"/>
                          <a:ea typeface="Courier New"/>
                          <a:cs typeface="Courier New"/>
                          <a:sym typeface="Courier New"/>
                        </a:rPr>
                        <a:t>%d</a:t>
                      </a:r>
                      <a:endParaRPr sz="21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Bilangan bulat</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3123D"/>
                        </a:buClr>
                        <a:buSzPts val="2100"/>
                        <a:buFont typeface="Courier New"/>
                        <a:buNone/>
                      </a:pPr>
                      <a:r>
                        <a:rPr lang="en-US" sz="2100" u="none" cap="none" strike="noStrike">
                          <a:solidFill>
                            <a:srgbClr val="13123D"/>
                          </a:solidFill>
                          <a:latin typeface="Courier New"/>
                          <a:ea typeface="Courier New"/>
                          <a:cs typeface="Courier New"/>
                          <a:sym typeface="Courier New"/>
                        </a:rPr>
                        <a:t>%.2f</a:t>
                      </a:r>
                      <a:endParaRPr sz="21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Desimal 2 angka</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3123D"/>
                        </a:buClr>
                        <a:buSzPts val="2100"/>
                        <a:buFont typeface="Courier New"/>
                        <a:buNone/>
                      </a:pPr>
                      <a:r>
                        <a:rPr lang="en-US" sz="2100" u="none" cap="none" strike="noStrike">
                          <a:solidFill>
                            <a:srgbClr val="13123D"/>
                          </a:solidFill>
                          <a:latin typeface="Courier New"/>
                          <a:ea typeface="Courier New"/>
                          <a:cs typeface="Courier New"/>
                          <a:sym typeface="Courier New"/>
                        </a:rPr>
                        <a:t>%s</a:t>
                      </a:r>
                      <a:endParaRPr sz="21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String</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3123D"/>
                        </a:buClr>
                        <a:buSzPts val="2100"/>
                        <a:buFont typeface="Courier New"/>
                        <a:buNone/>
                      </a:pPr>
                      <a:r>
                        <a:rPr lang="en-US" sz="2100" u="none" cap="none" strike="noStrike">
                          <a:solidFill>
                            <a:srgbClr val="13123D"/>
                          </a:solidFill>
                          <a:latin typeface="Courier New"/>
                          <a:ea typeface="Courier New"/>
                          <a:cs typeface="Courier New"/>
                          <a:sym typeface="Courier New"/>
                        </a:rPr>
                        <a:t>%v</a:t>
                      </a:r>
                      <a:endParaRPr sz="21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Nilai default</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3123D"/>
                        </a:buClr>
                        <a:buSzPts val="2100"/>
                        <a:buFont typeface="Courier New"/>
                        <a:buNone/>
                      </a:pPr>
                      <a:r>
                        <a:rPr lang="en-US" sz="2100" u="none" cap="none" strike="noStrike">
                          <a:solidFill>
                            <a:srgbClr val="13123D"/>
                          </a:solidFill>
                          <a:latin typeface="Courier New"/>
                          <a:ea typeface="Courier New"/>
                          <a:cs typeface="Courier New"/>
                          <a:sym typeface="Courier New"/>
                        </a:rPr>
                        <a:t>%T</a:t>
                      </a:r>
                      <a:endParaRPr sz="21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Tipe data</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30350">
                <a:tc>
                  <a:txBody>
                    <a:bodyPr/>
                    <a:lstStyle/>
                    <a:p>
                      <a:pPr indent="0" lvl="0" marL="0" marR="0" rtl="0" algn="l">
                        <a:spcBef>
                          <a:spcPts val="0"/>
                        </a:spcBef>
                        <a:spcAft>
                          <a:spcPts val="0"/>
                        </a:spcAft>
                        <a:buClr>
                          <a:srgbClr val="13123D"/>
                        </a:buClr>
                        <a:buSzPts val="2100"/>
                        <a:buFont typeface="Courier New"/>
                        <a:buNone/>
                      </a:pPr>
                      <a:r>
                        <a:rPr lang="en-US" sz="2100" u="none" cap="none" strike="noStrike">
                          <a:solidFill>
                            <a:srgbClr val="13123D"/>
                          </a:solidFill>
                          <a:latin typeface="Courier New"/>
                          <a:ea typeface="Courier New"/>
                          <a:cs typeface="Courier New"/>
                          <a:sym typeface="Courier New"/>
                        </a:rPr>
                        <a:t>\n</a:t>
                      </a:r>
                      <a:endParaRPr sz="21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100"/>
                        <a:buFont typeface="Calibri"/>
                        <a:buNone/>
                      </a:pPr>
                      <a:r>
                        <a:rPr lang="en-US" sz="2100" u="none" cap="none" strike="noStrike">
                          <a:solidFill>
                            <a:srgbClr val="13123D"/>
                          </a:solidFill>
                          <a:latin typeface="Calibri"/>
                          <a:ea typeface="Calibri"/>
                          <a:cs typeface="Calibri"/>
                          <a:sym typeface="Calibri"/>
                        </a:rPr>
                        <a:t>Baris baru</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descr="/home/claude/assets/image6.png" id="508" name="Google Shape;508;p21"/>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509" name="Google Shape;509;p21"/>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510" name="Google Shape;510;p21"/>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5 · 15 MENIT</a:t>
            </a:r>
            <a:endParaRPr b="0" i="0" sz="2000" u="none" cap="none" strike="noStrike">
              <a:solidFill>
                <a:schemeClr val="dk1"/>
              </a:solidFill>
              <a:latin typeface="Calibri"/>
              <a:ea typeface="Calibri"/>
              <a:cs typeface="Calibri"/>
              <a:sym typeface="Calibri"/>
            </a:endParaRPr>
          </a:p>
        </p:txBody>
      </p:sp>
      <p:sp>
        <p:nvSpPr>
          <p:cNvPr id="511" name="Google Shape;511;p21"/>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Tipe Data Dasar</a:t>
            </a:r>
            <a:endParaRPr b="0" i="0" sz="4800" u="none" cap="none" strike="noStrike">
              <a:solidFill>
                <a:schemeClr val="dk1"/>
              </a:solidFill>
              <a:latin typeface="Calibri"/>
              <a:ea typeface="Calibri"/>
              <a:cs typeface="Calibri"/>
              <a:sym typeface="Calibri"/>
            </a:endParaRPr>
          </a:p>
        </p:txBody>
      </p:sp>
      <p:graphicFrame>
        <p:nvGraphicFramePr>
          <p:cNvPr id="512" name="Google Shape;512;p21"/>
          <p:cNvGraphicFramePr/>
          <p:nvPr/>
        </p:nvGraphicFramePr>
        <p:xfrm>
          <a:off x="914400" y="4343400"/>
          <a:ext cx="3000000" cy="3000000"/>
        </p:xfrm>
        <a:graphic>
          <a:graphicData uri="http://schemas.openxmlformats.org/drawingml/2006/table">
            <a:tbl>
              <a:tblPr>
                <a:noFill/>
                <a:tableStyleId>{6F93AA03-78E1-4CC0-99D5-BEF3B4DFFC71}</a:tableStyleId>
              </a:tblPr>
              <a:tblGrid>
                <a:gridCol w="2377450"/>
                <a:gridCol w="3108950"/>
                <a:gridCol w="2377450"/>
                <a:gridCol w="8595350"/>
              </a:tblGrid>
              <a:tr h="731525">
                <a:tc>
                  <a:txBody>
                    <a:bodyPr/>
                    <a:lstStyle/>
                    <a:p>
                      <a:pPr indent="0" lvl="0" marL="0" marR="0" rtl="0" algn="l">
                        <a:spcBef>
                          <a:spcPts val="0"/>
                        </a:spcBef>
                        <a:spcAft>
                          <a:spcPts val="0"/>
                        </a:spcAft>
                        <a:buClr>
                          <a:srgbClr val="FDFBFB"/>
                        </a:buClr>
                        <a:buSzPts val="2300"/>
                        <a:buFont typeface="Calibri"/>
                        <a:buNone/>
                      </a:pPr>
                      <a:r>
                        <a:rPr b="1" lang="en-US" sz="2300" u="none" cap="none" strike="noStrike">
                          <a:solidFill>
                            <a:srgbClr val="FDFBFB"/>
                          </a:solidFill>
                          <a:latin typeface="Calibri"/>
                          <a:ea typeface="Calibri"/>
                          <a:cs typeface="Calibri"/>
                          <a:sym typeface="Calibri"/>
                        </a:rPr>
                        <a:t>Tipe</a:t>
                      </a:r>
                      <a:endParaRPr sz="23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c>
                  <a:txBody>
                    <a:bodyPr/>
                    <a:lstStyle/>
                    <a:p>
                      <a:pPr indent="0" lvl="0" marL="0" marR="0" rtl="0" algn="l">
                        <a:spcBef>
                          <a:spcPts val="0"/>
                        </a:spcBef>
                        <a:spcAft>
                          <a:spcPts val="0"/>
                        </a:spcAft>
                        <a:buClr>
                          <a:srgbClr val="FDFBFB"/>
                        </a:buClr>
                        <a:buSzPts val="2300"/>
                        <a:buFont typeface="Calibri"/>
                        <a:buNone/>
                      </a:pPr>
                      <a:r>
                        <a:rPr b="1" lang="en-US" sz="2300" u="none" cap="none" strike="noStrike">
                          <a:solidFill>
                            <a:srgbClr val="FDFBFB"/>
                          </a:solidFill>
                          <a:latin typeface="Calibri"/>
                          <a:ea typeface="Calibri"/>
                          <a:cs typeface="Calibri"/>
                          <a:sym typeface="Calibri"/>
                        </a:rPr>
                        <a:t>Contoh</a:t>
                      </a:r>
                      <a:endParaRPr sz="23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c>
                  <a:txBody>
                    <a:bodyPr/>
                    <a:lstStyle/>
                    <a:p>
                      <a:pPr indent="0" lvl="0" marL="0" marR="0" rtl="0" algn="l">
                        <a:spcBef>
                          <a:spcPts val="0"/>
                        </a:spcBef>
                        <a:spcAft>
                          <a:spcPts val="0"/>
                        </a:spcAft>
                        <a:buClr>
                          <a:srgbClr val="FDFBFB"/>
                        </a:buClr>
                        <a:buSzPts val="2300"/>
                        <a:buFont typeface="Calibri"/>
                        <a:buNone/>
                      </a:pPr>
                      <a:r>
                        <a:rPr b="1" lang="en-US" sz="2300" u="none" cap="none" strike="noStrike">
                          <a:solidFill>
                            <a:srgbClr val="FDFBFB"/>
                          </a:solidFill>
                          <a:latin typeface="Calibri"/>
                          <a:ea typeface="Calibri"/>
                          <a:cs typeface="Calibri"/>
                          <a:sym typeface="Calibri"/>
                        </a:rPr>
                        <a:t>Zero value</a:t>
                      </a:r>
                      <a:endParaRPr sz="23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c>
                  <a:txBody>
                    <a:bodyPr/>
                    <a:lstStyle/>
                    <a:p>
                      <a:pPr indent="0" lvl="0" marL="0" marR="0" rtl="0" algn="l">
                        <a:spcBef>
                          <a:spcPts val="0"/>
                        </a:spcBef>
                        <a:spcAft>
                          <a:spcPts val="0"/>
                        </a:spcAft>
                        <a:buClr>
                          <a:srgbClr val="FDFBFB"/>
                        </a:buClr>
                        <a:buSzPts val="2300"/>
                        <a:buFont typeface="Calibri"/>
                        <a:buNone/>
                      </a:pPr>
                      <a:r>
                        <a:rPr b="1" lang="en-US" sz="2300" u="none" cap="none" strike="noStrike">
                          <a:solidFill>
                            <a:srgbClr val="FDFBFB"/>
                          </a:solidFill>
                          <a:latin typeface="Calibri"/>
                          <a:ea typeface="Calibri"/>
                          <a:cs typeface="Calibri"/>
                          <a:sym typeface="Calibri"/>
                        </a:rPr>
                        <a:t>Keterangan</a:t>
                      </a:r>
                      <a:endParaRPr sz="23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r>
              <a:tr h="777250">
                <a:tc>
                  <a:txBody>
                    <a:bodyPr/>
                    <a:lstStyle/>
                    <a:p>
                      <a:pPr indent="0" lvl="0" marL="0" marR="0" rtl="0" algn="l">
                        <a:spcBef>
                          <a:spcPts val="0"/>
                        </a:spcBef>
                        <a:spcAft>
                          <a:spcPts val="0"/>
                        </a:spcAft>
                        <a:buClr>
                          <a:srgbClr val="13123D"/>
                        </a:buClr>
                        <a:buSzPts val="2300"/>
                        <a:buFont typeface="Calibri"/>
                        <a:buNone/>
                      </a:pPr>
                      <a:r>
                        <a:rPr b="1" lang="en-US" sz="2300" u="none" cap="none" strike="noStrike">
                          <a:solidFill>
                            <a:srgbClr val="13123D"/>
                          </a:solidFill>
                          <a:latin typeface="Calibri"/>
                          <a:ea typeface="Calibri"/>
                          <a:cs typeface="Calibri"/>
                          <a:sym typeface="Calibri"/>
                        </a:rPr>
                        <a:t>int</a:t>
                      </a:r>
                      <a:endParaRPr sz="23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25, -3</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0</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300"/>
                        <a:buFont typeface="Calibri"/>
                        <a:buNone/>
                      </a:pPr>
                      <a:r>
                        <a:rPr lang="en-US" sz="2300" u="none" cap="none" strike="noStrike">
                          <a:solidFill>
                            <a:srgbClr val="13123D"/>
                          </a:solidFill>
                          <a:latin typeface="Calibri"/>
                          <a:ea typeface="Calibri"/>
                          <a:cs typeface="Calibri"/>
                          <a:sym typeface="Calibri"/>
                        </a:rPr>
                        <a:t>Bilangan bulat (ada juga int8 sampai int64, uint)</a:t>
                      </a:r>
                      <a:endParaRPr sz="23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777250">
                <a:tc>
                  <a:txBody>
                    <a:bodyPr/>
                    <a:lstStyle/>
                    <a:p>
                      <a:pPr indent="0" lvl="0" marL="0" marR="0" rtl="0" algn="l">
                        <a:spcBef>
                          <a:spcPts val="0"/>
                        </a:spcBef>
                        <a:spcAft>
                          <a:spcPts val="0"/>
                        </a:spcAft>
                        <a:buClr>
                          <a:srgbClr val="13123D"/>
                        </a:buClr>
                        <a:buSzPts val="2300"/>
                        <a:buFont typeface="Calibri"/>
                        <a:buNone/>
                      </a:pPr>
                      <a:r>
                        <a:rPr b="1" lang="en-US" sz="2300" u="none" cap="none" strike="noStrike">
                          <a:solidFill>
                            <a:srgbClr val="13123D"/>
                          </a:solidFill>
                          <a:latin typeface="Calibri"/>
                          <a:ea typeface="Calibri"/>
                          <a:cs typeface="Calibri"/>
                          <a:sym typeface="Calibri"/>
                        </a:rPr>
                        <a:t>float64</a:t>
                      </a:r>
                      <a:endParaRPr sz="23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3.14</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0</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300"/>
                        <a:buFont typeface="Calibri"/>
                        <a:buNone/>
                      </a:pPr>
                      <a:r>
                        <a:rPr lang="en-US" sz="2300" u="none" cap="none" strike="noStrike">
                          <a:solidFill>
                            <a:srgbClr val="13123D"/>
                          </a:solidFill>
                          <a:latin typeface="Calibri"/>
                          <a:ea typeface="Calibri"/>
                          <a:cs typeface="Calibri"/>
                          <a:sym typeface="Calibri"/>
                        </a:rPr>
                        <a:t>Bilangan desimal presisi ganda (default untuk desimal)</a:t>
                      </a:r>
                      <a:endParaRPr sz="23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777250">
                <a:tc>
                  <a:txBody>
                    <a:bodyPr/>
                    <a:lstStyle/>
                    <a:p>
                      <a:pPr indent="0" lvl="0" marL="0" marR="0" rtl="0" algn="l">
                        <a:spcBef>
                          <a:spcPts val="0"/>
                        </a:spcBef>
                        <a:spcAft>
                          <a:spcPts val="0"/>
                        </a:spcAft>
                        <a:buClr>
                          <a:srgbClr val="13123D"/>
                        </a:buClr>
                        <a:buSzPts val="2300"/>
                        <a:buFont typeface="Calibri"/>
                        <a:buNone/>
                      </a:pPr>
                      <a:r>
                        <a:rPr b="1" lang="en-US" sz="2300" u="none" cap="none" strike="noStrike">
                          <a:solidFill>
                            <a:srgbClr val="13123D"/>
                          </a:solidFill>
                          <a:latin typeface="Calibri"/>
                          <a:ea typeface="Calibri"/>
                          <a:cs typeface="Calibri"/>
                          <a:sym typeface="Calibri"/>
                        </a:rPr>
                        <a:t>string</a:t>
                      </a:r>
                      <a:endParaRPr sz="23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"Halo"</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300"/>
                        <a:buFont typeface="Calibri"/>
                        <a:buNone/>
                      </a:pPr>
                      <a:r>
                        <a:rPr lang="en-US" sz="2300" u="none" cap="none" strike="noStrike">
                          <a:solidFill>
                            <a:srgbClr val="13123D"/>
                          </a:solidFill>
                          <a:latin typeface="Calibri"/>
                          <a:ea typeface="Calibri"/>
                          <a:cs typeface="Calibri"/>
                          <a:sym typeface="Calibri"/>
                        </a:rPr>
                        <a:t>Teks UTF-8, tidak dapat diubah karakternya</a:t>
                      </a:r>
                      <a:endParaRPr sz="23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777250">
                <a:tc>
                  <a:txBody>
                    <a:bodyPr/>
                    <a:lstStyle/>
                    <a:p>
                      <a:pPr indent="0" lvl="0" marL="0" marR="0" rtl="0" algn="l">
                        <a:spcBef>
                          <a:spcPts val="0"/>
                        </a:spcBef>
                        <a:spcAft>
                          <a:spcPts val="0"/>
                        </a:spcAft>
                        <a:buClr>
                          <a:srgbClr val="13123D"/>
                        </a:buClr>
                        <a:buSzPts val="2300"/>
                        <a:buFont typeface="Calibri"/>
                        <a:buNone/>
                      </a:pPr>
                      <a:r>
                        <a:rPr b="1" lang="en-US" sz="2300" u="none" cap="none" strike="noStrike">
                          <a:solidFill>
                            <a:srgbClr val="13123D"/>
                          </a:solidFill>
                          <a:latin typeface="Calibri"/>
                          <a:ea typeface="Calibri"/>
                          <a:cs typeface="Calibri"/>
                          <a:sym typeface="Calibri"/>
                        </a:rPr>
                        <a:t>bool</a:t>
                      </a:r>
                      <a:endParaRPr sz="23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true, false</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false</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300"/>
                        <a:buFont typeface="Calibri"/>
                        <a:buNone/>
                      </a:pPr>
                      <a:r>
                        <a:rPr lang="en-US" sz="2300" u="none" cap="none" strike="noStrike">
                          <a:solidFill>
                            <a:srgbClr val="13123D"/>
                          </a:solidFill>
                          <a:latin typeface="Calibri"/>
                          <a:ea typeface="Calibri"/>
                          <a:cs typeface="Calibri"/>
                          <a:sym typeface="Calibri"/>
                        </a:rPr>
                        <a:t>Benar atau salah</a:t>
                      </a:r>
                      <a:endParaRPr sz="23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bl>
          </a:graphicData>
        </a:graphic>
      </p:graphicFrame>
      <p:sp>
        <p:nvSpPr>
          <p:cNvPr id="513" name="Google Shape;513;p21"/>
          <p:cNvSpPr/>
          <p:nvPr/>
        </p:nvSpPr>
        <p:spPr>
          <a:xfrm>
            <a:off x="914400" y="8503920"/>
            <a:ext cx="16459200" cy="1051560"/>
          </a:xfrm>
          <a:prstGeom prst="roundRect">
            <a:avLst>
              <a:gd fmla="val 13043"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1"/>
          <p:cNvSpPr txBox="1"/>
          <p:nvPr/>
        </p:nvSpPr>
        <p:spPr>
          <a:xfrm>
            <a:off x="1188720" y="8503920"/>
            <a:ext cx="159105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Statically typed: </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tipe ditetapkan saat kompilasi dan tidak dapat berganti. Array, slice, map, struct: Sesi 3.</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descr="/home/claude/assets/image4.png" id="520" name="Google Shape;520;p22"/>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521" name="Google Shape;521;p22"/>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522" name="Google Shape;522;p22"/>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BAGIAN 5 · 15 MENIT</a:t>
            </a:r>
            <a:endParaRPr b="0" i="0" sz="1800" u="none" cap="none" strike="noStrike">
              <a:solidFill>
                <a:schemeClr val="dk1"/>
              </a:solidFill>
              <a:latin typeface="Calibri"/>
              <a:ea typeface="Calibri"/>
              <a:cs typeface="Calibri"/>
              <a:sym typeface="Calibri"/>
            </a:endParaRPr>
          </a:p>
        </p:txBody>
      </p:sp>
      <p:sp>
        <p:nvSpPr>
          <p:cNvPr id="523" name="Google Shape;523;p22"/>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Konversi Tipe &amp; Pembagian</a:t>
            </a:r>
            <a:endParaRPr b="0" i="0" sz="4400" u="none" cap="none" strike="noStrike">
              <a:solidFill>
                <a:schemeClr val="dk1"/>
              </a:solidFill>
              <a:latin typeface="Calibri"/>
              <a:ea typeface="Calibri"/>
              <a:cs typeface="Calibri"/>
              <a:sym typeface="Calibri"/>
            </a:endParaRPr>
          </a:p>
        </p:txBody>
      </p:sp>
      <p:sp>
        <p:nvSpPr>
          <p:cNvPr id="524" name="Google Shape;524;p22"/>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Tidak ada konversi otomatis</a:t>
            </a:r>
            <a:endParaRPr b="0" i="0" sz="2600" u="none" cap="none" strike="noStrike">
              <a:solidFill>
                <a:schemeClr val="dk1"/>
              </a:solidFill>
              <a:latin typeface="Calibri"/>
              <a:ea typeface="Calibri"/>
              <a:cs typeface="Calibri"/>
              <a:sym typeface="Calibri"/>
            </a:endParaRPr>
          </a:p>
          <a:p>
            <a:pPr indent="-342900" lvl="0" marL="342900" marR="0" rtl="0" algn="l">
              <a:spcBef>
                <a:spcPts val="140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int / int menghasilkan int</a:t>
            </a:r>
            <a:endParaRPr b="0" i="0" sz="2600" u="none" cap="none" strike="noStrike">
              <a:solidFill>
                <a:schemeClr val="dk1"/>
              </a:solidFill>
              <a:latin typeface="Calibri"/>
              <a:ea typeface="Calibri"/>
              <a:cs typeface="Calibri"/>
              <a:sym typeface="Calibri"/>
            </a:endParaRPr>
          </a:p>
        </p:txBody>
      </p:sp>
      <p:sp>
        <p:nvSpPr>
          <p:cNvPr id="525" name="Google Shape;525;p22"/>
          <p:cNvSpPr/>
          <p:nvPr/>
        </p:nvSpPr>
        <p:spPr>
          <a:xfrm>
            <a:off x="8229600" y="731520"/>
            <a:ext cx="9418320" cy="2903728"/>
          </a:xfrm>
          <a:prstGeom prst="roundRect">
            <a:avLst>
              <a:gd fmla="val 4724"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2"/>
          <p:cNvSpPr txBox="1"/>
          <p:nvPr/>
        </p:nvSpPr>
        <p:spPr>
          <a:xfrm>
            <a:off x="8503920" y="987552"/>
            <a:ext cx="8869680" cy="24465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a, b := </a:t>
            </a:r>
            <a:r>
              <a:rPr b="0" i="0" lang="en-US" sz="1900" u="none" cap="none" strike="noStrike">
                <a:solidFill>
                  <a:srgbClr val="FFC58A"/>
                </a:solidFill>
                <a:latin typeface="Courier New"/>
                <a:ea typeface="Courier New"/>
                <a:cs typeface="Courier New"/>
                <a:sym typeface="Courier New"/>
              </a:rPr>
              <a:t>7</a:t>
            </a:r>
            <a:r>
              <a:rPr b="0" i="0" lang="en-US" sz="1900" u="none" cap="none" strike="noStrike">
                <a:solidFill>
                  <a:srgbClr val="E8ECFF"/>
                </a:solidFill>
                <a:latin typeface="Courier New"/>
                <a:ea typeface="Courier New"/>
                <a:cs typeface="Courier New"/>
                <a:sym typeface="Courier New"/>
              </a:rPr>
              <a:t>, </a:t>
            </a:r>
            <a:r>
              <a:rPr b="0" i="0" lang="en-US" sz="1900" u="none" cap="none" strike="noStrike">
                <a:solidFill>
                  <a:srgbClr val="FFC58A"/>
                </a:solidFill>
                <a:latin typeface="Courier New"/>
                <a:ea typeface="Courier New"/>
                <a:cs typeface="Courier New"/>
                <a:sym typeface="Courier New"/>
              </a:rPr>
              <a:t>2</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fmt.Println(a / b)                   </a:t>
            </a:r>
            <a:r>
              <a:rPr b="0" i="0" lang="en-US" sz="1900" u="none" cap="none" strike="noStrike">
                <a:solidFill>
                  <a:srgbClr val="8C93C9"/>
                </a:solidFill>
                <a:latin typeface="Courier New"/>
                <a:ea typeface="Courier New"/>
                <a:cs typeface="Courier New"/>
                <a:sym typeface="Courier New"/>
              </a:rPr>
              <a:t>// 3</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fmt.Println(</a:t>
            </a:r>
            <a:r>
              <a:rPr b="0" i="0" lang="en-US" sz="1900" u="none" cap="none" strike="noStrike">
                <a:solidFill>
                  <a:srgbClr val="A5C8FF"/>
                </a:solidFill>
                <a:latin typeface="Courier New"/>
                <a:ea typeface="Courier New"/>
                <a:cs typeface="Courier New"/>
                <a:sym typeface="Courier New"/>
              </a:rPr>
              <a:t>float64</a:t>
            </a:r>
            <a:r>
              <a:rPr b="0" i="0" lang="en-US" sz="1900" u="none" cap="none" strike="noStrike">
                <a:solidFill>
                  <a:srgbClr val="E8ECFF"/>
                </a:solidFill>
                <a:latin typeface="Courier New"/>
                <a:ea typeface="Courier New"/>
                <a:cs typeface="Courier New"/>
                <a:sym typeface="Courier New"/>
              </a:rPr>
              <a:t>(a) / </a:t>
            </a:r>
            <a:r>
              <a:rPr b="0" i="0" lang="en-US" sz="1900" u="none" cap="none" strike="noStrike">
                <a:solidFill>
                  <a:srgbClr val="A5C8FF"/>
                </a:solidFill>
                <a:latin typeface="Courier New"/>
                <a:ea typeface="Courier New"/>
                <a:cs typeface="Courier New"/>
                <a:sym typeface="Courier New"/>
              </a:rPr>
              <a:t>float64</a:t>
            </a:r>
            <a:r>
              <a:rPr b="0" i="0" lang="en-US" sz="1900" u="none" cap="none" strike="noStrike">
                <a:solidFill>
                  <a:srgbClr val="E8ECFF"/>
                </a:solidFill>
                <a:latin typeface="Courier New"/>
                <a:ea typeface="Courier New"/>
                <a:cs typeface="Courier New"/>
                <a:sym typeface="Courier New"/>
              </a:rPr>
              <a:t>(b)) </a:t>
            </a:r>
            <a:r>
              <a:rPr b="0" i="0" lang="en-US" sz="1900" u="none" cap="none" strike="noStrike">
                <a:solidFill>
                  <a:srgbClr val="8C93C9"/>
                </a:solidFill>
                <a:latin typeface="Courier New"/>
                <a:ea typeface="Courier New"/>
                <a:cs typeface="Courier New"/>
                <a:sym typeface="Courier New"/>
              </a:rPr>
              <a:t>// 3.5</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900"/>
              <a:buFont typeface="Courier New"/>
              <a:buNone/>
            </a:pPr>
            <a:r>
              <a:rPr b="0" i="0" lang="en-US" sz="1900" u="none" cap="none" strike="noStrike">
                <a:solidFill>
                  <a:srgbClr val="000000"/>
                </a:solidFill>
                <a:latin typeface="Courier New"/>
                <a:ea typeface="Courier New"/>
                <a:cs typeface="Courier New"/>
                <a:sym typeface="Courier New"/>
              </a:rPr>
              <a:t> </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1900"/>
              <a:buFont typeface="Courier New"/>
              <a:buNone/>
            </a:pPr>
            <a:r>
              <a:rPr b="0" i="0" lang="en-US" sz="1900" u="none" cap="none" strike="noStrike">
                <a:solidFill>
                  <a:srgbClr val="FCDF59"/>
                </a:solidFill>
                <a:latin typeface="Courier New"/>
                <a:ea typeface="Courier New"/>
                <a:cs typeface="Courier New"/>
                <a:sym typeface="Courier New"/>
              </a:rPr>
              <a:t>var</a:t>
            </a:r>
            <a:r>
              <a:rPr b="0" i="0" lang="en-US" sz="1900" u="none" cap="none" strike="noStrike">
                <a:solidFill>
                  <a:srgbClr val="E8ECFF"/>
                </a:solidFill>
                <a:latin typeface="Courier New"/>
                <a:ea typeface="Courier New"/>
                <a:cs typeface="Courier New"/>
                <a:sym typeface="Courier New"/>
              </a:rPr>
              <a:t> x </a:t>
            </a:r>
            <a:r>
              <a:rPr b="0" i="0" lang="en-US" sz="1900" u="none" cap="none" strike="noStrike">
                <a:solidFill>
                  <a:srgbClr val="A5C8FF"/>
                </a:solidFill>
                <a:latin typeface="Courier New"/>
                <a:ea typeface="Courier New"/>
                <a:cs typeface="Courier New"/>
                <a:sym typeface="Courier New"/>
              </a:rPr>
              <a:t>int</a:t>
            </a:r>
            <a:r>
              <a:rPr b="0" i="0" lang="en-US" sz="1900" u="none" cap="none" strike="noStrike">
                <a:solidFill>
                  <a:srgbClr val="E8ECFF"/>
                </a:solidFill>
                <a:latin typeface="Courier New"/>
                <a:ea typeface="Courier New"/>
                <a:cs typeface="Courier New"/>
                <a:sym typeface="Courier New"/>
              </a:rPr>
              <a:t> = </a:t>
            </a:r>
            <a:r>
              <a:rPr b="0" i="0" lang="en-US" sz="1900" u="none" cap="none" strike="noStrike">
                <a:solidFill>
                  <a:srgbClr val="FFC58A"/>
                </a:solidFill>
                <a:latin typeface="Courier New"/>
                <a:ea typeface="Courier New"/>
                <a:cs typeface="Courier New"/>
                <a:sym typeface="Courier New"/>
              </a:rPr>
              <a:t>5</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1900"/>
              <a:buFont typeface="Courier New"/>
              <a:buNone/>
            </a:pPr>
            <a:r>
              <a:rPr b="0" i="0" lang="en-US" sz="1900" u="none" cap="none" strike="noStrike">
                <a:solidFill>
                  <a:srgbClr val="FCDF59"/>
                </a:solidFill>
                <a:latin typeface="Courier New"/>
                <a:ea typeface="Courier New"/>
                <a:cs typeface="Courier New"/>
                <a:sym typeface="Courier New"/>
              </a:rPr>
              <a:t>var</a:t>
            </a:r>
            <a:r>
              <a:rPr b="0" i="0" lang="en-US" sz="1900" u="none" cap="none" strike="noStrike">
                <a:solidFill>
                  <a:srgbClr val="E8ECFF"/>
                </a:solidFill>
                <a:latin typeface="Courier New"/>
                <a:ea typeface="Courier New"/>
                <a:cs typeface="Courier New"/>
                <a:sym typeface="Courier New"/>
              </a:rPr>
              <a:t> y </a:t>
            </a:r>
            <a:r>
              <a:rPr b="0" i="0" lang="en-US" sz="1900" u="none" cap="none" strike="noStrike">
                <a:solidFill>
                  <a:srgbClr val="A5C8FF"/>
                </a:solidFill>
                <a:latin typeface="Courier New"/>
                <a:ea typeface="Courier New"/>
                <a:cs typeface="Courier New"/>
                <a:sym typeface="Courier New"/>
              </a:rPr>
              <a:t>float64</a:t>
            </a:r>
            <a:r>
              <a:rPr b="0" i="0" lang="en-US" sz="1900" u="none" cap="none" strike="noStrike">
                <a:solidFill>
                  <a:srgbClr val="E8ECFF"/>
                </a:solidFill>
                <a:latin typeface="Courier New"/>
                <a:ea typeface="Courier New"/>
                <a:cs typeface="Courier New"/>
                <a:sym typeface="Courier New"/>
              </a:rPr>
              <a:t> = </a:t>
            </a:r>
            <a:r>
              <a:rPr b="0" i="0" lang="en-US" sz="1900" u="none" cap="none" strike="noStrike">
                <a:solidFill>
                  <a:srgbClr val="FFC58A"/>
                </a:solidFill>
                <a:latin typeface="Courier New"/>
                <a:ea typeface="Courier New"/>
                <a:cs typeface="Courier New"/>
                <a:sym typeface="Courier New"/>
              </a:rPr>
              <a:t>2.5</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C93C9"/>
              </a:buClr>
              <a:buSzPts val="1900"/>
              <a:buFont typeface="Courier New"/>
              <a:buNone/>
            </a:pPr>
            <a:r>
              <a:rPr b="0" i="0" lang="en-US" sz="1900" u="none" cap="none" strike="noStrike">
                <a:solidFill>
                  <a:srgbClr val="8C93C9"/>
                </a:solidFill>
                <a:latin typeface="Courier New"/>
                <a:ea typeface="Courier New"/>
                <a:cs typeface="Courier New"/>
                <a:sym typeface="Courier New"/>
              </a:rPr>
              <a:t>// fmt.Println(x * y)  // error</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900"/>
              <a:buFont typeface="Courier New"/>
              <a:buNone/>
            </a:pPr>
            <a:r>
              <a:rPr b="0" i="0" lang="en-US" sz="1900" u="none" cap="none" strike="noStrike">
                <a:solidFill>
                  <a:srgbClr val="E8ECFF"/>
                </a:solidFill>
                <a:latin typeface="Courier New"/>
                <a:ea typeface="Courier New"/>
                <a:cs typeface="Courier New"/>
                <a:sym typeface="Courier New"/>
              </a:rPr>
              <a:t>fmt.Println(</a:t>
            </a:r>
            <a:r>
              <a:rPr b="0" i="0" lang="en-US" sz="1900" u="none" cap="none" strike="noStrike">
                <a:solidFill>
                  <a:srgbClr val="A5C8FF"/>
                </a:solidFill>
                <a:latin typeface="Courier New"/>
                <a:ea typeface="Courier New"/>
                <a:cs typeface="Courier New"/>
                <a:sym typeface="Courier New"/>
              </a:rPr>
              <a:t>float64</a:t>
            </a:r>
            <a:r>
              <a:rPr b="0" i="0" lang="en-US" sz="1900" u="none" cap="none" strike="noStrike">
                <a:solidFill>
                  <a:srgbClr val="E8ECFF"/>
                </a:solidFill>
                <a:latin typeface="Courier New"/>
                <a:ea typeface="Courier New"/>
                <a:cs typeface="Courier New"/>
                <a:sym typeface="Courier New"/>
              </a:rPr>
              <a:t>(x) * y) </a:t>
            </a:r>
            <a:r>
              <a:rPr b="0" i="0" lang="en-US" sz="1900" u="none" cap="none" strike="noStrike">
                <a:solidFill>
                  <a:srgbClr val="8C93C9"/>
                </a:solidFill>
                <a:latin typeface="Courier New"/>
                <a:ea typeface="Courier New"/>
                <a:cs typeface="Courier New"/>
                <a:sym typeface="Courier New"/>
              </a:rPr>
              <a:t>// 12.5</a:t>
            </a:r>
            <a:endParaRPr b="0" i="0" sz="1900" u="none" cap="none" strike="noStrike">
              <a:solidFill>
                <a:schemeClr val="dk1"/>
              </a:solidFill>
              <a:latin typeface="Calibri"/>
              <a:ea typeface="Calibri"/>
              <a:cs typeface="Calibri"/>
              <a:sym typeface="Calibri"/>
            </a:endParaRPr>
          </a:p>
        </p:txBody>
      </p:sp>
      <p:sp>
        <p:nvSpPr>
          <p:cNvPr id="527" name="Google Shape;527;p22"/>
          <p:cNvSpPr/>
          <p:nvPr/>
        </p:nvSpPr>
        <p:spPr>
          <a:xfrm>
            <a:off x="8229600" y="4023360"/>
            <a:ext cx="9418320" cy="1463040"/>
          </a:xfrm>
          <a:prstGeom prst="roundRect">
            <a:avLst>
              <a:gd fmla="val 937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2"/>
          <p:cNvSpPr txBox="1"/>
          <p:nvPr/>
        </p:nvSpPr>
        <p:spPr>
          <a:xfrm>
            <a:off x="8503920" y="4023360"/>
            <a:ext cx="886968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400"/>
              <a:buFont typeface="Calibri"/>
              <a:buNone/>
            </a:pPr>
            <a:r>
              <a:rPr b="1" i="0" lang="en-US" sz="2400" u="none" cap="none" strike="noStrike">
                <a:solidFill>
                  <a:srgbClr val="162CA2"/>
                </a:solidFill>
                <a:latin typeface="Calibri"/>
                <a:ea typeface="Calibri"/>
                <a:cs typeface="Calibri"/>
                <a:sym typeface="Calibri"/>
              </a:rPr>
              <a:t>Tidak ada konversi otomatis</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Konversi manual: float64(x).</a:t>
            </a:r>
            <a:endParaRPr b="0" i="0" sz="2400" u="none" cap="none" strike="noStrike">
              <a:solidFill>
                <a:schemeClr val="dk1"/>
              </a:solidFill>
              <a:latin typeface="Calibri"/>
              <a:ea typeface="Calibri"/>
              <a:cs typeface="Calibri"/>
              <a:sym typeface="Calibri"/>
            </a:endParaRPr>
          </a:p>
        </p:txBody>
      </p:sp>
      <p:sp>
        <p:nvSpPr>
          <p:cNvPr id="529" name="Google Shape;529;p22"/>
          <p:cNvSpPr/>
          <p:nvPr/>
        </p:nvSpPr>
        <p:spPr>
          <a:xfrm>
            <a:off x="8229600" y="5669280"/>
            <a:ext cx="9418320" cy="1463040"/>
          </a:xfrm>
          <a:prstGeom prst="roundRect">
            <a:avLst>
              <a:gd fmla="val 9375"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2"/>
          <p:cNvSpPr txBox="1"/>
          <p:nvPr/>
        </p:nvSpPr>
        <p:spPr>
          <a:xfrm>
            <a:off x="8503920" y="5669280"/>
            <a:ext cx="886968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400"/>
              <a:buFont typeface="Calibri"/>
              <a:buNone/>
            </a:pPr>
            <a:r>
              <a:rPr b="1" i="0" lang="en-US" sz="2400" u="none" cap="none" strike="noStrike">
                <a:solidFill>
                  <a:srgbClr val="162CA2"/>
                </a:solidFill>
                <a:latin typeface="Calibri"/>
                <a:ea typeface="Calibri"/>
                <a:cs typeface="Calibri"/>
                <a:sym typeface="Calibri"/>
              </a:rPr>
              <a:t>int / int = int</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7 / 2 menghasilkan 3.</a:t>
            </a:r>
            <a:endParaRPr b="0" i="0" sz="2400" u="none" cap="none" strike="noStrike">
              <a:solidFill>
                <a:schemeClr val="dk1"/>
              </a:solidFill>
              <a:latin typeface="Calibri"/>
              <a:ea typeface="Calibri"/>
              <a:cs typeface="Calibri"/>
              <a:sym typeface="Calibri"/>
            </a:endParaRPr>
          </a:p>
        </p:txBody>
      </p:sp>
      <p:sp>
        <p:nvSpPr>
          <p:cNvPr id="531" name="Google Shape;531;p22"/>
          <p:cNvSpPr/>
          <p:nvPr/>
        </p:nvSpPr>
        <p:spPr>
          <a:xfrm>
            <a:off x="8229600" y="7315200"/>
            <a:ext cx="9418320" cy="2194560"/>
          </a:xfrm>
          <a:prstGeom prst="roundRect">
            <a:avLst>
              <a:gd fmla="val 6250"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2"/>
          <p:cNvSpPr txBox="1"/>
          <p:nvPr/>
        </p:nvSpPr>
        <p:spPr>
          <a:xfrm>
            <a:off x="8503920" y="7315200"/>
            <a:ext cx="886968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Jebakan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9 / 5 bernilai 1, bukan 1.8. Tulis celsius*9/5 atau 9.0/5 agar hasilnya desimal.</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pic>
        <p:nvPicPr>
          <p:cNvPr descr="/home/claude/assets/image6.png" id="538" name="Google Shape;538;p23"/>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539" name="Google Shape;539;p23"/>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540" name="Google Shape;540;p23"/>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6 · 10 MENIT</a:t>
            </a:r>
            <a:endParaRPr b="0" i="0" sz="2000" u="none" cap="none" strike="noStrike">
              <a:solidFill>
                <a:schemeClr val="dk1"/>
              </a:solidFill>
              <a:latin typeface="Calibri"/>
              <a:ea typeface="Calibri"/>
              <a:cs typeface="Calibri"/>
              <a:sym typeface="Calibri"/>
            </a:endParaRPr>
          </a:p>
        </p:txBody>
      </p:sp>
      <p:sp>
        <p:nvSpPr>
          <p:cNvPr id="541" name="Google Shape;541;p23"/>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Operator di Go</a:t>
            </a:r>
            <a:endParaRPr b="0" i="0" sz="4800" u="none" cap="none" strike="noStrike">
              <a:solidFill>
                <a:schemeClr val="dk1"/>
              </a:solidFill>
              <a:latin typeface="Calibri"/>
              <a:ea typeface="Calibri"/>
              <a:cs typeface="Calibri"/>
              <a:sym typeface="Calibri"/>
            </a:endParaRPr>
          </a:p>
        </p:txBody>
      </p:sp>
      <p:sp>
        <p:nvSpPr>
          <p:cNvPr id="542" name="Google Shape;542;p23"/>
          <p:cNvSpPr/>
          <p:nvPr/>
        </p:nvSpPr>
        <p:spPr>
          <a:xfrm>
            <a:off x="914400" y="4343400"/>
            <a:ext cx="7955280" cy="2194560"/>
          </a:xfrm>
          <a:prstGeom prst="roundRect">
            <a:avLst>
              <a:gd fmla="val 625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3"/>
          <p:cNvSpPr txBox="1"/>
          <p:nvPr/>
        </p:nvSpPr>
        <p:spPr>
          <a:xfrm>
            <a:off x="1188720" y="4480560"/>
            <a:ext cx="73152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700"/>
              <a:buFont typeface="Calibri"/>
              <a:buNone/>
            </a:pPr>
            <a:r>
              <a:rPr b="1" i="0" lang="en-US" sz="2700" u="none" cap="none" strike="noStrike">
                <a:solidFill>
                  <a:srgbClr val="162CA2"/>
                </a:solidFill>
                <a:latin typeface="Calibri"/>
                <a:ea typeface="Calibri"/>
                <a:cs typeface="Calibri"/>
                <a:sym typeface="Calibri"/>
              </a:rPr>
              <a:t>Aritmatika</a:t>
            </a:r>
            <a:endParaRPr b="0" i="0" sz="2700" u="none" cap="none" strike="noStrike">
              <a:solidFill>
                <a:schemeClr val="dk1"/>
              </a:solidFill>
              <a:latin typeface="Calibri"/>
              <a:ea typeface="Calibri"/>
              <a:cs typeface="Calibri"/>
              <a:sym typeface="Calibri"/>
            </a:endParaRPr>
          </a:p>
        </p:txBody>
      </p:sp>
      <p:sp>
        <p:nvSpPr>
          <p:cNvPr id="544" name="Google Shape;544;p23"/>
          <p:cNvSpPr/>
          <p:nvPr/>
        </p:nvSpPr>
        <p:spPr>
          <a:xfrm>
            <a:off x="1188720" y="5074920"/>
            <a:ext cx="7406640" cy="594360"/>
          </a:xfrm>
          <a:prstGeom prst="roundRect">
            <a:avLst>
              <a:gd fmla="val 18462"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   -   *   /   %</a:t>
            </a:r>
            <a:endParaRPr b="0" i="0" sz="2200" u="none" cap="none" strike="noStrike">
              <a:solidFill>
                <a:schemeClr val="dk1"/>
              </a:solidFill>
              <a:latin typeface="Calibri"/>
              <a:ea typeface="Calibri"/>
              <a:cs typeface="Calibri"/>
              <a:sym typeface="Calibri"/>
            </a:endParaRPr>
          </a:p>
        </p:txBody>
      </p:sp>
      <p:sp>
        <p:nvSpPr>
          <p:cNvPr id="545" name="Google Shape;545;p23"/>
          <p:cNvSpPr txBox="1"/>
          <p:nvPr/>
        </p:nvSpPr>
        <p:spPr>
          <a:xfrm>
            <a:off x="1188720" y="5806440"/>
            <a:ext cx="7406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1900"/>
              <a:buFont typeface="Courier New"/>
              <a:buNone/>
            </a:pPr>
            <a:r>
              <a:rPr b="0" i="0" lang="en-US" sz="1900" u="none" cap="none" strike="noStrike">
                <a:solidFill>
                  <a:srgbClr val="13123D"/>
                </a:solidFill>
                <a:latin typeface="Courier New"/>
                <a:ea typeface="Courier New"/>
                <a:cs typeface="Courier New"/>
                <a:sym typeface="Courier New"/>
              </a:rPr>
              <a:t>7 / 2 = 3    7 % 2 = 1    x++</a:t>
            </a:r>
            <a:endParaRPr b="0" i="0" sz="1900" u="none" cap="none" strike="noStrike">
              <a:solidFill>
                <a:schemeClr val="dk1"/>
              </a:solidFill>
              <a:latin typeface="Calibri"/>
              <a:ea typeface="Calibri"/>
              <a:cs typeface="Calibri"/>
              <a:sym typeface="Calibri"/>
            </a:endParaRPr>
          </a:p>
        </p:txBody>
      </p:sp>
      <p:sp>
        <p:nvSpPr>
          <p:cNvPr id="546" name="Google Shape;546;p23"/>
          <p:cNvSpPr/>
          <p:nvPr/>
        </p:nvSpPr>
        <p:spPr>
          <a:xfrm>
            <a:off x="9418320" y="4343400"/>
            <a:ext cx="7955280" cy="2194560"/>
          </a:xfrm>
          <a:prstGeom prst="roundRect">
            <a:avLst>
              <a:gd fmla="val 625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3"/>
          <p:cNvSpPr txBox="1"/>
          <p:nvPr/>
        </p:nvSpPr>
        <p:spPr>
          <a:xfrm>
            <a:off x="9692640" y="4480560"/>
            <a:ext cx="73152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700"/>
              <a:buFont typeface="Calibri"/>
              <a:buNone/>
            </a:pPr>
            <a:r>
              <a:rPr b="1" i="0" lang="en-US" sz="2700" u="none" cap="none" strike="noStrike">
                <a:solidFill>
                  <a:srgbClr val="162CA2"/>
                </a:solidFill>
                <a:latin typeface="Calibri"/>
                <a:ea typeface="Calibri"/>
                <a:cs typeface="Calibri"/>
                <a:sym typeface="Calibri"/>
              </a:rPr>
              <a:t>Relasional</a:t>
            </a:r>
            <a:endParaRPr b="0" i="0" sz="2700" u="none" cap="none" strike="noStrike">
              <a:solidFill>
                <a:schemeClr val="dk1"/>
              </a:solidFill>
              <a:latin typeface="Calibri"/>
              <a:ea typeface="Calibri"/>
              <a:cs typeface="Calibri"/>
              <a:sym typeface="Calibri"/>
            </a:endParaRPr>
          </a:p>
        </p:txBody>
      </p:sp>
      <p:sp>
        <p:nvSpPr>
          <p:cNvPr id="548" name="Google Shape;548;p23"/>
          <p:cNvSpPr/>
          <p:nvPr/>
        </p:nvSpPr>
        <p:spPr>
          <a:xfrm>
            <a:off x="9692640" y="5074920"/>
            <a:ext cx="7406640" cy="594360"/>
          </a:xfrm>
          <a:prstGeom prst="roundRect">
            <a:avLst>
              <a:gd fmla="val 18462"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  !=  &lt;  &gt;  &lt;=  &gt;=</a:t>
            </a:r>
            <a:endParaRPr b="0" i="0" sz="2200" u="none" cap="none" strike="noStrike">
              <a:solidFill>
                <a:schemeClr val="dk1"/>
              </a:solidFill>
              <a:latin typeface="Calibri"/>
              <a:ea typeface="Calibri"/>
              <a:cs typeface="Calibri"/>
              <a:sym typeface="Calibri"/>
            </a:endParaRPr>
          </a:p>
        </p:txBody>
      </p:sp>
      <p:sp>
        <p:nvSpPr>
          <p:cNvPr id="549" name="Google Shape;549;p23"/>
          <p:cNvSpPr txBox="1"/>
          <p:nvPr/>
        </p:nvSpPr>
        <p:spPr>
          <a:xfrm>
            <a:off x="9692640" y="5806440"/>
            <a:ext cx="7406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1900"/>
              <a:buFont typeface="Courier New"/>
              <a:buNone/>
            </a:pPr>
            <a:r>
              <a:rPr b="0" i="0" lang="en-US" sz="1900" u="none" cap="none" strike="noStrike">
                <a:solidFill>
                  <a:srgbClr val="13123D"/>
                </a:solidFill>
                <a:latin typeface="Courier New"/>
                <a:ea typeface="Courier New"/>
                <a:cs typeface="Courier New"/>
                <a:sym typeface="Courier New"/>
              </a:rPr>
              <a:t>5 &gt; 3 = true    4 != 4 = false</a:t>
            </a:r>
            <a:endParaRPr b="0" i="0" sz="1900" u="none" cap="none" strike="noStrike">
              <a:solidFill>
                <a:schemeClr val="dk1"/>
              </a:solidFill>
              <a:latin typeface="Calibri"/>
              <a:ea typeface="Calibri"/>
              <a:cs typeface="Calibri"/>
              <a:sym typeface="Calibri"/>
            </a:endParaRPr>
          </a:p>
        </p:txBody>
      </p:sp>
      <p:sp>
        <p:nvSpPr>
          <p:cNvPr id="550" name="Google Shape;550;p23"/>
          <p:cNvSpPr/>
          <p:nvPr/>
        </p:nvSpPr>
        <p:spPr>
          <a:xfrm>
            <a:off x="914400" y="6675120"/>
            <a:ext cx="7955280" cy="2194560"/>
          </a:xfrm>
          <a:prstGeom prst="roundRect">
            <a:avLst>
              <a:gd fmla="val 625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3"/>
          <p:cNvSpPr txBox="1"/>
          <p:nvPr/>
        </p:nvSpPr>
        <p:spPr>
          <a:xfrm>
            <a:off x="1188720" y="6812280"/>
            <a:ext cx="73152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700"/>
              <a:buFont typeface="Calibri"/>
              <a:buNone/>
            </a:pPr>
            <a:r>
              <a:rPr b="1" i="0" lang="en-US" sz="2700" u="none" cap="none" strike="noStrike">
                <a:solidFill>
                  <a:srgbClr val="162CA2"/>
                </a:solidFill>
                <a:latin typeface="Calibri"/>
                <a:ea typeface="Calibri"/>
                <a:cs typeface="Calibri"/>
                <a:sym typeface="Calibri"/>
              </a:rPr>
              <a:t>Logika</a:t>
            </a:r>
            <a:endParaRPr b="0" i="0" sz="2700" u="none" cap="none" strike="noStrike">
              <a:solidFill>
                <a:schemeClr val="dk1"/>
              </a:solidFill>
              <a:latin typeface="Calibri"/>
              <a:ea typeface="Calibri"/>
              <a:cs typeface="Calibri"/>
              <a:sym typeface="Calibri"/>
            </a:endParaRPr>
          </a:p>
        </p:txBody>
      </p:sp>
      <p:sp>
        <p:nvSpPr>
          <p:cNvPr id="552" name="Google Shape;552;p23"/>
          <p:cNvSpPr/>
          <p:nvPr/>
        </p:nvSpPr>
        <p:spPr>
          <a:xfrm>
            <a:off x="1188720" y="7406640"/>
            <a:ext cx="7406640" cy="594360"/>
          </a:xfrm>
          <a:prstGeom prst="roundRect">
            <a:avLst>
              <a:gd fmla="val 18462"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&amp;&amp;   ||   !</a:t>
            </a:r>
            <a:endParaRPr b="0" i="0" sz="2200" u="none" cap="none" strike="noStrike">
              <a:solidFill>
                <a:schemeClr val="dk1"/>
              </a:solidFill>
              <a:latin typeface="Calibri"/>
              <a:ea typeface="Calibri"/>
              <a:cs typeface="Calibri"/>
              <a:sym typeface="Calibri"/>
            </a:endParaRPr>
          </a:p>
        </p:txBody>
      </p:sp>
      <p:sp>
        <p:nvSpPr>
          <p:cNvPr id="553" name="Google Shape;553;p23"/>
          <p:cNvSpPr txBox="1"/>
          <p:nvPr/>
        </p:nvSpPr>
        <p:spPr>
          <a:xfrm>
            <a:off x="1188720" y="8138160"/>
            <a:ext cx="7406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1900"/>
              <a:buFont typeface="Courier New"/>
              <a:buNone/>
            </a:pPr>
            <a:r>
              <a:rPr b="0" i="0" lang="en-US" sz="1900" u="none" cap="none" strike="noStrike">
                <a:solidFill>
                  <a:srgbClr val="13123D"/>
                </a:solidFill>
                <a:latin typeface="Courier New"/>
                <a:ea typeface="Courier New"/>
                <a:cs typeface="Courier New"/>
                <a:sym typeface="Courier New"/>
              </a:rPr>
              <a:t>true &amp;&amp; false = false   !true = false</a:t>
            </a:r>
            <a:endParaRPr b="0" i="0" sz="1900" u="none" cap="none" strike="noStrike">
              <a:solidFill>
                <a:schemeClr val="dk1"/>
              </a:solidFill>
              <a:latin typeface="Calibri"/>
              <a:ea typeface="Calibri"/>
              <a:cs typeface="Calibri"/>
              <a:sym typeface="Calibri"/>
            </a:endParaRPr>
          </a:p>
        </p:txBody>
      </p:sp>
      <p:sp>
        <p:nvSpPr>
          <p:cNvPr id="554" name="Google Shape;554;p23"/>
          <p:cNvSpPr/>
          <p:nvPr/>
        </p:nvSpPr>
        <p:spPr>
          <a:xfrm>
            <a:off x="9418320" y="6675120"/>
            <a:ext cx="7955280" cy="2194560"/>
          </a:xfrm>
          <a:prstGeom prst="roundRect">
            <a:avLst>
              <a:gd fmla="val 6250"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3"/>
          <p:cNvSpPr txBox="1"/>
          <p:nvPr/>
        </p:nvSpPr>
        <p:spPr>
          <a:xfrm>
            <a:off x="9692640" y="6812280"/>
            <a:ext cx="73152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700"/>
              <a:buFont typeface="Calibri"/>
              <a:buNone/>
            </a:pPr>
            <a:r>
              <a:rPr b="1" i="0" lang="en-US" sz="2700" u="none" cap="none" strike="noStrike">
                <a:solidFill>
                  <a:srgbClr val="162CA2"/>
                </a:solidFill>
                <a:latin typeface="Calibri"/>
                <a:ea typeface="Calibri"/>
                <a:cs typeface="Calibri"/>
                <a:sym typeface="Calibri"/>
              </a:rPr>
              <a:t>Bitwise</a:t>
            </a:r>
            <a:endParaRPr b="0" i="0" sz="2700" u="none" cap="none" strike="noStrike">
              <a:solidFill>
                <a:schemeClr val="dk1"/>
              </a:solidFill>
              <a:latin typeface="Calibri"/>
              <a:ea typeface="Calibri"/>
              <a:cs typeface="Calibri"/>
              <a:sym typeface="Calibri"/>
            </a:endParaRPr>
          </a:p>
        </p:txBody>
      </p:sp>
      <p:sp>
        <p:nvSpPr>
          <p:cNvPr id="556" name="Google Shape;556;p23"/>
          <p:cNvSpPr/>
          <p:nvPr/>
        </p:nvSpPr>
        <p:spPr>
          <a:xfrm>
            <a:off x="9692640" y="7406640"/>
            <a:ext cx="7406640" cy="594360"/>
          </a:xfrm>
          <a:prstGeom prst="roundRect">
            <a:avLst>
              <a:gd fmla="val 18462" name="adj"/>
            </a:avLst>
          </a:prstGeom>
          <a:solidFill>
            <a:srgbClr val="D9E0F7"/>
          </a:solidFill>
          <a:ln cap="flat" cmpd="sng" w="9525">
            <a:solidFill>
              <a:srgbClr val="D9E0F7"/>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2200"/>
              <a:buFont typeface="Courier New"/>
              <a:buNone/>
            </a:pPr>
            <a:r>
              <a:rPr b="1" i="0" lang="en-US" sz="2200" u="none" cap="none" strike="noStrike">
                <a:solidFill>
                  <a:srgbClr val="13123D"/>
                </a:solidFill>
                <a:latin typeface="Courier New"/>
                <a:ea typeface="Courier New"/>
                <a:cs typeface="Courier New"/>
                <a:sym typeface="Courier New"/>
              </a:rPr>
              <a:t>&amp;   |   ^   &lt;&lt;   &gt;&gt;</a:t>
            </a:r>
            <a:endParaRPr b="0" i="0" sz="2200" u="none" cap="none" strike="noStrike">
              <a:solidFill>
                <a:schemeClr val="dk1"/>
              </a:solidFill>
              <a:latin typeface="Calibri"/>
              <a:ea typeface="Calibri"/>
              <a:cs typeface="Calibri"/>
              <a:sym typeface="Calibri"/>
            </a:endParaRPr>
          </a:p>
        </p:txBody>
      </p:sp>
      <p:sp>
        <p:nvSpPr>
          <p:cNvPr id="557" name="Google Shape;557;p23"/>
          <p:cNvSpPr txBox="1"/>
          <p:nvPr/>
        </p:nvSpPr>
        <p:spPr>
          <a:xfrm>
            <a:off x="9692640" y="8138160"/>
            <a:ext cx="7406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1900"/>
              <a:buFont typeface="Courier New"/>
              <a:buNone/>
            </a:pPr>
            <a:r>
              <a:rPr b="0" i="0" lang="en-US" sz="1900" u="none" cap="none" strike="noStrike">
                <a:solidFill>
                  <a:srgbClr val="13123D"/>
                </a:solidFill>
                <a:latin typeface="Courier New"/>
                <a:ea typeface="Courier New"/>
                <a:cs typeface="Courier New"/>
                <a:sym typeface="Courier New"/>
              </a:rPr>
              <a:t>6 &amp; 3 = 2   6 | 3 = 7   1 &lt;&lt; 3 = 8</a:t>
            </a:r>
            <a:endParaRPr b="0" i="0" sz="1900" u="none" cap="none" strike="noStrike">
              <a:solidFill>
                <a:schemeClr val="dk1"/>
              </a:solidFill>
              <a:latin typeface="Calibri"/>
              <a:ea typeface="Calibri"/>
              <a:cs typeface="Calibri"/>
              <a:sym typeface="Calibri"/>
            </a:endParaRPr>
          </a:p>
        </p:txBody>
      </p:sp>
      <p:sp>
        <p:nvSpPr>
          <p:cNvPr id="558" name="Google Shape;558;p23"/>
          <p:cNvSpPr/>
          <p:nvPr/>
        </p:nvSpPr>
        <p:spPr>
          <a:xfrm>
            <a:off x="914400" y="9052560"/>
            <a:ext cx="16459200" cy="868680"/>
          </a:xfrm>
          <a:prstGeom prst="roundRect">
            <a:avLst>
              <a:gd fmla="val 15789" name="adj"/>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3"/>
          <p:cNvSpPr txBox="1"/>
          <p:nvPr/>
        </p:nvSpPr>
        <p:spPr>
          <a:xfrm>
            <a:off x="1188720" y="9052560"/>
            <a:ext cx="1591056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CDF59"/>
              </a:buClr>
              <a:buSzPts val="2800"/>
              <a:buFont typeface="Calibri"/>
              <a:buNone/>
            </a:pPr>
            <a:r>
              <a:rPr b="1" i="0" lang="en-US" sz="2800" u="none" cap="none" strike="noStrike">
                <a:solidFill>
                  <a:srgbClr val="FCDF59"/>
                </a:solidFill>
                <a:latin typeface="Calibri"/>
                <a:ea typeface="Calibri"/>
                <a:cs typeface="Calibri"/>
                <a:sym typeface="Calibri"/>
              </a:rPr>
              <a:t>Beda dengan bahasa lain: </a:t>
            </a:r>
            <a:r>
              <a:rPr b="0" i="0" lang="en-US" sz="2800" u="none" cap="none" strike="noStrike">
                <a:solidFill>
                  <a:srgbClr val="FDFBFB"/>
                </a:solidFill>
                <a:latin typeface="Calibri"/>
                <a:ea typeface="Calibri"/>
                <a:cs typeface="Calibri"/>
                <a:sym typeface="Calibri"/>
              </a:rPr>
              <a:t>tidak ada operator ** dan ?: ; ++ dan -- hanya berupa pernyataan.</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pic>
        <p:nvPicPr>
          <p:cNvPr descr="/home/claude/assets/image6.png" id="565" name="Google Shape;565;p24"/>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566" name="Google Shape;566;p24"/>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567" name="Google Shape;567;p24"/>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BAGIAN 7 · LATIHAN 25 MENIT</a:t>
            </a:r>
            <a:endParaRPr b="0" i="0" sz="2000" u="none" cap="none" strike="noStrike">
              <a:solidFill>
                <a:schemeClr val="dk1"/>
              </a:solidFill>
              <a:latin typeface="Calibri"/>
              <a:ea typeface="Calibri"/>
              <a:cs typeface="Calibri"/>
              <a:sym typeface="Calibri"/>
            </a:endParaRPr>
          </a:p>
        </p:txBody>
      </p:sp>
      <p:sp>
        <p:nvSpPr>
          <p:cNvPr id="568" name="Google Shape;568;p24"/>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Latihan Hands-on</a:t>
            </a:r>
            <a:endParaRPr b="0" i="0" sz="4800" u="none" cap="none" strike="noStrike">
              <a:solidFill>
                <a:schemeClr val="dk1"/>
              </a:solidFill>
              <a:latin typeface="Calibri"/>
              <a:ea typeface="Calibri"/>
              <a:cs typeface="Calibri"/>
              <a:sym typeface="Calibri"/>
            </a:endParaRPr>
          </a:p>
        </p:txBody>
      </p:sp>
      <p:sp>
        <p:nvSpPr>
          <p:cNvPr id="569" name="Google Shape;569;p24"/>
          <p:cNvSpPr/>
          <p:nvPr/>
        </p:nvSpPr>
        <p:spPr>
          <a:xfrm>
            <a:off x="914400" y="4343400"/>
            <a:ext cx="5212080" cy="3566160"/>
          </a:xfrm>
          <a:prstGeom prst="roundRect">
            <a:avLst>
              <a:gd fmla="val 384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4"/>
          <p:cNvSpPr/>
          <p:nvPr/>
        </p:nvSpPr>
        <p:spPr>
          <a:xfrm>
            <a:off x="1188720" y="4617720"/>
            <a:ext cx="3931920" cy="548640"/>
          </a:xfrm>
          <a:prstGeom prst="roundRect">
            <a:avLst>
              <a:gd fmla="val 20000"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LATIHAN 1 · 8 MENIT</a:t>
            </a:r>
            <a:endParaRPr b="0" i="0" sz="1800" u="none" cap="none" strike="noStrike">
              <a:solidFill>
                <a:schemeClr val="dk1"/>
              </a:solidFill>
              <a:latin typeface="Calibri"/>
              <a:ea typeface="Calibri"/>
              <a:cs typeface="Calibri"/>
              <a:sym typeface="Calibri"/>
            </a:endParaRPr>
          </a:p>
        </p:txBody>
      </p:sp>
      <p:sp>
        <p:nvSpPr>
          <p:cNvPr id="571" name="Google Shape;571;p24"/>
          <p:cNvSpPr txBox="1"/>
          <p:nvPr/>
        </p:nvSpPr>
        <p:spPr>
          <a:xfrm>
            <a:off x="1188720" y="5440680"/>
            <a:ext cx="46634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3000"/>
              <a:buFont typeface="Calibri"/>
              <a:buNone/>
            </a:pPr>
            <a:r>
              <a:rPr b="1" i="0" lang="en-US" sz="3000" u="none" cap="none" strike="noStrike">
                <a:solidFill>
                  <a:srgbClr val="162CA2"/>
                </a:solidFill>
                <a:latin typeface="Calibri"/>
                <a:ea typeface="Calibri"/>
                <a:cs typeface="Calibri"/>
                <a:sym typeface="Calibri"/>
              </a:rPr>
              <a:t>Biodata</a:t>
            </a:r>
            <a:endParaRPr b="0" i="0" sz="3000" u="none" cap="none" strike="noStrike">
              <a:solidFill>
                <a:schemeClr val="dk1"/>
              </a:solidFill>
              <a:latin typeface="Calibri"/>
              <a:ea typeface="Calibri"/>
              <a:cs typeface="Calibri"/>
              <a:sym typeface="Calibri"/>
            </a:endParaRPr>
          </a:p>
        </p:txBody>
      </p:sp>
      <p:sp>
        <p:nvSpPr>
          <p:cNvPr id="572" name="Google Shape;572;p24"/>
          <p:cNvSpPr txBox="1"/>
          <p:nvPr/>
        </p:nvSpPr>
        <p:spPr>
          <a:xfrm>
            <a:off x="1188720" y="6309360"/>
            <a:ext cx="466344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400"/>
              <a:buFont typeface="Calibri"/>
              <a:buNone/>
            </a:pPr>
            <a:r>
              <a:rPr b="0" i="0" lang="en-US" sz="2400" u="none" cap="none" strike="noStrike">
                <a:solidFill>
                  <a:srgbClr val="5A5F86"/>
                </a:solidFill>
                <a:latin typeface="Calibri"/>
                <a:ea typeface="Calibri"/>
                <a:cs typeface="Calibri"/>
                <a:sym typeface="Calibri"/>
              </a:rPr>
              <a:t>Konsep: Variabel dan Printf</a:t>
            </a:r>
            <a:endParaRPr b="0" i="0" sz="2400" u="none" cap="none" strike="noStrike">
              <a:solidFill>
                <a:schemeClr val="dk1"/>
              </a:solidFill>
              <a:latin typeface="Calibri"/>
              <a:ea typeface="Calibri"/>
              <a:cs typeface="Calibri"/>
              <a:sym typeface="Calibri"/>
            </a:endParaRPr>
          </a:p>
        </p:txBody>
      </p:sp>
      <p:sp>
        <p:nvSpPr>
          <p:cNvPr id="573" name="Google Shape;573;p24"/>
          <p:cNvSpPr/>
          <p:nvPr/>
        </p:nvSpPr>
        <p:spPr>
          <a:xfrm>
            <a:off x="6537960" y="4343400"/>
            <a:ext cx="5212080" cy="3566160"/>
          </a:xfrm>
          <a:prstGeom prst="roundRect">
            <a:avLst>
              <a:gd fmla="val 384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4"/>
          <p:cNvSpPr/>
          <p:nvPr/>
        </p:nvSpPr>
        <p:spPr>
          <a:xfrm>
            <a:off x="6812280" y="4617720"/>
            <a:ext cx="3931920" cy="548640"/>
          </a:xfrm>
          <a:prstGeom prst="roundRect">
            <a:avLst>
              <a:gd fmla="val 20000" name="adj"/>
            </a:avLst>
          </a:prstGeom>
          <a:solidFill>
            <a:srgbClr val="0F2178"/>
          </a:solidFill>
          <a:ln cap="flat" cmpd="sng" w="9525">
            <a:solidFill>
              <a:srgbClr val="0F2178"/>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LATIHAN 2 · 9 MENIT</a:t>
            </a:r>
            <a:endParaRPr b="0" i="0" sz="1800" u="none" cap="none" strike="noStrike">
              <a:solidFill>
                <a:schemeClr val="dk1"/>
              </a:solidFill>
              <a:latin typeface="Calibri"/>
              <a:ea typeface="Calibri"/>
              <a:cs typeface="Calibri"/>
              <a:sym typeface="Calibri"/>
            </a:endParaRPr>
          </a:p>
        </p:txBody>
      </p:sp>
      <p:sp>
        <p:nvSpPr>
          <p:cNvPr id="575" name="Google Shape;575;p24"/>
          <p:cNvSpPr txBox="1"/>
          <p:nvPr/>
        </p:nvSpPr>
        <p:spPr>
          <a:xfrm>
            <a:off x="6812280" y="5440680"/>
            <a:ext cx="46634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3000"/>
              <a:buFont typeface="Calibri"/>
              <a:buNone/>
            </a:pPr>
            <a:r>
              <a:rPr b="1" i="0" lang="en-US" sz="3000" u="none" cap="none" strike="noStrike">
                <a:solidFill>
                  <a:srgbClr val="162CA2"/>
                </a:solidFill>
                <a:latin typeface="Calibri"/>
                <a:ea typeface="Calibri"/>
                <a:cs typeface="Calibri"/>
                <a:sym typeface="Calibri"/>
              </a:rPr>
              <a:t>Konversi Suhu</a:t>
            </a:r>
            <a:endParaRPr b="0" i="0" sz="3000" u="none" cap="none" strike="noStrike">
              <a:solidFill>
                <a:schemeClr val="dk1"/>
              </a:solidFill>
              <a:latin typeface="Calibri"/>
              <a:ea typeface="Calibri"/>
              <a:cs typeface="Calibri"/>
              <a:sym typeface="Calibri"/>
            </a:endParaRPr>
          </a:p>
        </p:txBody>
      </p:sp>
      <p:sp>
        <p:nvSpPr>
          <p:cNvPr id="576" name="Google Shape;576;p24"/>
          <p:cNvSpPr txBox="1"/>
          <p:nvPr/>
        </p:nvSpPr>
        <p:spPr>
          <a:xfrm>
            <a:off x="6812280" y="6309360"/>
            <a:ext cx="466344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400"/>
              <a:buFont typeface="Calibri"/>
              <a:buNone/>
            </a:pPr>
            <a:r>
              <a:rPr b="0" i="0" lang="en-US" sz="2400" u="none" cap="none" strike="noStrike">
                <a:solidFill>
                  <a:srgbClr val="5A5F86"/>
                </a:solidFill>
                <a:latin typeface="Calibri"/>
                <a:ea typeface="Calibri"/>
                <a:cs typeface="Calibri"/>
                <a:sym typeface="Calibri"/>
              </a:rPr>
              <a:t>Konsep: float64 dan operator</a:t>
            </a:r>
            <a:endParaRPr b="0" i="0" sz="2400" u="none" cap="none" strike="noStrike">
              <a:solidFill>
                <a:schemeClr val="dk1"/>
              </a:solidFill>
              <a:latin typeface="Calibri"/>
              <a:ea typeface="Calibri"/>
              <a:cs typeface="Calibri"/>
              <a:sym typeface="Calibri"/>
            </a:endParaRPr>
          </a:p>
        </p:txBody>
      </p:sp>
      <p:sp>
        <p:nvSpPr>
          <p:cNvPr id="577" name="Google Shape;577;p24"/>
          <p:cNvSpPr/>
          <p:nvPr/>
        </p:nvSpPr>
        <p:spPr>
          <a:xfrm>
            <a:off x="12161520" y="4343400"/>
            <a:ext cx="5212080" cy="3566160"/>
          </a:xfrm>
          <a:prstGeom prst="roundRect">
            <a:avLst>
              <a:gd fmla="val 384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4"/>
          <p:cNvSpPr/>
          <p:nvPr/>
        </p:nvSpPr>
        <p:spPr>
          <a:xfrm>
            <a:off x="12435840" y="4617720"/>
            <a:ext cx="3931920" cy="548640"/>
          </a:xfrm>
          <a:prstGeom prst="roundRect">
            <a:avLst>
              <a:gd fmla="val 20000" name="adj"/>
            </a:avLst>
          </a:prstGeom>
          <a:solidFill>
            <a:srgbClr val="13123D"/>
          </a:solidFill>
          <a:ln cap="flat" cmpd="sng" w="9525">
            <a:solidFill>
              <a:srgbClr val="13123D"/>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LATIHAN 3 · 8 MENIT</a:t>
            </a:r>
            <a:endParaRPr b="0" i="0" sz="1800" u="none" cap="none" strike="noStrike">
              <a:solidFill>
                <a:schemeClr val="dk1"/>
              </a:solidFill>
              <a:latin typeface="Calibri"/>
              <a:ea typeface="Calibri"/>
              <a:cs typeface="Calibri"/>
              <a:sym typeface="Calibri"/>
            </a:endParaRPr>
          </a:p>
        </p:txBody>
      </p:sp>
      <p:sp>
        <p:nvSpPr>
          <p:cNvPr id="579" name="Google Shape;579;p24"/>
          <p:cNvSpPr txBox="1"/>
          <p:nvPr/>
        </p:nvSpPr>
        <p:spPr>
          <a:xfrm>
            <a:off x="12435840" y="5440680"/>
            <a:ext cx="46634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3000"/>
              <a:buFont typeface="Calibri"/>
              <a:buNone/>
            </a:pPr>
            <a:r>
              <a:rPr b="1" i="0" lang="en-US" sz="3000" u="none" cap="none" strike="noStrike">
                <a:solidFill>
                  <a:srgbClr val="162CA2"/>
                </a:solidFill>
                <a:latin typeface="Calibri"/>
                <a:ea typeface="Calibri"/>
                <a:cs typeface="Calibri"/>
                <a:sym typeface="Calibri"/>
              </a:rPr>
              <a:t>Lingkaran</a:t>
            </a:r>
            <a:endParaRPr b="0" i="0" sz="3000" u="none" cap="none" strike="noStrike">
              <a:solidFill>
                <a:schemeClr val="dk1"/>
              </a:solidFill>
              <a:latin typeface="Calibri"/>
              <a:ea typeface="Calibri"/>
              <a:cs typeface="Calibri"/>
              <a:sym typeface="Calibri"/>
            </a:endParaRPr>
          </a:p>
        </p:txBody>
      </p:sp>
      <p:sp>
        <p:nvSpPr>
          <p:cNvPr id="580" name="Google Shape;580;p24"/>
          <p:cNvSpPr txBox="1"/>
          <p:nvPr/>
        </p:nvSpPr>
        <p:spPr>
          <a:xfrm>
            <a:off x="12435840" y="6309360"/>
            <a:ext cx="466344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400"/>
              <a:buFont typeface="Calibri"/>
              <a:buNone/>
            </a:pPr>
            <a:r>
              <a:rPr b="0" i="0" lang="en-US" sz="2400" u="none" cap="none" strike="noStrike">
                <a:solidFill>
                  <a:srgbClr val="5A5F86"/>
                </a:solidFill>
                <a:latin typeface="Calibri"/>
                <a:ea typeface="Calibri"/>
                <a:cs typeface="Calibri"/>
                <a:sym typeface="Calibri"/>
              </a:rPr>
              <a:t>Konsep: const dan operator</a:t>
            </a:r>
            <a:endParaRPr b="0" i="0" sz="2400" u="none" cap="none" strike="noStrike">
              <a:solidFill>
                <a:schemeClr val="dk1"/>
              </a:solidFill>
              <a:latin typeface="Calibri"/>
              <a:ea typeface="Calibri"/>
              <a:cs typeface="Calibri"/>
              <a:sym typeface="Calibri"/>
            </a:endParaRPr>
          </a:p>
        </p:txBody>
      </p:sp>
      <p:sp>
        <p:nvSpPr>
          <p:cNvPr id="581" name="Google Shape;581;p24"/>
          <p:cNvSpPr/>
          <p:nvPr/>
        </p:nvSpPr>
        <p:spPr>
          <a:xfrm>
            <a:off x="914400" y="8229600"/>
            <a:ext cx="16459200" cy="1280160"/>
          </a:xfrm>
          <a:prstGeom prst="roundRect">
            <a:avLst>
              <a:gd fmla="val 10714" name="adj"/>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4"/>
          <p:cNvSpPr txBox="1"/>
          <p:nvPr/>
        </p:nvSpPr>
        <p:spPr>
          <a:xfrm>
            <a:off x="1188720" y="8229600"/>
            <a:ext cx="1591056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CDF59"/>
              </a:buClr>
              <a:buSzPts val="2800"/>
              <a:buFont typeface="Calibri"/>
              <a:buNone/>
            </a:pPr>
            <a:r>
              <a:rPr b="1" i="0" lang="en-US" sz="2800" u="none" cap="none" strike="noStrike">
                <a:solidFill>
                  <a:srgbClr val="FCDF59"/>
                </a:solidFill>
                <a:latin typeface="Calibri"/>
                <a:ea typeface="Calibri"/>
                <a:cs typeface="Calibri"/>
                <a:sym typeface="Calibri"/>
              </a:rPr>
              <a:t>Alur kerja: </a:t>
            </a:r>
            <a:r>
              <a:rPr b="0" i="0" lang="en-US" sz="2800" u="none" cap="none" strike="noStrike">
                <a:solidFill>
                  <a:srgbClr val="FDFBFB"/>
                </a:solidFill>
                <a:latin typeface="Calibri"/>
                <a:ea typeface="Calibri"/>
                <a:cs typeface="Calibri"/>
                <a:sym typeface="Calibri"/>
              </a:rPr>
              <a:t>pseudocode  →  kode  →  uji dengan contoh</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pic>
        <p:nvPicPr>
          <p:cNvPr descr="/home/claude/assets/image4.png" id="588" name="Google Shape;588;p25"/>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589" name="Google Shape;589;p25"/>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590" name="Google Shape;590;p25"/>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LATIHAN 1 · 8 MENIT</a:t>
            </a:r>
            <a:endParaRPr b="0" i="0" sz="1800" u="none" cap="none" strike="noStrike">
              <a:solidFill>
                <a:schemeClr val="dk1"/>
              </a:solidFill>
              <a:latin typeface="Calibri"/>
              <a:ea typeface="Calibri"/>
              <a:cs typeface="Calibri"/>
              <a:sym typeface="Calibri"/>
            </a:endParaRPr>
          </a:p>
        </p:txBody>
      </p:sp>
      <p:sp>
        <p:nvSpPr>
          <p:cNvPr id="591" name="Google Shape;591;p25"/>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Biodata dengan Variabel</a:t>
            </a:r>
            <a:endParaRPr b="0" i="0" sz="4400" u="none" cap="none" strike="noStrike">
              <a:solidFill>
                <a:schemeClr val="dk1"/>
              </a:solidFill>
              <a:latin typeface="Calibri"/>
              <a:ea typeface="Calibri"/>
              <a:cs typeface="Calibri"/>
              <a:sym typeface="Calibri"/>
            </a:endParaRPr>
          </a:p>
        </p:txBody>
      </p:sp>
      <p:sp>
        <p:nvSpPr>
          <p:cNvPr id="592" name="Google Shape;592;p25"/>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Variabel dan Printf</a:t>
            </a:r>
            <a:endParaRPr b="0" i="0" sz="2600" u="none" cap="none" strike="noStrike">
              <a:solidFill>
                <a:schemeClr val="dk1"/>
              </a:solidFill>
              <a:latin typeface="Calibri"/>
              <a:ea typeface="Calibri"/>
              <a:cs typeface="Calibri"/>
              <a:sym typeface="Calibri"/>
            </a:endParaRPr>
          </a:p>
        </p:txBody>
      </p:sp>
      <p:sp>
        <p:nvSpPr>
          <p:cNvPr id="593" name="Google Shape;593;p25"/>
          <p:cNvSpPr/>
          <p:nvPr/>
        </p:nvSpPr>
        <p:spPr>
          <a:xfrm>
            <a:off x="8229600" y="731520"/>
            <a:ext cx="9418320" cy="2103120"/>
          </a:xfrm>
          <a:prstGeom prst="roundRect">
            <a:avLst>
              <a:gd fmla="val 65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5"/>
          <p:cNvSpPr/>
          <p:nvPr/>
        </p:nvSpPr>
        <p:spPr>
          <a:xfrm>
            <a:off x="8503920" y="914400"/>
            <a:ext cx="1280160" cy="457200"/>
          </a:xfrm>
          <a:prstGeom prst="roundRect">
            <a:avLst>
              <a:gd fmla="val 24000"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SOAL</a:t>
            </a:r>
            <a:endParaRPr b="0" i="0" sz="1800" u="none" cap="none" strike="noStrike">
              <a:solidFill>
                <a:schemeClr val="dk1"/>
              </a:solidFill>
              <a:latin typeface="Calibri"/>
              <a:ea typeface="Calibri"/>
              <a:cs typeface="Calibri"/>
              <a:sym typeface="Calibri"/>
            </a:endParaRPr>
          </a:p>
        </p:txBody>
      </p:sp>
      <p:sp>
        <p:nvSpPr>
          <p:cNvPr id="595" name="Google Shape;595;p25"/>
          <p:cNvSpPr txBox="1"/>
          <p:nvPr/>
        </p:nvSpPr>
        <p:spPr>
          <a:xfrm>
            <a:off x="8503920" y="1508760"/>
            <a:ext cx="886968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Buat program yang menyimpan nama, umur, dan kota dalam variabel, lalu mencetaknya dalam format rapi.</a:t>
            </a:r>
            <a:endParaRPr b="0" i="0" sz="2400" u="none" cap="none" strike="noStrike">
              <a:solidFill>
                <a:schemeClr val="dk1"/>
              </a:solidFill>
              <a:latin typeface="Calibri"/>
              <a:ea typeface="Calibri"/>
              <a:cs typeface="Calibri"/>
              <a:sym typeface="Calibri"/>
            </a:endParaRPr>
          </a:p>
        </p:txBody>
      </p:sp>
      <p:sp>
        <p:nvSpPr>
          <p:cNvPr id="596" name="Google Shape;596;p25"/>
          <p:cNvSpPr/>
          <p:nvPr/>
        </p:nvSpPr>
        <p:spPr>
          <a:xfrm>
            <a:off x="8229600" y="3017520"/>
            <a:ext cx="9418320" cy="1920240"/>
          </a:xfrm>
          <a:prstGeom prst="roundRect">
            <a:avLst>
              <a:gd fmla="val 7143"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7" name="Google Shape;597;p25"/>
          <p:cNvPicPr preferRelativeResize="0"/>
          <p:nvPr/>
        </p:nvPicPr>
        <p:blipFill rotWithShape="1">
          <a:blip r:embed="rId5">
            <a:alphaModFix/>
          </a:blip>
          <a:srcRect b="0" l="0" r="0" t="0"/>
          <a:stretch/>
        </p:blipFill>
        <p:spPr>
          <a:xfrm>
            <a:off x="8503920" y="3200400"/>
            <a:ext cx="457200" cy="457200"/>
          </a:xfrm>
          <a:prstGeom prst="rect">
            <a:avLst/>
          </a:prstGeom>
          <a:noFill/>
          <a:ln>
            <a:noFill/>
          </a:ln>
        </p:spPr>
      </p:pic>
      <p:sp>
        <p:nvSpPr>
          <p:cNvPr id="598" name="Google Shape;598;p25"/>
          <p:cNvSpPr txBox="1"/>
          <p:nvPr/>
        </p:nvSpPr>
        <p:spPr>
          <a:xfrm>
            <a:off x="9144000" y="320040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Petunjuk</a:t>
            </a:r>
            <a:endParaRPr b="0" i="0" sz="2400" u="none" cap="none" strike="noStrike">
              <a:solidFill>
                <a:schemeClr val="dk1"/>
              </a:solidFill>
              <a:latin typeface="Calibri"/>
              <a:ea typeface="Calibri"/>
              <a:cs typeface="Calibri"/>
              <a:sym typeface="Calibri"/>
            </a:endParaRPr>
          </a:p>
        </p:txBody>
      </p:sp>
      <p:sp>
        <p:nvSpPr>
          <p:cNvPr id="599" name="Google Shape;599;p25"/>
          <p:cNvSpPr txBox="1"/>
          <p:nvPr/>
        </p:nvSpPr>
        <p:spPr>
          <a:xfrm>
            <a:off x="8503920" y="3794760"/>
            <a:ext cx="886968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3123D"/>
              </a:buClr>
              <a:buSzPts val="2200"/>
              <a:buFont typeface="Calibri"/>
              <a:buChar char="•"/>
            </a:pPr>
            <a:r>
              <a:rPr b="0" i="0" lang="en-US" sz="2200" u="none" cap="none" strike="noStrike">
                <a:solidFill>
                  <a:srgbClr val="13123D"/>
                </a:solidFill>
                <a:latin typeface="Calibri"/>
                <a:ea typeface="Calibri"/>
                <a:cs typeface="Calibri"/>
                <a:sym typeface="Calibri"/>
              </a:rPr>
              <a:t>Pakai var untuk satu variabel dan := untuk lainnya.</a:t>
            </a:r>
            <a:endParaRPr b="0" i="0" sz="2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3123D"/>
              </a:buClr>
              <a:buSzPts val="2200"/>
              <a:buFont typeface="Calibri"/>
              <a:buChar char="•"/>
            </a:pPr>
            <a:r>
              <a:rPr b="0" i="0" lang="en-US" sz="2200" u="none" cap="none" strike="noStrike">
                <a:solidFill>
                  <a:srgbClr val="13123D"/>
                </a:solidFill>
                <a:latin typeface="Calibri"/>
                <a:ea typeface="Calibri"/>
                <a:cs typeface="Calibri"/>
                <a:sym typeface="Calibri"/>
              </a:rPr>
              <a:t>Gunakan Printf dengan %s dan %d.</a:t>
            </a:r>
            <a:endParaRPr b="0" i="0" sz="2200" u="none" cap="none" strike="noStrike">
              <a:solidFill>
                <a:schemeClr val="dk1"/>
              </a:solidFill>
              <a:latin typeface="Calibri"/>
              <a:ea typeface="Calibri"/>
              <a:cs typeface="Calibri"/>
              <a:sym typeface="Calibri"/>
            </a:endParaRPr>
          </a:p>
        </p:txBody>
      </p:sp>
      <p:graphicFrame>
        <p:nvGraphicFramePr>
          <p:cNvPr id="600" name="Google Shape;600;p25"/>
          <p:cNvGraphicFramePr/>
          <p:nvPr/>
        </p:nvGraphicFramePr>
        <p:xfrm>
          <a:off x="8229600" y="5166360"/>
          <a:ext cx="3000000" cy="3000000"/>
        </p:xfrm>
        <a:graphic>
          <a:graphicData uri="http://schemas.openxmlformats.org/drawingml/2006/table">
            <a:tbl>
              <a:tblPr>
                <a:noFill/>
                <a:tableStyleId>{6F93AA03-78E1-4CC0-99D5-BEF3B4DFFC71}</a:tableStyleId>
              </a:tblPr>
              <a:tblGrid>
                <a:gridCol w="9418325"/>
              </a:tblGrid>
              <a:tr h="566925">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Output yang diharapkan</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Nama : Budi</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Umur : 20 tahun</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Kota : Jakarta</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bl>
          </a:graphicData>
        </a:graphic>
      </p:graphicFrame>
      <p:sp>
        <p:nvSpPr>
          <p:cNvPr id="601" name="Google Shape;601;p25"/>
          <p:cNvSpPr/>
          <p:nvPr/>
        </p:nvSpPr>
        <p:spPr>
          <a:xfrm>
            <a:off x="8229600" y="8229600"/>
            <a:ext cx="9418320" cy="1280160"/>
          </a:xfrm>
          <a:prstGeom prst="roundRect">
            <a:avLst>
              <a:gd fmla="val 10714"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5"/>
          <p:cNvSpPr txBox="1"/>
          <p:nvPr/>
        </p:nvSpPr>
        <p:spPr>
          <a:xfrm>
            <a:off x="8503920" y="8229600"/>
            <a:ext cx="886968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Bonus: </a:t>
            </a:r>
            <a:r>
              <a:rPr b="0" i="0" lang="en-US" sz="2200" u="none" cap="none" strike="noStrike">
                <a:solidFill>
                  <a:srgbClr val="13123D"/>
                </a:solidFill>
                <a:latin typeface="Calibri"/>
                <a:ea typeface="Calibri"/>
                <a:cs typeface="Calibri"/>
                <a:sym typeface="Calibri"/>
              </a:rPr>
              <a:t>tambahkan tinggi badan (float64) dan cetak dengan %.1f.</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pic>
        <p:nvPicPr>
          <p:cNvPr descr="/home/claude/assets/image4.png" id="608" name="Google Shape;608;p26"/>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609" name="Google Shape;609;p26"/>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610" name="Google Shape;610;p26"/>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LATIHAN 2 · 9 MENIT</a:t>
            </a:r>
            <a:endParaRPr b="0" i="0" sz="1800" u="none" cap="none" strike="noStrike">
              <a:solidFill>
                <a:schemeClr val="dk1"/>
              </a:solidFill>
              <a:latin typeface="Calibri"/>
              <a:ea typeface="Calibri"/>
              <a:cs typeface="Calibri"/>
              <a:sym typeface="Calibri"/>
            </a:endParaRPr>
          </a:p>
        </p:txBody>
      </p:sp>
      <p:sp>
        <p:nvSpPr>
          <p:cNvPr id="611" name="Google Shape;611;p26"/>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Konversi Suhu</a:t>
            </a:r>
            <a:endParaRPr b="0" i="0" sz="4400" u="none" cap="none" strike="noStrike">
              <a:solidFill>
                <a:schemeClr val="dk1"/>
              </a:solidFill>
              <a:latin typeface="Calibri"/>
              <a:ea typeface="Calibri"/>
              <a:cs typeface="Calibri"/>
              <a:sym typeface="Calibri"/>
            </a:endParaRPr>
          </a:p>
        </p:txBody>
      </p:sp>
      <p:sp>
        <p:nvSpPr>
          <p:cNvPr id="612" name="Google Shape;612;p26"/>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float64 dan operator</a:t>
            </a:r>
            <a:endParaRPr b="0" i="0" sz="2600" u="none" cap="none" strike="noStrike">
              <a:solidFill>
                <a:schemeClr val="dk1"/>
              </a:solidFill>
              <a:latin typeface="Calibri"/>
              <a:ea typeface="Calibri"/>
              <a:cs typeface="Calibri"/>
              <a:sym typeface="Calibri"/>
            </a:endParaRPr>
          </a:p>
        </p:txBody>
      </p:sp>
      <p:sp>
        <p:nvSpPr>
          <p:cNvPr id="613" name="Google Shape;613;p26"/>
          <p:cNvSpPr/>
          <p:nvPr/>
        </p:nvSpPr>
        <p:spPr>
          <a:xfrm>
            <a:off x="8229600" y="731520"/>
            <a:ext cx="9418320" cy="2103120"/>
          </a:xfrm>
          <a:prstGeom prst="roundRect">
            <a:avLst>
              <a:gd fmla="val 65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6"/>
          <p:cNvSpPr/>
          <p:nvPr/>
        </p:nvSpPr>
        <p:spPr>
          <a:xfrm>
            <a:off x="8503920" y="914400"/>
            <a:ext cx="1280160" cy="457200"/>
          </a:xfrm>
          <a:prstGeom prst="roundRect">
            <a:avLst>
              <a:gd fmla="val 24000"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SOAL</a:t>
            </a:r>
            <a:endParaRPr b="0" i="0" sz="1800" u="none" cap="none" strike="noStrike">
              <a:solidFill>
                <a:schemeClr val="dk1"/>
              </a:solidFill>
              <a:latin typeface="Calibri"/>
              <a:ea typeface="Calibri"/>
              <a:cs typeface="Calibri"/>
              <a:sym typeface="Calibri"/>
            </a:endParaRPr>
          </a:p>
        </p:txBody>
      </p:sp>
      <p:sp>
        <p:nvSpPr>
          <p:cNvPr id="615" name="Google Shape;615;p26"/>
          <p:cNvSpPr txBox="1"/>
          <p:nvPr/>
        </p:nvSpPr>
        <p:spPr>
          <a:xfrm>
            <a:off x="8503920" y="1508760"/>
            <a:ext cx="886968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Ubah suhu Celsius ke Fahrenheit dengan rumus F = C × 9/5 + 32, lalu cetak hasilnya.</a:t>
            </a:r>
            <a:endParaRPr b="0" i="0" sz="2400" u="none" cap="none" strike="noStrike">
              <a:solidFill>
                <a:schemeClr val="dk1"/>
              </a:solidFill>
              <a:latin typeface="Calibri"/>
              <a:ea typeface="Calibri"/>
              <a:cs typeface="Calibri"/>
              <a:sym typeface="Calibri"/>
            </a:endParaRPr>
          </a:p>
        </p:txBody>
      </p:sp>
      <p:sp>
        <p:nvSpPr>
          <p:cNvPr id="616" name="Google Shape;616;p26"/>
          <p:cNvSpPr/>
          <p:nvPr/>
        </p:nvSpPr>
        <p:spPr>
          <a:xfrm>
            <a:off x="8229600" y="3017520"/>
            <a:ext cx="9418320" cy="1920240"/>
          </a:xfrm>
          <a:prstGeom prst="roundRect">
            <a:avLst>
              <a:gd fmla="val 7143"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7" name="Google Shape;617;p26"/>
          <p:cNvPicPr preferRelativeResize="0"/>
          <p:nvPr/>
        </p:nvPicPr>
        <p:blipFill rotWithShape="1">
          <a:blip r:embed="rId5">
            <a:alphaModFix/>
          </a:blip>
          <a:srcRect b="0" l="0" r="0" t="0"/>
          <a:stretch/>
        </p:blipFill>
        <p:spPr>
          <a:xfrm>
            <a:off x="8503920" y="3200400"/>
            <a:ext cx="457200" cy="457200"/>
          </a:xfrm>
          <a:prstGeom prst="rect">
            <a:avLst/>
          </a:prstGeom>
          <a:noFill/>
          <a:ln>
            <a:noFill/>
          </a:ln>
        </p:spPr>
      </p:pic>
      <p:sp>
        <p:nvSpPr>
          <p:cNvPr id="618" name="Google Shape;618;p26"/>
          <p:cNvSpPr txBox="1"/>
          <p:nvPr/>
        </p:nvSpPr>
        <p:spPr>
          <a:xfrm>
            <a:off x="9144000" y="320040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Petunjuk</a:t>
            </a:r>
            <a:endParaRPr b="0" i="0" sz="2400" u="none" cap="none" strike="noStrike">
              <a:solidFill>
                <a:schemeClr val="dk1"/>
              </a:solidFill>
              <a:latin typeface="Calibri"/>
              <a:ea typeface="Calibri"/>
              <a:cs typeface="Calibri"/>
              <a:sym typeface="Calibri"/>
            </a:endParaRPr>
          </a:p>
        </p:txBody>
      </p:sp>
      <p:sp>
        <p:nvSpPr>
          <p:cNvPr id="619" name="Google Shape;619;p26"/>
          <p:cNvSpPr txBox="1"/>
          <p:nvPr/>
        </p:nvSpPr>
        <p:spPr>
          <a:xfrm>
            <a:off x="8503920" y="3794760"/>
            <a:ext cx="886968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3123D"/>
              </a:buClr>
              <a:buSzPts val="2200"/>
              <a:buFont typeface="Calibri"/>
              <a:buChar char="•"/>
            </a:pPr>
            <a:r>
              <a:rPr b="0" i="0" lang="en-US" sz="2200" u="none" cap="none" strike="noStrike">
                <a:solidFill>
                  <a:srgbClr val="13123D"/>
                </a:solidFill>
                <a:latin typeface="Calibri"/>
                <a:ea typeface="Calibri"/>
                <a:cs typeface="Calibri"/>
                <a:sym typeface="Calibri"/>
              </a:rPr>
              <a:t>Gunakan float64 untuk suhu.</a:t>
            </a:r>
            <a:endParaRPr b="0" i="0" sz="2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3123D"/>
              </a:buClr>
              <a:buSzPts val="2200"/>
              <a:buFont typeface="Calibri"/>
              <a:buChar char="•"/>
            </a:pPr>
            <a:r>
              <a:rPr b="0" i="0" lang="en-US" sz="2200" u="none" cap="none" strike="noStrike">
                <a:solidFill>
                  <a:srgbClr val="13123D"/>
                </a:solidFill>
                <a:latin typeface="Calibri"/>
                <a:ea typeface="Calibri"/>
                <a:cs typeface="Calibri"/>
                <a:sym typeface="Calibri"/>
              </a:rPr>
              <a:t>Awas: 9 / 5 pada bilangan bulat = 1.</a:t>
            </a:r>
            <a:endParaRPr b="0" i="0" sz="2200" u="none" cap="none" strike="noStrike">
              <a:solidFill>
                <a:schemeClr val="dk1"/>
              </a:solidFill>
              <a:latin typeface="Calibri"/>
              <a:ea typeface="Calibri"/>
              <a:cs typeface="Calibri"/>
              <a:sym typeface="Calibri"/>
            </a:endParaRPr>
          </a:p>
        </p:txBody>
      </p:sp>
      <p:graphicFrame>
        <p:nvGraphicFramePr>
          <p:cNvPr id="620" name="Google Shape;620;p26"/>
          <p:cNvGraphicFramePr/>
          <p:nvPr/>
        </p:nvGraphicFramePr>
        <p:xfrm>
          <a:off x="8229600" y="5166360"/>
          <a:ext cx="3000000" cy="3000000"/>
        </p:xfrm>
        <a:graphic>
          <a:graphicData uri="http://schemas.openxmlformats.org/drawingml/2006/table">
            <a:tbl>
              <a:tblPr>
                <a:noFill/>
                <a:tableStyleId>{6F93AA03-78E1-4CC0-99D5-BEF3B4DFFC71}</a:tableStyleId>
              </a:tblPr>
              <a:tblGrid>
                <a:gridCol w="4709150"/>
                <a:gridCol w="4709150"/>
              </a:tblGrid>
              <a:tr h="566925">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Celsius</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Fahrenheit</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0</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32</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100</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212</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37</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98.6</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bl>
          </a:graphicData>
        </a:graphic>
      </p:graphicFrame>
      <p:sp>
        <p:nvSpPr>
          <p:cNvPr id="621" name="Google Shape;621;p26"/>
          <p:cNvSpPr/>
          <p:nvPr/>
        </p:nvSpPr>
        <p:spPr>
          <a:xfrm>
            <a:off x="8229600" y="8229600"/>
            <a:ext cx="9418320" cy="1280160"/>
          </a:xfrm>
          <a:prstGeom prst="roundRect">
            <a:avLst>
              <a:gd fmla="val 10714"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6"/>
          <p:cNvSpPr txBox="1"/>
          <p:nvPr/>
        </p:nvSpPr>
        <p:spPr>
          <a:xfrm>
            <a:off x="8503920" y="8229600"/>
            <a:ext cx="886968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Bonus: </a:t>
            </a:r>
            <a:r>
              <a:rPr b="0" i="0" lang="en-US" sz="2200" u="none" cap="none" strike="noStrike">
                <a:solidFill>
                  <a:srgbClr val="13123D"/>
                </a:solidFill>
                <a:latin typeface="Calibri"/>
                <a:ea typeface="Calibri"/>
                <a:cs typeface="Calibri"/>
                <a:sym typeface="Calibri"/>
              </a:rPr>
              <a:t>cetak hasil dengan satu angka di belakang koma (%.1f).</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pic>
        <p:nvPicPr>
          <p:cNvPr descr="/home/claude/assets/image4.png" id="628" name="Google Shape;628;p2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629" name="Google Shape;629;p27"/>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630" name="Google Shape;630;p27"/>
          <p:cNvSpPr txBox="1"/>
          <p:nvPr/>
        </p:nvSpPr>
        <p:spPr>
          <a:xfrm>
            <a:off x="1024128" y="1554480"/>
            <a:ext cx="58521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1800"/>
              <a:buFont typeface="Arial"/>
              <a:buNone/>
            </a:pPr>
            <a:r>
              <a:rPr b="1" i="0" lang="en-US" sz="1800" u="none" cap="none" strike="noStrike">
                <a:solidFill>
                  <a:srgbClr val="FCDF59"/>
                </a:solidFill>
                <a:latin typeface="Arial"/>
                <a:ea typeface="Arial"/>
                <a:cs typeface="Arial"/>
                <a:sym typeface="Arial"/>
              </a:rPr>
              <a:t>LATIHAN 3 · 8 MENIT</a:t>
            </a:r>
            <a:endParaRPr b="0" i="0" sz="1800" u="none" cap="none" strike="noStrike">
              <a:solidFill>
                <a:schemeClr val="dk1"/>
              </a:solidFill>
              <a:latin typeface="Calibri"/>
              <a:ea typeface="Calibri"/>
              <a:cs typeface="Calibri"/>
              <a:sym typeface="Calibri"/>
            </a:endParaRPr>
          </a:p>
        </p:txBody>
      </p:sp>
      <p:sp>
        <p:nvSpPr>
          <p:cNvPr id="631" name="Google Shape;631;p27"/>
          <p:cNvSpPr txBox="1"/>
          <p:nvPr/>
        </p:nvSpPr>
        <p:spPr>
          <a:xfrm>
            <a:off x="1024128" y="2011680"/>
            <a:ext cx="576072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400"/>
              <a:buFont typeface="Arial"/>
              <a:buNone/>
            </a:pPr>
            <a:r>
              <a:rPr b="1" i="0" lang="en-US" sz="4400" u="none" cap="none" strike="noStrike">
                <a:solidFill>
                  <a:srgbClr val="FDFBFB"/>
                </a:solidFill>
                <a:latin typeface="Arial"/>
                <a:ea typeface="Arial"/>
                <a:cs typeface="Arial"/>
                <a:sym typeface="Arial"/>
              </a:rPr>
              <a:t>Luas &amp; Keliling Lingkaran</a:t>
            </a:r>
            <a:endParaRPr b="0" i="0" sz="4400" u="none" cap="none" strike="noStrike">
              <a:solidFill>
                <a:schemeClr val="dk1"/>
              </a:solidFill>
              <a:latin typeface="Calibri"/>
              <a:ea typeface="Calibri"/>
              <a:cs typeface="Calibri"/>
              <a:sym typeface="Calibri"/>
            </a:endParaRPr>
          </a:p>
        </p:txBody>
      </p:sp>
      <p:sp>
        <p:nvSpPr>
          <p:cNvPr id="632" name="Google Shape;632;p27"/>
          <p:cNvSpPr txBox="1"/>
          <p:nvPr/>
        </p:nvSpPr>
        <p:spPr>
          <a:xfrm>
            <a:off x="1024128" y="4937760"/>
            <a:ext cx="5486400" cy="4206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DFBFB"/>
              </a:buClr>
              <a:buSzPts val="2600"/>
              <a:buFont typeface="Calibri"/>
              <a:buChar char="•"/>
            </a:pPr>
            <a:r>
              <a:rPr b="0" i="0" lang="en-US" sz="2600" u="none" cap="none" strike="noStrike">
                <a:solidFill>
                  <a:srgbClr val="FDFBFB"/>
                </a:solidFill>
                <a:latin typeface="Calibri"/>
                <a:ea typeface="Calibri"/>
                <a:cs typeface="Calibri"/>
                <a:sym typeface="Calibri"/>
              </a:rPr>
              <a:t>const dan operator</a:t>
            </a:r>
            <a:endParaRPr b="0" i="0" sz="2600" u="none" cap="none" strike="noStrike">
              <a:solidFill>
                <a:schemeClr val="dk1"/>
              </a:solidFill>
              <a:latin typeface="Calibri"/>
              <a:ea typeface="Calibri"/>
              <a:cs typeface="Calibri"/>
              <a:sym typeface="Calibri"/>
            </a:endParaRPr>
          </a:p>
        </p:txBody>
      </p:sp>
      <p:sp>
        <p:nvSpPr>
          <p:cNvPr id="633" name="Google Shape;633;p27"/>
          <p:cNvSpPr/>
          <p:nvPr/>
        </p:nvSpPr>
        <p:spPr>
          <a:xfrm>
            <a:off x="8229600" y="731520"/>
            <a:ext cx="9418320" cy="2103120"/>
          </a:xfrm>
          <a:prstGeom prst="roundRect">
            <a:avLst>
              <a:gd fmla="val 652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7"/>
          <p:cNvSpPr/>
          <p:nvPr/>
        </p:nvSpPr>
        <p:spPr>
          <a:xfrm>
            <a:off x="8503920" y="914400"/>
            <a:ext cx="1280160" cy="457200"/>
          </a:xfrm>
          <a:prstGeom prst="roundRect">
            <a:avLst>
              <a:gd fmla="val 24000"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1800"/>
              <a:buFont typeface="Calibri"/>
              <a:buNone/>
            </a:pPr>
            <a:r>
              <a:rPr b="1" i="0" lang="en-US" sz="1800" u="none" cap="none" strike="noStrike">
                <a:solidFill>
                  <a:srgbClr val="FDFBFB"/>
                </a:solidFill>
                <a:latin typeface="Calibri"/>
                <a:ea typeface="Calibri"/>
                <a:cs typeface="Calibri"/>
                <a:sym typeface="Calibri"/>
              </a:rPr>
              <a:t>SOAL</a:t>
            </a:r>
            <a:endParaRPr b="0" i="0" sz="1800" u="none" cap="none" strike="noStrike">
              <a:solidFill>
                <a:schemeClr val="dk1"/>
              </a:solidFill>
              <a:latin typeface="Calibri"/>
              <a:ea typeface="Calibri"/>
              <a:cs typeface="Calibri"/>
              <a:sym typeface="Calibri"/>
            </a:endParaRPr>
          </a:p>
        </p:txBody>
      </p:sp>
      <p:sp>
        <p:nvSpPr>
          <p:cNvPr id="635" name="Google Shape;635;p27"/>
          <p:cNvSpPr txBox="1"/>
          <p:nvPr/>
        </p:nvSpPr>
        <p:spPr>
          <a:xfrm>
            <a:off x="8503920" y="1508760"/>
            <a:ext cx="886968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Hitung luas dan keliling lingkaran berjari-jari 7. Simpan Pi sebagai konstanta.</a:t>
            </a:r>
            <a:endParaRPr b="0" i="0" sz="2400" u="none" cap="none" strike="noStrike">
              <a:solidFill>
                <a:schemeClr val="dk1"/>
              </a:solidFill>
              <a:latin typeface="Calibri"/>
              <a:ea typeface="Calibri"/>
              <a:cs typeface="Calibri"/>
              <a:sym typeface="Calibri"/>
            </a:endParaRPr>
          </a:p>
        </p:txBody>
      </p:sp>
      <p:sp>
        <p:nvSpPr>
          <p:cNvPr id="636" name="Google Shape;636;p27"/>
          <p:cNvSpPr/>
          <p:nvPr/>
        </p:nvSpPr>
        <p:spPr>
          <a:xfrm>
            <a:off x="8229600" y="3017520"/>
            <a:ext cx="9418320" cy="1920240"/>
          </a:xfrm>
          <a:prstGeom prst="roundRect">
            <a:avLst>
              <a:gd fmla="val 7143"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7" name="Google Shape;637;p27"/>
          <p:cNvPicPr preferRelativeResize="0"/>
          <p:nvPr/>
        </p:nvPicPr>
        <p:blipFill rotWithShape="1">
          <a:blip r:embed="rId5">
            <a:alphaModFix/>
          </a:blip>
          <a:srcRect b="0" l="0" r="0" t="0"/>
          <a:stretch/>
        </p:blipFill>
        <p:spPr>
          <a:xfrm>
            <a:off x="8503920" y="3200400"/>
            <a:ext cx="457200" cy="457200"/>
          </a:xfrm>
          <a:prstGeom prst="rect">
            <a:avLst/>
          </a:prstGeom>
          <a:noFill/>
          <a:ln>
            <a:noFill/>
          </a:ln>
        </p:spPr>
      </p:pic>
      <p:sp>
        <p:nvSpPr>
          <p:cNvPr id="638" name="Google Shape;638;p27"/>
          <p:cNvSpPr txBox="1"/>
          <p:nvPr/>
        </p:nvSpPr>
        <p:spPr>
          <a:xfrm>
            <a:off x="9144000" y="320040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Petunjuk</a:t>
            </a:r>
            <a:endParaRPr b="0" i="0" sz="2400" u="none" cap="none" strike="noStrike">
              <a:solidFill>
                <a:schemeClr val="dk1"/>
              </a:solidFill>
              <a:latin typeface="Calibri"/>
              <a:ea typeface="Calibri"/>
              <a:cs typeface="Calibri"/>
              <a:sym typeface="Calibri"/>
            </a:endParaRPr>
          </a:p>
        </p:txBody>
      </p:sp>
      <p:sp>
        <p:nvSpPr>
          <p:cNvPr id="639" name="Google Shape;639;p27"/>
          <p:cNvSpPr txBox="1"/>
          <p:nvPr/>
        </p:nvSpPr>
        <p:spPr>
          <a:xfrm>
            <a:off x="8503920" y="3794760"/>
            <a:ext cx="8869680" cy="10972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3123D"/>
              </a:buClr>
              <a:buSzPts val="2200"/>
              <a:buFont typeface="Calibri"/>
              <a:buChar char="•"/>
            </a:pPr>
            <a:r>
              <a:rPr b="0" i="0" lang="en-US" sz="2200" u="none" cap="none" strike="noStrike">
                <a:solidFill>
                  <a:srgbClr val="13123D"/>
                </a:solidFill>
                <a:latin typeface="Calibri"/>
                <a:ea typeface="Calibri"/>
                <a:cs typeface="Calibri"/>
                <a:sym typeface="Calibri"/>
              </a:rPr>
              <a:t>Deklarasikan const Pi = 3.14159.</a:t>
            </a:r>
            <a:endParaRPr b="0" i="0" sz="2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13123D"/>
              </a:buClr>
              <a:buSzPts val="2200"/>
              <a:buFont typeface="Calibri"/>
              <a:buChar char="•"/>
            </a:pPr>
            <a:r>
              <a:rPr b="0" i="0" lang="en-US" sz="2200" u="none" cap="none" strike="noStrike">
                <a:solidFill>
                  <a:srgbClr val="13123D"/>
                </a:solidFill>
                <a:latin typeface="Calibri"/>
                <a:ea typeface="Calibri"/>
                <a:cs typeface="Calibri"/>
                <a:sym typeface="Calibri"/>
              </a:rPr>
              <a:t>Cetak dengan %.2f (dua angka di belakang koma).</a:t>
            </a:r>
            <a:endParaRPr b="0" i="0" sz="2200" u="none" cap="none" strike="noStrike">
              <a:solidFill>
                <a:schemeClr val="dk1"/>
              </a:solidFill>
              <a:latin typeface="Calibri"/>
              <a:ea typeface="Calibri"/>
              <a:cs typeface="Calibri"/>
              <a:sym typeface="Calibri"/>
            </a:endParaRPr>
          </a:p>
        </p:txBody>
      </p:sp>
      <p:graphicFrame>
        <p:nvGraphicFramePr>
          <p:cNvPr id="640" name="Google Shape;640;p27"/>
          <p:cNvGraphicFramePr/>
          <p:nvPr/>
        </p:nvGraphicFramePr>
        <p:xfrm>
          <a:off x="8229600" y="5166360"/>
          <a:ext cx="3000000" cy="3000000"/>
        </p:xfrm>
        <a:graphic>
          <a:graphicData uri="http://schemas.openxmlformats.org/drawingml/2006/table">
            <a:tbl>
              <a:tblPr>
                <a:noFill/>
                <a:tableStyleId>{6F93AA03-78E1-4CC0-99D5-BEF3B4DFFC71}</a:tableStyleId>
              </a:tblPr>
              <a:tblGrid>
                <a:gridCol w="2743200"/>
                <a:gridCol w="3291850"/>
                <a:gridCol w="3383275"/>
              </a:tblGrid>
              <a:tr h="566925">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Jari-jari</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Luas</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c>
                  <a:txBody>
                    <a:bodyPr/>
                    <a:lstStyle/>
                    <a:p>
                      <a:pPr indent="0" lvl="0" marL="0" marR="0" rtl="0" algn="l">
                        <a:spcBef>
                          <a:spcPts val="0"/>
                        </a:spcBef>
                        <a:spcAft>
                          <a:spcPts val="0"/>
                        </a:spcAft>
                        <a:buClr>
                          <a:srgbClr val="FDFBFB"/>
                        </a:buClr>
                        <a:buSzPts val="2100"/>
                        <a:buFont typeface="Calibri"/>
                        <a:buNone/>
                      </a:pPr>
                      <a:r>
                        <a:rPr b="1" lang="en-US" sz="2100" u="none" cap="none" strike="noStrike">
                          <a:solidFill>
                            <a:srgbClr val="FDFBFB"/>
                          </a:solidFill>
                          <a:latin typeface="Calibri"/>
                          <a:ea typeface="Calibri"/>
                          <a:cs typeface="Calibri"/>
                          <a:sym typeface="Calibri"/>
                        </a:rPr>
                        <a:t>Keliling</a:t>
                      </a:r>
                      <a:endParaRPr sz="2100" u="none" cap="none" strike="noStrike">
                        <a:latin typeface="Calibri"/>
                        <a:ea typeface="Calibri"/>
                        <a:cs typeface="Calibri"/>
                        <a:sym typeface="Calibri"/>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162CA2"/>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7</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153.94</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43.98</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10</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314.16</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3123D"/>
                        </a:buClr>
                        <a:buSzPts val="2200"/>
                        <a:buFont typeface="Courier New"/>
                        <a:buNone/>
                      </a:pPr>
                      <a:r>
                        <a:rPr lang="en-US" sz="2200" u="none" cap="none" strike="noStrike">
                          <a:solidFill>
                            <a:srgbClr val="13123D"/>
                          </a:solidFill>
                          <a:latin typeface="Courier New"/>
                          <a:ea typeface="Courier New"/>
                          <a:cs typeface="Courier New"/>
                          <a:sym typeface="Courier New"/>
                        </a:rPr>
                        <a:t>62.83</a:t>
                      </a:r>
                      <a:endParaRPr sz="2200" u="none" cap="none" strike="noStrike">
                        <a:latin typeface="Courier New"/>
                        <a:ea typeface="Courier New"/>
                        <a:cs typeface="Courier New"/>
                        <a:sym typeface="Courier New"/>
                      </a:endParaRPr>
                    </a:p>
                  </a:txBody>
                  <a:tcPr marT="0" marB="0" marR="182875" marL="182875" anchor="ctr">
                    <a:lnL cap="flat" cmpd="sng" w="12700">
                      <a:solidFill>
                        <a:srgbClr val="D3DAF5"/>
                      </a:solidFill>
                      <a:prstDash val="solid"/>
                      <a:round/>
                      <a:headEnd len="sm" w="sm" type="none"/>
                      <a:tailEnd len="sm" w="sm" type="none"/>
                    </a:lnL>
                    <a:lnR cap="flat" cmpd="sng" w="12700">
                      <a:solidFill>
                        <a:srgbClr val="D3DAF5"/>
                      </a:solidFill>
                      <a:prstDash val="solid"/>
                      <a:round/>
                      <a:headEnd len="sm" w="sm" type="none"/>
                      <a:tailEnd len="sm" w="sm" type="none"/>
                    </a:lnR>
                    <a:lnT cap="flat" cmpd="sng" w="12700">
                      <a:solidFill>
                        <a:srgbClr val="D3DAF5"/>
                      </a:solidFill>
                      <a:prstDash val="solid"/>
                      <a:round/>
                      <a:headEnd len="sm" w="sm" type="none"/>
                      <a:tailEnd len="sm" w="sm" type="none"/>
                    </a:lnT>
                    <a:lnB cap="flat" cmpd="sng" w="12700">
                      <a:solidFill>
                        <a:srgbClr val="D3DAF5"/>
                      </a:solidFill>
                      <a:prstDash val="solid"/>
                      <a:round/>
                      <a:headEnd len="sm" w="sm" type="none"/>
                      <a:tailEnd len="sm" w="sm" type="none"/>
                    </a:lnB>
                    <a:solidFill>
                      <a:srgbClr val="FFFFFF"/>
                    </a:solidFill>
                  </a:tcPr>
                </a:tc>
              </a:tr>
            </a:tbl>
          </a:graphicData>
        </a:graphic>
      </p:graphicFrame>
      <p:sp>
        <p:nvSpPr>
          <p:cNvPr id="641" name="Google Shape;641;p27"/>
          <p:cNvSpPr/>
          <p:nvPr/>
        </p:nvSpPr>
        <p:spPr>
          <a:xfrm>
            <a:off x="8229600" y="8229600"/>
            <a:ext cx="9418320" cy="1280160"/>
          </a:xfrm>
          <a:prstGeom prst="roundRect">
            <a:avLst>
              <a:gd fmla="val 10714"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7"/>
          <p:cNvSpPr txBox="1"/>
          <p:nvPr/>
        </p:nvSpPr>
        <p:spPr>
          <a:xfrm>
            <a:off x="8503920" y="8229600"/>
            <a:ext cx="886968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1" i="0" lang="en-US" sz="2200" u="none" cap="none" strike="noStrike">
                <a:solidFill>
                  <a:srgbClr val="13123D"/>
                </a:solidFill>
                <a:latin typeface="Calibri"/>
                <a:ea typeface="Calibri"/>
                <a:cs typeface="Calibri"/>
                <a:sym typeface="Calibri"/>
              </a:rPr>
              <a:t>Bonus: </a:t>
            </a:r>
            <a:r>
              <a:rPr b="0" i="0" lang="en-US" sz="2200" u="none" cap="none" strike="noStrike">
                <a:solidFill>
                  <a:srgbClr val="13123D"/>
                </a:solidFill>
                <a:latin typeface="Calibri"/>
                <a:ea typeface="Calibri"/>
                <a:cs typeface="Calibri"/>
                <a:sym typeface="Calibri"/>
              </a:rPr>
              <a:t>cetak apakah 42 genap: fmt.Println(42%2 == 0).</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descr="/home/claude/assets/image6.png" id="648" name="Google Shape;648;p2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649" name="Google Shape;649;p28"/>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650" name="Google Shape;650;p28"/>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PEMBAHASAN LATIHAN</a:t>
            </a:r>
            <a:endParaRPr b="0" i="0" sz="2000" u="none" cap="none" strike="noStrike">
              <a:solidFill>
                <a:schemeClr val="dk1"/>
              </a:solidFill>
              <a:latin typeface="Calibri"/>
              <a:ea typeface="Calibri"/>
              <a:cs typeface="Calibri"/>
              <a:sym typeface="Calibri"/>
            </a:endParaRPr>
          </a:p>
        </p:txBody>
      </p:sp>
      <p:sp>
        <p:nvSpPr>
          <p:cNvPr id="651" name="Google Shape;651;p28"/>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Solusi Latihan 2 &amp; 3</a:t>
            </a:r>
            <a:endParaRPr b="0" i="0" sz="4800" u="none" cap="none" strike="noStrike">
              <a:solidFill>
                <a:schemeClr val="dk1"/>
              </a:solidFill>
              <a:latin typeface="Calibri"/>
              <a:ea typeface="Calibri"/>
              <a:cs typeface="Calibri"/>
              <a:sym typeface="Calibri"/>
            </a:endParaRPr>
          </a:p>
        </p:txBody>
      </p:sp>
      <p:sp>
        <p:nvSpPr>
          <p:cNvPr id="652" name="Google Shape;652;p28"/>
          <p:cNvSpPr txBox="1"/>
          <p:nvPr/>
        </p:nvSpPr>
        <p:spPr>
          <a:xfrm>
            <a:off x="914400" y="4160520"/>
            <a:ext cx="79552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Latihan 2: Konversi suhu</a:t>
            </a:r>
            <a:endParaRPr b="0" i="0" sz="2600" u="none" cap="none" strike="noStrike">
              <a:solidFill>
                <a:schemeClr val="dk1"/>
              </a:solidFill>
              <a:latin typeface="Calibri"/>
              <a:ea typeface="Calibri"/>
              <a:cs typeface="Calibri"/>
              <a:sym typeface="Calibri"/>
            </a:endParaRPr>
          </a:p>
        </p:txBody>
      </p:sp>
      <p:sp>
        <p:nvSpPr>
          <p:cNvPr id="653" name="Google Shape;653;p28"/>
          <p:cNvSpPr/>
          <p:nvPr/>
        </p:nvSpPr>
        <p:spPr>
          <a:xfrm>
            <a:off x="914400" y="4709160"/>
            <a:ext cx="7955280" cy="1788160"/>
          </a:xfrm>
          <a:prstGeom prst="roundRect">
            <a:avLst>
              <a:gd fmla="val 7670"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8"/>
          <p:cNvSpPr txBox="1"/>
          <p:nvPr/>
        </p:nvSpPr>
        <p:spPr>
          <a:xfrm>
            <a:off x="1188720" y="4965192"/>
            <a:ext cx="7406640" cy="1330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93C9"/>
              </a:buClr>
              <a:buSzPts val="2000"/>
              <a:buFont typeface="Courier New"/>
              <a:buNone/>
            </a:pPr>
            <a:r>
              <a:rPr b="0" i="0" lang="en-US" sz="2000" u="none" cap="none" strike="noStrike">
                <a:solidFill>
                  <a:srgbClr val="8C93C9"/>
                </a:solidFill>
                <a:latin typeface="Courier New"/>
                <a:ea typeface="Courier New"/>
                <a:cs typeface="Courier New"/>
                <a:sym typeface="Courier New"/>
              </a:rPr>
              <a:t>// di dalam func main()</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000"/>
              <a:buFont typeface="Courier New"/>
              <a:buNone/>
            </a:pPr>
            <a:r>
              <a:rPr b="0" i="0" lang="en-US" sz="2000" u="none" cap="none" strike="noStrike">
                <a:solidFill>
                  <a:srgbClr val="E8ECFF"/>
                </a:solidFill>
                <a:latin typeface="Courier New"/>
                <a:ea typeface="Courier New"/>
                <a:cs typeface="Courier New"/>
                <a:sym typeface="Courier New"/>
              </a:rPr>
              <a:t>c := </a:t>
            </a:r>
            <a:r>
              <a:rPr b="0" i="0" lang="en-US" sz="2000" u="none" cap="none" strike="noStrike">
                <a:solidFill>
                  <a:srgbClr val="FFC58A"/>
                </a:solidFill>
                <a:latin typeface="Courier New"/>
                <a:ea typeface="Courier New"/>
                <a:cs typeface="Courier New"/>
                <a:sym typeface="Courier New"/>
              </a:rPr>
              <a:t>37.0</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000"/>
              <a:buFont typeface="Courier New"/>
              <a:buNone/>
            </a:pPr>
            <a:r>
              <a:rPr b="0" i="0" lang="en-US" sz="2000" u="none" cap="none" strike="noStrike">
                <a:solidFill>
                  <a:srgbClr val="E8ECFF"/>
                </a:solidFill>
                <a:latin typeface="Courier New"/>
                <a:ea typeface="Courier New"/>
                <a:cs typeface="Courier New"/>
                <a:sym typeface="Courier New"/>
              </a:rPr>
              <a:t>f := c*</a:t>
            </a:r>
            <a:r>
              <a:rPr b="0" i="0" lang="en-US" sz="2000" u="none" cap="none" strike="noStrike">
                <a:solidFill>
                  <a:srgbClr val="FFC58A"/>
                </a:solidFill>
                <a:latin typeface="Courier New"/>
                <a:ea typeface="Courier New"/>
                <a:cs typeface="Courier New"/>
                <a:sym typeface="Courier New"/>
              </a:rPr>
              <a:t>9</a:t>
            </a:r>
            <a:r>
              <a:rPr b="0" i="0" lang="en-US" sz="2000" u="none" cap="none" strike="noStrike">
                <a:solidFill>
                  <a:srgbClr val="E8ECFF"/>
                </a:solidFill>
                <a:latin typeface="Courier New"/>
                <a:ea typeface="Courier New"/>
                <a:cs typeface="Courier New"/>
                <a:sym typeface="Courier New"/>
              </a:rPr>
              <a:t>/</a:t>
            </a:r>
            <a:r>
              <a:rPr b="0" i="0" lang="en-US" sz="2000" u="none" cap="none" strike="noStrike">
                <a:solidFill>
                  <a:srgbClr val="FFC58A"/>
                </a:solidFill>
                <a:latin typeface="Courier New"/>
                <a:ea typeface="Courier New"/>
                <a:cs typeface="Courier New"/>
                <a:sym typeface="Courier New"/>
              </a:rPr>
              <a:t>5</a:t>
            </a:r>
            <a:r>
              <a:rPr b="0" i="0" lang="en-US" sz="2000" u="none" cap="none" strike="noStrike">
                <a:solidFill>
                  <a:srgbClr val="E8ECFF"/>
                </a:solidFill>
                <a:latin typeface="Courier New"/>
                <a:ea typeface="Courier New"/>
                <a:cs typeface="Courier New"/>
                <a:sym typeface="Courier New"/>
              </a:rPr>
              <a:t> + </a:t>
            </a:r>
            <a:r>
              <a:rPr b="0" i="0" lang="en-US" sz="2000" u="none" cap="none" strike="noStrike">
                <a:solidFill>
                  <a:srgbClr val="FFC58A"/>
                </a:solidFill>
                <a:latin typeface="Courier New"/>
                <a:ea typeface="Courier New"/>
                <a:cs typeface="Courier New"/>
                <a:sym typeface="Courier New"/>
              </a:rPr>
              <a:t>32</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2000"/>
              <a:buFont typeface="Courier New"/>
              <a:buNone/>
            </a:pPr>
            <a:r>
              <a:rPr b="0" i="0" lang="en-US" sz="2000" u="none" cap="none" strike="noStrike">
                <a:solidFill>
                  <a:srgbClr val="E8ECFF"/>
                </a:solidFill>
                <a:latin typeface="Courier New"/>
                <a:ea typeface="Courier New"/>
                <a:cs typeface="Courier New"/>
                <a:sym typeface="Courier New"/>
              </a:rPr>
              <a:t>fmt.Printf(</a:t>
            </a:r>
            <a:r>
              <a:rPr b="0" i="0" lang="en-US" sz="2000" u="none" cap="none" strike="noStrike">
                <a:solidFill>
                  <a:srgbClr val="A8E6CF"/>
                </a:solidFill>
                <a:latin typeface="Courier New"/>
                <a:ea typeface="Courier New"/>
                <a:cs typeface="Courier New"/>
                <a:sym typeface="Courier New"/>
              </a:rPr>
              <a:t>"%.1f C = %.1f F\n"</a:t>
            </a:r>
            <a:r>
              <a:rPr b="0" i="0" lang="en-US" sz="2000" u="none" cap="none" strike="noStrike">
                <a:solidFill>
                  <a:srgbClr val="E8ECFF"/>
                </a:solidFill>
                <a:latin typeface="Courier New"/>
                <a:ea typeface="Courier New"/>
                <a:cs typeface="Courier New"/>
                <a:sym typeface="Courier New"/>
              </a:rPr>
              <a:t>, c, f)</a:t>
            </a:r>
            <a:endParaRPr b="0" i="0" sz="2000" u="none" cap="none" strike="noStrike">
              <a:solidFill>
                <a:schemeClr val="dk1"/>
              </a:solidFill>
              <a:latin typeface="Calibri"/>
              <a:ea typeface="Calibri"/>
              <a:cs typeface="Calibri"/>
              <a:sym typeface="Calibri"/>
            </a:endParaRPr>
          </a:p>
        </p:txBody>
      </p:sp>
      <p:sp>
        <p:nvSpPr>
          <p:cNvPr id="655" name="Google Shape;655;p28"/>
          <p:cNvSpPr txBox="1"/>
          <p:nvPr/>
        </p:nvSpPr>
        <p:spPr>
          <a:xfrm>
            <a:off x="914400" y="7406640"/>
            <a:ext cx="795528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300"/>
              <a:buFont typeface="Calibri"/>
              <a:buNone/>
            </a:pPr>
            <a:r>
              <a:rPr b="0" i="0" lang="en-US" sz="2300" u="none" cap="none" strike="noStrike">
                <a:solidFill>
                  <a:srgbClr val="13123D"/>
                </a:solidFill>
                <a:latin typeface="Calibri"/>
                <a:ea typeface="Calibri"/>
                <a:cs typeface="Calibri"/>
                <a:sym typeface="Calibri"/>
              </a:rPr>
              <a:t>c bertipe float64, sehingga c*9/5 dihitung sebagai desimal.</a:t>
            </a:r>
            <a:endParaRPr b="0" i="0" sz="2300" u="none" cap="none" strike="noStrike">
              <a:solidFill>
                <a:schemeClr val="dk1"/>
              </a:solidFill>
              <a:latin typeface="Calibri"/>
              <a:ea typeface="Calibri"/>
              <a:cs typeface="Calibri"/>
              <a:sym typeface="Calibri"/>
            </a:endParaRPr>
          </a:p>
        </p:txBody>
      </p:sp>
      <p:sp>
        <p:nvSpPr>
          <p:cNvPr id="656" name="Google Shape;656;p28"/>
          <p:cNvSpPr txBox="1"/>
          <p:nvPr/>
        </p:nvSpPr>
        <p:spPr>
          <a:xfrm>
            <a:off x="9418320" y="4160520"/>
            <a:ext cx="79552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Latihan 3: Lingkaran</a:t>
            </a:r>
            <a:endParaRPr b="0" i="0" sz="2600" u="none" cap="none" strike="noStrike">
              <a:solidFill>
                <a:schemeClr val="dk1"/>
              </a:solidFill>
              <a:latin typeface="Calibri"/>
              <a:ea typeface="Calibri"/>
              <a:cs typeface="Calibri"/>
              <a:sym typeface="Calibri"/>
            </a:endParaRPr>
          </a:p>
        </p:txBody>
      </p:sp>
      <p:sp>
        <p:nvSpPr>
          <p:cNvPr id="657" name="Google Shape;657;p28"/>
          <p:cNvSpPr/>
          <p:nvPr/>
        </p:nvSpPr>
        <p:spPr>
          <a:xfrm>
            <a:off x="9418320" y="4709160"/>
            <a:ext cx="7955280" cy="3058668"/>
          </a:xfrm>
          <a:prstGeom prst="roundRect">
            <a:avLst>
              <a:gd fmla="val 4484" name="adj"/>
            </a:avLst>
          </a:prstGeom>
          <a:solidFill>
            <a:srgbClr val="13123D"/>
          </a:solidFill>
          <a:ln cap="flat" cmpd="sng" w="12700">
            <a:solidFill>
              <a:srgbClr val="1312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8"/>
          <p:cNvSpPr txBox="1"/>
          <p:nvPr/>
        </p:nvSpPr>
        <p:spPr>
          <a:xfrm>
            <a:off x="9692640" y="4965192"/>
            <a:ext cx="7406640" cy="26014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93C9"/>
              </a:buClr>
              <a:buSzPts val="1800"/>
              <a:buFont typeface="Courier New"/>
              <a:buNone/>
            </a:pPr>
            <a:r>
              <a:rPr b="0" i="0" lang="en-US" sz="1800" u="none" cap="none" strike="noStrike">
                <a:solidFill>
                  <a:srgbClr val="8C93C9"/>
                </a:solidFill>
                <a:latin typeface="Courier New"/>
                <a:ea typeface="Courier New"/>
                <a:cs typeface="Courier New"/>
                <a:sym typeface="Courier New"/>
              </a:rPr>
              <a:t>// di luar func main()</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CDF59"/>
              </a:buClr>
              <a:buSzPts val="1800"/>
              <a:buFont typeface="Courier New"/>
              <a:buNone/>
            </a:pPr>
            <a:r>
              <a:rPr b="0" i="0" lang="en-US" sz="1800" u="none" cap="none" strike="noStrike">
                <a:solidFill>
                  <a:srgbClr val="FCDF59"/>
                </a:solidFill>
                <a:latin typeface="Courier New"/>
                <a:ea typeface="Courier New"/>
                <a:cs typeface="Courier New"/>
                <a:sym typeface="Courier New"/>
              </a:rPr>
              <a:t>const</a:t>
            </a:r>
            <a:r>
              <a:rPr b="0" i="0" lang="en-US" sz="1800" u="none" cap="none" strike="noStrike">
                <a:solidFill>
                  <a:srgbClr val="E8ECFF"/>
                </a:solidFill>
                <a:latin typeface="Courier New"/>
                <a:ea typeface="Courier New"/>
                <a:cs typeface="Courier New"/>
                <a:sym typeface="Courier New"/>
              </a:rPr>
              <a:t> Pi = </a:t>
            </a:r>
            <a:r>
              <a:rPr b="0" i="0" lang="en-US" sz="1800" u="none" cap="none" strike="noStrike">
                <a:solidFill>
                  <a:srgbClr val="FFC58A"/>
                </a:solidFill>
                <a:latin typeface="Courier New"/>
                <a:ea typeface="Courier New"/>
                <a:cs typeface="Courier New"/>
                <a:sym typeface="Courier New"/>
              </a:rPr>
              <a:t>3.14159</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C93C9"/>
              </a:buClr>
              <a:buSzPts val="1800"/>
              <a:buFont typeface="Courier New"/>
              <a:buNone/>
            </a:pPr>
            <a:r>
              <a:rPr b="0" i="0" lang="en-US" sz="1800" u="none" cap="none" strike="noStrike">
                <a:solidFill>
                  <a:srgbClr val="8C93C9"/>
                </a:solidFill>
                <a:latin typeface="Courier New"/>
                <a:ea typeface="Courier New"/>
                <a:cs typeface="Courier New"/>
                <a:sym typeface="Courier New"/>
              </a:rPr>
              <a:t>// di dalam func main()</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800"/>
              <a:buFont typeface="Courier New"/>
              <a:buNone/>
            </a:pPr>
            <a:r>
              <a:rPr b="0" i="0" lang="en-US" sz="1800" u="none" cap="none" strike="noStrike">
                <a:solidFill>
                  <a:srgbClr val="E8ECFF"/>
                </a:solidFill>
                <a:latin typeface="Courier New"/>
                <a:ea typeface="Courier New"/>
                <a:cs typeface="Courier New"/>
                <a:sym typeface="Courier New"/>
              </a:rPr>
              <a:t>r := </a:t>
            </a:r>
            <a:r>
              <a:rPr b="0" i="0" lang="en-US" sz="1800" u="none" cap="none" strike="noStrike">
                <a:solidFill>
                  <a:srgbClr val="FFC58A"/>
                </a:solidFill>
                <a:latin typeface="Courier New"/>
                <a:ea typeface="Courier New"/>
                <a:cs typeface="Courier New"/>
                <a:sym typeface="Courier New"/>
              </a:rPr>
              <a:t>7.0</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800"/>
              <a:buFont typeface="Courier New"/>
              <a:buNone/>
            </a:pPr>
            <a:r>
              <a:rPr b="0" i="0" lang="en-US" sz="1800" u="none" cap="none" strike="noStrike">
                <a:solidFill>
                  <a:srgbClr val="E8ECFF"/>
                </a:solidFill>
                <a:latin typeface="Courier New"/>
                <a:ea typeface="Courier New"/>
                <a:cs typeface="Courier New"/>
                <a:sym typeface="Courier New"/>
              </a:rPr>
              <a:t>luas := Pi * r * r</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800"/>
              <a:buFont typeface="Courier New"/>
              <a:buNone/>
            </a:pPr>
            <a:r>
              <a:rPr b="0" i="0" lang="en-US" sz="1800" u="none" cap="none" strike="noStrike">
                <a:solidFill>
                  <a:srgbClr val="E8ECFF"/>
                </a:solidFill>
                <a:latin typeface="Courier New"/>
                <a:ea typeface="Courier New"/>
                <a:cs typeface="Courier New"/>
                <a:sym typeface="Courier New"/>
              </a:rPr>
              <a:t>keliling := </a:t>
            </a:r>
            <a:r>
              <a:rPr b="0" i="0" lang="en-US" sz="1800" u="none" cap="none" strike="noStrike">
                <a:solidFill>
                  <a:srgbClr val="FFC58A"/>
                </a:solidFill>
                <a:latin typeface="Courier New"/>
                <a:ea typeface="Courier New"/>
                <a:cs typeface="Courier New"/>
                <a:sym typeface="Courier New"/>
              </a:rPr>
              <a:t>2</a:t>
            </a:r>
            <a:r>
              <a:rPr b="0" i="0" lang="en-US" sz="1800" u="none" cap="none" strike="noStrike">
                <a:solidFill>
                  <a:srgbClr val="E8ECFF"/>
                </a:solidFill>
                <a:latin typeface="Courier New"/>
                <a:ea typeface="Courier New"/>
                <a:cs typeface="Courier New"/>
                <a:sym typeface="Courier New"/>
              </a:rPr>
              <a:t> * Pi * r</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800"/>
              <a:buFont typeface="Courier New"/>
              <a:buNone/>
            </a:pPr>
            <a:r>
              <a:rPr b="0" i="0" lang="en-US" sz="1800" u="none" cap="none" strike="noStrike">
                <a:solidFill>
                  <a:srgbClr val="E8ECFF"/>
                </a:solidFill>
                <a:latin typeface="Courier New"/>
                <a:ea typeface="Courier New"/>
                <a:cs typeface="Courier New"/>
                <a:sym typeface="Courier New"/>
              </a:rPr>
              <a:t>fmt.Printf(</a:t>
            </a:r>
            <a:r>
              <a:rPr b="0" i="0" lang="en-US" sz="1800" u="none" cap="none" strike="noStrike">
                <a:solidFill>
                  <a:srgbClr val="A8E6CF"/>
                </a:solidFill>
                <a:latin typeface="Courier New"/>
                <a:ea typeface="Courier New"/>
                <a:cs typeface="Courier New"/>
                <a:sym typeface="Courier New"/>
              </a:rPr>
              <a:t>"Luas: %.2f\n"</a:t>
            </a:r>
            <a:r>
              <a:rPr b="0" i="0" lang="en-US" sz="1800" u="none" cap="none" strike="noStrike">
                <a:solidFill>
                  <a:srgbClr val="E8ECFF"/>
                </a:solidFill>
                <a:latin typeface="Courier New"/>
                <a:ea typeface="Courier New"/>
                <a:cs typeface="Courier New"/>
                <a:sym typeface="Courier New"/>
              </a:rPr>
              <a:t>, luas)</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CFF"/>
              </a:buClr>
              <a:buSzPts val="1800"/>
              <a:buFont typeface="Courier New"/>
              <a:buNone/>
            </a:pPr>
            <a:r>
              <a:rPr b="0" i="0" lang="en-US" sz="1800" u="none" cap="none" strike="noStrike">
                <a:solidFill>
                  <a:srgbClr val="E8ECFF"/>
                </a:solidFill>
                <a:latin typeface="Courier New"/>
                <a:ea typeface="Courier New"/>
                <a:cs typeface="Courier New"/>
                <a:sym typeface="Courier New"/>
              </a:rPr>
              <a:t>fmt.Printf(</a:t>
            </a:r>
            <a:r>
              <a:rPr b="0" i="0" lang="en-US" sz="1800" u="none" cap="none" strike="noStrike">
                <a:solidFill>
                  <a:srgbClr val="A8E6CF"/>
                </a:solidFill>
                <a:latin typeface="Courier New"/>
                <a:ea typeface="Courier New"/>
                <a:cs typeface="Courier New"/>
                <a:sym typeface="Courier New"/>
              </a:rPr>
              <a:t>"Keliling: %.2f\n"</a:t>
            </a:r>
            <a:r>
              <a:rPr b="0" i="0" lang="en-US" sz="1800" u="none" cap="none" strike="noStrike">
                <a:solidFill>
                  <a:srgbClr val="E8ECFF"/>
                </a:solidFill>
                <a:latin typeface="Courier New"/>
                <a:ea typeface="Courier New"/>
                <a:cs typeface="Courier New"/>
                <a:sym typeface="Courier New"/>
              </a:rPr>
              <a:t>, keliling)</a:t>
            </a:r>
            <a:endParaRPr b="0" i="0" sz="1800" u="none" cap="none" strike="noStrike">
              <a:solidFill>
                <a:schemeClr val="dk1"/>
              </a:solidFill>
              <a:latin typeface="Calibri"/>
              <a:ea typeface="Calibri"/>
              <a:cs typeface="Calibri"/>
              <a:sym typeface="Calibri"/>
            </a:endParaRPr>
          </a:p>
        </p:txBody>
      </p:sp>
      <p:sp>
        <p:nvSpPr>
          <p:cNvPr id="659" name="Google Shape;659;p28"/>
          <p:cNvSpPr txBox="1"/>
          <p:nvPr/>
        </p:nvSpPr>
        <p:spPr>
          <a:xfrm>
            <a:off x="9418320" y="9052560"/>
            <a:ext cx="79552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300"/>
              <a:buFont typeface="Calibri"/>
              <a:buNone/>
            </a:pPr>
            <a:r>
              <a:rPr b="0" i="0" lang="en-US" sz="2300" u="none" cap="none" strike="noStrike">
                <a:solidFill>
                  <a:srgbClr val="13123D"/>
                </a:solidFill>
                <a:latin typeface="Calibri"/>
                <a:ea typeface="Calibri"/>
                <a:cs typeface="Calibri"/>
                <a:sym typeface="Calibri"/>
              </a:rPr>
              <a:t>const Pi dideklarasikan sekali, dipakai berulang.</a:t>
            </a:r>
            <a:endParaRPr b="0" i="0" sz="23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pic>
        <p:nvPicPr>
          <p:cNvPr descr="/home/claude/assets/image6.png" id="665" name="Google Shape;665;p29"/>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666" name="Google Shape;666;p29"/>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667" name="Google Shape;667;p29"/>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SOFT SKILL · 35 MENIT</a:t>
            </a:r>
            <a:endParaRPr b="0" i="0" sz="2000" u="none" cap="none" strike="noStrike">
              <a:solidFill>
                <a:schemeClr val="dk1"/>
              </a:solidFill>
              <a:latin typeface="Calibri"/>
              <a:ea typeface="Calibri"/>
              <a:cs typeface="Calibri"/>
              <a:sym typeface="Calibri"/>
            </a:endParaRPr>
          </a:p>
        </p:txBody>
      </p:sp>
      <p:sp>
        <p:nvSpPr>
          <p:cNvPr id="668" name="Google Shape;668;p29"/>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Komunikasi Efektif di Tim IT</a:t>
            </a:r>
            <a:endParaRPr b="0" i="0" sz="4800" u="none" cap="none" strike="noStrike">
              <a:solidFill>
                <a:schemeClr val="dk1"/>
              </a:solidFill>
              <a:latin typeface="Calibri"/>
              <a:ea typeface="Calibri"/>
              <a:cs typeface="Calibri"/>
              <a:sym typeface="Calibri"/>
            </a:endParaRPr>
          </a:p>
        </p:txBody>
      </p:sp>
      <p:sp>
        <p:nvSpPr>
          <p:cNvPr id="669" name="Google Shape;669;p29"/>
          <p:cNvSpPr/>
          <p:nvPr/>
        </p:nvSpPr>
        <p:spPr>
          <a:xfrm>
            <a:off x="914400" y="4343400"/>
            <a:ext cx="79552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9"/>
          <p:cNvSpPr/>
          <p:nvPr/>
        </p:nvSpPr>
        <p:spPr>
          <a:xfrm>
            <a:off x="1234440" y="502920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1" name="Google Shape;671;p29"/>
          <p:cNvPicPr preferRelativeResize="0"/>
          <p:nvPr/>
        </p:nvPicPr>
        <p:blipFill rotWithShape="1">
          <a:blip r:embed="rId5">
            <a:alphaModFix/>
          </a:blip>
          <a:srcRect b="0" l="0" r="0" t="0"/>
          <a:stretch/>
        </p:blipFill>
        <p:spPr>
          <a:xfrm>
            <a:off x="1497787" y="5292547"/>
            <a:ext cx="570586" cy="570586"/>
          </a:xfrm>
          <a:prstGeom prst="rect">
            <a:avLst/>
          </a:prstGeom>
          <a:noFill/>
          <a:ln>
            <a:noFill/>
          </a:ln>
        </p:spPr>
      </p:pic>
      <p:sp>
        <p:nvSpPr>
          <p:cNvPr id="672" name="Google Shape;672;p29"/>
          <p:cNvSpPr txBox="1"/>
          <p:nvPr/>
        </p:nvSpPr>
        <p:spPr>
          <a:xfrm>
            <a:off x="2697480" y="4709160"/>
            <a:ext cx="5943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Requirement</a:t>
            </a:r>
            <a:endParaRPr b="0" i="0" sz="2800" u="none" cap="none" strike="noStrike">
              <a:solidFill>
                <a:schemeClr val="dk1"/>
              </a:solidFill>
              <a:latin typeface="Calibri"/>
              <a:ea typeface="Calibri"/>
              <a:cs typeface="Calibri"/>
              <a:sym typeface="Calibri"/>
            </a:endParaRPr>
          </a:p>
        </p:txBody>
      </p:sp>
      <p:sp>
        <p:nvSpPr>
          <p:cNvPr id="673" name="Google Shape;673;p29"/>
          <p:cNvSpPr txBox="1"/>
          <p:nvPr/>
        </p:nvSpPr>
        <p:spPr>
          <a:xfrm>
            <a:off x="2697480" y="5349240"/>
            <a:ext cx="58521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Salah paham kebutuhan membuat fitur yang dibuat tidak sesuai.</a:t>
            </a:r>
            <a:endParaRPr b="0" i="0" sz="2200" u="none" cap="none" strike="noStrike">
              <a:solidFill>
                <a:schemeClr val="dk1"/>
              </a:solidFill>
              <a:latin typeface="Calibri"/>
              <a:ea typeface="Calibri"/>
              <a:cs typeface="Calibri"/>
              <a:sym typeface="Calibri"/>
            </a:endParaRPr>
          </a:p>
        </p:txBody>
      </p:sp>
      <p:sp>
        <p:nvSpPr>
          <p:cNvPr id="674" name="Google Shape;674;p29"/>
          <p:cNvSpPr/>
          <p:nvPr/>
        </p:nvSpPr>
        <p:spPr>
          <a:xfrm>
            <a:off x="9418320" y="4343400"/>
            <a:ext cx="79552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9"/>
          <p:cNvSpPr/>
          <p:nvPr/>
        </p:nvSpPr>
        <p:spPr>
          <a:xfrm>
            <a:off x="9738360" y="502920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76" name="Google Shape;676;p29"/>
          <p:cNvPicPr preferRelativeResize="0"/>
          <p:nvPr/>
        </p:nvPicPr>
        <p:blipFill rotWithShape="1">
          <a:blip r:embed="rId6">
            <a:alphaModFix/>
          </a:blip>
          <a:srcRect b="0" l="0" r="0" t="0"/>
          <a:stretch/>
        </p:blipFill>
        <p:spPr>
          <a:xfrm>
            <a:off x="10001707" y="5292547"/>
            <a:ext cx="570586" cy="570586"/>
          </a:xfrm>
          <a:prstGeom prst="rect">
            <a:avLst/>
          </a:prstGeom>
          <a:noFill/>
          <a:ln>
            <a:noFill/>
          </a:ln>
        </p:spPr>
      </p:pic>
      <p:sp>
        <p:nvSpPr>
          <p:cNvPr id="677" name="Google Shape;677;p29"/>
          <p:cNvSpPr txBox="1"/>
          <p:nvPr/>
        </p:nvSpPr>
        <p:spPr>
          <a:xfrm>
            <a:off x="11201400" y="4709160"/>
            <a:ext cx="5943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Laporan bug</a:t>
            </a:r>
            <a:endParaRPr b="0" i="0" sz="2800" u="none" cap="none" strike="noStrike">
              <a:solidFill>
                <a:schemeClr val="dk1"/>
              </a:solidFill>
              <a:latin typeface="Calibri"/>
              <a:ea typeface="Calibri"/>
              <a:cs typeface="Calibri"/>
              <a:sym typeface="Calibri"/>
            </a:endParaRPr>
          </a:p>
        </p:txBody>
      </p:sp>
      <p:sp>
        <p:nvSpPr>
          <p:cNvPr id="678" name="Google Shape;678;p29"/>
          <p:cNvSpPr txBox="1"/>
          <p:nvPr/>
        </p:nvSpPr>
        <p:spPr>
          <a:xfrm>
            <a:off x="11201400" y="5349240"/>
            <a:ext cx="58521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Laporan tidak jelas membuat waktu habis untuk menebak masalah.</a:t>
            </a:r>
            <a:endParaRPr b="0" i="0" sz="2200" u="none" cap="none" strike="noStrike">
              <a:solidFill>
                <a:schemeClr val="dk1"/>
              </a:solidFill>
              <a:latin typeface="Calibri"/>
              <a:ea typeface="Calibri"/>
              <a:cs typeface="Calibri"/>
              <a:sym typeface="Calibri"/>
            </a:endParaRPr>
          </a:p>
        </p:txBody>
      </p:sp>
      <p:sp>
        <p:nvSpPr>
          <p:cNvPr id="679" name="Google Shape;679;p29"/>
          <p:cNvSpPr/>
          <p:nvPr/>
        </p:nvSpPr>
        <p:spPr>
          <a:xfrm>
            <a:off x="914400" y="7086600"/>
            <a:ext cx="79552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9"/>
          <p:cNvSpPr/>
          <p:nvPr/>
        </p:nvSpPr>
        <p:spPr>
          <a:xfrm>
            <a:off x="1234440" y="777240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1" name="Google Shape;681;p29"/>
          <p:cNvPicPr preferRelativeResize="0"/>
          <p:nvPr/>
        </p:nvPicPr>
        <p:blipFill rotWithShape="1">
          <a:blip r:embed="rId7">
            <a:alphaModFix/>
          </a:blip>
          <a:srcRect b="0" l="0" r="0" t="0"/>
          <a:stretch/>
        </p:blipFill>
        <p:spPr>
          <a:xfrm>
            <a:off x="1497787" y="8035747"/>
            <a:ext cx="570586" cy="570586"/>
          </a:xfrm>
          <a:prstGeom prst="rect">
            <a:avLst/>
          </a:prstGeom>
          <a:noFill/>
          <a:ln>
            <a:noFill/>
          </a:ln>
        </p:spPr>
      </p:pic>
      <p:sp>
        <p:nvSpPr>
          <p:cNvPr id="682" name="Google Shape;682;p29"/>
          <p:cNvSpPr txBox="1"/>
          <p:nvPr/>
        </p:nvSpPr>
        <p:spPr>
          <a:xfrm>
            <a:off x="2697480" y="7452360"/>
            <a:ext cx="5943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Code review</a:t>
            </a:r>
            <a:endParaRPr b="0" i="0" sz="2800" u="none" cap="none" strike="noStrike">
              <a:solidFill>
                <a:schemeClr val="dk1"/>
              </a:solidFill>
              <a:latin typeface="Calibri"/>
              <a:ea typeface="Calibri"/>
              <a:cs typeface="Calibri"/>
              <a:sym typeface="Calibri"/>
            </a:endParaRPr>
          </a:p>
        </p:txBody>
      </p:sp>
      <p:sp>
        <p:nvSpPr>
          <p:cNvPr id="683" name="Google Shape;683;p29"/>
          <p:cNvSpPr txBox="1"/>
          <p:nvPr/>
        </p:nvSpPr>
        <p:spPr>
          <a:xfrm>
            <a:off x="2697480" y="8092440"/>
            <a:ext cx="58521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Komentar ambigu memicu salah tafsir dan perbaikan berulang.</a:t>
            </a:r>
            <a:endParaRPr b="0" i="0" sz="2200" u="none" cap="none" strike="noStrike">
              <a:solidFill>
                <a:schemeClr val="dk1"/>
              </a:solidFill>
              <a:latin typeface="Calibri"/>
              <a:ea typeface="Calibri"/>
              <a:cs typeface="Calibri"/>
              <a:sym typeface="Calibri"/>
            </a:endParaRPr>
          </a:p>
        </p:txBody>
      </p:sp>
      <p:sp>
        <p:nvSpPr>
          <p:cNvPr id="684" name="Google Shape;684;p29"/>
          <p:cNvSpPr/>
          <p:nvPr/>
        </p:nvSpPr>
        <p:spPr>
          <a:xfrm>
            <a:off x="9418320" y="7086600"/>
            <a:ext cx="7955280" cy="2468880"/>
          </a:xfrm>
          <a:prstGeom prst="roundRect">
            <a:avLst>
              <a:gd fmla="val 5556"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9"/>
          <p:cNvSpPr/>
          <p:nvPr/>
        </p:nvSpPr>
        <p:spPr>
          <a:xfrm>
            <a:off x="9738360" y="7772400"/>
            <a:ext cx="1097280" cy="1097280"/>
          </a:xfrm>
          <a:prstGeom prst="ellipse">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86" name="Google Shape;686;p29"/>
          <p:cNvPicPr preferRelativeResize="0"/>
          <p:nvPr/>
        </p:nvPicPr>
        <p:blipFill rotWithShape="1">
          <a:blip r:embed="rId8">
            <a:alphaModFix/>
          </a:blip>
          <a:srcRect b="0" l="0" r="0" t="0"/>
          <a:stretch/>
        </p:blipFill>
        <p:spPr>
          <a:xfrm>
            <a:off x="10001707" y="8035747"/>
            <a:ext cx="570586" cy="570586"/>
          </a:xfrm>
          <a:prstGeom prst="rect">
            <a:avLst/>
          </a:prstGeom>
          <a:noFill/>
          <a:ln>
            <a:noFill/>
          </a:ln>
        </p:spPr>
      </p:pic>
      <p:sp>
        <p:nvSpPr>
          <p:cNvPr id="687" name="Google Shape;687;p29"/>
          <p:cNvSpPr txBox="1"/>
          <p:nvPr/>
        </p:nvSpPr>
        <p:spPr>
          <a:xfrm>
            <a:off x="11201400" y="7452360"/>
            <a:ext cx="5943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800"/>
              <a:buFont typeface="Calibri"/>
              <a:buNone/>
            </a:pPr>
            <a:r>
              <a:rPr b="1" i="0" lang="en-US" sz="2800" u="none" cap="none" strike="noStrike">
                <a:solidFill>
                  <a:srgbClr val="162CA2"/>
                </a:solidFill>
                <a:latin typeface="Calibri"/>
                <a:ea typeface="Calibri"/>
                <a:cs typeface="Calibri"/>
                <a:sym typeface="Calibri"/>
              </a:rPr>
              <a:t>Daily stand-up</a:t>
            </a:r>
            <a:endParaRPr b="0" i="0" sz="2800" u="none" cap="none" strike="noStrike">
              <a:solidFill>
                <a:schemeClr val="dk1"/>
              </a:solidFill>
              <a:latin typeface="Calibri"/>
              <a:ea typeface="Calibri"/>
              <a:cs typeface="Calibri"/>
              <a:sym typeface="Calibri"/>
            </a:endParaRPr>
          </a:p>
        </p:txBody>
      </p:sp>
      <p:sp>
        <p:nvSpPr>
          <p:cNvPr id="688" name="Google Shape;688;p29"/>
          <p:cNvSpPr txBox="1"/>
          <p:nvPr/>
        </p:nvSpPr>
        <p:spPr>
          <a:xfrm>
            <a:off x="11201400" y="8092440"/>
            <a:ext cx="58521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Kendala yang tidak disampaikan membuat tim terlambat membantu.</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pic>
        <p:nvPicPr>
          <p:cNvPr descr="/home/claude/assets/image6.png" id="694" name="Google Shape;694;p30"/>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695" name="Google Shape;695;p30"/>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696" name="Google Shape;696;p30"/>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SOFT SKILL · 35 MENIT</a:t>
            </a:r>
            <a:endParaRPr b="0" i="0" sz="2000" u="none" cap="none" strike="noStrike">
              <a:solidFill>
                <a:schemeClr val="dk1"/>
              </a:solidFill>
              <a:latin typeface="Calibri"/>
              <a:ea typeface="Calibri"/>
              <a:cs typeface="Calibri"/>
              <a:sym typeface="Calibri"/>
            </a:endParaRPr>
          </a:p>
        </p:txBody>
      </p:sp>
      <p:sp>
        <p:nvSpPr>
          <p:cNvPr id="697" name="Google Shape;697;p30"/>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Model Komunikasi</a:t>
            </a:r>
            <a:endParaRPr b="0" i="0" sz="4800" u="none" cap="none" strike="noStrike">
              <a:solidFill>
                <a:schemeClr val="dk1"/>
              </a:solidFill>
              <a:latin typeface="Calibri"/>
              <a:ea typeface="Calibri"/>
              <a:cs typeface="Calibri"/>
              <a:sym typeface="Calibri"/>
            </a:endParaRPr>
          </a:p>
        </p:txBody>
      </p:sp>
      <p:sp>
        <p:nvSpPr>
          <p:cNvPr id="698" name="Google Shape;698;p30"/>
          <p:cNvSpPr/>
          <p:nvPr/>
        </p:nvSpPr>
        <p:spPr>
          <a:xfrm>
            <a:off x="914400" y="4343400"/>
            <a:ext cx="4572000" cy="1188720"/>
          </a:xfrm>
          <a:prstGeom prst="roundRect">
            <a:avLst>
              <a:gd fmla="val 9231"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3000"/>
              <a:buFont typeface="Calibri"/>
              <a:buNone/>
            </a:pPr>
            <a:r>
              <a:rPr b="1" i="0" lang="en-US" sz="3000" u="none" cap="none" strike="noStrike">
                <a:solidFill>
                  <a:srgbClr val="FDFBFB"/>
                </a:solidFill>
                <a:latin typeface="Calibri"/>
                <a:ea typeface="Calibri"/>
                <a:cs typeface="Calibri"/>
                <a:sym typeface="Calibri"/>
              </a:rPr>
              <a:t>Pengirim</a:t>
            </a:r>
            <a:endParaRPr b="0" i="0" sz="3000" u="none" cap="none" strike="noStrike">
              <a:solidFill>
                <a:schemeClr val="dk1"/>
              </a:solidFill>
              <a:latin typeface="Calibri"/>
              <a:ea typeface="Calibri"/>
              <a:cs typeface="Calibri"/>
              <a:sym typeface="Calibri"/>
            </a:endParaRPr>
          </a:p>
        </p:txBody>
      </p:sp>
      <p:cxnSp>
        <p:nvCxnSpPr>
          <p:cNvPr id="699" name="Google Shape;699;p30"/>
          <p:cNvCxnSpPr/>
          <p:nvPr/>
        </p:nvCxnSpPr>
        <p:spPr>
          <a:xfrm>
            <a:off x="5532120" y="4937760"/>
            <a:ext cx="1280160" cy="0"/>
          </a:xfrm>
          <a:prstGeom prst="straightConnector1">
            <a:avLst/>
          </a:prstGeom>
          <a:noFill/>
          <a:ln cap="flat" cmpd="sng" w="31750">
            <a:solidFill>
              <a:srgbClr val="13123D"/>
            </a:solidFill>
            <a:prstDash val="solid"/>
            <a:round/>
            <a:headEnd len="sm" w="sm" type="none"/>
            <a:tailEnd len="med" w="med" type="triangle"/>
          </a:ln>
        </p:spPr>
      </p:cxnSp>
      <p:sp>
        <p:nvSpPr>
          <p:cNvPr id="700" name="Google Shape;700;p30"/>
          <p:cNvSpPr/>
          <p:nvPr/>
        </p:nvSpPr>
        <p:spPr>
          <a:xfrm>
            <a:off x="6858000" y="4343400"/>
            <a:ext cx="4572000" cy="1188720"/>
          </a:xfrm>
          <a:prstGeom prst="roundRect">
            <a:avLst>
              <a:gd fmla="val 9231" name="adj"/>
            </a:avLst>
          </a:prstGeom>
          <a:solidFill>
            <a:srgbClr val="FCDF59"/>
          </a:solidFill>
          <a:ln cap="flat" cmpd="sng" w="9525">
            <a:solidFill>
              <a:srgbClr val="FCDF59"/>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3123D"/>
              </a:buClr>
              <a:buSzPts val="3000"/>
              <a:buFont typeface="Calibri"/>
              <a:buNone/>
            </a:pPr>
            <a:r>
              <a:rPr b="1" i="0" lang="en-US" sz="3000" u="none" cap="none" strike="noStrike">
                <a:solidFill>
                  <a:srgbClr val="13123D"/>
                </a:solidFill>
                <a:latin typeface="Calibri"/>
                <a:ea typeface="Calibri"/>
                <a:cs typeface="Calibri"/>
                <a:sym typeface="Calibri"/>
              </a:rPr>
              <a:t>Pesan</a:t>
            </a:r>
            <a:endParaRPr b="0" i="0" sz="3000" u="none" cap="none" strike="noStrike">
              <a:solidFill>
                <a:schemeClr val="dk1"/>
              </a:solidFill>
              <a:latin typeface="Calibri"/>
              <a:ea typeface="Calibri"/>
              <a:cs typeface="Calibri"/>
              <a:sym typeface="Calibri"/>
            </a:endParaRPr>
          </a:p>
        </p:txBody>
      </p:sp>
      <p:cxnSp>
        <p:nvCxnSpPr>
          <p:cNvPr id="701" name="Google Shape;701;p30"/>
          <p:cNvCxnSpPr/>
          <p:nvPr/>
        </p:nvCxnSpPr>
        <p:spPr>
          <a:xfrm>
            <a:off x="11475720" y="4937760"/>
            <a:ext cx="1280160" cy="0"/>
          </a:xfrm>
          <a:prstGeom prst="straightConnector1">
            <a:avLst/>
          </a:prstGeom>
          <a:noFill/>
          <a:ln cap="flat" cmpd="sng" w="31750">
            <a:solidFill>
              <a:srgbClr val="13123D"/>
            </a:solidFill>
            <a:prstDash val="solid"/>
            <a:round/>
            <a:headEnd len="sm" w="sm" type="none"/>
            <a:tailEnd len="med" w="med" type="triangle"/>
          </a:ln>
        </p:spPr>
      </p:cxnSp>
      <p:sp>
        <p:nvSpPr>
          <p:cNvPr id="702" name="Google Shape;702;p30"/>
          <p:cNvSpPr/>
          <p:nvPr/>
        </p:nvSpPr>
        <p:spPr>
          <a:xfrm>
            <a:off x="12801600" y="4343400"/>
            <a:ext cx="4572000" cy="1188720"/>
          </a:xfrm>
          <a:prstGeom prst="roundRect">
            <a:avLst>
              <a:gd fmla="val 9231"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3000"/>
              <a:buFont typeface="Calibri"/>
              <a:buNone/>
            </a:pPr>
            <a:r>
              <a:rPr b="1" i="0" lang="en-US" sz="3000" u="none" cap="none" strike="noStrike">
                <a:solidFill>
                  <a:srgbClr val="FDFBFB"/>
                </a:solidFill>
                <a:latin typeface="Calibri"/>
                <a:ea typeface="Calibri"/>
                <a:cs typeface="Calibri"/>
                <a:sym typeface="Calibri"/>
              </a:rPr>
              <a:t>Penerima</a:t>
            </a:r>
            <a:endParaRPr b="0" i="0" sz="3000" u="none" cap="none" strike="noStrike">
              <a:solidFill>
                <a:schemeClr val="dk1"/>
              </a:solidFill>
              <a:latin typeface="Calibri"/>
              <a:ea typeface="Calibri"/>
              <a:cs typeface="Calibri"/>
              <a:sym typeface="Calibri"/>
            </a:endParaRPr>
          </a:p>
        </p:txBody>
      </p:sp>
      <p:cxnSp>
        <p:nvCxnSpPr>
          <p:cNvPr id="703" name="Google Shape;703;p30"/>
          <p:cNvCxnSpPr/>
          <p:nvPr/>
        </p:nvCxnSpPr>
        <p:spPr>
          <a:xfrm>
            <a:off x="15087600" y="5532120"/>
            <a:ext cx="0" cy="548640"/>
          </a:xfrm>
          <a:prstGeom prst="straightConnector1">
            <a:avLst/>
          </a:prstGeom>
          <a:noFill/>
          <a:ln cap="flat" cmpd="sng" w="31750">
            <a:solidFill>
              <a:srgbClr val="162CA2"/>
            </a:solidFill>
            <a:prstDash val="solid"/>
            <a:round/>
            <a:headEnd len="sm" w="sm" type="none"/>
            <a:tailEnd len="sm" w="sm" type="none"/>
          </a:ln>
        </p:spPr>
      </p:cxnSp>
      <p:cxnSp>
        <p:nvCxnSpPr>
          <p:cNvPr id="704" name="Google Shape;704;p30"/>
          <p:cNvCxnSpPr/>
          <p:nvPr/>
        </p:nvCxnSpPr>
        <p:spPr>
          <a:xfrm>
            <a:off x="3200400" y="6080760"/>
            <a:ext cx="11887200" cy="0"/>
          </a:xfrm>
          <a:prstGeom prst="straightConnector1">
            <a:avLst/>
          </a:prstGeom>
          <a:noFill/>
          <a:ln cap="flat" cmpd="sng" w="31750">
            <a:solidFill>
              <a:srgbClr val="162CA2"/>
            </a:solidFill>
            <a:prstDash val="solid"/>
            <a:round/>
            <a:headEnd len="sm" w="sm" type="none"/>
            <a:tailEnd len="sm" w="sm" type="none"/>
          </a:ln>
        </p:spPr>
      </p:cxnSp>
      <p:cxnSp>
        <p:nvCxnSpPr>
          <p:cNvPr id="705" name="Google Shape;705;p30"/>
          <p:cNvCxnSpPr/>
          <p:nvPr/>
        </p:nvCxnSpPr>
        <p:spPr>
          <a:xfrm>
            <a:off x="3200400" y="5532120"/>
            <a:ext cx="0" cy="548640"/>
          </a:xfrm>
          <a:prstGeom prst="straightConnector1">
            <a:avLst/>
          </a:prstGeom>
          <a:noFill/>
          <a:ln cap="flat" cmpd="sng" w="31750">
            <a:solidFill>
              <a:srgbClr val="162CA2"/>
            </a:solidFill>
            <a:prstDash val="solid"/>
            <a:round/>
            <a:headEnd len="med" w="med" type="triangle"/>
            <a:tailEnd len="sm" w="sm" type="none"/>
          </a:ln>
        </p:spPr>
      </p:cxnSp>
      <p:sp>
        <p:nvSpPr>
          <p:cNvPr id="706" name="Google Shape;706;p30"/>
          <p:cNvSpPr/>
          <p:nvPr/>
        </p:nvSpPr>
        <p:spPr>
          <a:xfrm>
            <a:off x="6675120" y="5852160"/>
            <a:ext cx="3108960" cy="502920"/>
          </a:xfrm>
          <a:prstGeom prst="roundRect">
            <a:avLst>
              <a:gd fmla="val 21818" name="adj"/>
            </a:avLst>
          </a:prstGeom>
          <a:solidFill>
            <a:srgbClr val="FFFFFF"/>
          </a:solidFill>
          <a:ln cap="flat" cmpd="sng" w="9525">
            <a:solidFill>
              <a:srgbClr val="FFFFFF"/>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162CA2"/>
              </a:buClr>
              <a:buSzPts val="2200"/>
              <a:buFont typeface="Calibri"/>
              <a:buNone/>
            </a:pPr>
            <a:r>
              <a:rPr b="1" i="0" lang="en-US" sz="2200" u="none" cap="none" strike="noStrike">
                <a:solidFill>
                  <a:srgbClr val="162CA2"/>
                </a:solidFill>
                <a:latin typeface="Calibri"/>
                <a:ea typeface="Calibri"/>
                <a:cs typeface="Calibri"/>
                <a:sym typeface="Calibri"/>
              </a:rPr>
              <a:t>Umpan balik</a:t>
            </a:r>
            <a:endParaRPr b="0" i="0" sz="2200" u="none" cap="none" strike="noStrike">
              <a:solidFill>
                <a:schemeClr val="dk1"/>
              </a:solidFill>
              <a:latin typeface="Calibri"/>
              <a:ea typeface="Calibri"/>
              <a:cs typeface="Calibri"/>
              <a:sym typeface="Calibri"/>
            </a:endParaRPr>
          </a:p>
        </p:txBody>
      </p:sp>
      <p:sp>
        <p:nvSpPr>
          <p:cNvPr id="707" name="Google Shape;707;p30"/>
          <p:cNvSpPr/>
          <p:nvPr/>
        </p:nvSpPr>
        <p:spPr>
          <a:xfrm>
            <a:off x="914400" y="6675120"/>
            <a:ext cx="7955280" cy="2834640"/>
          </a:xfrm>
          <a:prstGeom prst="roundRect">
            <a:avLst>
              <a:gd fmla="val 4839"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0"/>
          <p:cNvSpPr txBox="1"/>
          <p:nvPr/>
        </p:nvSpPr>
        <p:spPr>
          <a:xfrm>
            <a:off x="1188720" y="6675120"/>
            <a:ext cx="7406640" cy="2834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400"/>
              <a:buFont typeface="Calibri"/>
              <a:buNone/>
            </a:pPr>
            <a:r>
              <a:rPr b="1" i="0" lang="en-US" sz="2400" u="none" cap="none" strike="noStrike">
                <a:solidFill>
                  <a:srgbClr val="162CA2"/>
                </a:solidFill>
                <a:latin typeface="Calibri"/>
                <a:ea typeface="Calibri"/>
                <a:cs typeface="Calibri"/>
                <a:sym typeface="Calibri"/>
              </a:rPr>
              <a:t>Hambatan komunikasi</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Istilah teknis yang tidak dipahami, asumsi tanpa dikonfirmasi, terburu-buru atau multitasking.</a:t>
            </a:r>
            <a:endParaRPr b="0" i="0" sz="2400" u="none" cap="none" strike="noStrike">
              <a:solidFill>
                <a:schemeClr val="dk1"/>
              </a:solidFill>
              <a:latin typeface="Calibri"/>
              <a:ea typeface="Calibri"/>
              <a:cs typeface="Calibri"/>
              <a:sym typeface="Calibri"/>
            </a:endParaRPr>
          </a:p>
        </p:txBody>
      </p:sp>
      <p:sp>
        <p:nvSpPr>
          <p:cNvPr id="709" name="Google Shape;709;p30"/>
          <p:cNvSpPr/>
          <p:nvPr/>
        </p:nvSpPr>
        <p:spPr>
          <a:xfrm>
            <a:off x="9418320" y="6675120"/>
            <a:ext cx="7955280" cy="2834640"/>
          </a:xfrm>
          <a:prstGeom prst="roundRect">
            <a:avLst>
              <a:gd fmla="val 4839"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0"/>
          <p:cNvSpPr txBox="1"/>
          <p:nvPr/>
        </p:nvSpPr>
        <p:spPr>
          <a:xfrm>
            <a:off x="9692640" y="6675120"/>
            <a:ext cx="7406640" cy="2834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Cara mengurangi</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200"/>
              <a:buFont typeface="Calibri"/>
              <a:buNone/>
            </a:pPr>
            <a:r>
              <a:rPr b="0" i="0" lang="en-US" sz="2200" u="none" cap="none" strike="noStrike">
                <a:solidFill>
                  <a:srgbClr val="13123D"/>
                </a:solidFill>
                <a:latin typeface="Calibri"/>
                <a:ea typeface="Calibri"/>
                <a:cs typeface="Calibri"/>
                <a:sym typeface="Calibri"/>
              </a:rPr>
              <a:t>Konfirmasi pemahaman, beri contoh konkret, dan gunakan bahasa sederhana.</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pic>
        <p:nvPicPr>
          <p:cNvPr descr="/home/claude/assets/image6.png" id="716" name="Google Shape;716;p31"/>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717" name="Google Shape;717;p31"/>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718" name="Google Shape;718;p31"/>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SOFT SKILL · 35 MENIT</a:t>
            </a:r>
            <a:endParaRPr b="0" i="0" sz="2000" u="none" cap="none" strike="noStrike">
              <a:solidFill>
                <a:schemeClr val="dk1"/>
              </a:solidFill>
              <a:latin typeface="Calibri"/>
              <a:ea typeface="Calibri"/>
              <a:cs typeface="Calibri"/>
              <a:sym typeface="Calibri"/>
            </a:endParaRPr>
          </a:p>
        </p:txBody>
      </p:sp>
      <p:sp>
        <p:nvSpPr>
          <p:cNvPr id="719" name="Google Shape;719;p31"/>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Mendengarkan Aktif</a:t>
            </a:r>
            <a:endParaRPr b="0" i="0" sz="4800" u="none" cap="none" strike="noStrike">
              <a:solidFill>
                <a:schemeClr val="dk1"/>
              </a:solidFill>
              <a:latin typeface="Calibri"/>
              <a:ea typeface="Calibri"/>
              <a:cs typeface="Calibri"/>
              <a:sym typeface="Calibri"/>
            </a:endParaRPr>
          </a:p>
        </p:txBody>
      </p:sp>
      <p:sp>
        <p:nvSpPr>
          <p:cNvPr id="720" name="Google Shape;720;p31"/>
          <p:cNvSpPr/>
          <p:nvPr/>
        </p:nvSpPr>
        <p:spPr>
          <a:xfrm>
            <a:off x="914400" y="4343400"/>
            <a:ext cx="9509760" cy="1188720"/>
          </a:xfrm>
          <a:prstGeom prst="roundRect">
            <a:avLst>
              <a:gd fmla="val 1153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1"/>
          <p:cNvSpPr/>
          <p:nvPr/>
        </p:nvSpPr>
        <p:spPr>
          <a:xfrm>
            <a:off x="1143000" y="4594860"/>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1</a:t>
            </a:r>
            <a:endParaRPr b="0" i="0" sz="2400" u="none" cap="none" strike="noStrike">
              <a:solidFill>
                <a:schemeClr val="dk1"/>
              </a:solidFill>
              <a:latin typeface="Calibri"/>
              <a:ea typeface="Calibri"/>
              <a:cs typeface="Calibri"/>
              <a:sym typeface="Calibri"/>
            </a:endParaRPr>
          </a:p>
        </p:txBody>
      </p:sp>
      <p:sp>
        <p:nvSpPr>
          <p:cNvPr id="722" name="Google Shape;722;p31"/>
          <p:cNvSpPr txBox="1"/>
          <p:nvPr/>
        </p:nvSpPr>
        <p:spPr>
          <a:xfrm>
            <a:off x="2011680" y="4343400"/>
            <a:ext cx="82296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Fokus penuh</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Simpan gawai, arahkan perhatian ke pembicara.</a:t>
            </a:r>
            <a:endParaRPr b="0" i="0" sz="2400" u="none" cap="none" strike="noStrike">
              <a:solidFill>
                <a:schemeClr val="dk1"/>
              </a:solidFill>
              <a:latin typeface="Calibri"/>
              <a:ea typeface="Calibri"/>
              <a:cs typeface="Calibri"/>
              <a:sym typeface="Calibri"/>
            </a:endParaRPr>
          </a:p>
        </p:txBody>
      </p:sp>
      <p:sp>
        <p:nvSpPr>
          <p:cNvPr id="723" name="Google Shape;723;p31"/>
          <p:cNvSpPr/>
          <p:nvPr/>
        </p:nvSpPr>
        <p:spPr>
          <a:xfrm>
            <a:off x="914400" y="5669280"/>
            <a:ext cx="9509760" cy="1188720"/>
          </a:xfrm>
          <a:prstGeom prst="roundRect">
            <a:avLst>
              <a:gd fmla="val 1153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1"/>
          <p:cNvSpPr/>
          <p:nvPr/>
        </p:nvSpPr>
        <p:spPr>
          <a:xfrm>
            <a:off x="1143000" y="5920740"/>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2</a:t>
            </a:r>
            <a:endParaRPr b="0" i="0" sz="2400" u="none" cap="none" strike="noStrike">
              <a:solidFill>
                <a:schemeClr val="dk1"/>
              </a:solidFill>
              <a:latin typeface="Calibri"/>
              <a:ea typeface="Calibri"/>
              <a:cs typeface="Calibri"/>
              <a:sym typeface="Calibri"/>
            </a:endParaRPr>
          </a:p>
        </p:txBody>
      </p:sp>
      <p:sp>
        <p:nvSpPr>
          <p:cNvPr id="725" name="Google Shape;725;p31"/>
          <p:cNvSpPr txBox="1"/>
          <p:nvPr/>
        </p:nvSpPr>
        <p:spPr>
          <a:xfrm>
            <a:off x="2011680" y="5669280"/>
            <a:ext cx="82296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Biarkan selesai</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Jangan memotong atau menyusun bantahan sambil mendengar.</a:t>
            </a:r>
            <a:endParaRPr b="0" i="0" sz="2400" u="none" cap="none" strike="noStrike">
              <a:solidFill>
                <a:schemeClr val="dk1"/>
              </a:solidFill>
              <a:latin typeface="Calibri"/>
              <a:ea typeface="Calibri"/>
              <a:cs typeface="Calibri"/>
              <a:sym typeface="Calibri"/>
            </a:endParaRPr>
          </a:p>
        </p:txBody>
      </p:sp>
      <p:sp>
        <p:nvSpPr>
          <p:cNvPr id="726" name="Google Shape;726;p31"/>
          <p:cNvSpPr/>
          <p:nvPr/>
        </p:nvSpPr>
        <p:spPr>
          <a:xfrm>
            <a:off x="914400" y="6995160"/>
            <a:ext cx="9509760" cy="1188720"/>
          </a:xfrm>
          <a:prstGeom prst="roundRect">
            <a:avLst>
              <a:gd fmla="val 1153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1"/>
          <p:cNvSpPr/>
          <p:nvPr/>
        </p:nvSpPr>
        <p:spPr>
          <a:xfrm>
            <a:off x="1143000" y="7246620"/>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3</a:t>
            </a:r>
            <a:endParaRPr b="0" i="0" sz="2400" u="none" cap="none" strike="noStrike">
              <a:solidFill>
                <a:schemeClr val="dk1"/>
              </a:solidFill>
              <a:latin typeface="Calibri"/>
              <a:ea typeface="Calibri"/>
              <a:cs typeface="Calibri"/>
              <a:sym typeface="Calibri"/>
            </a:endParaRPr>
          </a:p>
        </p:txBody>
      </p:sp>
      <p:sp>
        <p:nvSpPr>
          <p:cNvPr id="728" name="Google Shape;728;p31"/>
          <p:cNvSpPr txBox="1"/>
          <p:nvPr/>
        </p:nvSpPr>
        <p:spPr>
          <a:xfrm>
            <a:off x="2011680" y="6995160"/>
            <a:ext cx="82296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Parafrase</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Ulangi dengan kata sendiri: "Jadi maksudmu... benar?"</a:t>
            </a:r>
            <a:endParaRPr b="0" i="0" sz="2400" u="none" cap="none" strike="noStrike">
              <a:solidFill>
                <a:schemeClr val="dk1"/>
              </a:solidFill>
              <a:latin typeface="Calibri"/>
              <a:ea typeface="Calibri"/>
              <a:cs typeface="Calibri"/>
              <a:sym typeface="Calibri"/>
            </a:endParaRPr>
          </a:p>
        </p:txBody>
      </p:sp>
      <p:sp>
        <p:nvSpPr>
          <p:cNvPr id="729" name="Google Shape;729;p31"/>
          <p:cNvSpPr/>
          <p:nvPr/>
        </p:nvSpPr>
        <p:spPr>
          <a:xfrm>
            <a:off x="914400" y="8321040"/>
            <a:ext cx="9509760" cy="1188720"/>
          </a:xfrm>
          <a:prstGeom prst="roundRect">
            <a:avLst>
              <a:gd fmla="val 11538"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1"/>
          <p:cNvSpPr/>
          <p:nvPr/>
        </p:nvSpPr>
        <p:spPr>
          <a:xfrm>
            <a:off x="1143000" y="8572500"/>
            <a:ext cx="685800" cy="6858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2400"/>
              <a:buFont typeface="Arial"/>
              <a:buNone/>
            </a:pPr>
            <a:r>
              <a:rPr b="1" i="0" lang="en-US" sz="2400" u="none" cap="none" strike="noStrike">
                <a:solidFill>
                  <a:srgbClr val="13123D"/>
                </a:solidFill>
                <a:latin typeface="Arial"/>
                <a:ea typeface="Arial"/>
                <a:cs typeface="Arial"/>
                <a:sym typeface="Arial"/>
              </a:rPr>
              <a:t>4</a:t>
            </a:r>
            <a:endParaRPr b="0" i="0" sz="2400" u="none" cap="none" strike="noStrike">
              <a:solidFill>
                <a:schemeClr val="dk1"/>
              </a:solidFill>
              <a:latin typeface="Calibri"/>
              <a:ea typeface="Calibri"/>
              <a:cs typeface="Calibri"/>
              <a:sym typeface="Calibri"/>
            </a:endParaRPr>
          </a:p>
        </p:txBody>
      </p:sp>
      <p:sp>
        <p:nvSpPr>
          <p:cNvPr id="731" name="Google Shape;731;p31"/>
          <p:cNvSpPr txBox="1"/>
          <p:nvPr/>
        </p:nvSpPr>
        <p:spPr>
          <a:xfrm>
            <a:off x="2011680" y="8321040"/>
            <a:ext cx="82296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Klarifikasi</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5F86"/>
              </a:buClr>
              <a:buSzPts val="2000"/>
              <a:buFont typeface="Calibri"/>
              <a:buNone/>
            </a:pPr>
            <a:r>
              <a:rPr b="0" i="0" lang="en-US" sz="2000" u="none" cap="none" strike="noStrike">
                <a:solidFill>
                  <a:srgbClr val="5A5F86"/>
                </a:solidFill>
                <a:latin typeface="Calibri"/>
                <a:ea typeface="Calibri"/>
                <a:cs typeface="Calibri"/>
                <a:sym typeface="Calibri"/>
              </a:rPr>
              <a:t>Tanyakan dengan terbuka: "Bisa beri contoh?"</a:t>
            </a:r>
            <a:endParaRPr b="0" i="0" sz="2400" u="none" cap="none" strike="noStrike">
              <a:solidFill>
                <a:schemeClr val="dk1"/>
              </a:solidFill>
              <a:latin typeface="Calibri"/>
              <a:ea typeface="Calibri"/>
              <a:cs typeface="Calibri"/>
              <a:sym typeface="Calibri"/>
            </a:endParaRPr>
          </a:p>
        </p:txBody>
      </p:sp>
      <p:sp>
        <p:nvSpPr>
          <p:cNvPr id="732" name="Google Shape;732;p31"/>
          <p:cNvSpPr/>
          <p:nvPr/>
        </p:nvSpPr>
        <p:spPr>
          <a:xfrm>
            <a:off x="10789920" y="4343400"/>
            <a:ext cx="6583680" cy="5166360"/>
          </a:xfrm>
          <a:prstGeom prst="roundRect">
            <a:avLst>
              <a:gd fmla="val 2655" name="adj"/>
            </a:avLst>
          </a:prstGeom>
          <a:solidFill>
            <a:srgbClr val="FFF3BF"/>
          </a:solidFill>
          <a:ln cap="flat" cmpd="sng" w="12700">
            <a:solidFill>
              <a:srgbClr val="FFF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1"/>
          <p:cNvSpPr txBox="1"/>
          <p:nvPr/>
        </p:nvSpPr>
        <p:spPr>
          <a:xfrm>
            <a:off x="11064240" y="4526280"/>
            <a:ext cx="60350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600"/>
              <a:buFont typeface="Calibri"/>
              <a:buNone/>
            </a:pPr>
            <a:r>
              <a:rPr b="1" i="0" lang="en-US" sz="2600" u="none" cap="none" strike="noStrike">
                <a:solidFill>
                  <a:srgbClr val="13123D"/>
                </a:solidFill>
                <a:latin typeface="Calibri"/>
                <a:ea typeface="Calibri"/>
                <a:cs typeface="Calibri"/>
                <a:sym typeface="Calibri"/>
              </a:rPr>
              <a:t>Contoh di tim IT</a:t>
            </a:r>
            <a:endParaRPr b="0" i="0" sz="2600" u="none" cap="none" strike="noStrike">
              <a:solidFill>
                <a:schemeClr val="dk1"/>
              </a:solidFill>
              <a:latin typeface="Calibri"/>
              <a:ea typeface="Calibri"/>
              <a:cs typeface="Calibri"/>
              <a:sym typeface="Calibri"/>
            </a:endParaRPr>
          </a:p>
        </p:txBody>
      </p:sp>
      <p:sp>
        <p:nvSpPr>
          <p:cNvPr id="734" name="Google Shape;734;p31"/>
          <p:cNvSpPr txBox="1"/>
          <p:nvPr/>
        </p:nvSpPr>
        <p:spPr>
          <a:xfrm>
            <a:off x="11064240" y="5257800"/>
            <a:ext cx="6035040" cy="4023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A: </a:t>
            </a:r>
            <a:r>
              <a:rPr b="0" i="0" lang="en-US" sz="2400" u="none" cap="none" strike="noStrike">
                <a:solidFill>
                  <a:srgbClr val="13123D"/>
                </a:solidFill>
                <a:latin typeface="Calibri"/>
                <a:ea typeface="Calibri"/>
                <a:cs typeface="Calibri"/>
                <a:sym typeface="Calibri"/>
              </a:rPr>
              <a:t>"Fungsinya error terus."</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400"/>
              <a:buFont typeface="Calibri"/>
              <a:buNone/>
            </a:pPr>
            <a:r>
              <a:rPr b="0" i="0" lang="en-US" sz="2400" u="none" cap="none" strike="noStrike">
                <a:solidFill>
                  <a:srgbClr val="13123D"/>
                </a:solidFill>
                <a:latin typeface="Calibri"/>
                <a:ea typeface="Calibri"/>
                <a:cs typeface="Calibri"/>
                <a:sym typeface="Calibri"/>
              </a:rPr>
              <a:t> </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B: </a:t>
            </a:r>
            <a:r>
              <a:rPr b="0" i="0" lang="en-US" sz="2400" u="none" cap="none" strike="noStrike">
                <a:solidFill>
                  <a:srgbClr val="13123D"/>
                </a:solidFill>
                <a:latin typeface="Calibri"/>
                <a:ea typeface="Calibri"/>
                <a:cs typeface="Calibri"/>
                <a:sym typeface="Calibri"/>
              </a:rPr>
              <a:t>"Kalau saya tangkap, error muncul saat go run, ya? Pesan errornya apa?"</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pic>
        <p:nvPicPr>
          <p:cNvPr descr="/home/claude/assets/image6.png" id="740" name="Google Shape;740;p32"/>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741" name="Google Shape;741;p32"/>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742" name="Google Shape;742;p32"/>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SOFT SKILL · 35 MENIT</a:t>
            </a:r>
            <a:endParaRPr b="0" i="0" sz="2000" u="none" cap="none" strike="noStrike">
              <a:solidFill>
                <a:schemeClr val="dk1"/>
              </a:solidFill>
              <a:latin typeface="Calibri"/>
              <a:ea typeface="Calibri"/>
              <a:cs typeface="Calibri"/>
              <a:sym typeface="Calibri"/>
            </a:endParaRPr>
          </a:p>
        </p:txBody>
      </p:sp>
      <p:sp>
        <p:nvSpPr>
          <p:cNvPr id="743" name="Google Shape;743;p32"/>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Aktivitas: Jelaskan &amp; Parafrase</a:t>
            </a:r>
            <a:endParaRPr b="0" i="0" sz="4800" u="none" cap="none" strike="noStrike">
              <a:solidFill>
                <a:schemeClr val="dk1"/>
              </a:solidFill>
              <a:latin typeface="Calibri"/>
              <a:ea typeface="Calibri"/>
              <a:cs typeface="Calibri"/>
              <a:sym typeface="Calibri"/>
            </a:endParaRPr>
          </a:p>
        </p:txBody>
      </p:sp>
      <p:sp>
        <p:nvSpPr>
          <p:cNvPr id="744" name="Google Shape;744;p32"/>
          <p:cNvSpPr/>
          <p:nvPr/>
        </p:nvSpPr>
        <p:spPr>
          <a:xfrm>
            <a:off x="914400" y="4343400"/>
            <a:ext cx="3977640" cy="3611880"/>
          </a:xfrm>
          <a:prstGeom prst="roundRect">
            <a:avLst>
              <a:gd fmla="val 3797"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2"/>
          <p:cNvSpPr/>
          <p:nvPr/>
        </p:nvSpPr>
        <p:spPr>
          <a:xfrm>
            <a:off x="1188720" y="4572000"/>
            <a:ext cx="914400" cy="9144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3200"/>
              <a:buFont typeface="Arial"/>
              <a:buNone/>
            </a:pPr>
            <a:r>
              <a:rPr b="1" i="0" lang="en-US" sz="3200" u="none" cap="none" strike="noStrike">
                <a:solidFill>
                  <a:srgbClr val="13123D"/>
                </a:solidFill>
                <a:latin typeface="Arial"/>
                <a:ea typeface="Arial"/>
                <a:cs typeface="Arial"/>
                <a:sym typeface="Arial"/>
              </a:rPr>
              <a:t>1</a:t>
            </a:r>
            <a:endParaRPr b="0" i="0" sz="3200" u="none" cap="none" strike="noStrike">
              <a:solidFill>
                <a:schemeClr val="dk1"/>
              </a:solidFill>
              <a:latin typeface="Calibri"/>
              <a:ea typeface="Calibri"/>
              <a:cs typeface="Calibri"/>
              <a:sym typeface="Calibri"/>
            </a:endParaRPr>
          </a:p>
        </p:txBody>
      </p:sp>
      <p:sp>
        <p:nvSpPr>
          <p:cNvPr id="746" name="Google Shape;746;p32"/>
          <p:cNvSpPr txBox="1"/>
          <p:nvPr/>
        </p:nvSpPr>
        <p:spPr>
          <a:xfrm>
            <a:off x="1188720" y="5760720"/>
            <a:ext cx="34747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Bentuk pasangan</a:t>
            </a:r>
            <a:endParaRPr b="0" i="0" sz="2600" u="none" cap="none" strike="noStrike">
              <a:solidFill>
                <a:schemeClr val="dk1"/>
              </a:solidFill>
              <a:latin typeface="Calibri"/>
              <a:ea typeface="Calibri"/>
              <a:cs typeface="Calibri"/>
              <a:sym typeface="Calibri"/>
            </a:endParaRPr>
          </a:p>
        </p:txBody>
      </p:sp>
      <p:sp>
        <p:nvSpPr>
          <p:cNvPr id="747" name="Google Shape;747;p32"/>
          <p:cNvSpPr txBox="1"/>
          <p:nvPr/>
        </p:nvSpPr>
        <p:spPr>
          <a:xfrm>
            <a:off x="1188720" y="6492240"/>
            <a:ext cx="34747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Tentukan peran A dan B.</a:t>
            </a:r>
            <a:endParaRPr b="0" i="0" sz="2100" u="none" cap="none" strike="noStrike">
              <a:solidFill>
                <a:schemeClr val="dk1"/>
              </a:solidFill>
              <a:latin typeface="Calibri"/>
              <a:ea typeface="Calibri"/>
              <a:cs typeface="Calibri"/>
              <a:sym typeface="Calibri"/>
            </a:endParaRPr>
          </a:p>
        </p:txBody>
      </p:sp>
      <p:sp>
        <p:nvSpPr>
          <p:cNvPr id="748" name="Google Shape;748;p32"/>
          <p:cNvSpPr/>
          <p:nvPr/>
        </p:nvSpPr>
        <p:spPr>
          <a:xfrm>
            <a:off x="5166360" y="4343400"/>
            <a:ext cx="3977640" cy="3611880"/>
          </a:xfrm>
          <a:prstGeom prst="roundRect">
            <a:avLst>
              <a:gd fmla="val 3797"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2"/>
          <p:cNvSpPr/>
          <p:nvPr/>
        </p:nvSpPr>
        <p:spPr>
          <a:xfrm>
            <a:off x="5440680" y="4572000"/>
            <a:ext cx="914400" cy="9144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3200"/>
              <a:buFont typeface="Arial"/>
              <a:buNone/>
            </a:pPr>
            <a:r>
              <a:rPr b="1" i="0" lang="en-US" sz="3200" u="none" cap="none" strike="noStrike">
                <a:solidFill>
                  <a:srgbClr val="13123D"/>
                </a:solidFill>
                <a:latin typeface="Arial"/>
                <a:ea typeface="Arial"/>
                <a:cs typeface="Arial"/>
                <a:sym typeface="Arial"/>
              </a:rPr>
              <a:t>2</a:t>
            </a:r>
            <a:endParaRPr b="0" i="0" sz="3200" u="none" cap="none" strike="noStrike">
              <a:solidFill>
                <a:schemeClr val="dk1"/>
              </a:solidFill>
              <a:latin typeface="Calibri"/>
              <a:ea typeface="Calibri"/>
              <a:cs typeface="Calibri"/>
              <a:sym typeface="Calibri"/>
            </a:endParaRPr>
          </a:p>
        </p:txBody>
      </p:sp>
      <p:sp>
        <p:nvSpPr>
          <p:cNvPr id="750" name="Google Shape;750;p32"/>
          <p:cNvSpPr txBox="1"/>
          <p:nvPr/>
        </p:nvSpPr>
        <p:spPr>
          <a:xfrm>
            <a:off x="5440680" y="5760720"/>
            <a:ext cx="34747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A menjelaskan</a:t>
            </a:r>
            <a:endParaRPr b="0" i="0" sz="2600" u="none" cap="none" strike="noStrike">
              <a:solidFill>
                <a:schemeClr val="dk1"/>
              </a:solidFill>
              <a:latin typeface="Calibri"/>
              <a:ea typeface="Calibri"/>
              <a:cs typeface="Calibri"/>
              <a:sym typeface="Calibri"/>
            </a:endParaRPr>
          </a:p>
        </p:txBody>
      </p:sp>
      <p:sp>
        <p:nvSpPr>
          <p:cNvPr id="751" name="Google Shape;751;p32"/>
          <p:cNvSpPr txBox="1"/>
          <p:nvPr/>
        </p:nvSpPr>
        <p:spPr>
          <a:xfrm>
            <a:off x="5440680" y="6492240"/>
            <a:ext cx="34747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Jelaskan beda var dan := selama 2 menit.</a:t>
            </a:r>
            <a:endParaRPr b="0" i="0" sz="2100" u="none" cap="none" strike="noStrike">
              <a:solidFill>
                <a:schemeClr val="dk1"/>
              </a:solidFill>
              <a:latin typeface="Calibri"/>
              <a:ea typeface="Calibri"/>
              <a:cs typeface="Calibri"/>
              <a:sym typeface="Calibri"/>
            </a:endParaRPr>
          </a:p>
        </p:txBody>
      </p:sp>
      <p:sp>
        <p:nvSpPr>
          <p:cNvPr id="752" name="Google Shape;752;p32"/>
          <p:cNvSpPr/>
          <p:nvPr/>
        </p:nvSpPr>
        <p:spPr>
          <a:xfrm>
            <a:off x="9418320" y="4343400"/>
            <a:ext cx="3977640" cy="3611880"/>
          </a:xfrm>
          <a:prstGeom prst="roundRect">
            <a:avLst>
              <a:gd fmla="val 3797"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2"/>
          <p:cNvSpPr/>
          <p:nvPr/>
        </p:nvSpPr>
        <p:spPr>
          <a:xfrm>
            <a:off x="9692640" y="4572000"/>
            <a:ext cx="914400" cy="9144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3200"/>
              <a:buFont typeface="Arial"/>
              <a:buNone/>
            </a:pPr>
            <a:r>
              <a:rPr b="1" i="0" lang="en-US" sz="3200" u="none" cap="none" strike="noStrike">
                <a:solidFill>
                  <a:srgbClr val="13123D"/>
                </a:solidFill>
                <a:latin typeface="Arial"/>
                <a:ea typeface="Arial"/>
                <a:cs typeface="Arial"/>
                <a:sym typeface="Arial"/>
              </a:rPr>
              <a:t>3</a:t>
            </a:r>
            <a:endParaRPr b="0" i="0" sz="3200" u="none" cap="none" strike="noStrike">
              <a:solidFill>
                <a:schemeClr val="dk1"/>
              </a:solidFill>
              <a:latin typeface="Calibri"/>
              <a:ea typeface="Calibri"/>
              <a:cs typeface="Calibri"/>
              <a:sym typeface="Calibri"/>
            </a:endParaRPr>
          </a:p>
        </p:txBody>
      </p:sp>
      <p:sp>
        <p:nvSpPr>
          <p:cNvPr id="754" name="Google Shape;754;p32"/>
          <p:cNvSpPr txBox="1"/>
          <p:nvPr/>
        </p:nvSpPr>
        <p:spPr>
          <a:xfrm>
            <a:off x="9692640" y="5760720"/>
            <a:ext cx="34747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B parafrase</a:t>
            </a:r>
            <a:endParaRPr b="0" i="0" sz="2600" u="none" cap="none" strike="noStrike">
              <a:solidFill>
                <a:schemeClr val="dk1"/>
              </a:solidFill>
              <a:latin typeface="Calibri"/>
              <a:ea typeface="Calibri"/>
              <a:cs typeface="Calibri"/>
              <a:sym typeface="Calibri"/>
            </a:endParaRPr>
          </a:p>
        </p:txBody>
      </p:sp>
      <p:sp>
        <p:nvSpPr>
          <p:cNvPr id="755" name="Google Shape;755;p32"/>
          <p:cNvSpPr txBox="1"/>
          <p:nvPr/>
        </p:nvSpPr>
        <p:spPr>
          <a:xfrm>
            <a:off x="9692640" y="6492240"/>
            <a:ext cx="34747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Ulangi dengan kata sendiri, ajukan 1 pertanyaan klarifikasi.</a:t>
            </a:r>
            <a:endParaRPr b="0" i="0" sz="2100" u="none" cap="none" strike="noStrike">
              <a:solidFill>
                <a:schemeClr val="dk1"/>
              </a:solidFill>
              <a:latin typeface="Calibri"/>
              <a:ea typeface="Calibri"/>
              <a:cs typeface="Calibri"/>
              <a:sym typeface="Calibri"/>
            </a:endParaRPr>
          </a:p>
        </p:txBody>
      </p:sp>
      <p:sp>
        <p:nvSpPr>
          <p:cNvPr id="756" name="Google Shape;756;p32"/>
          <p:cNvSpPr/>
          <p:nvPr/>
        </p:nvSpPr>
        <p:spPr>
          <a:xfrm>
            <a:off x="13670280" y="4343400"/>
            <a:ext cx="3977640" cy="3611880"/>
          </a:xfrm>
          <a:prstGeom prst="roundRect">
            <a:avLst>
              <a:gd fmla="val 3797"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2"/>
          <p:cNvSpPr/>
          <p:nvPr/>
        </p:nvSpPr>
        <p:spPr>
          <a:xfrm>
            <a:off x="13944600" y="4572000"/>
            <a:ext cx="914400" cy="914400"/>
          </a:xfrm>
          <a:prstGeom prst="ellipse">
            <a:avLst/>
          </a:prstGeom>
          <a:solidFill>
            <a:srgbClr val="FCDF59"/>
          </a:solidFill>
          <a:ln cap="flat" cmpd="sng" w="9525">
            <a:solidFill>
              <a:srgbClr val="FCDF59"/>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3123D"/>
              </a:buClr>
              <a:buSzPts val="3200"/>
              <a:buFont typeface="Arial"/>
              <a:buNone/>
            </a:pPr>
            <a:r>
              <a:rPr b="1" i="0" lang="en-US" sz="3200" u="none" cap="none" strike="noStrike">
                <a:solidFill>
                  <a:srgbClr val="13123D"/>
                </a:solidFill>
                <a:latin typeface="Arial"/>
                <a:ea typeface="Arial"/>
                <a:cs typeface="Arial"/>
                <a:sym typeface="Arial"/>
              </a:rPr>
              <a:t>4</a:t>
            </a:r>
            <a:endParaRPr b="0" i="0" sz="3200" u="none" cap="none" strike="noStrike">
              <a:solidFill>
                <a:schemeClr val="dk1"/>
              </a:solidFill>
              <a:latin typeface="Calibri"/>
              <a:ea typeface="Calibri"/>
              <a:cs typeface="Calibri"/>
              <a:sym typeface="Calibri"/>
            </a:endParaRPr>
          </a:p>
        </p:txBody>
      </p:sp>
      <p:sp>
        <p:nvSpPr>
          <p:cNvPr id="758" name="Google Shape;758;p32"/>
          <p:cNvSpPr txBox="1"/>
          <p:nvPr/>
        </p:nvSpPr>
        <p:spPr>
          <a:xfrm>
            <a:off x="13944600" y="5760720"/>
            <a:ext cx="34747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600"/>
              <a:buFont typeface="Calibri"/>
              <a:buNone/>
            </a:pPr>
            <a:r>
              <a:rPr b="1" i="0" lang="en-US" sz="2600" u="none" cap="none" strike="noStrike">
                <a:solidFill>
                  <a:srgbClr val="162CA2"/>
                </a:solidFill>
                <a:latin typeface="Calibri"/>
                <a:ea typeface="Calibri"/>
                <a:cs typeface="Calibri"/>
                <a:sym typeface="Calibri"/>
              </a:rPr>
              <a:t>Tukar peran</a:t>
            </a:r>
            <a:endParaRPr b="0" i="0" sz="2600" u="none" cap="none" strike="noStrike">
              <a:solidFill>
                <a:schemeClr val="dk1"/>
              </a:solidFill>
              <a:latin typeface="Calibri"/>
              <a:ea typeface="Calibri"/>
              <a:cs typeface="Calibri"/>
              <a:sym typeface="Calibri"/>
            </a:endParaRPr>
          </a:p>
        </p:txBody>
      </p:sp>
      <p:sp>
        <p:nvSpPr>
          <p:cNvPr id="759" name="Google Shape;759;p32"/>
          <p:cNvSpPr txBox="1"/>
          <p:nvPr/>
        </p:nvSpPr>
        <p:spPr>
          <a:xfrm>
            <a:off x="13944600" y="6492240"/>
            <a:ext cx="347472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2100"/>
              <a:buFont typeface="Calibri"/>
              <a:buNone/>
            </a:pPr>
            <a:r>
              <a:rPr b="0" i="0" lang="en-US" sz="2100" u="none" cap="none" strike="noStrike">
                <a:solidFill>
                  <a:srgbClr val="5A5F86"/>
                </a:solidFill>
                <a:latin typeface="Calibri"/>
                <a:ea typeface="Calibri"/>
                <a:cs typeface="Calibri"/>
                <a:sym typeface="Calibri"/>
              </a:rPr>
              <a:t>Ulangi dengan topik baru: const vs var.</a:t>
            </a:r>
            <a:endParaRPr b="0" i="0" sz="2100" u="none" cap="none" strike="noStrike">
              <a:solidFill>
                <a:schemeClr val="dk1"/>
              </a:solidFill>
              <a:latin typeface="Calibri"/>
              <a:ea typeface="Calibri"/>
              <a:cs typeface="Calibri"/>
              <a:sym typeface="Calibri"/>
            </a:endParaRPr>
          </a:p>
        </p:txBody>
      </p:sp>
      <p:sp>
        <p:nvSpPr>
          <p:cNvPr id="760" name="Google Shape;760;p32"/>
          <p:cNvSpPr/>
          <p:nvPr/>
        </p:nvSpPr>
        <p:spPr>
          <a:xfrm>
            <a:off x="914400" y="8183880"/>
            <a:ext cx="16459200" cy="1325880"/>
          </a:xfrm>
          <a:prstGeom prst="roundRect">
            <a:avLst>
              <a:gd fmla="val 10345" name="adj"/>
            </a:avLst>
          </a:prstGeom>
          <a:solidFill>
            <a:srgbClr val="162CA2"/>
          </a:solidFill>
          <a:ln cap="flat" cmpd="sng" w="12700">
            <a:solidFill>
              <a:srgbClr val="162C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2"/>
          <p:cNvSpPr txBox="1"/>
          <p:nvPr/>
        </p:nvSpPr>
        <p:spPr>
          <a:xfrm>
            <a:off x="1188720" y="8183880"/>
            <a:ext cx="15910560" cy="1325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CDF59"/>
              </a:buClr>
              <a:buSzPts val="2800"/>
              <a:buFont typeface="Calibri"/>
              <a:buNone/>
            </a:pPr>
            <a:r>
              <a:rPr b="1" i="0" lang="en-US" sz="2800" u="none" cap="none" strike="noStrike">
                <a:solidFill>
                  <a:srgbClr val="FCDF59"/>
                </a:solidFill>
                <a:latin typeface="Calibri"/>
                <a:ea typeface="Calibri"/>
                <a:cs typeface="Calibri"/>
                <a:sym typeface="Calibri"/>
              </a:rPr>
              <a:t>Refleksi: </a:t>
            </a:r>
            <a:r>
              <a:rPr b="0" i="0" lang="en-US" sz="2800" u="none" cap="none" strike="noStrike">
                <a:solidFill>
                  <a:srgbClr val="FDFBFB"/>
                </a:solidFill>
                <a:latin typeface="Calibri"/>
                <a:ea typeface="Calibri"/>
                <a:cs typeface="Calibri"/>
                <a:sym typeface="Calibri"/>
              </a:rPr>
              <a:t>apa yang membuatmu merasa benar-benar didengarkan?</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pic>
        <p:nvPicPr>
          <p:cNvPr descr="/home/claude/assets/image6.png" id="767" name="Google Shape;767;p33"/>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768" name="Google Shape;768;p33"/>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769" name="Google Shape;769;p33"/>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SOFT SKILL · 35 MENIT</a:t>
            </a:r>
            <a:endParaRPr b="0" i="0" sz="2000" u="none" cap="none" strike="noStrike">
              <a:solidFill>
                <a:schemeClr val="dk1"/>
              </a:solidFill>
              <a:latin typeface="Calibri"/>
              <a:ea typeface="Calibri"/>
              <a:cs typeface="Calibri"/>
              <a:sym typeface="Calibri"/>
            </a:endParaRPr>
          </a:p>
        </p:txBody>
      </p:sp>
      <p:sp>
        <p:nvSpPr>
          <p:cNvPr id="770" name="Google Shape;770;p33"/>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Melaporkan Masalah dengan Jelas</a:t>
            </a:r>
            <a:endParaRPr b="0" i="0" sz="4800" u="none" cap="none" strike="noStrike">
              <a:solidFill>
                <a:schemeClr val="dk1"/>
              </a:solidFill>
              <a:latin typeface="Calibri"/>
              <a:ea typeface="Calibri"/>
              <a:cs typeface="Calibri"/>
              <a:sym typeface="Calibri"/>
            </a:endParaRPr>
          </a:p>
        </p:txBody>
      </p:sp>
      <p:sp>
        <p:nvSpPr>
          <p:cNvPr id="771" name="Google Shape;771;p33"/>
          <p:cNvSpPr/>
          <p:nvPr/>
        </p:nvSpPr>
        <p:spPr>
          <a:xfrm>
            <a:off x="914400" y="4343400"/>
            <a:ext cx="7955280" cy="3840480"/>
          </a:xfrm>
          <a:prstGeom prst="roundRect">
            <a:avLst>
              <a:gd fmla="val 3571" name="adj"/>
            </a:avLst>
          </a:prstGeom>
          <a:solidFill>
            <a:srgbClr val="FFE9E3"/>
          </a:solidFill>
          <a:ln cap="flat" cmpd="sng" w="12700">
            <a:solidFill>
              <a:srgbClr val="F2B8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3"/>
          <p:cNvSpPr txBox="1"/>
          <p:nvPr/>
        </p:nvSpPr>
        <p:spPr>
          <a:xfrm>
            <a:off x="1188720" y="4526280"/>
            <a:ext cx="7315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4381A"/>
              </a:buClr>
              <a:buSzPts val="2800"/>
              <a:buFont typeface="Calibri"/>
              <a:buNone/>
            </a:pPr>
            <a:r>
              <a:rPr b="1" i="0" lang="en-US" sz="2800" u="none" cap="none" strike="noStrike">
                <a:solidFill>
                  <a:srgbClr val="B4381A"/>
                </a:solidFill>
                <a:latin typeface="Calibri"/>
                <a:ea typeface="Calibri"/>
                <a:cs typeface="Calibri"/>
                <a:sym typeface="Calibri"/>
              </a:rPr>
              <a:t>Kurang jelas</a:t>
            </a:r>
            <a:endParaRPr b="0" i="0" sz="2800" u="none" cap="none" strike="noStrike">
              <a:solidFill>
                <a:schemeClr val="dk1"/>
              </a:solidFill>
              <a:latin typeface="Calibri"/>
              <a:ea typeface="Calibri"/>
              <a:cs typeface="Calibri"/>
              <a:sym typeface="Calibri"/>
            </a:endParaRPr>
          </a:p>
        </p:txBody>
      </p:sp>
      <p:sp>
        <p:nvSpPr>
          <p:cNvPr id="773" name="Google Shape;773;p33"/>
          <p:cNvSpPr txBox="1"/>
          <p:nvPr/>
        </p:nvSpPr>
        <p:spPr>
          <a:xfrm>
            <a:off x="1188720" y="5257800"/>
            <a:ext cx="74066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700"/>
              <a:buFont typeface="Calibri"/>
              <a:buNone/>
            </a:pPr>
            <a:r>
              <a:rPr b="0" i="1" lang="en-US" sz="2700" u="none" cap="none" strike="noStrike">
                <a:solidFill>
                  <a:srgbClr val="13123D"/>
                </a:solidFill>
                <a:latin typeface="Calibri"/>
                <a:ea typeface="Calibri"/>
                <a:cs typeface="Calibri"/>
                <a:sym typeface="Calibri"/>
              </a:rPr>
              <a:t>"Programnya error, tolong dibantu."</a:t>
            </a:r>
            <a:endParaRPr b="0" i="0" sz="2700" u="none" cap="none" strike="noStrike">
              <a:solidFill>
                <a:schemeClr val="dk1"/>
              </a:solidFill>
              <a:latin typeface="Calibri"/>
              <a:ea typeface="Calibri"/>
              <a:cs typeface="Calibri"/>
              <a:sym typeface="Calibri"/>
            </a:endParaRPr>
          </a:p>
        </p:txBody>
      </p:sp>
      <p:sp>
        <p:nvSpPr>
          <p:cNvPr id="774" name="Google Shape;774;p33"/>
          <p:cNvSpPr txBox="1"/>
          <p:nvPr/>
        </p:nvSpPr>
        <p:spPr>
          <a:xfrm>
            <a:off x="1188720" y="6492240"/>
            <a:ext cx="7406640" cy="15544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3123D"/>
              </a:buClr>
              <a:buSzPts val="2300"/>
              <a:buFont typeface="Calibri"/>
              <a:buChar char="•"/>
            </a:pPr>
            <a:r>
              <a:rPr b="0" i="0" lang="en-US" sz="2300" u="none" cap="none" strike="noStrike">
                <a:solidFill>
                  <a:srgbClr val="13123D"/>
                </a:solidFill>
                <a:latin typeface="Calibri"/>
                <a:ea typeface="Calibri"/>
                <a:cs typeface="Calibri"/>
                <a:sym typeface="Calibri"/>
              </a:rPr>
              <a:t>Tidak ada pesan error</a:t>
            </a:r>
            <a:endParaRPr b="0" i="0" sz="2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3123D"/>
              </a:buClr>
              <a:buSzPts val="2300"/>
              <a:buFont typeface="Calibri"/>
              <a:buChar char="•"/>
            </a:pPr>
            <a:r>
              <a:rPr b="0" i="0" lang="en-US" sz="2300" u="none" cap="none" strike="noStrike">
                <a:solidFill>
                  <a:srgbClr val="13123D"/>
                </a:solidFill>
                <a:latin typeface="Calibri"/>
                <a:ea typeface="Calibri"/>
                <a:cs typeface="Calibri"/>
                <a:sym typeface="Calibri"/>
              </a:rPr>
              <a:t>Tidak ada langkah yang dilakukan</a:t>
            </a:r>
            <a:endParaRPr b="0" i="0" sz="2300" u="none" cap="none" strike="noStrike">
              <a:solidFill>
                <a:schemeClr val="dk1"/>
              </a:solidFill>
              <a:latin typeface="Calibri"/>
              <a:ea typeface="Calibri"/>
              <a:cs typeface="Calibri"/>
              <a:sym typeface="Calibri"/>
            </a:endParaRPr>
          </a:p>
        </p:txBody>
      </p:sp>
      <p:sp>
        <p:nvSpPr>
          <p:cNvPr id="775" name="Google Shape;775;p33"/>
          <p:cNvSpPr/>
          <p:nvPr/>
        </p:nvSpPr>
        <p:spPr>
          <a:xfrm>
            <a:off x="9418320" y="4343400"/>
            <a:ext cx="7955280" cy="3840480"/>
          </a:xfrm>
          <a:prstGeom prst="roundRect">
            <a:avLst>
              <a:gd fmla="val 3571" name="adj"/>
            </a:avLst>
          </a:prstGeom>
          <a:solidFill>
            <a:srgbClr val="E4F5EA"/>
          </a:solidFill>
          <a:ln cap="flat" cmpd="sng" w="12700">
            <a:solidFill>
              <a:srgbClr val="A9DB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3"/>
          <p:cNvSpPr txBox="1"/>
          <p:nvPr/>
        </p:nvSpPr>
        <p:spPr>
          <a:xfrm>
            <a:off x="9692640" y="4526280"/>
            <a:ext cx="7315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7A44"/>
              </a:buClr>
              <a:buSzPts val="2800"/>
              <a:buFont typeface="Calibri"/>
              <a:buNone/>
            </a:pPr>
            <a:r>
              <a:rPr b="1" i="0" lang="en-US" sz="2800" u="none" cap="none" strike="noStrike">
                <a:solidFill>
                  <a:srgbClr val="1E7A44"/>
                </a:solidFill>
                <a:latin typeface="Calibri"/>
                <a:ea typeface="Calibri"/>
                <a:cs typeface="Calibri"/>
                <a:sym typeface="Calibri"/>
              </a:rPr>
              <a:t>Jelas</a:t>
            </a:r>
            <a:endParaRPr b="0" i="0" sz="2800" u="none" cap="none" strike="noStrike">
              <a:solidFill>
                <a:schemeClr val="dk1"/>
              </a:solidFill>
              <a:latin typeface="Calibri"/>
              <a:ea typeface="Calibri"/>
              <a:cs typeface="Calibri"/>
              <a:sym typeface="Calibri"/>
            </a:endParaRPr>
          </a:p>
        </p:txBody>
      </p:sp>
      <p:sp>
        <p:nvSpPr>
          <p:cNvPr id="777" name="Google Shape;777;p33"/>
          <p:cNvSpPr txBox="1"/>
          <p:nvPr/>
        </p:nvSpPr>
        <p:spPr>
          <a:xfrm>
            <a:off x="9692640" y="5166360"/>
            <a:ext cx="7406640" cy="2926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300"/>
              <a:buFont typeface="Calibri"/>
              <a:buNone/>
            </a:pPr>
            <a:r>
              <a:rPr b="0" i="1" lang="en-US" sz="2300" u="none" cap="none" strike="noStrike">
                <a:solidFill>
                  <a:srgbClr val="13123D"/>
                </a:solidFill>
                <a:latin typeface="Calibri"/>
                <a:ea typeface="Calibri"/>
                <a:cs typeface="Calibri"/>
                <a:sym typeface="Calibri"/>
              </a:rPr>
              <a:t>"Saat menjalankan go run . muncul error variabel tidak dipakai di baris 8 main.go. Variabel umur sudah dideklarasikan. Saya sudah cek ejaannya, masih error. Mohon arahan."</a:t>
            </a:r>
            <a:endParaRPr b="0" i="0" sz="2300" u="none" cap="none" strike="noStrike">
              <a:solidFill>
                <a:schemeClr val="dk1"/>
              </a:solidFill>
              <a:latin typeface="Calibri"/>
              <a:ea typeface="Calibri"/>
              <a:cs typeface="Calibri"/>
              <a:sym typeface="Calibri"/>
            </a:endParaRPr>
          </a:p>
        </p:txBody>
      </p:sp>
      <p:sp>
        <p:nvSpPr>
          <p:cNvPr id="778" name="Google Shape;778;p33"/>
          <p:cNvSpPr/>
          <p:nvPr/>
        </p:nvSpPr>
        <p:spPr>
          <a:xfrm>
            <a:off x="914400" y="8503920"/>
            <a:ext cx="3840480" cy="1005840"/>
          </a:xfrm>
          <a:prstGeom prst="roundRect">
            <a:avLst>
              <a:gd fmla="val 10909"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400"/>
              <a:buFont typeface="Calibri"/>
              <a:buNone/>
            </a:pPr>
            <a:r>
              <a:rPr b="1" i="0" lang="en-US" sz="2400" u="none" cap="none" strike="noStrike">
                <a:solidFill>
                  <a:srgbClr val="FDFBFB"/>
                </a:solidFill>
                <a:latin typeface="Calibri"/>
                <a:ea typeface="Calibri"/>
                <a:cs typeface="Calibri"/>
                <a:sym typeface="Calibri"/>
              </a:rPr>
              <a:t>Yang dilakukan</a:t>
            </a:r>
            <a:endParaRPr b="0" i="0" sz="2400" u="none" cap="none" strike="noStrike">
              <a:solidFill>
                <a:schemeClr val="dk1"/>
              </a:solidFill>
              <a:latin typeface="Calibri"/>
              <a:ea typeface="Calibri"/>
              <a:cs typeface="Calibri"/>
              <a:sym typeface="Calibri"/>
            </a:endParaRPr>
          </a:p>
        </p:txBody>
      </p:sp>
      <p:sp>
        <p:nvSpPr>
          <p:cNvPr id="779" name="Google Shape;779;p33"/>
          <p:cNvSpPr/>
          <p:nvPr/>
        </p:nvSpPr>
        <p:spPr>
          <a:xfrm>
            <a:off x="5120640" y="8503920"/>
            <a:ext cx="3840480" cy="1005840"/>
          </a:xfrm>
          <a:prstGeom prst="roundRect">
            <a:avLst>
              <a:gd fmla="val 10909"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400"/>
              <a:buFont typeface="Calibri"/>
              <a:buNone/>
            </a:pPr>
            <a:r>
              <a:rPr b="1" i="0" lang="en-US" sz="2400" u="none" cap="none" strike="noStrike">
                <a:solidFill>
                  <a:srgbClr val="FDFBFB"/>
                </a:solidFill>
                <a:latin typeface="Calibri"/>
                <a:ea typeface="Calibri"/>
                <a:cs typeface="Calibri"/>
                <a:sym typeface="Calibri"/>
              </a:rPr>
              <a:t>Hasil diharapkan</a:t>
            </a:r>
            <a:endParaRPr b="0" i="0" sz="2400" u="none" cap="none" strike="noStrike">
              <a:solidFill>
                <a:schemeClr val="dk1"/>
              </a:solidFill>
              <a:latin typeface="Calibri"/>
              <a:ea typeface="Calibri"/>
              <a:cs typeface="Calibri"/>
              <a:sym typeface="Calibri"/>
            </a:endParaRPr>
          </a:p>
        </p:txBody>
      </p:sp>
      <p:sp>
        <p:nvSpPr>
          <p:cNvPr id="780" name="Google Shape;780;p33"/>
          <p:cNvSpPr/>
          <p:nvPr/>
        </p:nvSpPr>
        <p:spPr>
          <a:xfrm>
            <a:off x="9326880" y="8503920"/>
            <a:ext cx="3840480" cy="1005840"/>
          </a:xfrm>
          <a:prstGeom prst="roundRect">
            <a:avLst>
              <a:gd fmla="val 10909"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400"/>
              <a:buFont typeface="Calibri"/>
              <a:buNone/>
            </a:pPr>
            <a:r>
              <a:rPr b="1" i="0" lang="en-US" sz="2400" u="none" cap="none" strike="noStrike">
                <a:solidFill>
                  <a:srgbClr val="FDFBFB"/>
                </a:solidFill>
                <a:latin typeface="Calibri"/>
                <a:ea typeface="Calibri"/>
                <a:cs typeface="Calibri"/>
                <a:sym typeface="Calibri"/>
              </a:rPr>
              <a:t>Hasil aktual</a:t>
            </a:r>
            <a:endParaRPr b="0" i="0" sz="2400" u="none" cap="none" strike="noStrike">
              <a:solidFill>
                <a:schemeClr val="dk1"/>
              </a:solidFill>
              <a:latin typeface="Calibri"/>
              <a:ea typeface="Calibri"/>
              <a:cs typeface="Calibri"/>
              <a:sym typeface="Calibri"/>
            </a:endParaRPr>
          </a:p>
        </p:txBody>
      </p:sp>
      <p:sp>
        <p:nvSpPr>
          <p:cNvPr id="781" name="Google Shape;781;p33"/>
          <p:cNvSpPr/>
          <p:nvPr/>
        </p:nvSpPr>
        <p:spPr>
          <a:xfrm>
            <a:off x="13533120" y="8503920"/>
            <a:ext cx="3840480" cy="1005840"/>
          </a:xfrm>
          <a:prstGeom prst="roundRect">
            <a:avLst>
              <a:gd fmla="val 10909" name="adj"/>
            </a:avLst>
          </a:prstGeom>
          <a:solidFill>
            <a:srgbClr val="162CA2"/>
          </a:solidFill>
          <a:ln cap="flat" cmpd="sng" w="9525">
            <a:solidFill>
              <a:srgbClr val="162CA2"/>
            </a:solidFill>
            <a:prstDash val="solid"/>
            <a:round/>
            <a:headEnd len="sm" w="sm" type="none"/>
            <a:tailEnd len="sm" w="sm" type="none"/>
          </a:ln>
        </p:spPr>
        <p:txBody>
          <a:bodyPr anchorCtr="0" anchor="ctr" bIns="625" lIns="625" spcFirstLastPara="1" rIns="625" wrap="square" tIns="625">
            <a:noAutofit/>
          </a:bodyPr>
          <a:lstStyle/>
          <a:p>
            <a:pPr indent="0" lvl="0" marL="0" marR="0" rtl="0" algn="ctr">
              <a:spcBef>
                <a:spcPts val="0"/>
              </a:spcBef>
              <a:spcAft>
                <a:spcPts val="0"/>
              </a:spcAft>
              <a:buClr>
                <a:srgbClr val="FDFBFB"/>
              </a:buClr>
              <a:buSzPts val="2400"/>
              <a:buFont typeface="Calibri"/>
              <a:buNone/>
            </a:pPr>
            <a:r>
              <a:rPr b="1" i="0" lang="en-US" sz="2400" u="none" cap="none" strike="noStrike">
                <a:solidFill>
                  <a:srgbClr val="FDFBFB"/>
                </a:solidFill>
                <a:latin typeface="Calibri"/>
                <a:ea typeface="Calibri"/>
                <a:cs typeface="Calibri"/>
                <a:sym typeface="Calibri"/>
              </a:rPr>
              <a:t>Sudah dicoba</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pic>
        <p:nvPicPr>
          <p:cNvPr descr="/home/claude/assets/image6.png" id="787" name="Google Shape;787;p34"/>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descr="/home/claude/assets/image8.png" id="788" name="Google Shape;788;p34"/>
          <p:cNvPicPr preferRelativeResize="0"/>
          <p:nvPr/>
        </p:nvPicPr>
        <p:blipFill rotWithShape="1">
          <a:blip r:embed="rId4">
            <a:alphaModFix/>
          </a:blip>
          <a:srcRect b="0" l="0" r="0" t="0"/>
          <a:stretch/>
        </p:blipFill>
        <p:spPr>
          <a:xfrm>
            <a:off x="704088" y="173736"/>
            <a:ext cx="2587752" cy="1088136"/>
          </a:xfrm>
          <a:prstGeom prst="rect">
            <a:avLst/>
          </a:prstGeom>
          <a:noFill/>
          <a:ln>
            <a:noFill/>
          </a:ln>
        </p:spPr>
      </p:pic>
      <p:sp>
        <p:nvSpPr>
          <p:cNvPr id="789" name="Google Shape;789;p34"/>
          <p:cNvSpPr txBox="1"/>
          <p:nvPr/>
        </p:nvSpPr>
        <p:spPr>
          <a:xfrm>
            <a:off x="1600200" y="1371600"/>
            <a:ext cx="1280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CDF59"/>
              </a:buClr>
              <a:buSzPts val="2000"/>
              <a:buFont typeface="Arial"/>
              <a:buNone/>
            </a:pPr>
            <a:r>
              <a:rPr b="1" i="0" lang="en-US" sz="2000" u="none" cap="none" strike="noStrike">
                <a:solidFill>
                  <a:srgbClr val="FCDF59"/>
                </a:solidFill>
                <a:latin typeface="Arial"/>
                <a:ea typeface="Arial"/>
                <a:cs typeface="Arial"/>
                <a:sym typeface="Arial"/>
              </a:rPr>
              <a:t>PENUTUP · 5 MENIT</a:t>
            </a:r>
            <a:endParaRPr b="0" i="0" sz="2000" u="none" cap="none" strike="noStrike">
              <a:solidFill>
                <a:schemeClr val="dk1"/>
              </a:solidFill>
              <a:latin typeface="Calibri"/>
              <a:ea typeface="Calibri"/>
              <a:cs typeface="Calibri"/>
              <a:sym typeface="Calibri"/>
            </a:endParaRPr>
          </a:p>
        </p:txBody>
      </p:sp>
      <p:sp>
        <p:nvSpPr>
          <p:cNvPr id="790" name="Google Shape;790;p34"/>
          <p:cNvSpPr txBox="1"/>
          <p:nvPr/>
        </p:nvSpPr>
        <p:spPr>
          <a:xfrm>
            <a:off x="1600200" y="1783080"/>
            <a:ext cx="1417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4800"/>
              <a:buFont typeface="Arial"/>
              <a:buNone/>
            </a:pPr>
            <a:r>
              <a:rPr b="1" i="0" lang="en-US" sz="4800" u="none" cap="none" strike="noStrike">
                <a:solidFill>
                  <a:srgbClr val="FDFBFB"/>
                </a:solidFill>
                <a:latin typeface="Arial"/>
                <a:ea typeface="Arial"/>
                <a:cs typeface="Arial"/>
                <a:sym typeface="Arial"/>
              </a:rPr>
              <a:t>Rangkuman Sesi 2</a:t>
            </a:r>
            <a:endParaRPr b="0" i="0" sz="4800" u="none" cap="none" strike="noStrike">
              <a:solidFill>
                <a:schemeClr val="dk1"/>
              </a:solidFill>
              <a:latin typeface="Calibri"/>
              <a:ea typeface="Calibri"/>
              <a:cs typeface="Calibri"/>
              <a:sym typeface="Calibri"/>
            </a:endParaRPr>
          </a:p>
        </p:txBody>
      </p:sp>
      <p:sp>
        <p:nvSpPr>
          <p:cNvPr id="791" name="Google Shape;791;p34"/>
          <p:cNvSpPr/>
          <p:nvPr/>
        </p:nvSpPr>
        <p:spPr>
          <a:xfrm>
            <a:off x="914400" y="434340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4"/>
          <p:cNvSpPr/>
          <p:nvPr/>
        </p:nvSpPr>
        <p:spPr>
          <a:xfrm>
            <a:off x="1188720" y="457200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1</a:t>
            </a:r>
            <a:endParaRPr b="0" i="0" sz="2600" u="none" cap="none" strike="noStrike">
              <a:solidFill>
                <a:schemeClr val="dk1"/>
              </a:solidFill>
              <a:latin typeface="Calibri"/>
              <a:ea typeface="Calibri"/>
              <a:cs typeface="Calibri"/>
              <a:sym typeface="Calibri"/>
            </a:endParaRPr>
          </a:p>
        </p:txBody>
      </p:sp>
      <p:sp>
        <p:nvSpPr>
          <p:cNvPr id="793" name="Google Shape;793;p34"/>
          <p:cNvSpPr txBox="1"/>
          <p:nvPr/>
        </p:nvSpPr>
        <p:spPr>
          <a:xfrm>
            <a:off x="1188720" y="544068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Go</a:t>
            </a:r>
            <a:endParaRPr b="0" i="0" sz="2400" u="none" cap="none" strike="noStrike">
              <a:solidFill>
                <a:schemeClr val="dk1"/>
              </a:solidFill>
              <a:latin typeface="Calibri"/>
              <a:ea typeface="Calibri"/>
              <a:cs typeface="Calibri"/>
              <a:sym typeface="Calibri"/>
            </a:endParaRPr>
          </a:p>
        </p:txBody>
      </p:sp>
      <p:sp>
        <p:nvSpPr>
          <p:cNvPr id="794" name="Google Shape;794;p34"/>
          <p:cNvSpPr txBox="1"/>
          <p:nvPr/>
        </p:nvSpPr>
        <p:spPr>
          <a:xfrm>
            <a:off x="1188720" y="594360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Compiled, sederhana, cepat</a:t>
            </a:r>
            <a:endParaRPr b="0" i="0" sz="1900" u="none" cap="none" strike="noStrike">
              <a:solidFill>
                <a:schemeClr val="dk1"/>
              </a:solidFill>
              <a:latin typeface="Calibri"/>
              <a:ea typeface="Calibri"/>
              <a:cs typeface="Calibri"/>
              <a:sym typeface="Calibri"/>
            </a:endParaRPr>
          </a:p>
        </p:txBody>
      </p:sp>
      <p:sp>
        <p:nvSpPr>
          <p:cNvPr id="795" name="Google Shape;795;p34"/>
          <p:cNvSpPr/>
          <p:nvPr/>
        </p:nvSpPr>
        <p:spPr>
          <a:xfrm>
            <a:off x="5166360" y="434340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34"/>
          <p:cNvSpPr/>
          <p:nvPr/>
        </p:nvSpPr>
        <p:spPr>
          <a:xfrm>
            <a:off x="5440680" y="457200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2</a:t>
            </a:r>
            <a:endParaRPr b="0" i="0" sz="2600" u="none" cap="none" strike="noStrike">
              <a:solidFill>
                <a:schemeClr val="dk1"/>
              </a:solidFill>
              <a:latin typeface="Calibri"/>
              <a:ea typeface="Calibri"/>
              <a:cs typeface="Calibri"/>
              <a:sym typeface="Calibri"/>
            </a:endParaRPr>
          </a:p>
        </p:txBody>
      </p:sp>
      <p:sp>
        <p:nvSpPr>
          <p:cNvPr id="797" name="Google Shape;797;p34"/>
          <p:cNvSpPr txBox="1"/>
          <p:nvPr/>
        </p:nvSpPr>
        <p:spPr>
          <a:xfrm>
            <a:off x="5440680" y="544068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Setup</a:t>
            </a:r>
            <a:endParaRPr b="0" i="0" sz="2400" u="none" cap="none" strike="noStrike">
              <a:solidFill>
                <a:schemeClr val="dk1"/>
              </a:solidFill>
              <a:latin typeface="Calibri"/>
              <a:ea typeface="Calibri"/>
              <a:cs typeface="Calibri"/>
              <a:sym typeface="Calibri"/>
            </a:endParaRPr>
          </a:p>
        </p:txBody>
      </p:sp>
      <p:sp>
        <p:nvSpPr>
          <p:cNvPr id="798" name="Google Shape;798;p34"/>
          <p:cNvSpPr txBox="1"/>
          <p:nvPr/>
        </p:nvSpPr>
        <p:spPr>
          <a:xfrm>
            <a:off x="5440680" y="594360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Go SDK, VS Code, go mod init</a:t>
            </a:r>
            <a:endParaRPr b="0" i="0" sz="1900" u="none" cap="none" strike="noStrike">
              <a:solidFill>
                <a:schemeClr val="dk1"/>
              </a:solidFill>
              <a:latin typeface="Calibri"/>
              <a:ea typeface="Calibri"/>
              <a:cs typeface="Calibri"/>
              <a:sym typeface="Calibri"/>
            </a:endParaRPr>
          </a:p>
        </p:txBody>
      </p:sp>
      <p:sp>
        <p:nvSpPr>
          <p:cNvPr id="799" name="Google Shape;799;p34"/>
          <p:cNvSpPr/>
          <p:nvPr/>
        </p:nvSpPr>
        <p:spPr>
          <a:xfrm>
            <a:off x="9418320" y="434340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4"/>
          <p:cNvSpPr/>
          <p:nvPr/>
        </p:nvSpPr>
        <p:spPr>
          <a:xfrm>
            <a:off x="9692640" y="457200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3</a:t>
            </a:r>
            <a:endParaRPr b="0" i="0" sz="2600" u="none" cap="none" strike="noStrike">
              <a:solidFill>
                <a:schemeClr val="dk1"/>
              </a:solidFill>
              <a:latin typeface="Calibri"/>
              <a:ea typeface="Calibri"/>
              <a:cs typeface="Calibri"/>
              <a:sym typeface="Calibri"/>
            </a:endParaRPr>
          </a:p>
        </p:txBody>
      </p:sp>
      <p:sp>
        <p:nvSpPr>
          <p:cNvPr id="801" name="Google Shape;801;p34"/>
          <p:cNvSpPr txBox="1"/>
          <p:nvPr/>
        </p:nvSpPr>
        <p:spPr>
          <a:xfrm>
            <a:off x="9692640" y="544068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Struktur proyek</a:t>
            </a:r>
            <a:endParaRPr b="0" i="0" sz="2400" u="none" cap="none" strike="noStrike">
              <a:solidFill>
                <a:schemeClr val="dk1"/>
              </a:solidFill>
              <a:latin typeface="Calibri"/>
              <a:ea typeface="Calibri"/>
              <a:cs typeface="Calibri"/>
              <a:sym typeface="Calibri"/>
            </a:endParaRPr>
          </a:p>
        </p:txBody>
      </p:sp>
      <p:sp>
        <p:nvSpPr>
          <p:cNvPr id="802" name="Google Shape;802;p34"/>
          <p:cNvSpPr txBox="1"/>
          <p:nvPr/>
        </p:nvSpPr>
        <p:spPr>
          <a:xfrm>
            <a:off x="9692640" y="594360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go.mod, main.go, package main</a:t>
            </a:r>
            <a:endParaRPr b="0" i="0" sz="1900" u="none" cap="none" strike="noStrike">
              <a:solidFill>
                <a:schemeClr val="dk1"/>
              </a:solidFill>
              <a:latin typeface="Calibri"/>
              <a:ea typeface="Calibri"/>
              <a:cs typeface="Calibri"/>
              <a:sym typeface="Calibri"/>
            </a:endParaRPr>
          </a:p>
        </p:txBody>
      </p:sp>
      <p:sp>
        <p:nvSpPr>
          <p:cNvPr id="803" name="Google Shape;803;p34"/>
          <p:cNvSpPr/>
          <p:nvPr/>
        </p:nvSpPr>
        <p:spPr>
          <a:xfrm>
            <a:off x="13670280" y="434340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4"/>
          <p:cNvSpPr/>
          <p:nvPr/>
        </p:nvSpPr>
        <p:spPr>
          <a:xfrm>
            <a:off x="13944600" y="457200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4</a:t>
            </a:r>
            <a:endParaRPr b="0" i="0" sz="2600" u="none" cap="none" strike="noStrike">
              <a:solidFill>
                <a:schemeClr val="dk1"/>
              </a:solidFill>
              <a:latin typeface="Calibri"/>
              <a:ea typeface="Calibri"/>
              <a:cs typeface="Calibri"/>
              <a:sym typeface="Calibri"/>
            </a:endParaRPr>
          </a:p>
        </p:txBody>
      </p:sp>
      <p:sp>
        <p:nvSpPr>
          <p:cNvPr id="805" name="Google Shape;805;p34"/>
          <p:cNvSpPr txBox="1"/>
          <p:nvPr/>
        </p:nvSpPr>
        <p:spPr>
          <a:xfrm>
            <a:off x="13944600" y="544068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Variabel</a:t>
            </a:r>
            <a:endParaRPr b="0" i="0" sz="2400" u="none" cap="none" strike="noStrike">
              <a:solidFill>
                <a:schemeClr val="dk1"/>
              </a:solidFill>
              <a:latin typeface="Calibri"/>
              <a:ea typeface="Calibri"/>
              <a:cs typeface="Calibri"/>
              <a:sym typeface="Calibri"/>
            </a:endParaRPr>
          </a:p>
        </p:txBody>
      </p:sp>
      <p:sp>
        <p:nvSpPr>
          <p:cNvPr id="806" name="Google Shape;806;p34"/>
          <p:cNvSpPr txBox="1"/>
          <p:nvPr/>
        </p:nvSpPr>
        <p:spPr>
          <a:xfrm>
            <a:off x="13944600" y="594360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var dan :=</a:t>
            </a:r>
            <a:endParaRPr b="0" i="0" sz="1900" u="none" cap="none" strike="noStrike">
              <a:solidFill>
                <a:schemeClr val="dk1"/>
              </a:solidFill>
              <a:latin typeface="Calibri"/>
              <a:ea typeface="Calibri"/>
              <a:cs typeface="Calibri"/>
              <a:sym typeface="Calibri"/>
            </a:endParaRPr>
          </a:p>
        </p:txBody>
      </p:sp>
      <p:sp>
        <p:nvSpPr>
          <p:cNvPr id="807" name="Google Shape;807;p34"/>
          <p:cNvSpPr/>
          <p:nvPr/>
        </p:nvSpPr>
        <p:spPr>
          <a:xfrm>
            <a:off x="914400" y="681228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4"/>
          <p:cNvSpPr/>
          <p:nvPr/>
        </p:nvSpPr>
        <p:spPr>
          <a:xfrm>
            <a:off x="1188720" y="704088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5</a:t>
            </a:r>
            <a:endParaRPr b="0" i="0" sz="2600" u="none" cap="none" strike="noStrike">
              <a:solidFill>
                <a:schemeClr val="dk1"/>
              </a:solidFill>
              <a:latin typeface="Calibri"/>
              <a:ea typeface="Calibri"/>
              <a:cs typeface="Calibri"/>
              <a:sym typeface="Calibri"/>
            </a:endParaRPr>
          </a:p>
        </p:txBody>
      </p:sp>
      <p:sp>
        <p:nvSpPr>
          <p:cNvPr id="809" name="Google Shape;809;p34"/>
          <p:cNvSpPr txBox="1"/>
          <p:nvPr/>
        </p:nvSpPr>
        <p:spPr>
          <a:xfrm>
            <a:off x="1188720" y="790956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Konstanta</a:t>
            </a:r>
            <a:endParaRPr b="0" i="0" sz="2400" u="none" cap="none" strike="noStrike">
              <a:solidFill>
                <a:schemeClr val="dk1"/>
              </a:solidFill>
              <a:latin typeface="Calibri"/>
              <a:ea typeface="Calibri"/>
              <a:cs typeface="Calibri"/>
              <a:sym typeface="Calibri"/>
            </a:endParaRPr>
          </a:p>
        </p:txBody>
      </p:sp>
      <p:sp>
        <p:nvSpPr>
          <p:cNvPr id="810" name="Google Shape;810;p34"/>
          <p:cNvSpPr txBox="1"/>
          <p:nvPr/>
        </p:nvSpPr>
        <p:spPr>
          <a:xfrm>
            <a:off x="1188720" y="841248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const dan zero value</a:t>
            </a:r>
            <a:endParaRPr b="0" i="0" sz="1900" u="none" cap="none" strike="noStrike">
              <a:solidFill>
                <a:schemeClr val="dk1"/>
              </a:solidFill>
              <a:latin typeface="Calibri"/>
              <a:ea typeface="Calibri"/>
              <a:cs typeface="Calibri"/>
              <a:sym typeface="Calibri"/>
            </a:endParaRPr>
          </a:p>
        </p:txBody>
      </p:sp>
      <p:sp>
        <p:nvSpPr>
          <p:cNvPr id="811" name="Google Shape;811;p34"/>
          <p:cNvSpPr/>
          <p:nvPr/>
        </p:nvSpPr>
        <p:spPr>
          <a:xfrm>
            <a:off x="5166360" y="681228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34"/>
          <p:cNvSpPr/>
          <p:nvPr/>
        </p:nvSpPr>
        <p:spPr>
          <a:xfrm>
            <a:off x="5440680" y="704088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6</a:t>
            </a:r>
            <a:endParaRPr b="0" i="0" sz="2600" u="none" cap="none" strike="noStrike">
              <a:solidFill>
                <a:schemeClr val="dk1"/>
              </a:solidFill>
              <a:latin typeface="Calibri"/>
              <a:ea typeface="Calibri"/>
              <a:cs typeface="Calibri"/>
              <a:sym typeface="Calibri"/>
            </a:endParaRPr>
          </a:p>
        </p:txBody>
      </p:sp>
      <p:sp>
        <p:nvSpPr>
          <p:cNvPr id="813" name="Google Shape;813;p34"/>
          <p:cNvSpPr txBox="1"/>
          <p:nvPr/>
        </p:nvSpPr>
        <p:spPr>
          <a:xfrm>
            <a:off x="5440680" y="790956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Tipe data</a:t>
            </a:r>
            <a:endParaRPr b="0" i="0" sz="2400" u="none" cap="none" strike="noStrike">
              <a:solidFill>
                <a:schemeClr val="dk1"/>
              </a:solidFill>
              <a:latin typeface="Calibri"/>
              <a:ea typeface="Calibri"/>
              <a:cs typeface="Calibri"/>
              <a:sym typeface="Calibri"/>
            </a:endParaRPr>
          </a:p>
        </p:txBody>
      </p:sp>
      <p:sp>
        <p:nvSpPr>
          <p:cNvPr id="814" name="Google Shape;814;p34"/>
          <p:cNvSpPr txBox="1"/>
          <p:nvPr/>
        </p:nvSpPr>
        <p:spPr>
          <a:xfrm>
            <a:off x="5440680" y="841248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int, float64, string, bool</a:t>
            </a:r>
            <a:endParaRPr b="0" i="0" sz="1900" u="none" cap="none" strike="noStrike">
              <a:solidFill>
                <a:schemeClr val="dk1"/>
              </a:solidFill>
              <a:latin typeface="Calibri"/>
              <a:ea typeface="Calibri"/>
              <a:cs typeface="Calibri"/>
              <a:sym typeface="Calibri"/>
            </a:endParaRPr>
          </a:p>
        </p:txBody>
      </p:sp>
      <p:sp>
        <p:nvSpPr>
          <p:cNvPr id="815" name="Google Shape;815;p34"/>
          <p:cNvSpPr/>
          <p:nvPr/>
        </p:nvSpPr>
        <p:spPr>
          <a:xfrm>
            <a:off x="9418320" y="681228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34"/>
          <p:cNvSpPr/>
          <p:nvPr/>
        </p:nvSpPr>
        <p:spPr>
          <a:xfrm>
            <a:off x="9692640" y="704088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7</a:t>
            </a:r>
            <a:endParaRPr b="0" i="0" sz="2600" u="none" cap="none" strike="noStrike">
              <a:solidFill>
                <a:schemeClr val="dk1"/>
              </a:solidFill>
              <a:latin typeface="Calibri"/>
              <a:ea typeface="Calibri"/>
              <a:cs typeface="Calibri"/>
              <a:sym typeface="Calibri"/>
            </a:endParaRPr>
          </a:p>
        </p:txBody>
      </p:sp>
      <p:sp>
        <p:nvSpPr>
          <p:cNvPr id="817" name="Google Shape;817;p34"/>
          <p:cNvSpPr txBox="1"/>
          <p:nvPr/>
        </p:nvSpPr>
        <p:spPr>
          <a:xfrm>
            <a:off x="9692640" y="790956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Operator</a:t>
            </a:r>
            <a:endParaRPr b="0" i="0" sz="2400" u="none" cap="none" strike="noStrike">
              <a:solidFill>
                <a:schemeClr val="dk1"/>
              </a:solidFill>
              <a:latin typeface="Calibri"/>
              <a:ea typeface="Calibri"/>
              <a:cs typeface="Calibri"/>
              <a:sym typeface="Calibri"/>
            </a:endParaRPr>
          </a:p>
        </p:txBody>
      </p:sp>
      <p:sp>
        <p:nvSpPr>
          <p:cNvPr id="818" name="Google Shape;818;p34"/>
          <p:cNvSpPr txBox="1"/>
          <p:nvPr/>
        </p:nvSpPr>
        <p:spPr>
          <a:xfrm>
            <a:off x="9692640" y="841248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Aritmatika, relasional, logika</a:t>
            </a:r>
            <a:endParaRPr b="0" i="0" sz="1900" u="none" cap="none" strike="noStrike">
              <a:solidFill>
                <a:schemeClr val="dk1"/>
              </a:solidFill>
              <a:latin typeface="Calibri"/>
              <a:ea typeface="Calibri"/>
              <a:cs typeface="Calibri"/>
              <a:sym typeface="Calibri"/>
            </a:endParaRPr>
          </a:p>
        </p:txBody>
      </p:sp>
      <p:sp>
        <p:nvSpPr>
          <p:cNvPr id="819" name="Google Shape;819;p34"/>
          <p:cNvSpPr/>
          <p:nvPr/>
        </p:nvSpPr>
        <p:spPr>
          <a:xfrm>
            <a:off x="13670280" y="6812280"/>
            <a:ext cx="3977640" cy="2331720"/>
          </a:xfrm>
          <a:prstGeom prst="roundRect">
            <a:avLst>
              <a:gd fmla="val 5882" name="adj"/>
            </a:avLst>
          </a:prstGeom>
          <a:solidFill>
            <a:srgbClr val="EEF1FC"/>
          </a:solidFill>
          <a:ln cap="flat" cmpd="sng" w="12700">
            <a:solidFill>
              <a:srgbClr val="D3DA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4"/>
          <p:cNvSpPr/>
          <p:nvPr/>
        </p:nvSpPr>
        <p:spPr>
          <a:xfrm>
            <a:off x="13944600" y="7040880"/>
            <a:ext cx="731520" cy="731520"/>
          </a:xfrm>
          <a:prstGeom prst="ellipse">
            <a:avLst/>
          </a:prstGeom>
          <a:solidFill>
            <a:srgbClr val="162CA2"/>
          </a:solidFill>
          <a:ln cap="flat" cmpd="sng" w="9525">
            <a:solidFill>
              <a:srgbClr val="162CA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DFBFB"/>
              </a:buClr>
              <a:buSzPts val="2600"/>
              <a:buFont typeface="Arial"/>
              <a:buNone/>
            </a:pPr>
            <a:r>
              <a:rPr b="1" i="0" lang="en-US" sz="2600" u="none" cap="none" strike="noStrike">
                <a:solidFill>
                  <a:srgbClr val="FDFBFB"/>
                </a:solidFill>
                <a:latin typeface="Arial"/>
                <a:ea typeface="Arial"/>
                <a:cs typeface="Arial"/>
                <a:sym typeface="Arial"/>
              </a:rPr>
              <a:t>8</a:t>
            </a:r>
            <a:endParaRPr b="0" i="0" sz="2600" u="none" cap="none" strike="noStrike">
              <a:solidFill>
                <a:schemeClr val="dk1"/>
              </a:solidFill>
              <a:latin typeface="Calibri"/>
              <a:ea typeface="Calibri"/>
              <a:cs typeface="Calibri"/>
              <a:sym typeface="Calibri"/>
            </a:endParaRPr>
          </a:p>
        </p:txBody>
      </p:sp>
      <p:sp>
        <p:nvSpPr>
          <p:cNvPr id="821" name="Google Shape;821;p34"/>
          <p:cNvSpPr txBox="1"/>
          <p:nvPr/>
        </p:nvSpPr>
        <p:spPr>
          <a:xfrm>
            <a:off x="13944600" y="7909560"/>
            <a:ext cx="34747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3123D"/>
              </a:buClr>
              <a:buSzPts val="2400"/>
              <a:buFont typeface="Calibri"/>
              <a:buNone/>
            </a:pPr>
            <a:r>
              <a:rPr b="1" i="0" lang="en-US" sz="2400" u="none" cap="none" strike="noStrike">
                <a:solidFill>
                  <a:srgbClr val="13123D"/>
                </a:solidFill>
                <a:latin typeface="Calibri"/>
                <a:ea typeface="Calibri"/>
                <a:cs typeface="Calibri"/>
                <a:sym typeface="Calibri"/>
              </a:rPr>
              <a:t>Komunikasi</a:t>
            </a:r>
            <a:endParaRPr b="0" i="0" sz="2400" u="none" cap="none" strike="noStrike">
              <a:solidFill>
                <a:schemeClr val="dk1"/>
              </a:solidFill>
              <a:latin typeface="Calibri"/>
              <a:ea typeface="Calibri"/>
              <a:cs typeface="Calibri"/>
              <a:sym typeface="Calibri"/>
            </a:endParaRPr>
          </a:p>
        </p:txBody>
      </p:sp>
      <p:sp>
        <p:nvSpPr>
          <p:cNvPr id="822" name="Google Shape;822;p34"/>
          <p:cNvSpPr txBox="1"/>
          <p:nvPr/>
        </p:nvSpPr>
        <p:spPr>
          <a:xfrm>
            <a:off x="13944600" y="8412480"/>
            <a:ext cx="3474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F86"/>
              </a:buClr>
              <a:buSzPts val="1900"/>
              <a:buFont typeface="Calibri"/>
              <a:buNone/>
            </a:pPr>
            <a:r>
              <a:rPr b="0" i="0" lang="en-US" sz="1900" u="none" cap="none" strike="noStrike">
                <a:solidFill>
                  <a:srgbClr val="5A5F86"/>
                </a:solidFill>
                <a:latin typeface="Calibri"/>
                <a:ea typeface="Calibri"/>
                <a:cs typeface="Calibri"/>
                <a:sym typeface="Calibri"/>
              </a:rPr>
              <a:t>Parafrase dan klarifikasi</a:t>
            </a:r>
            <a:endParaRPr b="0" i="0" sz="1900" u="none" cap="none" strike="noStrike">
              <a:solidFill>
                <a:schemeClr val="dk1"/>
              </a:solidFill>
              <a:latin typeface="Calibri"/>
              <a:ea typeface="Calibri"/>
              <a:cs typeface="Calibri"/>
              <a:sym typeface="Calibri"/>
            </a:endParaRPr>
          </a:p>
        </p:txBody>
      </p:sp>
      <p:sp>
        <p:nvSpPr>
          <p:cNvPr id="823" name="Google Shape;823;p34"/>
          <p:cNvSpPr txBox="1"/>
          <p:nvPr/>
        </p:nvSpPr>
        <p:spPr>
          <a:xfrm>
            <a:off x="914400" y="9326880"/>
            <a:ext cx="16459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CA2"/>
              </a:buClr>
              <a:buSzPts val="2400"/>
              <a:buFont typeface="Calibri"/>
              <a:buNone/>
            </a:pPr>
            <a:r>
              <a:rPr b="1" i="0" lang="en-US" sz="2400" u="none" cap="none" strike="noStrike">
                <a:solidFill>
                  <a:srgbClr val="162CA2"/>
                </a:solidFill>
                <a:latin typeface="Calibri"/>
                <a:ea typeface="Calibri"/>
                <a:cs typeface="Calibri"/>
                <a:sym typeface="Calibri"/>
              </a:rPr>
              <a:t>Kunci: </a:t>
            </a:r>
            <a:r>
              <a:rPr b="1" i="0" lang="en-US" sz="2400" u="none" cap="none" strike="noStrike">
                <a:solidFill>
                  <a:srgbClr val="13123D"/>
                </a:solidFill>
                <a:latin typeface="Calibri"/>
                <a:ea typeface="Calibri"/>
                <a:cs typeface="Calibri"/>
                <a:sym typeface="Calibri"/>
              </a:rPr>
              <a:t>tulis → go run → baca pesan error → perbaiki.</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pic>
        <p:nvPicPr>
          <p:cNvPr descr="/home/claude/assets/image3.png" id="829" name="Google Shape;829;p3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830" name="Google Shape;830;p35"/>
          <p:cNvSpPr txBox="1"/>
          <p:nvPr/>
        </p:nvSpPr>
        <p:spPr>
          <a:xfrm>
            <a:off x="8686800" y="914400"/>
            <a:ext cx="928116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CA2"/>
              </a:buClr>
              <a:buSzPts val="8000"/>
              <a:buFont typeface="Poppins"/>
              <a:buNone/>
            </a:pPr>
            <a:r>
              <a:rPr b="1" i="0" lang="en-US" sz="8000" u="none" cap="none" strike="noStrike">
                <a:solidFill>
                  <a:srgbClr val="162CA2"/>
                </a:solidFill>
                <a:latin typeface="Poppins"/>
                <a:ea typeface="Poppins"/>
                <a:cs typeface="Poppins"/>
                <a:sym typeface="Poppins"/>
              </a:rPr>
              <a:t>TANYA JAWAB</a:t>
            </a:r>
            <a:endParaRPr b="0" i="0" sz="8000" u="none" cap="none" strike="noStrike">
              <a:solidFill>
                <a:schemeClr val="dk1"/>
              </a:solidFill>
              <a:latin typeface="Calibri"/>
              <a:ea typeface="Calibri"/>
              <a:cs typeface="Calibri"/>
              <a:sym typeface="Calibri"/>
            </a:endParaRPr>
          </a:p>
        </p:txBody>
      </p:sp>
      <p:sp>
        <p:nvSpPr>
          <p:cNvPr id="831" name="Google Shape;831;p35"/>
          <p:cNvSpPr txBox="1"/>
          <p:nvPr/>
        </p:nvSpPr>
        <p:spPr>
          <a:xfrm>
            <a:off x="9601200" y="2423160"/>
            <a:ext cx="8229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400"/>
              <a:buFont typeface="Poppins"/>
              <a:buNone/>
            </a:pPr>
            <a:r>
              <a:rPr b="1" i="0" lang="en-US" sz="2400" u="none" cap="none" strike="noStrike">
                <a:solidFill>
                  <a:srgbClr val="162CA2"/>
                </a:solidFill>
                <a:latin typeface="Poppins"/>
                <a:ea typeface="Poppins"/>
                <a:cs typeface="Poppins"/>
                <a:sym typeface="Poppins"/>
              </a:rPr>
              <a:t>Tugas mandiri</a:t>
            </a:r>
            <a:endParaRPr b="0" i="0" sz="2400" u="none" cap="none" strike="noStrike">
              <a:solidFill>
                <a:schemeClr val="dk1"/>
              </a:solidFill>
              <a:latin typeface="Calibri"/>
              <a:ea typeface="Calibri"/>
              <a:cs typeface="Calibri"/>
              <a:sym typeface="Calibri"/>
            </a:endParaRPr>
          </a:p>
        </p:txBody>
      </p:sp>
      <p:sp>
        <p:nvSpPr>
          <p:cNvPr id="832" name="Google Shape;832;p35"/>
          <p:cNvSpPr txBox="1"/>
          <p:nvPr/>
        </p:nvSpPr>
        <p:spPr>
          <a:xfrm>
            <a:off x="9601200" y="3017520"/>
            <a:ext cx="850392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2CA2"/>
              </a:buClr>
              <a:buSzPts val="2100"/>
              <a:buFont typeface="Poppins"/>
              <a:buNone/>
            </a:pPr>
            <a:r>
              <a:rPr b="0" i="0" lang="en-US" sz="2100" u="none" cap="none" strike="noStrike">
                <a:solidFill>
                  <a:srgbClr val="162CA2"/>
                </a:solidFill>
                <a:latin typeface="Poppins"/>
                <a:ea typeface="Poppins"/>
                <a:cs typeface="Poppins"/>
                <a:sym typeface="Poppins"/>
              </a:rPr>
              <a:t>Program BMI: berat / (tinggi × tinggi), float64</a:t>
            </a:r>
            <a:endParaRPr b="0" i="0" sz="21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162CA2"/>
              </a:buClr>
              <a:buSzPts val="2100"/>
              <a:buFont typeface="Poppins"/>
              <a:buNone/>
            </a:pPr>
            <a:r>
              <a:rPr b="0" i="0" lang="en-US" sz="2100" u="none" cap="none" strike="noStrike">
                <a:solidFill>
                  <a:srgbClr val="162CA2"/>
                </a:solidFill>
                <a:latin typeface="Poppins"/>
                <a:ea typeface="Poppins"/>
                <a:cs typeface="Poppins"/>
                <a:sym typeface="Poppins"/>
              </a:rPr>
              <a:t>Ubah detik menjadi jam, menit, detik (/ dan %)</a:t>
            </a:r>
            <a:endParaRPr b="0" i="0" sz="21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162CA2"/>
              </a:buClr>
              <a:buSzPts val="2100"/>
              <a:buFont typeface="Poppins"/>
              <a:buNone/>
            </a:pPr>
            <a:r>
              <a:rPr b="0" i="0" lang="en-US" sz="2100" u="none" cap="none" strike="noStrike">
                <a:solidFill>
                  <a:srgbClr val="162CA2"/>
                </a:solidFill>
                <a:latin typeface="Poppins"/>
                <a:ea typeface="Poppins"/>
                <a:cs typeface="Poppins"/>
                <a:sym typeface="Poppins"/>
              </a:rPr>
              <a:t>Parafrase sekali dalam percakapan berikutnya</a:t>
            </a:r>
            <a:endParaRPr b="0" i="0" sz="2100" u="none" cap="none" strike="noStrike">
              <a:solidFill>
                <a:schemeClr val="dk1"/>
              </a:solidFill>
              <a:latin typeface="Calibri"/>
              <a:ea typeface="Calibri"/>
              <a:cs typeface="Calibri"/>
              <a:sym typeface="Calibri"/>
            </a:endParaRPr>
          </a:p>
        </p:txBody>
      </p:sp>
      <p:sp>
        <p:nvSpPr>
          <p:cNvPr id="833" name="Google Shape;833;p35"/>
          <p:cNvSpPr txBox="1"/>
          <p:nvPr/>
        </p:nvSpPr>
        <p:spPr>
          <a:xfrm>
            <a:off x="6272784" y="5093208"/>
            <a:ext cx="109728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3000"/>
              <a:buFont typeface="Poppins"/>
              <a:buNone/>
            </a:pPr>
            <a:r>
              <a:rPr b="1" i="0" lang="en-US" sz="3000" u="none" cap="none" strike="noStrike">
                <a:solidFill>
                  <a:srgbClr val="FDFBFB"/>
                </a:solidFill>
                <a:latin typeface="Poppins"/>
                <a:ea typeface="Poppins"/>
                <a:cs typeface="Poppins"/>
                <a:sym typeface="Poppins"/>
              </a:rPr>
              <a:t>Sesi 3 · Kontrol Aliran &amp; Struktur Data</a:t>
            </a:r>
            <a:endParaRPr b="0" i="0" sz="3000" u="none" cap="none" strike="noStrike">
              <a:solidFill>
                <a:schemeClr val="dk1"/>
              </a:solidFill>
              <a:latin typeface="Calibri"/>
              <a:ea typeface="Calibri"/>
              <a:cs typeface="Calibri"/>
              <a:sym typeface="Calibri"/>
            </a:endParaRPr>
          </a:p>
        </p:txBody>
      </p:sp>
      <p:sp>
        <p:nvSpPr>
          <p:cNvPr id="834" name="Google Shape;834;p35"/>
          <p:cNvSpPr txBox="1"/>
          <p:nvPr/>
        </p:nvSpPr>
        <p:spPr>
          <a:xfrm>
            <a:off x="6272784" y="5897880"/>
            <a:ext cx="1051560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1900"/>
              <a:buFont typeface="Poppins"/>
              <a:buNone/>
            </a:pPr>
            <a:r>
              <a:rPr b="0" i="0" lang="en-US" sz="1900" u="none" cap="none" strike="noStrike">
                <a:solidFill>
                  <a:srgbClr val="FDFBFB"/>
                </a:solidFill>
                <a:latin typeface="Poppins"/>
                <a:ea typeface="Poppins"/>
                <a:cs typeface="Poppins"/>
                <a:sym typeface="Poppins"/>
              </a:rPr>
              <a:t>Array, slice, map, struct, if-else, switch, for, dan komunikasi verbal/non-verbal.</a:t>
            </a:r>
            <a:endParaRPr b="0" i="0" sz="1900" u="none" cap="none" strike="noStrike">
              <a:solidFill>
                <a:schemeClr val="dk1"/>
              </a:solidFill>
              <a:latin typeface="Calibri"/>
              <a:ea typeface="Calibri"/>
              <a:cs typeface="Calibri"/>
              <a:sym typeface="Calibri"/>
            </a:endParaRPr>
          </a:p>
        </p:txBody>
      </p:sp>
      <p:sp>
        <p:nvSpPr>
          <p:cNvPr id="835" name="Google Shape;835;p35"/>
          <p:cNvSpPr txBox="1"/>
          <p:nvPr/>
        </p:nvSpPr>
        <p:spPr>
          <a:xfrm>
            <a:off x="6922008" y="8156448"/>
            <a:ext cx="54864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2000"/>
              <a:buFont typeface="Poppins"/>
              <a:buNone/>
            </a:pPr>
            <a:r>
              <a:rPr b="0" i="0" lang="en-US" sz="2000" u="none" cap="none" strike="noStrike">
                <a:solidFill>
                  <a:srgbClr val="FDFBFB"/>
                </a:solidFill>
                <a:latin typeface="Poppins"/>
                <a:ea typeface="Poppins"/>
                <a:cs typeface="Poppins"/>
                <a:sym typeface="Poppins"/>
              </a:rPr>
              <a:t>0857-4050-0094</a:t>
            </a:r>
            <a:endParaRPr b="0" i="0" sz="2000" u="none" cap="none" strike="noStrike">
              <a:solidFill>
                <a:schemeClr val="dk1"/>
              </a:solidFill>
              <a:latin typeface="Calibri"/>
              <a:ea typeface="Calibri"/>
              <a:cs typeface="Calibri"/>
              <a:sym typeface="Calibri"/>
            </a:endParaRPr>
          </a:p>
        </p:txBody>
      </p:sp>
      <p:sp>
        <p:nvSpPr>
          <p:cNvPr id="836" name="Google Shape;836;p35"/>
          <p:cNvSpPr txBox="1"/>
          <p:nvPr/>
        </p:nvSpPr>
        <p:spPr>
          <a:xfrm>
            <a:off x="6958584" y="8732520"/>
            <a:ext cx="73152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1400"/>
              <a:buFont typeface="Poppins"/>
              <a:buNone/>
            </a:pPr>
            <a:r>
              <a:rPr b="0" i="0" lang="en-US" sz="1400" u="none" cap="none" strike="noStrike">
                <a:solidFill>
                  <a:srgbClr val="FDFBFB"/>
                </a:solidFill>
                <a:latin typeface="Poppins"/>
                <a:ea typeface="Poppins"/>
                <a:cs typeface="Poppins"/>
                <a:sym typeface="Poppins"/>
              </a:rPr>
              <a:t>martha@hicolleagues.com</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DFBFB"/>
              </a:buClr>
              <a:buSzPts val="1400"/>
              <a:buFont typeface="Poppins"/>
              <a:buNone/>
            </a:pPr>
            <a:r>
              <a:rPr b="0" i="0" lang="en-US" sz="1400" u="none" cap="none" strike="noStrike">
                <a:solidFill>
                  <a:srgbClr val="FDFBFB"/>
                </a:solidFill>
                <a:latin typeface="Poppins"/>
                <a:ea typeface="Poppins"/>
                <a:cs typeface="Poppins"/>
                <a:sym typeface="Poppins"/>
              </a:rPr>
              <a:t>gilang@hicolleagues.com</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DFBFB"/>
              </a:buClr>
              <a:buSzPts val="1400"/>
              <a:buFont typeface="Poppins"/>
              <a:buNone/>
            </a:pPr>
            <a:r>
              <a:rPr b="0" i="0" lang="en-US" sz="1400" u="none" cap="none" strike="noStrike">
                <a:solidFill>
                  <a:srgbClr val="FDFBFB"/>
                </a:solidFill>
                <a:latin typeface="Poppins"/>
                <a:ea typeface="Poppins"/>
                <a:cs typeface="Poppins"/>
                <a:sym typeface="Poppins"/>
              </a:rPr>
              <a:t>partnership@hicolleagues.com</a:t>
            </a:r>
            <a:endParaRPr b="0" i="0" sz="1400" u="none" cap="none" strike="noStrike">
              <a:solidFill>
                <a:schemeClr val="dk1"/>
              </a:solidFill>
              <a:latin typeface="Calibri"/>
              <a:ea typeface="Calibri"/>
              <a:cs typeface="Calibri"/>
              <a:sym typeface="Calibri"/>
            </a:endParaRPr>
          </a:p>
        </p:txBody>
      </p:sp>
      <p:sp>
        <p:nvSpPr>
          <p:cNvPr id="837" name="Google Shape;837;p35"/>
          <p:cNvSpPr txBox="1"/>
          <p:nvPr/>
        </p:nvSpPr>
        <p:spPr>
          <a:xfrm>
            <a:off x="6958584" y="9601200"/>
            <a:ext cx="5486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DFBFB"/>
              </a:buClr>
              <a:buSzPts val="2000"/>
              <a:buFont typeface="Poppins"/>
              <a:buNone/>
            </a:pPr>
            <a:r>
              <a:rPr b="0" i="0" lang="en-US" sz="2000" u="none" cap="none" strike="noStrike">
                <a:solidFill>
                  <a:srgbClr val="FDFBFB"/>
                </a:solidFill>
                <a:latin typeface="Poppins"/>
                <a:ea typeface="Poppins"/>
                <a:cs typeface="Poppins"/>
                <a:sym typeface="Poppins"/>
              </a:rPr>
              <a:t>www.hicolleagues.com</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2026-09-21T13:34:34Z</dcterms:created>
  <dc:creator>PptxGenJS</dc:creator>
</cp:coreProperties>
</file>