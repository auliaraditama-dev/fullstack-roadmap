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10287000" cx="18288000"/>
  <p:notesSz cx="10287000" cy="18288000"/>
  <p:embeddedFontLst>
    <p:embeddedFont>
      <p:font typeface="Poppins"/>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1" roundtripDataSignature="AMtx7mjKIdPFz+rU43eKg0fegL+/KEdQ/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3E2A723-B492-44FB-AF4C-91DFBF99BAEE}">
  <a:tblStyle styleId="{73E2A723-B492-44FB-AF4C-91DFBF99BAE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Poppins-boldItalic.fntdata"/><Relationship Id="rId20" Type="http://schemas.openxmlformats.org/officeDocument/2006/relationships/slide" Target="slides/slide15.xml"/><Relationship Id="rId41" Type="http://customschemas.google.com/relationships/presentationmetadata" Target="meta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Poppins-regular.fnt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Poppins-italic.fntdata"/><Relationship Id="rId16" Type="http://schemas.openxmlformats.org/officeDocument/2006/relationships/slide" Target="slides/slide11.xml"/><Relationship Id="rId38" Type="http://schemas.openxmlformats.org/officeDocument/2006/relationships/font" Target="fonts/Poppins-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 name="Google Shape;1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Sambutan dan pembuka (±5 menit). Perkenalkan diri, sampaikan tujuan sesi: membangun pola pikir logika sebelum belajar bahasa pemrograman tertentu. Tanyakan singkat: siapa yang sudah pernah menulis kode? Ini membantu menyesuaikan kecepatan.</a:t>
            </a:r>
            <a:endParaRPr/>
          </a:p>
        </p:txBody>
      </p:sp>
      <p:sp>
        <p:nvSpPr>
          <p:cNvPr id="18" name="Google Shape;1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h4066ca7e74c71397_0_0:notes"/>
          <p:cNvSpPr txBox="1"/>
          <p:nvPr>
            <p:ph idx="1" type="body"/>
          </p:nvPr>
        </p:nvSpPr>
        <p:spPr>
          <a:xfrm>
            <a:off x="1028700" y="8686800"/>
            <a:ext cx="8229600" cy="8229600"/>
          </a:xfrm>
          <a:prstGeom prst="rect">
            <a:avLst/>
          </a:prstGeom>
          <a:noFill/>
          <a:ln>
            <a:noFill/>
          </a:ln>
        </p:spPr>
        <p:txBody>
          <a:bodyPr anchorCtr="0" anchor="t" bIns="152375" lIns="152375" spcFirstLastPara="1" rIns="152375" wrap="square" tIns="152375">
            <a:noAutofit/>
          </a:bodyPr>
          <a:lstStyle/>
          <a:p>
            <a:pPr indent="0" lvl="0" marL="0" rtl="0" algn="l">
              <a:lnSpc>
                <a:spcPct val="100000"/>
              </a:lnSpc>
              <a:spcBef>
                <a:spcPts val="0"/>
              </a:spcBef>
              <a:spcAft>
                <a:spcPts val="0"/>
              </a:spcAft>
              <a:buSzPts val="1800"/>
              <a:buNone/>
            </a:pPr>
            <a:r>
              <a:t/>
            </a:r>
            <a:endParaRPr/>
          </a:p>
        </p:txBody>
      </p:sp>
      <p:sp>
        <p:nvSpPr>
          <p:cNvPr id="31" name="Google Shape;31;h4066ca7e74c71397_0_0:notes"/>
          <p:cNvSpPr/>
          <p:nvPr>
            <p:ph idx="2" type="sldImg"/>
          </p:nvPr>
        </p:nvSpPr>
        <p:spPr>
          <a:xfrm>
            <a:off x="1714838" y="1371600"/>
            <a:ext cx="6858600" cy="6858000"/>
          </a:xfrm>
          <a:custGeom>
            <a:rect b="b" l="l" r="r" t="t"/>
            <a:pathLst>
              <a:path extrusionOk="0" h="120000" w="120000">
                <a:moveTo>
                  <a:pt x="0" y="0"/>
                </a:moveTo>
                <a:lnTo>
                  <a:pt x="120000" y="0"/>
                </a:lnTo>
                <a:lnTo>
                  <a:pt x="120000" y="120000"/>
                </a:lnTo>
                <a:lnTo>
                  <a:pt x="0" y="120000"/>
                </a:lnTo>
                <a:close/>
              </a:path>
            </a:pathLst>
          </a:custGeom>
          <a:noFill/>
          <a:ln cap="flat" cmpd="sng" w="1587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 name="Google Shape;5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Tunjukkan peta perjalanan sesi. Total 180 menit: konsep (±65 menit), istirahat 10 menit, struktur kontrol, fungsi, dan struktur data (±60 menit), lalu latihan 35 menit. Waktu bersifat panduan; jika peserta cepat paham, tambah waktu latihan.</a:t>
            </a:r>
            <a:endParaRPr/>
          </a:p>
        </p:txBody>
      </p:sp>
      <p:sp>
        <p:nvSpPr>
          <p:cNvPr id="53" name="Google Shape;5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Bacakan singkat empat tujuan. Tekankan: fokus sesi ini adalah cara berpikir, bukan sintaks bahasa tertentu. Kemampuan ini akan terpakai di bahasa apa pun (Python, JavaScript, Java, Go, dsb.).</a:t>
            </a:r>
            <a:endParaRPr/>
          </a:p>
        </p:txBody>
      </p:sp>
      <p:sp>
        <p:nvSpPr>
          <p:cNvPr id="106" name="Google Shape;10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Idealnya checklist ini dikirim ke peserta SEHARI SEBELUM sesi pertama (lewat grup WhatsApp/email), supaya waktu kelas tidak habis untuk instalasi. Kalau ada yang belum sempat, sisihkan 15-20 menit di awal sebelum masuk materi, atau minta peserta menyusul saat istirahat. Semua alat di sini dipakai sepanjang 36 sesi bootcamp, bukan cuma hari ini -- makanya lebih baik sekali instal di awal.</a:t>
            </a:r>
            <a:endParaRPr/>
          </a:p>
        </p:txBody>
      </p:sp>
      <p:sp>
        <p:nvSpPr>
          <p:cNvPr id="135" name="Google Shape;13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Bagikan link ini ke peserta. Untuk PostgreSQL nanti di Sesi 12, sarankan jalankan lewat Docker (docker run postgres) daripada instalasi native -- lebih konsisten di semua sistem operasi dan langsung siap dipakai. DBeaver tinggal connect ke instance Docker itu. Perintah `go version`, `node -v`, `git --version` di terminal adalah cara tercepat memverifikasi instalasi.</a:t>
            </a:r>
            <a:endParaRPr/>
          </a:p>
        </p:txBody>
      </p:sp>
      <p:sp>
        <p:nvSpPr>
          <p:cNvPr id="145" name="Google Shape;14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Mulai dengan analogi resep masakan. Koki = komputer, resep = program, bahan = input, hidangan = output. Poin penting: komputer sangat patuh tetapi sangat literal. Ia tidak bisa menebak maksud kita. Ajak peserta memberi contoh instruksi yang ambigu, misalnya "buatkan kopi yang enak".</a:t>
            </a:r>
            <a:endParaRPr/>
          </a:p>
        </p:txBody>
      </p:sp>
      <p:sp>
        <p:nvSpPr>
          <p:cNvPr id="177" name="Google Shape;17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Setiap program, sesederhana apa pun, mengikuti pola ini. Contoh kalkulator: input 5 dan 3, proses penjumlahan, output 8. Minta peserta menyebut contoh lain (ATM, aplikasi ojek online, dsb.) dan tunjukkan input, proses, outputnya.</a:t>
            </a:r>
            <a:endParaRPr/>
          </a:p>
        </p:txBody>
      </p:sp>
      <p:sp>
        <p:nvSpPr>
          <p:cNvPr id="203" name="Google Shape;20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Definisi: urutan langkah logis dan terhingga untuk menyelesaikan masalah. Gunakan contoh membuat teh manis, lalu tanyakan: apa yang terjadi kalau urutan langkah 3 dan 4 ditukar? Ini menunjukkan bahwa urutan menentukan hasil. Bahas empat ciri algoritma yang baik.</a:t>
            </a:r>
            <a:endParaRPr/>
          </a:p>
        </p:txBody>
      </p:sp>
      <p:sp>
        <p:nvSpPr>
          <p:cNvPr id="234" name="Google Shape;23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Pseudocode adalah draf algoritma yang ditulis mirip kode tetapi bebas sintaks. Tunjukkan contoh luas persegi panjang, lalu tunjukkan bagaimana satu baris logika yang sama ditulis di Python, JavaScript, dan Java. Pesan: kita berlatih logika dulu, sintaks belakangan. Pseudocode di sesi ini memakai kata kunci umum (if, while, for, function, print).</a:t>
            </a:r>
            <a:endParaRPr/>
          </a:p>
        </p:txBody>
      </p:sp>
      <p:sp>
        <p:nvSpPr>
          <p:cNvPr id="260" name="Google Shape;26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Flowchart mengubah logika menjadi gambar. Perkenalkan lima simbol dasar. Tekankan aturan: satu titik Mulai, satu titik Selesai, alur dari atas ke bawah. Belah ketupat selalu punya dua jalur keluar (Ya/Tidak).</a:t>
            </a:r>
            <a:endParaRPr/>
          </a:p>
        </p:txBody>
      </p:sp>
      <p:sp>
        <p:nvSpPr>
          <p:cNvPr id="282" name="Google Shape;28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Telusuri flowchart bersama peserta, kiri ke kanan. Uji dengan angka 7 lalu 10: jalur mana yang dilalui? Tanyakan: kondisi apa yang ditanyakan di belah ketupat? (sisa bagi 2 sama dengan 0?). Ini jembatan menuju percabangan if-else.</a:t>
            </a:r>
            <a:endParaRPr/>
          </a:p>
        </p:txBody>
      </p:sp>
      <p:sp>
        <p:nvSpPr>
          <p:cNvPr id="312" name="Google Shape;31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Variabel = kotak bernama yang menyimpan nilai. Tunjukkan bahwa nilainya bisa berubah (umur = 21). Lalu tipe data: integer, float, string, boolean. Poin kunci di kotak tips: 5 + 3 = 8, tetapi "5" + "3" = "53" pada banyak bahasa. Tipe data mengubah perilaku operasi. Minta peserta menebak tipe dari beberapa contoh nilai.</a:t>
            </a:r>
            <a:endParaRPr/>
          </a:p>
        </p:txBody>
      </p:sp>
      <p:sp>
        <p:nvSpPr>
          <p:cNvPr id="340" name="Google Shape;34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Tiga keluarga operator: aritmatika, perbandingan (hasilnya benar/salah), logika (menggabungkan kondisi). Tekankan MOD (sisa bagi) karena akan dipakai di latihan ganjil/genap. Bedakan = (memberi nilai) dan == (membandingkan). Urutan prioritas ada di bagian bawah slide.</a:t>
            </a:r>
            <a:endParaRPr/>
          </a:p>
        </p:txBody>
      </p:sp>
      <p:sp>
        <p:nvSpPr>
          <p:cNvPr id="358" name="Google Shape;35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6" name="Google Shape;38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Istirahat 10 menit. Gunakan waktu ini untuk menjawab pertanyaan personal. Setelah kembali, mulai dengan review cepat: sebutkan satu perbedaan antara variabel dan tipe data.</a:t>
            </a:r>
            <a:endParaRPr/>
          </a:p>
        </p:txBody>
      </p:sp>
      <p:sp>
        <p:nvSpPr>
          <p:cNvPr id="387" name="Google Shape;38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Struktur kontrol mengatur urutan eksekusi. Ada tiga: sekuensial (default), percabangan (memilih jalur), perulangan (mengulang). Buka dengan recap 2 menit dari sesi sebelum istirahat. Setiap kategori dikaitkan dengan contoh kehidupan sehari-hari.</a:t>
            </a:r>
            <a:endParaRPr/>
          </a:p>
        </p:txBody>
      </p:sp>
      <p:sp>
        <p:nvSpPr>
          <p:cNvPr id="399" name="Google Shape;39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9" name="Google Shape;42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Live-trace tiga nilai: 80, 65, 40. Tunjukkan bahwa kondisi diperiksa dari atas dan hanya blok pertama yang benar yang dijalankan. Tanya: apa yang terjadi jika urutan kondisi dibalik (nilai &gt;= 60 dulu)? Nilai 80 akan salah masuk Remedial. Urutan kondisi penting.</a:t>
            </a:r>
            <a:endParaRPr/>
          </a:p>
        </p:txBody>
      </p:sp>
      <p:sp>
        <p:nvSpPr>
          <p:cNvPr id="430" name="Google Shape;430;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8" name="Google Shape;44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switch dipakai saat memilih berdasarkan satu nilai tertentu (1, 2, 3 atau huruf). Bandingkan dengan if-else untuk rentang. Catatan bahasa: C/Java/JavaScript butuh break di tiap case agar tidak jatuh ke case berikutnya (fall-through). Python memakai match-case (sejak 3.10), dan di Go tidak perlu break. Pseudocode kita menyederhanakannya.</a:t>
            </a:r>
            <a:endParaRPr/>
          </a:p>
        </p:txBody>
      </p:sp>
      <p:sp>
        <p:nvSpPr>
          <p:cNvPr id="449" name="Google Shape;449;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6" name="Google Shape;466;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 dipakai ketika jumlah pengulangan diketahui. while dipakai selama kondisi benar. Trace tabel nilai i / n bersama peserta. Ingatkan bahaya infinite loop: kondisi harus bisa berubah menjadi salah (n = n - 1). Latihan cepat: minta peserta mengubah for menjadi hitung mundur.</a:t>
            </a:r>
            <a:endParaRPr/>
          </a:p>
        </p:txBody>
      </p:sp>
      <p:sp>
        <p:nvSpPr>
          <p:cNvPr id="467" name="Google Shape;467;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7" name="Google Shape;487;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Tunjukkan anatomi fungsi: nama, parameter (input), return (output), dan pemanggilan. Trace: 4 masuk sebagai sisi, dihitung 16, dikembalikan ke x. Analogi: mesin jus, masukkan buah, keluar jus. Fungsi yang sama bisa dipanggil berkali-kali dengan input berbeda.</a:t>
            </a:r>
            <a:endParaRPr/>
          </a:p>
        </p:txBody>
      </p:sp>
      <p:sp>
        <p:nvSpPr>
          <p:cNvPr id="488" name="Google Shape;488;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1" name="Google Shape;511;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Fungsi mengembalikan nilai; prosedur hanya menjalankan aksi (misalnya menampilkan salam) tanpa nilai kembali. Beberapa bahasa tidak membedakan keduanya secara istilah, tetapi konsepnya berguna. Tutup dengan tiga manfaat: reusable, terbaca, mudah diuji.</a:t>
            </a:r>
            <a:endParaRPr/>
          </a:p>
        </p:txBody>
      </p:sp>
      <p:sp>
        <p:nvSpPr>
          <p:cNvPr id="512" name="Google Shape;512;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5" name="Google Shape;535;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Array/list menyimpan banyak nilai dalam satu variabel, diakses lewat indeks yang dimulai dari 0. Tunjukkan angka[0] = 10 dan angka[4] = 50. Kaitkan dengan perulangan: for each memproses semua elemen. Array umumnya berukuran tetap (C, Java); list dinamis (Python). Konsepnya sama.</a:t>
            </a:r>
            <a:endParaRPr/>
          </a:p>
        </p:txBody>
      </p:sp>
      <p:sp>
        <p:nvSpPr>
          <p:cNvPr id="536" name="Google Shape;536;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1" name="Google Shape;561;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Sebelum latihan, perkenalkan empat langkah: pahami, rencanakan, terapkan, uji. Dorong peserta menulis pseudocode atau flowchart dulu sebelum kode. Alokasi latihan: latihan 1 (10 menit), latihan 2 (12 menit), latihan 3 (13 menit). Berkeliling kelas untuk membantu.</a:t>
            </a:r>
            <a:endParaRPr/>
          </a:p>
        </p:txBody>
      </p:sp>
      <p:sp>
        <p:nvSpPr>
          <p:cNvPr id="562" name="Google Shape;562;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8" name="Google Shape;588;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Beri waktu 5 menit mandiri/berpasangan untuk merancang solusi (pseudocode atau flowchart), lalu 5 menit pembahasan. Minta peserta menguji dengan semua kasus di tabel, terutama 0 dan bilangan negatif.</a:t>
            </a:r>
            <a:endParaRPr/>
          </a:p>
        </p:txBody>
      </p:sp>
      <p:sp>
        <p:nvSpPr>
          <p:cNvPr id="589" name="Google Shape;589;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8" name="Google Shape;608;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Solusi: cek angka MOD 2 == 0. Poin diskusi: 0 termasuk genap; pengecekan == 0 lebih aman daripada == 1 karena pada sebagian bahasa (JavaScript, Java, C) hasil -3 MOD 2 adalah -1, sedangkan Python menghasilkan 1. Variasi: bungkus dalam fungsi isGenap(n) yang mengembalikan true/false.</a:t>
            </a:r>
            <a:endParaRPr/>
          </a:p>
        </p:txBody>
      </p:sp>
      <p:sp>
        <p:nvSpPr>
          <p:cNvPr id="609" name="Google Shape;609;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6" name="Google Shape;626;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Beri 7 menit mandiri/berpasangan, 5 menit pembahasan. Arahkan peserta memilih struktur yang tepat: switch untuk memilih operator, if untuk menangani pembagian dengan nol. Tanyakan: apa yang terjadi jika operator tidak dikenali?</a:t>
            </a:r>
            <a:endParaRPr/>
          </a:p>
        </p:txBody>
      </p:sp>
      <p:sp>
        <p:nvSpPr>
          <p:cNvPr id="627" name="Google Shape;627;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6" name="Google Shape;646;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Solusi memakai switch untuk memilih operator dan if bersarang (nested) untuk pembagian. Poin diskusi: percabangan bersarang, validasi input (default untuk operator tidak dikenal), dan tantangan lanjutan: bungkus menjadi fungsi hitung(a, b, op) yang mengembalikan hasil.</a:t>
            </a:r>
            <a:endParaRPr/>
          </a:p>
        </p:txBody>
      </p:sp>
      <p:sp>
        <p:nvSpPr>
          <p:cNvPr id="647" name="Google Shape;647;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2" name="Google Shape;662;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Tiga tingkat kesulitan. Semua peserta mengerjakan A dan B; C untuk yang cepat. Beri 8 menit kerja, 5 menit pembahasan. Petunjuk: untuk B, siapkan variabel akumulator bernilai awal 0; untuk C, simpan dua nilai sebelumnya.</a:t>
            </a:r>
            <a:endParaRPr/>
          </a:p>
        </p:txBody>
      </p:sp>
      <p:sp>
        <p:nvSpPr>
          <p:cNvPr id="663" name="Google Shape;663;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1" name="Google Shape;691;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cukup for i = 1 to n lalu print i. B memakai pola akumulator. C memakai pola tukar nilai: simpan a + b di temp, lalu geser a dan b. Trace Fibonacci untuk n = 6: 0 1 1 2 3 5. Tanyakan: jika n = 1, apa yang tercetak? (hanya 0).</a:t>
            </a:r>
            <a:endParaRPr/>
          </a:p>
        </p:txBody>
      </p:sp>
      <p:sp>
        <p:nvSpPr>
          <p:cNvPr id="692" name="Google Shape;692;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8" name="Google Shape;708;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Review cepat delapan topik. Minta peserta menyebutkan satu hal yang paling berguna bagi mereka. Tutup dengan alur pemecahan masalah: pahami, rencanakan, terapkan, uji. Tekankan bahwa logika ini akan dipakai di bahasa pemrograman apa pun.</a:t>
            </a:r>
            <a:endParaRPr/>
          </a:p>
        </p:txBody>
      </p:sp>
      <p:sp>
        <p:nvSpPr>
          <p:cNvPr id="709" name="Google Shape;709;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0" name="Google Shape;750;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Buka tanya jawab. Bagikan tugas mandiri opsional: cek bilangan prima, hitung rata-rata elemen array, cari nilai terbesar dalam array. Ketiganya melatih kombinasi perulangan, percabangan, dan array.</a:t>
            </a:r>
            <a:endParaRPr/>
          </a:p>
        </p:txBody>
      </p:sp>
      <p:sp>
        <p:nvSpPr>
          <p:cNvPr id="751" name="Google Shape;751;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h4066ca7e74c71397_0_97"/>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h4066ca7e74c71397_0_97"/>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h4066ca7e74c71397_0_9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5.png"/><Relationship Id="rId4" Type="http://schemas.openxmlformats.org/officeDocument/2006/relationships/image" Target="../media/image54.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5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55.png"/><Relationship Id="rId5" Type="http://schemas.openxmlformats.org/officeDocument/2006/relationships/image" Target="../media/image6.png"/><Relationship Id="rId6" Type="http://schemas.openxmlformats.org/officeDocument/2006/relationships/image" Target="../media/image14.png"/><Relationship Id="rId7" Type="http://schemas.openxmlformats.org/officeDocument/2006/relationships/image" Target="../media/image3.png"/><Relationship Id="rId8"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5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55.png"/><Relationship Id="rId5"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5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55.png"/><Relationship Id="rId5" Type="http://schemas.openxmlformats.org/officeDocument/2006/relationships/image" Target="../media/image26.png"/><Relationship Id="rId6" Type="http://schemas.openxmlformats.org/officeDocument/2006/relationships/image" Target="../media/image3.png"/><Relationship Id="rId7" Type="http://schemas.openxmlformats.org/officeDocument/2006/relationships/image" Target="../media/image2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5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5.png"/><Relationship Id="rId4" Type="http://schemas.openxmlformats.org/officeDocument/2006/relationships/image" Target="../media/image5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5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5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5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5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5.png"/><Relationship Id="rId4" Type="http://schemas.openxmlformats.org/officeDocument/2006/relationships/image" Target="../media/image55.png"/><Relationship Id="rId5" Type="http://schemas.openxmlformats.org/officeDocument/2006/relationships/image" Target="../media/image5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55.png"/><Relationship Id="rId5" Type="http://schemas.openxmlformats.org/officeDocument/2006/relationships/image" Target="../media/image47.png"/><Relationship Id="rId6" Type="http://schemas.openxmlformats.org/officeDocument/2006/relationships/image" Target="../media/image42.png"/><Relationship Id="rId7" Type="http://schemas.openxmlformats.org/officeDocument/2006/relationships/image" Target="../media/image4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5.png"/><Relationship Id="rId4" Type="http://schemas.openxmlformats.org/officeDocument/2006/relationships/image" Target="../media/image5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5.png"/><Relationship Id="rId4" Type="http://schemas.openxmlformats.org/officeDocument/2006/relationships/image" Target="../media/image5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5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5.png"/><Relationship Id="rId4" Type="http://schemas.openxmlformats.org/officeDocument/2006/relationships/image" Target="../media/image5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image" Target="../media/image5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5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png"/><Relationship Id="rId4" Type="http://schemas.openxmlformats.org/officeDocument/2006/relationships/image" Target="../media/image5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5.png"/><Relationship Id="rId4" Type="http://schemas.openxmlformats.org/officeDocument/2006/relationships/image" Target="../media/image55.png"/><Relationship Id="rId5" Type="http://schemas.openxmlformats.org/officeDocument/2006/relationships/image" Target="../media/image8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5.png"/><Relationship Id="rId4" Type="http://schemas.openxmlformats.org/officeDocument/2006/relationships/image" Target="../media/image5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5.png"/><Relationship Id="rId4" Type="http://schemas.openxmlformats.org/officeDocument/2006/relationships/image" Target="../media/image55.png"/><Relationship Id="rId5" Type="http://schemas.openxmlformats.org/officeDocument/2006/relationships/image" Target="../media/image8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5.png"/><Relationship Id="rId4" Type="http://schemas.openxmlformats.org/officeDocument/2006/relationships/image" Target="../media/image5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png"/><Relationship Id="rId4" Type="http://schemas.openxmlformats.org/officeDocument/2006/relationships/image" Target="../media/image5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png"/><Relationship Id="rId4" Type="http://schemas.openxmlformats.org/officeDocument/2006/relationships/image" Target="../media/image5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png"/><Relationship Id="rId4" Type="http://schemas.openxmlformats.org/officeDocument/2006/relationships/image" Target="../media/image5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7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 name="Shape 19"/>
        <p:cNvGrpSpPr/>
        <p:nvPr/>
      </p:nvGrpSpPr>
      <p:grpSpPr>
        <a:xfrm>
          <a:off x="0" y="0"/>
          <a:ext cx="0" cy="0"/>
          <a:chOff x="0" y="0"/>
          <a:chExt cx="0" cy="0"/>
        </a:xfrm>
      </p:grpSpPr>
      <p:pic>
        <p:nvPicPr>
          <p:cNvPr descr="/home/claude/assets/image1.png" id="20" name="Google Shape;20;p1"/>
          <p:cNvPicPr preferRelativeResize="0"/>
          <p:nvPr/>
        </p:nvPicPr>
        <p:blipFill rotWithShape="1">
          <a:blip r:embed="rId3">
            <a:alphaModFix/>
          </a:blip>
          <a:srcRect b="0" l="0" r="0" t="0"/>
          <a:stretch/>
        </p:blipFill>
        <p:spPr>
          <a:xfrm>
            <a:off x="0" y="0"/>
            <a:ext cx="18288000" cy="10287000"/>
          </a:xfrm>
          <a:prstGeom prst="rect">
            <a:avLst/>
          </a:prstGeom>
          <a:noFill/>
          <a:ln>
            <a:noFill/>
          </a:ln>
        </p:spPr>
      </p:pic>
      <p:cxnSp>
        <p:nvCxnSpPr>
          <p:cNvPr id="21" name="Google Shape;21;p1"/>
          <p:cNvCxnSpPr/>
          <p:nvPr/>
        </p:nvCxnSpPr>
        <p:spPr>
          <a:xfrm>
            <a:off x="576072" y="2130552"/>
            <a:ext cx="0" cy="5321808"/>
          </a:xfrm>
          <a:prstGeom prst="straightConnector1">
            <a:avLst/>
          </a:prstGeom>
          <a:noFill/>
          <a:ln cap="flat" cmpd="sng" w="25400">
            <a:solidFill>
              <a:srgbClr val="FDFBFB"/>
            </a:solidFill>
            <a:prstDash val="solid"/>
            <a:round/>
            <a:headEnd len="sm" w="sm" type="none"/>
            <a:tailEnd len="sm" w="sm" type="none"/>
          </a:ln>
        </p:spPr>
      </p:cxnSp>
      <p:sp>
        <p:nvSpPr>
          <p:cNvPr id="22" name="Google Shape;22;p1"/>
          <p:cNvSpPr txBox="1"/>
          <p:nvPr/>
        </p:nvSpPr>
        <p:spPr>
          <a:xfrm>
            <a:off x="859536" y="2057400"/>
            <a:ext cx="8229600" cy="3291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Cambria"/>
              <a:buNone/>
            </a:pPr>
            <a:r>
              <a:rPr b="1" i="0" lang="en-US" sz="4800" u="none" cap="none" strike="noStrike">
                <a:solidFill>
                  <a:srgbClr val="FDFBFB"/>
                </a:solidFill>
                <a:latin typeface="Cambria"/>
                <a:ea typeface="Cambria"/>
                <a:cs typeface="Cambria"/>
                <a:sym typeface="Cambria"/>
              </a:rPr>
              <a:t>Logika Pemrograman</a:t>
            </a:r>
            <a:endParaRPr b="0" i="0" sz="4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DFBFB"/>
              </a:buClr>
              <a:buSzPts val="4800"/>
              <a:buFont typeface="Cambria"/>
              <a:buNone/>
            </a:pPr>
            <a:r>
              <a:rPr b="1" i="0" lang="en-US" sz="4800" u="none" cap="none" strike="noStrike">
                <a:solidFill>
                  <a:srgbClr val="FDFBFB"/>
                </a:solidFill>
                <a:latin typeface="Cambria"/>
                <a:ea typeface="Cambria"/>
                <a:cs typeface="Cambria"/>
                <a:sym typeface="Cambria"/>
              </a:rPr>
              <a:t>&amp; Algoritma</a:t>
            </a:r>
            <a:endParaRPr b="0" i="0" sz="4800" u="none" cap="none" strike="noStrike">
              <a:solidFill>
                <a:schemeClr val="dk1"/>
              </a:solidFill>
              <a:latin typeface="Calibri"/>
              <a:ea typeface="Calibri"/>
              <a:cs typeface="Calibri"/>
              <a:sym typeface="Calibri"/>
            </a:endParaRPr>
          </a:p>
        </p:txBody>
      </p:sp>
      <p:sp>
        <p:nvSpPr>
          <p:cNvPr id="23" name="Google Shape;23;p1"/>
          <p:cNvSpPr txBox="1"/>
          <p:nvPr/>
        </p:nvSpPr>
        <p:spPr>
          <a:xfrm>
            <a:off x="859536" y="5486400"/>
            <a:ext cx="77724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400"/>
              <a:buFont typeface="Arial"/>
              <a:buNone/>
            </a:pPr>
            <a:r>
              <a:rPr b="1" i="0" lang="en-US" sz="2400" u="none" cap="none" strike="noStrike">
                <a:solidFill>
                  <a:srgbClr val="FCDF59"/>
                </a:solidFill>
                <a:latin typeface="Arial"/>
                <a:ea typeface="Arial"/>
                <a:cs typeface="Arial"/>
                <a:sym typeface="Arial"/>
              </a:rPr>
              <a:t>Sesi 1 · Fase 1 Fundamental</a:t>
            </a:r>
            <a:endParaRPr b="0" i="0" sz="2400" u="none" cap="none" strike="noStrike">
              <a:solidFill>
                <a:schemeClr val="dk1"/>
              </a:solidFill>
              <a:latin typeface="Calibri"/>
              <a:ea typeface="Calibri"/>
              <a:cs typeface="Calibri"/>
              <a:sym typeface="Calibri"/>
            </a:endParaRPr>
          </a:p>
        </p:txBody>
      </p:sp>
      <p:sp>
        <p:nvSpPr>
          <p:cNvPr id="24" name="Google Shape;24;p1"/>
          <p:cNvSpPr txBox="1"/>
          <p:nvPr/>
        </p:nvSpPr>
        <p:spPr>
          <a:xfrm>
            <a:off x="859536" y="6080760"/>
            <a:ext cx="786384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2200"/>
              <a:buFont typeface="Arial"/>
              <a:buNone/>
            </a:pPr>
            <a:r>
              <a:rPr b="0" i="0" lang="en-US" sz="2200" u="none" cap="none" strike="noStrike">
                <a:solidFill>
                  <a:srgbClr val="FDFBFB"/>
                </a:solidFill>
                <a:latin typeface="Arial"/>
                <a:ea typeface="Arial"/>
                <a:cs typeface="Arial"/>
                <a:sym typeface="Arial"/>
              </a:rPr>
              <a:t>Berpikir sistematis sebelum menulis kode</a:t>
            </a:r>
            <a:endParaRPr b="0" i="0" sz="2200" u="none" cap="none" strike="noStrike">
              <a:solidFill>
                <a:schemeClr val="dk1"/>
              </a:solidFill>
              <a:latin typeface="Calibri"/>
              <a:ea typeface="Calibri"/>
              <a:cs typeface="Calibri"/>
              <a:sym typeface="Calibri"/>
            </a:endParaRPr>
          </a:p>
        </p:txBody>
      </p:sp>
      <p:sp>
        <p:nvSpPr>
          <p:cNvPr id="25" name="Google Shape;25;p1"/>
          <p:cNvSpPr txBox="1"/>
          <p:nvPr/>
        </p:nvSpPr>
        <p:spPr>
          <a:xfrm>
            <a:off x="585216" y="9509760"/>
            <a:ext cx="8229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1800"/>
              <a:buFont typeface="Arial"/>
              <a:buNone/>
            </a:pPr>
            <a:r>
              <a:rPr b="0" i="0" lang="en-US" sz="1800" u="none" cap="none" strike="noStrike">
                <a:solidFill>
                  <a:srgbClr val="FDFBFB"/>
                </a:solidFill>
                <a:latin typeface="Arial"/>
                <a:ea typeface="Arial"/>
                <a:cs typeface="Arial"/>
                <a:sym typeface="Arial"/>
              </a:rPr>
              <a:t>Prepared for HiColleagues Bootcamp Batch 4</a:t>
            </a:r>
            <a:endParaRPr b="0" i="0" sz="1800" u="none" cap="none" strike="noStrike">
              <a:solidFill>
                <a:schemeClr val="dk1"/>
              </a:solidFill>
              <a:latin typeface="Calibri"/>
              <a:ea typeface="Calibri"/>
              <a:cs typeface="Calibri"/>
              <a:sym typeface="Calibri"/>
            </a:endParaRPr>
          </a:p>
        </p:txBody>
      </p:sp>
      <p:sp>
        <p:nvSpPr>
          <p:cNvPr id="26" name="Google Shape;26;p1"/>
          <p:cNvSpPr/>
          <p:nvPr/>
        </p:nvSpPr>
        <p:spPr>
          <a:xfrm>
            <a:off x="9436608" y="1527048"/>
            <a:ext cx="7232904" cy="7232904"/>
          </a:xfrm>
          <a:prstGeom prst="ellipse">
            <a:avLst/>
          </a:prstGeom>
          <a:solidFill>
            <a:srgbClr val="FDFBFB"/>
          </a:solidFill>
          <a:ln cap="flat" cmpd="sng" w="12700">
            <a:solidFill>
              <a:srgbClr val="FDFB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assets/image7.png" id="27" name="Google Shape;27;p1"/>
          <p:cNvPicPr preferRelativeResize="0"/>
          <p:nvPr/>
        </p:nvPicPr>
        <p:blipFill rotWithShape="1">
          <a:blip r:embed="rId4">
            <a:alphaModFix/>
          </a:blip>
          <a:srcRect b="0" l="0" r="0" t="0"/>
          <a:stretch/>
        </p:blipFill>
        <p:spPr>
          <a:xfrm>
            <a:off x="10094976" y="2240280"/>
            <a:ext cx="5916168" cy="5916168"/>
          </a:xfrm>
          <a:prstGeom prst="rect">
            <a:avLst/>
          </a:prstGeom>
          <a:noFill/>
          <a:ln>
            <a:noFill/>
          </a:ln>
        </p:spPr>
      </p:pic>
      <p:sp>
        <p:nvSpPr>
          <p:cNvPr id="28" name="Google Shape;28;p1"/>
          <p:cNvSpPr/>
          <p:nvPr/>
        </p:nvSpPr>
        <p:spPr>
          <a:xfrm>
            <a:off x="14173200" y="7635240"/>
            <a:ext cx="1344168" cy="1252728"/>
          </a:xfrm>
          <a:prstGeom prst="roundRect">
            <a:avLst>
              <a:gd fmla="val 14599" name="adj"/>
            </a:avLst>
          </a:prstGeom>
          <a:solidFill>
            <a:srgbClr val="FCDF59"/>
          </a:solidFill>
          <a:ln cap="flat" cmpd="sng" w="12700">
            <a:solidFill>
              <a:srgbClr val="FCDF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B"/>
        </a:solidFill>
      </p:bgPr>
    </p:bg>
    <p:spTree>
      <p:nvGrpSpPr>
        <p:cNvPr id="32" name="Shape 32"/>
        <p:cNvGrpSpPr/>
        <p:nvPr/>
      </p:nvGrpSpPr>
      <p:grpSpPr>
        <a:xfrm>
          <a:off x="0" y="0"/>
          <a:ext cx="0" cy="0"/>
          <a:chOff x="0" y="0"/>
          <a:chExt cx="0" cy="0"/>
        </a:xfrm>
      </p:grpSpPr>
      <p:sp>
        <p:nvSpPr>
          <p:cNvPr id="33" name="Google Shape;33;h4066ca7e74c71397_0_0"/>
          <p:cNvSpPr/>
          <p:nvPr/>
        </p:nvSpPr>
        <p:spPr>
          <a:xfrm>
            <a:off x="0" y="0"/>
            <a:ext cx="12801600" cy="10359300"/>
          </a:xfrm>
          <a:prstGeom prst="rect">
            <a:avLst/>
          </a:prstGeom>
          <a:solidFill>
            <a:srgbClr val="162CA2"/>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 name="Google Shape;34;h4066ca7e74c71397_0_0"/>
          <p:cNvSpPr/>
          <p:nvPr/>
        </p:nvSpPr>
        <p:spPr>
          <a:xfrm>
            <a:off x="8881967" y="-2828925"/>
            <a:ext cx="5657088" cy="5657088"/>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CDF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h4066ca7e74c71397_0_0"/>
          <p:cNvSpPr/>
          <p:nvPr/>
        </p:nvSpPr>
        <p:spPr>
          <a:xfrm>
            <a:off x="-1390959" y="8567821"/>
            <a:ext cx="3086608" cy="3086608"/>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h4066ca7e74c71397_0_0"/>
          <p:cNvSpPr/>
          <p:nvPr/>
        </p:nvSpPr>
        <p:spPr>
          <a:xfrm>
            <a:off x="10206536" y="3314080"/>
            <a:ext cx="654304" cy="654304"/>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7" name="Google Shape;37;h4066ca7e74c71397_0_0"/>
          <p:cNvPicPr preferRelativeResize="0"/>
          <p:nvPr/>
        </p:nvPicPr>
        <p:blipFill rotWithShape="1">
          <a:blip r:embed="rId3">
            <a:alphaModFix/>
          </a:blip>
          <a:srcRect b="0" l="0" r="0" t="0"/>
          <a:stretch/>
        </p:blipFill>
        <p:spPr>
          <a:xfrm>
            <a:off x="701919" y="177842"/>
            <a:ext cx="2591636" cy="1091962"/>
          </a:xfrm>
          <a:prstGeom prst="rect">
            <a:avLst/>
          </a:prstGeom>
          <a:noFill/>
          <a:ln>
            <a:noFill/>
          </a:ln>
        </p:spPr>
      </p:pic>
      <p:grpSp>
        <p:nvGrpSpPr>
          <p:cNvPr id="38" name="Google Shape;38;h4066ca7e74c71397_0_0"/>
          <p:cNvGrpSpPr/>
          <p:nvPr/>
        </p:nvGrpSpPr>
        <p:grpSpPr>
          <a:xfrm>
            <a:off x="11710892" y="3869"/>
            <a:ext cx="6648099" cy="10359842"/>
            <a:chOff x="0" y="-19050"/>
            <a:chExt cx="1750928" cy="2728500"/>
          </a:xfrm>
        </p:grpSpPr>
        <p:sp>
          <p:nvSpPr>
            <p:cNvPr id="39" name="Google Shape;39;h4066ca7e74c71397_0_0"/>
            <p:cNvSpPr/>
            <p:nvPr/>
          </p:nvSpPr>
          <p:spPr>
            <a:xfrm>
              <a:off x="0" y="0"/>
              <a:ext cx="1750928" cy="2709333"/>
            </a:xfrm>
            <a:custGeom>
              <a:rect b="b" l="l" r="r" t="t"/>
              <a:pathLst>
                <a:path extrusionOk="0" h="2709333" w="1750928">
                  <a:moveTo>
                    <a:pt x="0" y="0"/>
                  </a:moveTo>
                  <a:lnTo>
                    <a:pt x="1750928" y="0"/>
                  </a:lnTo>
                  <a:lnTo>
                    <a:pt x="1750928" y="2709333"/>
                  </a:lnTo>
                  <a:lnTo>
                    <a:pt x="0" y="2709333"/>
                  </a:lnTo>
                  <a:close/>
                </a:path>
              </a:pathLst>
            </a:custGeom>
            <a:solidFill>
              <a:srgbClr val="102B68"/>
            </a:solidFill>
            <a:ln>
              <a:noFill/>
            </a:ln>
          </p:spPr>
        </p:sp>
        <p:sp>
          <p:nvSpPr>
            <p:cNvPr id="40" name="Google Shape;40;h4066ca7e74c71397_0_0"/>
            <p:cNvSpPr txBox="1"/>
            <p:nvPr/>
          </p:nvSpPr>
          <p:spPr>
            <a:xfrm>
              <a:off x="0" y="-19050"/>
              <a:ext cx="1750800" cy="2728500"/>
            </a:xfrm>
            <a:prstGeom prst="rect">
              <a:avLst/>
            </a:prstGeom>
            <a:noFill/>
            <a:ln>
              <a:noFill/>
            </a:ln>
          </p:spPr>
          <p:txBody>
            <a:bodyPr anchorCtr="0" anchor="ctr" bIns="50800" lIns="50800" spcFirstLastPara="1" rIns="50800" wrap="square" tIns="50800">
              <a:noAutofit/>
            </a:bodyPr>
            <a:lstStyle/>
            <a:p>
              <a:pPr indent="0" lvl="0" marL="0" marR="0" rtl="0" algn="ctr">
                <a:lnSpc>
                  <a:spcPct val="158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1" name="Google Shape;41;h4066ca7e74c71397_0_0"/>
          <p:cNvSpPr txBox="1"/>
          <p:nvPr/>
        </p:nvSpPr>
        <p:spPr>
          <a:xfrm>
            <a:off x="1695152" y="3248500"/>
            <a:ext cx="8044800" cy="3694200"/>
          </a:xfrm>
          <a:prstGeom prst="rect">
            <a:avLst/>
          </a:prstGeom>
          <a:noFill/>
          <a:ln>
            <a:noFill/>
          </a:ln>
        </p:spPr>
        <p:txBody>
          <a:bodyPr anchorCtr="0" anchor="t" bIns="0" lIns="0" spcFirstLastPara="1" rIns="0" wrap="square" tIns="0">
            <a:spAutoFit/>
          </a:bodyPr>
          <a:lstStyle/>
          <a:p>
            <a:pPr indent="-419100" lvl="0" marL="457200" rtl="0" algn="l">
              <a:lnSpc>
                <a:spcPct val="100000"/>
              </a:lnSpc>
              <a:spcBef>
                <a:spcPts val="0"/>
              </a:spcBef>
              <a:spcAft>
                <a:spcPts val="0"/>
              </a:spcAft>
              <a:buClr>
                <a:schemeClr val="lt1"/>
              </a:buClr>
              <a:buSzPts val="3000"/>
              <a:buChar char="●"/>
            </a:pPr>
            <a:r>
              <a:rPr lang="en-US" sz="3000">
                <a:solidFill>
                  <a:schemeClr val="lt1"/>
                </a:solidFill>
              </a:rPr>
              <a:t>Pengalaman lebih dari 10 th di bidang IT Development</a:t>
            </a:r>
            <a:endParaRPr sz="3000">
              <a:solidFill>
                <a:schemeClr val="lt1"/>
              </a:solidFill>
            </a:endParaRPr>
          </a:p>
          <a:p>
            <a:pPr indent="-419100" lvl="0" marL="457200" rtl="0" algn="l">
              <a:lnSpc>
                <a:spcPct val="100000"/>
              </a:lnSpc>
              <a:spcBef>
                <a:spcPts val="0"/>
              </a:spcBef>
              <a:spcAft>
                <a:spcPts val="0"/>
              </a:spcAft>
              <a:buClr>
                <a:schemeClr val="lt1"/>
              </a:buClr>
              <a:buSzPts val="3000"/>
              <a:buChar char="●"/>
            </a:pPr>
            <a:r>
              <a:rPr lang="en-US" sz="3000">
                <a:solidFill>
                  <a:schemeClr val="lt1"/>
                </a:solidFill>
              </a:rPr>
              <a:t>Terlibat pengembangan 5 projek digital banking strategis &amp; 10 aplikasi multinasional company</a:t>
            </a:r>
            <a:endParaRPr sz="3000">
              <a:solidFill>
                <a:schemeClr val="lt1"/>
              </a:solidFill>
            </a:endParaRPr>
          </a:p>
          <a:p>
            <a:pPr indent="-419100" lvl="0" marL="457200" rtl="0" algn="l">
              <a:lnSpc>
                <a:spcPct val="100000"/>
              </a:lnSpc>
              <a:spcBef>
                <a:spcPts val="0"/>
              </a:spcBef>
              <a:spcAft>
                <a:spcPts val="0"/>
              </a:spcAft>
              <a:buClr>
                <a:schemeClr val="lt1"/>
              </a:buClr>
              <a:buSzPts val="3000"/>
              <a:buChar char="●"/>
            </a:pPr>
            <a:r>
              <a:rPr lang="en-US" sz="3000">
                <a:solidFill>
                  <a:schemeClr val="lt1"/>
                </a:solidFill>
              </a:rPr>
              <a:t>Founder Terbit Digital Agency </a:t>
            </a:r>
            <a:endParaRPr sz="3000">
              <a:solidFill>
                <a:schemeClr val="lt1"/>
              </a:solidFill>
            </a:endParaRPr>
          </a:p>
          <a:p>
            <a:pPr indent="-419100" lvl="0" marL="457200" rtl="0" algn="l">
              <a:lnSpc>
                <a:spcPct val="100000"/>
              </a:lnSpc>
              <a:spcBef>
                <a:spcPts val="0"/>
              </a:spcBef>
              <a:spcAft>
                <a:spcPts val="0"/>
              </a:spcAft>
              <a:buClr>
                <a:schemeClr val="lt1"/>
              </a:buClr>
              <a:buSzPts val="3000"/>
              <a:buChar char="●"/>
            </a:pPr>
            <a:r>
              <a:rPr lang="en-US" sz="3000">
                <a:solidFill>
                  <a:schemeClr val="lt1"/>
                </a:solidFill>
              </a:rPr>
              <a:t>Tersertifikasi International Trainer Alibaba Cloud Associate</a:t>
            </a:r>
            <a:endParaRPr sz="3000">
              <a:solidFill>
                <a:schemeClr val="lt1"/>
              </a:solidFill>
            </a:endParaRPr>
          </a:p>
        </p:txBody>
      </p:sp>
      <p:sp>
        <p:nvSpPr>
          <p:cNvPr id="42" name="Google Shape;42;h4066ca7e74c71397_0_0"/>
          <p:cNvSpPr txBox="1"/>
          <p:nvPr/>
        </p:nvSpPr>
        <p:spPr>
          <a:xfrm>
            <a:off x="1587648" y="1546225"/>
            <a:ext cx="7294200" cy="4317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3600"/>
              <a:buFont typeface="Poppins"/>
              <a:buNone/>
            </a:pPr>
            <a:r>
              <a:rPr b="1" lang="en-US" sz="3600">
                <a:solidFill>
                  <a:schemeClr val="lt1"/>
                </a:solidFill>
                <a:latin typeface="Poppins"/>
                <a:ea typeface="Poppins"/>
                <a:cs typeface="Poppins"/>
                <a:sym typeface="Poppins"/>
              </a:rPr>
              <a:t>Lead Software Engineer</a:t>
            </a:r>
            <a:r>
              <a:rPr b="1" i="0" lang="en-US" sz="3600" u="none" cap="none" strike="noStrike">
                <a:solidFill>
                  <a:schemeClr val="lt1"/>
                </a:solidFill>
                <a:latin typeface="Poppins"/>
                <a:ea typeface="Poppins"/>
                <a:cs typeface="Poppins"/>
                <a:sym typeface="Poppins"/>
              </a:rPr>
              <a:t> </a:t>
            </a:r>
            <a:endParaRPr b="1" i="0" sz="3600" u="none" cap="none" strike="noStrike">
              <a:solidFill>
                <a:schemeClr val="lt1"/>
              </a:solidFill>
              <a:latin typeface="Poppins"/>
              <a:ea typeface="Poppins"/>
              <a:cs typeface="Poppins"/>
              <a:sym typeface="Poppins"/>
            </a:endParaRPr>
          </a:p>
        </p:txBody>
      </p:sp>
      <p:sp>
        <p:nvSpPr>
          <p:cNvPr id="43" name="Google Shape;43;h4066ca7e74c71397_0_0"/>
          <p:cNvSpPr txBox="1"/>
          <p:nvPr/>
        </p:nvSpPr>
        <p:spPr>
          <a:xfrm>
            <a:off x="12926849" y="8860550"/>
            <a:ext cx="4471200" cy="4317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lt1"/>
              </a:buClr>
              <a:buSzPts val="3600"/>
              <a:buFont typeface="Poppins"/>
              <a:buNone/>
            </a:pPr>
            <a:r>
              <a:rPr b="1" lang="en-US" sz="3600">
                <a:solidFill>
                  <a:schemeClr val="lt1"/>
                </a:solidFill>
                <a:latin typeface="Poppins"/>
                <a:ea typeface="Poppins"/>
                <a:cs typeface="Poppins"/>
                <a:sym typeface="Poppins"/>
              </a:rPr>
              <a:t>Hegy Febrianto</a:t>
            </a:r>
            <a:endParaRPr b="1" i="0" sz="3600" u="none" cap="none" strike="noStrike">
              <a:solidFill>
                <a:schemeClr val="lt1"/>
              </a:solidFill>
              <a:latin typeface="Poppins"/>
              <a:ea typeface="Poppins"/>
              <a:cs typeface="Poppins"/>
              <a:sym typeface="Poppins"/>
            </a:endParaRPr>
          </a:p>
        </p:txBody>
      </p:sp>
      <p:sp>
        <p:nvSpPr>
          <p:cNvPr id="44" name="Google Shape;44;h4066ca7e74c71397_0_0"/>
          <p:cNvSpPr txBox="1"/>
          <p:nvPr/>
        </p:nvSpPr>
        <p:spPr>
          <a:xfrm>
            <a:off x="13389302" y="3425374"/>
            <a:ext cx="3291300" cy="4317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lt1"/>
              </a:buClr>
              <a:buSzPts val="3600"/>
              <a:buFont typeface="Poppins"/>
              <a:buNone/>
            </a:pPr>
            <a:r>
              <a:rPr b="1" i="0" lang="en-US" sz="3600" u="none" cap="none" strike="noStrike">
                <a:solidFill>
                  <a:schemeClr val="lt1"/>
                </a:solidFill>
                <a:latin typeface="Poppins"/>
                <a:ea typeface="Poppins"/>
                <a:cs typeface="Poppins"/>
                <a:sym typeface="Poppins"/>
              </a:rPr>
              <a:t>FOTO TRAINER</a:t>
            </a:r>
            <a:endParaRPr b="1" i="0" sz="3600" u="none" cap="none" strike="noStrike">
              <a:solidFill>
                <a:schemeClr val="lt1"/>
              </a:solidFill>
              <a:latin typeface="Poppins"/>
              <a:ea typeface="Poppins"/>
              <a:cs typeface="Poppins"/>
              <a:sym typeface="Poppins"/>
            </a:endParaRPr>
          </a:p>
        </p:txBody>
      </p:sp>
      <p:pic>
        <p:nvPicPr>
          <p:cNvPr id="45" name="Google Shape;45;h4066ca7e74c71397_0_0"/>
          <p:cNvPicPr preferRelativeResize="0"/>
          <p:nvPr/>
        </p:nvPicPr>
        <p:blipFill>
          <a:blip r:embed="rId4">
            <a:alphaModFix/>
          </a:blip>
          <a:stretch>
            <a:fillRect/>
          </a:stretch>
        </p:blipFill>
        <p:spPr>
          <a:xfrm>
            <a:off x="11746400" y="0"/>
            <a:ext cx="6577101" cy="8803881"/>
          </a:xfrm>
          <a:prstGeom prst="rect">
            <a:avLst/>
          </a:prstGeom>
          <a:noFill/>
          <a:ln>
            <a:noFill/>
          </a:ln>
        </p:spPr>
      </p:pic>
      <p:sp>
        <p:nvSpPr>
          <p:cNvPr id="46" name="Google Shape;46;h4066ca7e74c71397_0_0"/>
          <p:cNvSpPr txBox="1"/>
          <p:nvPr/>
        </p:nvSpPr>
        <p:spPr>
          <a:xfrm>
            <a:off x="12064800" y="9392825"/>
            <a:ext cx="6153900" cy="4317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lt1"/>
              </a:buClr>
              <a:buSzPts val="3600"/>
              <a:buFont typeface="Poppins"/>
              <a:buNone/>
            </a:pPr>
            <a:r>
              <a:rPr b="1" lang="en-US" sz="3600">
                <a:solidFill>
                  <a:schemeClr val="lt1"/>
                </a:solidFill>
                <a:latin typeface="Poppins"/>
                <a:ea typeface="Poppins"/>
                <a:cs typeface="Poppins"/>
                <a:sym typeface="Poppins"/>
              </a:rPr>
              <a:t>Software Engineer Lead</a:t>
            </a:r>
            <a:endParaRPr b="1" i="0" sz="3600" u="none" cap="none" strike="noStrike">
              <a:solidFill>
                <a:schemeClr val="lt1"/>
              </a:solidFill>
              <a:latin typeface="Poppins"/>
              <a:ea typeface="Poppins"/>
              <a:cs typeface="Poppins"/>
              <a:sym typeface="Poppins"/>
            </a:endParaRPr>
          </a:p>
        </p:txBody>
      </p:sp>
      <p:sp>
        <p:nvSpPr>
          <p:cNvPr id="47" name="Google Shape;47;h4066ca7e74c71397_0_0"/>
          <p:cNvSpPr txBox="1"/>
          <p:nvPr/>
        </p:nvSpPr>
        <p:spPr>
          <a:xfrm>
            <a:off x="12217200" y="9850025"/>
            <a:ext cx="6153900" cy="4317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lt1"/>
              </a:buClr>
              <a:buSzPts val="3600"/>
              <a:buFont typeface="Poppins"/>
              <a:buNone/>
            </a:pPr>
            <a:r>
              <a:rPr b="1" lang="en-US" sz="3600">
                <a:solidFill>
                  <a:schemeClr val="lt1"/>
                </a:solidFill>
                <a:latin typeface="Poppins"/>
                <a:ea typeface="Poppins"/>
                <a:cs typeface="Poppins"/>
                <a:sym typeface="Poppins"/>
              </a:rPr>
              <a:t>PT Bank Mandiri </a:t>
            </a:r>
            <a:endParaRPr b="1" i="0" sz="3600" u="none" cap="none" strike="noStrike">
              <a:solidFill>
                <a:schemeClr val="lt1"/>
              </a:solidFill>
              <a:latin typeface="Poppins"/>
              <a:ea typeface="Poppins"/>
              <a:cs typeface="Poppins"/>
              <a:sym typeface="Poppins"/>
            </a:endParaRPr>
          </a:p>
        </p:txBody>
      </p:sp>
      <p:sp>
        <p:nvSpPr>
          <p:cNvPr id="48" name="Google Shape;48;h4066ca7e74c71397_0_0"/>
          <p:cNvSpPr txBox="1"/>
          <p:nvPr/>
        </p:nvSpPr>
        <p:spPr>
          <a:xfrm>
            <a:off x="2425848" y="2201635"/>
            <a:ext cx="7294200" cy="4317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3600"/>
              <a:buFont typeface="Poppins"/>
              <a:buNone/>
            </a:pPr>
            <a:r>
              <a:rPr b="1" lang="en-US" sz="3600">
                <a:solidFill>
                  <a:schemeClr val="lt1"/>
                </a:solidFill>
                <a:latin typeface="Poppins"/>
                <a:ea typeface="Poppins"/>
                <a:cs typeface="Poppins"/>
                <a:sym typeface="Poppins"/>
              </a:rPr>
              <a:t>PT Bank Mandiri Tbk</a:t>
            </a:r>
            <a:endParaRPr b="1" i="0" sz="3600" u="none" cap="none" strike="noStrike">
              <a:solidFill>
                <a:schemeClr val="lt1"/>
              </a:solidFill>
              <a:latin typeface="Poppins"/>
              <a:ea typeface="Poppins"/>
              <a:cs typeface="Poppins"/>
              <a:sym typeface="Poppins"/>
            </a:endParaRPr>
          </a:p>
        </p:txBody>
      </p:sp>
      <p:pic>
        <p:nvPicPr>
          <p:cNvPr id="49" name="Google Shape;49;h4066ca7e74c71397_0_0"/>
          <p:cNvPicPr preferRelativeResize="0"/>
          <p:nvPr/>
        </p:nvPicPr>
        <p:blipFill>
          <a:blip r:embed="rId5">
            <a:alphaModFix/>
          </a:blip>
          <a:stretch>
            <a:fillRect/>
          </a:stretch>
        </p:blipFill>
        <p:spPr>
          <a:xfrm>
            <a:off x="1695651" y="2123899"/>
            <a:ext cx="765076" cy="542057"/>
          </a:xfrm>
          <a:prstGeom prst="rect">
            <a:avLst/>
          </a:prstGeom>
          <a:solidFill>
            <a:srgbClr val="162CA2"/>
          </a:solidFill>
          <a:ln cap="flat" cmpd="sng" w="25400">
            <a:solidFill>
              <a:srgbClr val="21364F"/>
            </a:solidFill>
            <a:prstDash val="solid"/>
            <a:round/>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pic>
        <p:nvPicPr>
          <p:cNvPr descr="/home/claude/assets/image6.png" id="55" name="Google Shape;55;p2"/>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56" name="Google Shape;56;p2"/>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57" name="Google Shape;57;p2"/>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PEMBUKAAN · 5 MENIT</a:t>
            </a:r>
            <a:endParaRPr b="0" i="0" sz="2000" u="none" cap="none" strike="noStrike">
              <a:solidFill>
                <a:schemeClr val="dk1"/>
              </a:solidFill>
              <a:latin typeface="Calibri"/>
              <a:ea typeface="Calibri"/>
              <a:cs typeface="Calibri"/>
              <a:sym typeface="Calibri"/>
            </a:endParaRPr>
          </a:p>
        </p:txBody>
      </p:sp>
      <p:sp>
        <p:nvSpPr>
          <p:cNvPr id="58" name="Google Shape;58;p2"/>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Agenda 3 Jam</a:t>
            </a:r>
            <a:endParaRPr b="0" i="0" sz="4800" u="none" cap="none" strike="noStrike">
              <a:solidFill>
                <a:schemeClr val="dk1"/>
              </a:solidFill>
              <a:latin typeface="Calibri"/>
              <a:ea typeface="Calibri"/>
              <a:cs typeface="Calibri"/>
              <a:sym typeface="Calibri"/>
            </a:endParaRPr>
          </a:p>
        </p:txBody>
      </p:sp>
      <p:sp>
        <p:nvSpPr>
          <p:cNvPr id="59" name="Google Shape;59;p2"/>
          <p:cNvSpPr/>
          <p:nvPr/>
        </p:nvSpPr>
        <p:spPr>
          <a:xfrm>
            <a:off x="914400" y="4343400"/>
            <a:ext cx="7955280" cy="769620"/>
          </a:xfrm>
          <a:prstGeom prst="roundRect">
            <a:avLst>
              <a:gd fmla="val 1782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1143000" y="4444746"/>
            <a:ext cx="2468880" cy="566928"/>
          </a:xfrm>
          <a:prstGeom prst="roundRect">
            <a:avLst>
              <a:gd fmla="val 19355"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1800"/>
              <a:buFont typeface="Calibri"/>
              <a:buNone/>
            </a:pPr>
            <a:r>
              <a:rPr b="1" i="0" lang="en-US" sz="1800" u="none" cap="none" strike="noStrike">
                <a:solidFill>
                  <a:srgbClr val="FDFBFB"/>
                </a:solidFill>
                <a:latin typeface="Calibri"/>
                <a:ea typeface="Calibri"/>
                <a:cs typeface="Calibri"/>
                <a:sym typeface="Calibri"/>
              </a:rPr>
              <a:t>00:00–00:05</a:t>
            </a:r>
            <a:endParaRPr b="0" i="0" sz="1800" u="none" cap="none" strike="noStrike">
              <a:solidFill>
                <a:schemeClr val="dk1"/>
              </a:solidFill>
              <a:latin typeface="Calibri"/>
              <a:ea typeface="Calibri"/>
              <a:cs typeface="Calibri"/>
              <a:sym typeface="Calibri"/>
            </a:endParaRPr>
          </a:p>
        </p:txBody>
      </p:sp>
      <p:sp>
        <p:nvSpPr>
          <p:cNvPr id="61" name="Google Shape;61;p2"/>
          <p:cNvSpPr txBox="1"/>
          <p:nvPr/>
        </p:nvSpPr>
        <p:spPr>
          <a:xfrm>
            <a:off x="3840480" y="4343400"/>
            <a:ext cx="3931920" cy="7696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1" i="0" lang="en-US" sz="2200" u="none" cap="none" strike="noStrike">
                <a:solidFill>
                  <a:srgbClr val="13123D"/>
                </a:solidFill>
                <a:latin typeface="Calibri"/>
                <a:ea typeface="Calibri"/>
                <a:cs typeface="Calibri"/>
                <a:sym typeface="Calibri"/>
              </a:rPr>
              <a:t>Pembukaan</a:t>
            </a:r>
            <a:endParaRPr b="0" i="0" sz="2200" u="none" cap="none" strike="noStrike">
              <a:solidFill>
                <a:schemeClr val="dk1"/>
              </a:solidFill>
              <a:latin typeface="Calibri"/>
              <a:ea typeface="Calibri"/>
              <a:cs typeface="Calibri"/>
              <a:sym typeface="Calibri"/>
            </a:endParaRPr>
          </a:p>
        </p:txBody>
      </p:sp>
      <p:sp>
        <p:nvSpPr>
          <p:cNvPr id="62" name="Google Shape;62;p2"/>
          <p:cNvSpPr txBox="1"/>
          <p:nvPr/>
        </p:nvSpPr>
        <p:spPr>
          <a:xfrm>
            <a:off x="7772400" y="4343400"/>
            <a:ext cx="914400" cy="7696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5F86"/>
              </a:buClr>
              <a:buSzPts val="2100"/>
              <a:buFont typeface="Calibri"/>
              <a:buNone/>
            </a:pPr>
            <a:r>
              <a:rPr b="0" i="0" lang="en-US" sz="2100" u="none" cap="none" strike="noStrike">
                <a:solidFill>
                  <a:srgbClr val="5A5F86"/>
                </a:solidFill>
                <a:latin typeface="Calibri"/>
                <a:ea typeface="Calibri"/>
                <a:cs typeface="Calibri"/>
                <a:sym typeface="Calibri"/>
              </a:rPr>
              <a:t>5'</a:t>
            </a:r>
            <a:endParaRPr b="0" i="0" sz="2100" u="none" cap="none" strike="noStrike">
              <a:solidFill>
                <a:schemeClr val="dk1"/>
              </a:solidFill>
              <a:latin typeface="Calibri"/>
              <a:ea typeface="Calibri"/>
              <a:cs typeface="Calibri"/>
              <a:sym typeface="Calibri"/>
            </a:endParaRPr>
          </a:p>
        </p:txBody>
      </p:sp>
      <p:sp>
        <p:nvSpPr>
          <p:cNvPr id="63" name="Google Shape;63;p2"/>
          <p:cNvSpPr/>
          <p:nvPr/>
        </p:nvSpPr>
        <p:spPr>
          <a:xfrm>
            <a:off x="914400" y="5222748"/>
            <a:ext cx="7955280" cy="769620"/>
          </a:xfrm>
          <a:prstGeom prst="roundRect">
            <a:avLst>
              <a:gd fmla="val 1782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1143000" y="5324094"/>
            <a:ext cx="2468880" cy="566928"/>
          </a:xfrm>
          <a:prstGeom prst="roundRect">
            <a:avLst>
              <a:gd fmla="val 19355"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1800"/>
              <a:buFont typeface="Calibri"/>
              <a:buNone/>
            </a:pPr>
            <a:r>
              <a:rPr b="1" i="0" lang="en-US" sz="1800" u="none" cap="none" strike="noStrike">
                <a:solidFill>
                  <a:srgbClr val="FDFBFB"/>
                </a:solidFill>
                <a:latin typeface="Calibri"/>
                <a:ea typeface="Calibri"/>
                <a:cs typeface="Calibri"/>
                <a:sym typeface="Calibri"/>
              </a:rPr>
              <a:t>00:05–00:15</a:t>
            </a:r>
            <a:endParaRPr b="0" i="0" sz="1800" u="none" cap="none" strike="noStrike">
              <a:solidFill>
                <a:schemeClr val="dk1"/>
              </a:solidFill>
              <a:latin typeface="Calibri"/>
              <a:ea typeface="Calibri"/>
              <a:cs typeface="Calibri"/>
              <a:sym typeface="Calibri"/>
            </a:endParaRPr>
          </a:p>
        </p:txBody>
      </p:sp>
      <p:sp>
        <p:nvSpPr>
          <p:cNvPr id="65" name="Google Shape;65;p2"/>
          <p:cNvSpPr txBox="1"/>
          <p:nvPr/>
        </p:nvSpPr>
        <p:spPr>
          <a:xfrm>
            <a:off x="3840480" y="5222748"/>
            <a:ext cx="3931920" cy="7696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1" i="0" lang="en-US" sz="2200" u="none" cap="none" strike="noStrike">
                <a:solidFill>
                  <a:srgbClr val="13123D"/>
                </a:solidFill>
                <a:latin typeface="Calibri"/>
                <a:ea typeface="Calibri"/>
                <a:cs typeface="Calibri"/>
                <a:sym typeface="Calibri"/>
              </a:rPr>
              <a:t>Apa itu pemrograman?</a:t>
            </a:r>
            <a:endParaRPr b="0" i="0" sz="2200" u="none" cap="none" strike="noStrike">
              <a:solidFill>
                <a:schemeClr val="dk1"/>
              </a:solidFill>
              <a:latin typeface="Calibri"/>
              <a:ea typeface="Calibri"/>
              <a:cs typeface="Calibri"/>
              <a:sym typeface="Calibri"/>
            </a:endParaRPr>
          </a:p>
        </p:txBody>
      </p:sp>
      <p:sp>
        <p:nvSpPr>
          <p:cNvPr id="66" name="Google Shape;66;p2"/>
          <p:cNvSpPr txBox="1"/>
          <p:nvPr/>
        </p:nvSpPr>
        <p:spPr>
          <a:xfrm>
            <a:off x="7772400" y="5222748"/>
            <a:ext cx="914400" cy="7696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5F86"/>
              </a:buClr>
              <a:buSzPts val="2100"/>
              <a:buFont typeface="Calibri"/>
              <a:buNone/>
            </a:pPr>
            <a:r>
              <a:rPr b="0" i="0" lang="en-US" sz="2100" u="none" cap="none" strike="noStrike">
                <a:solidFill>
                  <a:srgbClr val="5A5F86"/>
                </a:solidFill>
                <a:latin typeface="Calibri"/>
                <a:ea typeface="Calibri"/>
                <a:cs typeface="Calibri"/>
                <a:sym typeface="Calibri"/>
              </a:rPr>
              <a:t>10'</a:t>
            </a:r>
            <a:endParaRPr b="0" i="0" sz="2100" u="none" cap="none" strike="noStrike">
              <a:solidFill>
                <a:schemeClr val="dk1"/>
              </a:solidFill>
              <a:latin typeface="Calibri"/>
              <a:ea typeface="Calibri"/>
              <a:cs typeface="Calibri"/>
              <a:sym typeface="Calibri"/>
            </a:endParaRPr>
          </a:p>
        </p:txBody>
      </p:sp>
      <p:sp>
        <p:nvSpPr>
          <p:cNvPr id="67" name="Google Shape;67;p2"/>
          <p:cNvSpPr/>
          <p:nvPr/>
        </p:nvSpPr>
        <p:spPr>
          <a:xfrm>
            <a:off x="914400" y="6102096"/>
            <a:ext cx="7955280" cy="769620"/>
          </a:xfrm>
          <a:prstGeom prst="roundRect">
            <a:avLst>
              <a:gd fmla="val 1782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1143000" y="6203442"/>
            <a:ext cx="2468880" cy="566928"/>
          </a:xfrm>
          <a:prstGeom prst="roundRect">
            <a:avLst>
              <a:gd fmla="val 19355"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1800"/>
              <a:buFont typeface="Calibri"/>
              <a:buNone/>
            </a:pPr>
            <a:r>
              <a:rPr b="1" i="0" lang="en-US" sz="1800" u="none" cap="none" strike="noStrike">
                <a:solidFill>
                  <a:srgbClr val="FDFBFB"/>
                </a:solidFill>
                <a:latin typeface="Calibri"/>
                <a:ea typeface="Calibri"/>
                <a:cs typeface="Calibri"/>
                <a:sym typeface="Calibri"/>
              </a:rPr>
              <a:t>00:15–00:30</a:t>
            </a:r>
            <a:endParaRPr b="0" i="0" sz="1800" u="none" cap="none" strike="noStrike">
              <a:solidFill>
                <a:schemeClr val="dk1"/>
              </a:solidFill>
              <a:latin typeface="Calibri"/>
              <a:ea typeface="Calibri"/>
              <a:cs typeface="Calibri"/>
              <a:sym typeface="Calibri"/>
            </a:endParaRPr>
          </a:p>
        </p:txBody>
      </p:sp>
      <p:sp>
        <p:nvSpPr>
          <p:cNvPr id="69" name="Google Shape;69;p2"/>
          <p:cNvSpPr txBox="1"/>
          <p:nvPr/>
        </p:nvSpPr>
        <p:spPr>
          <a:xfrm>
            <a:off x="3840480" y="6102096"/>
            <a:ext cx="3931920" cy="7696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1" i="0" lang="en-US" sz="2200" u="none" cap="none" strike="noStrike">
                <a:solidFill>
                  <a:srgbClr val="13123D"/>
                </a:solidFill>
                <a:latin typeface="Calibri"/>
                <a:ea typeface="Calibri"/>
                <a:cs typeface="Calibri"/>
                <a:sym typeface="Calibri"/>
              </a:rPr>
              <a:t>Algoritma &amp; pseudocode</a:t>
            </a:r>
            <a:endParaRPr b="0" i="0" sz="2200" u="none" cap="none" strike="noStrike">
              <a:solidFill>
                <a:schemeClr val="dk1"/>
              </a:solidFill>
              <a:latin typeface="Calibri"/>
              <a:ea typeface="Calibri"/>
              <a:cs typeface="Calibri"/>
              <a:sym typeface="Calibri"/>
            </a:endParaRPr>
          </a:p>
        </p:txBody>
      </p:sp>
      <p:sp>
        <p:nvSpPr>
          <p:cNvPr id="70" name="Google Shape;70;p2"/>
          <p:cNvSpPr txBox="1"/>
          <p:nvPr/>
        </p:nvSpPr>
        <p:spPr>
          <a:xfrm>
            <a:off x="7772400" y="6102096"/>
            <a:ext cx="914400" cy="7696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5F86"/>
              </a:buClr>
              <a:buSzPts val="2100"/>
              <a:buFont typeface="Calibri"/>
              <a:buNone/>
            </a:pPr>
            <a:r>
              <a:rPr b="0" i="0" lang="en-US" sz="2100" u="none" cap="none" strike="noStrike">
                <a:solidFill>
                  <a:srgbClr val="5A5F86"/>
                </a:solidFill>
                <a:latin typeface="Calibri"/>
                <a:ea typeface="Calibri"/>
                <a:cs typeface="Calibri"/>
                <a:sym typeface="Calibri"/>
              </a:rPr>
              <a:t>15'</a:t>
            </a:r>
            <a:endParaRPr b="0" i="0" sz="2100" u="none" cap="none" strike="noStrike">
              <a:solidFill>
                <a:schemeClr val="dk1"/>
              </a:solidFill>
              <a:latin typeface="Calibri"/>
              <a:ea typeface="Calibri"/>
              <a:cs typeface="Calibri"/>
              <a:sym typeface="Calibri"/>
            </a:endParaRPr>
          </a:p>
        </p:txBody>
      </p:sp>
      <p:sp>
        <p:nvSpPr>
          <p:cNvPr id="71" name="Google Shape;71;p2"/>
          <p:cNvSpPr/>
          <p:nvPr/>
        </p:nvSpPr>
        <p:spPr>
          <a:xfrm>
            <a:off x="914400" y="6981444"/>
            <a:ext cx="7955280" cy="769620"/>
          </a:xfrm>
          <a:prstGeom prst="roundRect">
            <a:avLst>
              <a:gd fmla="val 1782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a:off x="1143000" y="7082790"/>
            <a:ext cx="2468880" cy="566928"/>
          </a:xfrm>
          <a:prstGeom prst="roundRect">
            <a:avLst>
              <a:gd fmla="val 19355"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1800"/>
              <a:buFont typeface="Calibri"/>
              <a:buNone/>
            </a:pPr>
            <a:r>
              <a:rPr b="1" i="0" lang="en-US" sz="1800" u="none" cap="none" strike="noStrike">
                <a:solidFill>
                  <a:srgbClr val="FDFBFB"/>
                </a:solidFill>
                <a:latin typeface="Calibri"/>
                <a:ea typeface="Calibri"/>
                <a:cs typeface="Calibri"/>
                <a:sym typeface="Calibri"/>
              </a:rPr>
              <a:t>00:30–00:45</a:t>
            </a:r>
            <a:endParaRPr b="0" i="0" sz="1800" u="none" cap="none" strike="noStrike">
              <a:solidFill>
                <a:schemeClr val="dk1"/>
              </a:solidFill>
              <a:latin typeface="Calibri"/>
              <a:ea typeface="Calibri"/>
              <a:cs typeface="Calibri"/>
              <a:sym typeface="Calibri"/>
            </a:endParaRPr>
          </a:p>
        </p:txBody>
      </p:sp>
      <p:sp>
        <p:nvSpPr>
          <p:cNvPr id="73" name="Google Shape;73;p2"/>
          <p:cNvSpPr txBox="1"/>
          <p:nvPr/>
        </p:nvSpPr>
        <p:spPr>
          <a:xfrm>
            <a:off x="3840480" y="6981444"/>
            <a:ext cx="3931920" cy="7696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1" i="0" lang="en-US" sz="2200" u="none" cap="none" strike="noStrike">
                <a:solidFill>
                  <a:srgbClr val="13123D"/>
                </a:solidFill>
                <a:latin typeface="Calibri"/>
                <a:ea typeface="Calibri"/>
                <a:cs typeface="Calibri"/>
                <a:sym typeface="Calibri"/>
              </a:rPr>
              <a:t>Flowchart</a:t>
            </a:r>
            <a:endParaRPr b="0" i="0" sz="2200" u="none" cap="none" strike="noStrike">
              <a:solidFill>
                <a:schemeClr val="dk1"/>
              </a:solidFill>
              <a:latin typeface="Calibri"/>
              <a:ea typeface="Calibri"/>
              <a:cs typeface="Calibri"/>
              <a:sym typeface="Calibri"/>
            </a:endParaRPr>
          </a:p>
        </p:txBody>
      </p:sp>
      <p:sp>
        <p:nvSpPr>
          <p:cNvPr id="74" name="Google Shape;74;p2"/>
          <p:cNvSpPr txBox="1"/>
          <p:nvPr/>
        </p:nvSpPr>
        <p:spPr>
          <a:xfrm>
            <a:off x="7772400" y="6981444"/>
            <a:ext cx="914400" cy="7696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5F86"/>
              </a:buClr>
              <a:buSzPts val="2100"/>
              <a:buFont typeface="Calibri"/>
              <a:buNone/>
            </a:pPr>
            <a:r>
              <a:rPr b="0" i="0" lang="en-US" sz="2100" u="none" cap="none" strike="noStrike">
                <a:solidFill>
                  <a:srgbClr val="5A5F86"/>
                </a:solidFill>
                <a:latin typeface="Calibri"/>
                <a:ea typeface="Calibri"/>
                <a:cs typeface="Calibri"/>
                <a:sym typeface="Calibri"/>
              </a:rPr>
              <a:t>15'</a:t>
            </a:r>
            <a:endParaRPr b="0" i="0" sz="2100" u="none" cap="none" strike="noStrike">
              <a:solidFill>
                <a:schemeClr val="dk1"/>
              </a:solidFill>
              <a:latin typeface="Calibri"/>
              <a:ea typeface="Calibri"/>
              <a:cs typeface="Calibri"/>
              <a:sym typeface="Calibri"/>
            </a:endParaRPr>
          </a:p>
        </p:txBody>
      </p:sp>
      <p:sp>
        <p:nvSpPr>
          <p:cNvPr id="75" name="Google Shape;75;p2"/>
          <p:cNvSpPr/>
          <p:nvPr/>
        </p:nvSpPr>
        <p:spPr>
          <a:xfrm>
            <a:off x="914400" y="7860792"/>
            <a:ext cx="7955280" cy="769620"/>
          </a:xfrm>
          <a:prstGeom prst="roundRect">
            <a:avLst>
              <a:gd fmla="val 1782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
          <p:cNvSpPr/>
          <p:nvPr/>
        </p:nvSpPr>
        <p:spPr>
          <a:xfrm>
            <a:off x="1143000" y="7962138"/>
            <a:ext cx="2468880" cy="566928"/>
          </a:xfrm>
          <a:prstGeom prst="roundRect">
            <a:avLst>
              <a:gd fmla="val 19355"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1800"/>
              <a:buFont typeface="Calibri"/>
              <a:buNone/>
            </a:pPr>
            <a:r>
              <a:rPr b="1" i="0" lang="en-US" sz="1800" u="none" cap="none" strike="noStrike">
                <a:solidFill>
                  <a:srgbClr val="FDFBFB"/>
                </a:solidFill>
                <a:latin typeface="Calibri"/>
                <a:ea typeface="Calibri"/>
                <a:cs typeface="Calibri"/>
                <a:sym typeface="Calibri"/>
              </a:rPr>
              <a:t>00:45–01:05</a:t>
            </a:r>
            <a:endParaRPr b="0" i="0" sz="1800" u="none" cap="none" strike="noStrike">
              <a:solidFill>
                <a:schemeClr val="dk1"/>
              </a:solidFill>
              <a:latin typeface="Calibri"/>
              <a:ea typeface="Calibri"/>
              <a:cs typeface="Calibri"/>
              <a:sym typeface="Calibri"/>
            </a:endParaRPr>
          </a:p>
        </p:txBody>
      </p:sp>
      <p:sp>
        <p:nvSpPr>
          <p:cNvPr id="77" name="Google Shape;77;p2"/>
          <p:cNvSpPr txBox="1"/>
          <p:nvPr/>
        </p:nvSpPr>
        <p:spPr>
          <a:xfrm>
            <a:off x="3840480" y="7860792"/>
            <a:ext cx="3931920" cy="7696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1" i="0" lang="en-US" sz="2200" u="none" cap="none" strike="noStrike">
                <a:solidFill>
                  <a:srgbClr val="13123D"/>
                </a:solidFill>
                <a:latin typeface="Calibri"/>
                <a:ea typeface="Calibri"/>
                <a:cs typeface="Calibri"/>
                <a:sym typeface="Calibri"/>
              </a:rPr>
              <a:t>Variabel, tipe data, operator</a:t>
            </a:r>
            <a:endParaRPr b="0" i="0" sz="2200" u="none" cap="none" strike="noStrike">
              <a:solidFill>
                <a:schemeClr val="dk1"/>
              </a:solidFill>
              <a:latin typeface="Calibri"/>
              <a:ea typeface="Calibri"/>
              <a:cs typeface="Calibri"/>
              <a:sym typeface="Calibri"/>
            </a:endParaRPr>
          </a:p>
        </p:txBody>
      </p:sp>
      <p:sp>
        <p:nvSpPr>
          <p:cNvPr id="78" name="Google Shape;78;p2"/>
          <p:cNvSpPr txBox="1"/>
          <p:nvPr/>
        </p:nvSpPr>
        <p:spPr>
          <a:xfrm>
            <a:off x="7772400" y="7860792"/>
            <a:ext cx="914400" cy="7696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5F86"/>
              </a:buClr>
              <a:buSzPts val="2100"/>
              <a:buFont typeface="Calibri"/>
              <a:buNone/>
            </a:pPr>
            <a:r>
              <a:rPr b="0" i="0" lang="en-US" sz="2100" u="none" cap="none" strike="noStrike">
                <a:solidFill>
                  <a:srgbClr val="5A5F86"/>
                </a:solidFill>
                <a:latin typeface="Calibri"/>
                <a:ea typeface="Calibri"/>
                <a:cs typeface="Calibri"/>
                <a:sym typeface="Calibri"/>
              </a:rPr>
              <a:t>20'</a:t>
            </a:r>
            <a:endParaRPr b="0" i="0" sz="2100" u="none" cap="none" strike="noStrike">
              <a:solidFill>
                <a:schemeClr val="dk1"/>
              </a:solidFill>
              <a:latin typeface="Calibri"/>
              <a:ea typeface="Calibri"/>
              <a:cs typeface="Calibri"/>
              <a:sym typeface="Calibri"/>
            </a:endParaRPr>
          </a:p>
        </p:txBody>
      </p:sp>
      <p:sp>
        <p:nvSpPr>
          <p:cNvPr id="79" name="Google Shape;79;p2"/>
          <p:cNvSpPr/>
          <p:nvPr/>
        </p:nvSpPr>
        <p:spPr>
          <a:xfrm>
            <a:off x="914400" y="8740140"/>
            <a:ext cx="7955280" cy="769620"/>
          </a:xfrm>
          <a:prstGeom prst="roundRect">
            <a:avLst>
              <a:gd fmla="val 1782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
          <p:cNvSpPr/>
          <p:nvPr/>
        </p:nvSpPr>
        <p:spPr>
          <a:xfrm>
            <a:off x="1143000" y="8841486"/>
            <a:ext cx="2468880" cy="566928"/>
          </a:xfrm>
          <a:prstGeom prst="roundRect">
            <a:avLst>
              <a:gd fmla="val 19355" name="adj"/>
            </a:avLst>
          </a:prstGeom>
          <a:solidFill>
            <a:srgbClr val="FCDF59"/>
          </a:solidFill>
          <a:ln cap="flat" cmpd="sng" w="9525">
            <a:solidFill>
              <a:srgbClr val="FCDF59"/>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3123D"/>
              </a:buClr>
              <a:buSzPts val="1800"/>
              <a:buFont typeface="Calibri"/>
              <a:buNone/>
            </a:pPr>
            <a:r>
              <a:rPr b="1" i="0" lang="en-US" sz="1800" u="none" cap="none" strike="noStrike">
                <a:solidFill>
                  <a:srgbClr val="13123D"/>
                </a:solidFill>
                <a:latin typeface="Calibri"/>
                <a:ea typeface="Calibri"/>
                <a:cs typeface="Calibri"/>
                <a:sym typeface="Calibri"/>
              </a:rPr>
              <a:t>01:05–01:15</a:t>
            </a:r>
            <a:endParaRPr b="0" i="0" sz="1800" u="none" cap="none" strike="noStrike">
              <a:solidFill>
                <a:schemeClr val="dk1"/>
              </a:solidFill>
              <a:latin typeface="Calibri"/>
              <a:ea typeface="Calibri"/>
              <a:cs typeface="Calibri"/>
              <a:sym typeface="Calibri"/>
            </a:endParaRPr>
          </a:p>
        </p:txBody>
      </p:sp>
      <p:sp>
        <p:nvSpPr>
          <p:cNvPr id="81" name="Google Shape;81;p2"/>
          <p:cNvSpPr txBox="1"/>
          <p:nvPr/>
        </p:nvSpPr>
        <p:spPr>
          <a:xfrm>
            <a:off x="3840480" y="8740140"/>
            <a:ext cx="3931920" cy="7696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1" i="0" lang="en-US" sz="2200" u="none" cap="none" strike="noStrike">
                <a:solidFill>
                  <a:srgbClr val="13123D"/>
                </a:solidFill>
                <a:latin typeface="Calibri"/>
                <a:ea typeface="Calibri"/>
                <a:cs typeface="Calibri"/>
                <a:sym typeface="Calibri"/>
              </a:rPr>
              <a:t>Istirahat</a:t>
            </a:r>
            <a:endParaRPr b="0" i="0" sz="2200" u="none" cap="none" strike="noStrike">
              <a:solidFill>
                <a:schemeClr val="dk1"/>
              </a:solidFill>
              <a:latin typeface="Calibri"/>
              <a:ea typeface="Calibri"/>
              <a:cs typeface="Calibri"/>
              <a:sym typeface="Calibri"/>
            </a:endParaRPr>
          </a:p>
        </p:txBody>
      </p:sp>
      <p:sp>
        <p:nvSpPr>
          <p:cNvPr id="82" name="Google Shape;82;p2"/>
          <p:cNvSpPr txBox="1"/>
          <p:nvPr/>
        </p:nvSpPr>
        <p:spPr>
          <a:xfrm>
            <a:off x="7772400" y="8740140"/>
            <a:ext cx="914400" cy="7696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5F86"/>
              </a:buClr>
              <a:buSzPts val="2100"/>
              <a:buFont typeface="Calibri"/>
              <a:buNone/>
            </a:pPr>
            <a:r>
              <a:rPr b="0" i="0" lang="en-US" sz="2100" u="none" cap="none" strike="noStrike">
                <a:solidFill>
                  <a:srgbClr val="5A5F86"/>
                </a:solidFill>
                <a:latin typeface="Calibri"/>
                <a:ea typeface="Calibri"/>
                <a:cs typeface="Calibri"/>
                <a:sym typeface="Calibri"/>
              </a:rPr>
              <a:t>10'</a:t>
            </a:r>
            <a:endParaRPr b="0" i="0" sz="2100" u="none" cap="none" strike="noStrike">
              <a:solidFill>
                <a:schemeClr val="dk1"/>
              </a:solidFill>
              <a:latin typeface="Calibri"/>
              <a:ea typeface="Calibri"/>
              <a:cs typeface="Calibri"/>
              <a:sym typeface="Calibri"/>
            </a:endParaRPr>
          </a:p>
        </p:txBody>
      </p:sp>
      <p:sp>
        <p:nvSpPr>
          <p:cNvPr id="83" name="Google Shape;83;p2"/>
          <p:cNvSpPr/>
          <p:nvPr/>
        </p:nvSpPr>
        <p:spPr>
          <a:xfrm>
            <a:off x="9418320" y="4343400"/>
            <a:ext cx="7955280" cy="769620"/>
          </a:xfrm>
          <a:prstGeom prst="roundRect">
            <a:avLst>
              <a:gd fmla="val 1782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2"/>
          <p:cNvSpPr/>
          <p:nvPr/>
        </p:nvSpPr>
        <p:spPr>
          <a:xfrm>
            <a:off x="9646920" y="4444746"/>
            <a:ext cx="2468880" cy="566928"/>
          </a:xfrm>
          <a:prstGeom prst="roundRect">
            <a:avLst>
              <a:gd fmla="val 19355"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1800"/>
              <a:buFont typeface="Calibri"/>
              <a:buNone/>
            </a:pPr>
            <a:r>
              <a:rPr b="1" i="0" lang="en-US" sz="1800" u="none" cap="none" strike="noStrike">
                <a:solidFill>
                  <a:srgbClr val="FDFBFB"/>
                </a:solidFill>
                <a:latin typeface="Calibri"/>
                <a:ea typeface="Calibri"/>
                <a:cs typeface="Calibri"/>
                <a:sym typeface="Calibri"/>
              </a:rPr>
              <a:t>01:15–01:45</a:t>
            </a:r>
            <a:endParaRPr b="0" i="0" sz="1800" u="none" cap="none" strike="noStrike">
              <a:solidFill>
                <a:schemeClr val="dk1"/>
              </a:solidFill>
              <a:latin typeface="Calibri"/>
              <a:ea typeface="Calibri"/>
              <a:cs typeface="Calibri"/>
              <a:sym typeface="Calibri"/>
            </a:endParaRPr>
          </a:p>
        </p:txBody>
      </p:sp>
      <p:sp>
        <p:nvSpPr>
          <p:cNvPr id="85" name="Google Shape;85;p2"/>
          <p:cNvSpPr txBox="1"/>
          <p:nvPr/>
        </p:nvSpPr>
        <p:spPr>
          <a:xfrm>
            <a:off x="12344400" y="4343400"/>
            <a:ext cx="3931920" cy="7696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1" i="0" lang="en-US" sz="2200" u="none" cap="none" strike="noStrike">
                <a:solidFill>
                  <a:srgbClr val="13123D"/>
                </a:solidFill>
                <a:latin typeface="Calibri"/>
                <a:ea typeface="Calibri"/>
                <a:cs typeface="Calibri"/>
                <a:sym typeface="Calibri"/>
              </a:rPr>
              <a:t>Struktur kontrol</a:t>
            </a:r>
            <a:endParaRPr b="0" i="0" sz="2200" u="none" cap="none" strike="noStrike">
              <a:solidFill>
                <a:schemeClr val="dk1"/>
              </a:solidFill>
              <a:latin typeface="Calibri"/>
              <a:ea typeface="Calibri"/>
              <a:cs typeface="Calibri"/>
              <a:sym typeface="Calibri"/>
            </a:endParaRPr>
          </a:p>
        </p:txBody>
      </p:sp>
      <p:sp>
        <p:nvSpPr>
          <p:cNvPr id="86" name="Google Shape;86;p2"/>
          <p:cNvSpPr txBox="1"/>
          <p:nvPr/>
        </p:nvSpPr>
        <p:spPr>
          <a:xfrm>
            <a:off x="16276320" y="4343400"/>
            <a:ext cx="914400" cy="7696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5F86"/>
              </a:buClr>
              <a:buSzPts val="2100"/>
              <a:buFont typeface="Calibri"/>
              <a:buNone/>
            </a:pPr>
            <a:r>
              <a:rPr b="0" i="0" lang="en-US" sz="2100" u="none" cap="none" strike="noStrike">
                <a:solidFill>
                  <a:srgbClr val="5A5F86"/>
                </a:solidFill>
                <a:latin typeface="Calibri"/>
                <a:ea typeface="Calibri"/>
                <a:cs typeface="Calibri"/>
                <a:sym typeface="Calibri"/>
              </a:rPr>
              <a:t>30'</a:t>
            </a:r>
            <a:endParaRPr b="0" i="0" sz="2100" u="none" cap="none" strike="noStrike">
              <a:solidFill>
                <a:schemeClr val="dk1"/>
              </a:solidFill>
              <a:latin typeface="Calibri"/>
              <a:ea typeface="Calibri"/>
              <a:cs typeface="Calibri"/>
              <a:sym typeface="Calibri"/>
            </a:endParaRPr>
          </a:p>
        </p:txBody>
      </p:sp>
      <p:sp>
        <p:nvSpPr>
          <p:cNvPr id="87" name="Google Shape;87;p2"/>
          <p:cNvSpPr/>
          <p:nvPr/>
        </p:nvSpPr>
        <p:spPr>
          <a:xfrm>
            <a:off x="9418320" y="5222748"/>
            <a:ext cx="7955280" cy="769620"/>
          </a:xfrm>
          <a:prstGeom prst="roundRect">
            <a:avLst>
              <a:gd fmla="val 1782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
          <p:cNvSpPr/>
          <p:nvPr/>
        </p:nvSpPr>
        <p:spPr>
          <a:xfrm>
            <a:off x="9646920" y="5324094"/>
            <a:ext cx="2468880" cy="566928"/>
          </a:xfrm>
          <a:prstGeom prst="roundRect">
            <a:avLst>
              <a:gd fmla="val 19355"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1800"/>
              <a:buFont typeface="Calibri"/>
              <a:buNone/>
            </a:pPr>
            <a:r>
              <a:rPr b="1" i="0" lang="en-US" sz="1800" u="none" cap="none" strike="noStrike">
                <a:solidFill>
                  <a:srgbClr val="FDFBFB"/>
                </a:solidFill>
                <a:latin typeface="Calibri"/>
                <a:ea typeface="Calibri"/>
                <a:cs typeface="Calibri"/>
                <a:sym typeface="Calibri"/>
              </a:rPr>
              <a:t>01:45–02:00</a:t>
            </a:r>
            <a:endParaRPr b="0" i="0" sz="1800" u="none" cap="none" strike="noStrike">
              <a:solidFill>
                <a:schemeClr val="dk1"/>
              </a:solidFill>
              <a:latin typeface="Calibri"/>
              <a:ea typeface="Calibri"/>
              <a:cs typeface="Calibri"/>
              <a:sym typeface="Calibri"/>
            </a:endParaRPr>
          </a:p>
        </p:txBody>
      </p:sp>
      <p:sp>
        <p:nvSpPr>
          <p:cNvPr id="89" name="Google Shape;89;p2"/>
          <p:cNvSpPr txBox="1"/>
          <p:nvPr/>
        </p:nvSpPr>
        <p:spPr>
          <a:xfrm>
            <a:off x="12344400" y="5222748"/>
            <a:ext cx="3931920" cy="7696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1" i="0" lang="en-US" sz="2200" u="none" cap="none" strike="noStrike">
                <a:solidFill>
                  <a:srgbClr val="13123D"/>
                </a:solidFill>
                <a:latin typeface="Calibri"/>
                <a:ea typeface="Calibri"/>
                <a:cs typeface="Calibri"/>
                <a:sym typeface="Calibri"/>
              </a:rPr>
              <a:t>Fungsi</a:t>
            </a:r>
            <a:endParaRPr b="0" i="0" sz="2200" u="none" cap="none" strike="noStrike">
              <a:solidFill>
                <a:schemeClr val="dk1"/>
              </a:solidFill>
              <a:latin typeface="Calibri"/>
              <a:ea typeface="Calibri"/>
              <a:cs typeface="Calibri"/>
              <a:sym typeface="Calibri"/>
            </a:endParaRPr>
          </a:p>
        </p:txBody>
      </p:sp>
      <p:sp>
        <p:nvSpPr>
          <p:cNvPr id="90" name="Google Shape;90;p2"/>
          <p:cNvSpPr txBox="1"/>
          <p:nvPr/>
        </p:nvSpPr>
        <p:spPr>
          <a:xfrm>
            <a:off x="16276320" y="5222748"/>
            <a:ext cx="914400" cy="7696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5F86"/>
              </a:buClr>
              <a:buSzPts val="2100"/>
              <a:buFont typeface="Calibri"/>
              <a:buNone/>
            </a:pPr>
            <a:r>
              <a:rPr b="0" i="0" lang="en-US" sz="2100" u="none" cap="none" strike="noStrike">
                <a:solidFill>
                  <a:srgbClr val="5A5F86"/>
                </a:solidFill>
                <a:latin typeface="Calibri"/>
                <a:ea typeface="Calibri"/>
                <a:cs typeface="Calibri"/>
                <a:sym typeface="Calibri"/>
              </a:rPr>
              <a:t>15'</a:t>
            </a:r>
            <a:endParaRPr b="0" i="0" sz="2100" u="none" cap="none" strike="noStrike">
              <a:solidFill>
                <a:schemeClr val="dk1"/>
              </a:solidFill>
              <a:latin typeface="Calibri"/>
              <a:ea typeface="Calibri"/>
              <a:cs typeface="Calibri"/>
              <a:sym typeface="Calibri"/>
            </a:endParaRPr>
          </a:p>
        </p:txBody>
      </p:sp>
      <p:sp>
        <p:nvSpPr>
          <p:cNvPr id="91" name="Google Shape;91;p2"/>
          <p:cNvSpPr/>
          <p:nvPr/>
        </p:nvSpPr>
        <p:spPr>
          <a:xfrm>
            <a:off x="9418320" y="6102096"/>
            <a:ext cx="7955280" cy="769620"/>
          </a:xfrm>
          <a:prstGeom prst="roundRect">
            <a:avLst>
              <a:gd fmla="val 1782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
          <p:cNvSpPr/>
          <p:nvPr/>
        </p:nvSpPr>
        <p:spPr>
          <a:xfrm>
            <a:off x="9646920" y="6203442"/>
            <a:ext cx="2468880" cy="566928"/>
          </a:xfrm>
          <a:prstGeom prst="roundRect">
            <a:avLst>
              <a:gd fmla="val 19355"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1800"/>
              <a:buFont typeface="Calibri"/>
              <a:buNone/>
            </a:pPr>
            <a:r>
              <a:rPr b="1" i="0" lang="en-US" sz="1800" u="none" cap="none" strike="noStrike">
                <a:solidFill>
                  <a:srgbClr val="FDFBFB"/>
                </a:solidFill>
                <a:latin typeface="Calibri"/>
                <a:ea typeface="Calibri"/>
                <a:cs typeface="Calibri"/>
                <a:sym typeface="Calibri"/>
              </a:rPr>
              <a:t>02:00–02:15</a:t>
            </a:r>
            <a:endParaRPr b="0" i="0" sz="1800" u="none" cap="none" strike="noStrike">
              <a:solidFill>
                <a:schemeClr val="dk1"/>
              </a:solidFill>
              <a:latin typeface="Calibri"/>
              <a:ea typeface="Calibri"/>
              <a:cs typeface="Calibri"/>
              <a:sym typeface="Calibri"/>
            </a:endParaRPr>
          </a:p>
        </p:txBody>
      </p:sp>
      <p:sp>
        <p:nvSpPr>
          <p:cNvPr id="93" name="Google Shape;93;p2"/>
          <p:cNvSpPr txBox="1"/>
          <p:nvPr/>
        </p:nvSpPr>
        <p:spPr>
          <a:xfrm>
            <a:off x="12344400" y="6102096"/>
            <a:ext cx="3931920" cy="7696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1" i="0" lang="en-US" sz="2200" u="none" cap="none" strike="noStrike">
                <a:solidFill>
                  <a:srgbClr val="13123D"/>
                </a:solidFill>
                <a:latin typeface="Calibri"/>
                <a:ea typeface="Calibri"/>
                <a:cs typeface="Calibri"/>
                <a:sym typeface="Calibri"/>
              </a:rPr>
              <a:t>Struktur data dasar</a:t>
            </a:r>
            <a:endParaRPr b="0" i="0" sz="2200" u="none" cap="none" strike="noStrike">
              <a:solidFill>
                <a:schemeClr val="dk1"/>
              </a:solidFill>
              <a:latin typeface="Calibri"/>
              <a:ea typeface="Calibri"/>
              <a:cs typeface="Calibri"/>
              <a:sym typeface="Calibri"/>
            </a:endParaRPr>
          </a:p>
        </p:txBody>
      </p:sp>
      <p:sp>
        <p:nvSpPr>
          <p:cNvPr id="94" name="Google Shape;94;p2"/>
          <p:cNvSpPr txBox="1"/>
          <p:nvPr/>
        </p:nvSpPr>
        <p:spPr>
          <a:xfrm>
            <a:off x="16276320" y="6102096"/>
            <a:ext cx="914400" cy="7696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5F86"/>
              </a:buClr>
              <a:buSzPts val="2100"/>
              <a:buFont typeface="Calibri"/>
              <a:buNone/>
            </a:pPr>
            <a:r>
              <a:rPr b="0" i="0" lang="en-US" sz="2100" u="none" cap="none" strike="noStrike">
                <a:solidFill>
                  <a:srgbClr val="5A5F86"/>
                </a:solidFill>
                <a:latin typeface="Calibri"/>
                <a:ea typeface="Calibri"/>
                <a:cs typeface="Calibri"/>
                <a:sym typeface="Calibri"/>
              </a:rPr>
              <a:t>15'</a:t>
            </a:r>
            <a:endParaRPr b="0" i="0" sz="2100" u="none" cap="none" strike="noStrike">
              <a:solidFill>
                <a:schemeClr val="dk1"/>
              </a:solidFill>
              <a:latin typeface="Calibri"/>
              <a:ea typeface="Calibri"/>
              <a:cs typeface="Calibri"/>
              <a:sym typeface="Calibri"/>
            </a:endParaRPr>
          </a:p>
        </p:txBody>
      </p:sp>
      <p:sp>
        <p:nvSpPr>
          <p:cNvPr id="95" name="Google Shape;95;p2"/>
          <p:cNvSpPr/>
          <p:nvPr/>
        </p:nvSpPr>
        <p:spPr>
          <a:xfrm>
            <a:off x="9418320" y="6981444"/>
            <a:ext cx="7955280" cy="769620"/>
          </a:xfrm>
          <a:prstGeom prst="roundRect">
            <a:avLst>
              <a:gd fmla="val 1782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
          <p:cNvSpPr/>
          <p:nvPr/>
        </p:nvSpPr>
        <p:spPr>
          <a:xfrm>
            <a:off x="9646920" y="7082790"/>
            <a:ext cx="2468880" cy="566928"/>
          </a:xfrm>
          <a:prstGeom prst="roundRect">
            <a:avLst>
              <a:gd fmla="val 19355"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1800"/>
              <a:buFont typeface="Calibri"/>
              <a:buNone/>
            </a:pPr>
            <a:r>
              <a:rPr b="1" i="0" lang="en-US" sz="1800" u="none" cap="none" strike="noStrike">
                <a:solidFill>
                  <a:srgbClr val="FDFBFB"/>
                </a:solidFill>
                <a:latin typeface="Calibri"/>
                <a:ea typeface="Calibri"/>
                <a:cs typeface="Calibri"/>
                <a:sym typeface="Calibri"/>
              </a:rPr>
              <a:t>02:15–02:50</a:t>
            </a:r>
            <a:endParaRPr b="0" i="0" sz="1800" u="none" cap="none" strike="noStrike">
              <a:solidFill>
                <a:schemeClr val="dk1"/>
              </a:solidFill>
              <a:latin typeface="Calibri"/>
              <a:ea typeface="Calibri"/>
              <a:cs typeface="Calibri"/>
              <a:sym typeface="Calibri"/>
            </a:endParaRPr>
          </a:p>
        </p:txBody>
      </p:sp>
      <p:sp>
        <p:nvSpPr>
          <p:cNvPr id="97" name="Google Shape;97;p2"/>
          <p:cNvSpPr txBox="1"/>
          <p:nvPr/>
        </p:nvSpPr>
        <p:spPr>
          <a:xfrm>
            <a:off x="12344400" y="6981444"/>
            <a:ext cx="3931920" cy="7696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1" i="0" lang="en-US" sz="2200" u="none" cap="none" strike="noStrike">
                <a:solidFill>
                  <a:srgbClr val="13123D"/>
                </a:solidFill>
                <a:latin typeface="Calibri"/>
                <a:ea typeface="Calibri"/>
                <a:cs typeface="Calibri"/>
                <a:sym typeface="Calibri"/>
              </a:rPr>
              <a:t>Latihan pemecahan masalah</a:t>
            </a:r>
            <a:endParaRPr b="0" i="0" sz="2200" u="none" cap="none" strike="noStrike">
              <a:solidFill>
                <a:schemeClr val="dk1"/>
              </a:solidFill>
              <a:latin typeface="Calibri"/>
              <a:ea typeface="Calibri"/>
              <a:cs typeface="Calibri"/>
              <a:sym typeface="Calibri"/>
            </a:endParaRPr>
          </a:p>
        </p:txBody>
      </p:sp>
      <p:sp>
        <p:nvSpPr>
          <p:cNvPr id="98" name="Google Shape;98;p2"/>
          <p:cNvSpPr txBox="1"/>
          <p:nvPr/>
        </p:nvSpPr>
        <p:spPr>
          <a:xfrm>
            <a:off x="16276320" y="6981444"/>
            <a:ext cx="914400" cy="7696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5F86"/>
              </a:buClr>
              <a:buSzPts val="2100"/>
              <a:buFont typeface="Calibri"/>
              <a:buNone/>
            </a:pPr>
            <a:r>
              <a:rPr b="0" i="0" lang="en-US" sz="2100" u="none" cap="none" strike="noStrike">
                <a:solidFill>
                  <a:srgbClr val="5A5F86"/>
                </a:solidFill>
                <a:latin typeface="Calibri"/>
                <a:ea typeface="Calibri"/>
                <a:cs typeface="Calibri"/>
                <a:sym typeface="Calibri"/>
              </a:rPr>
              <a:t>35'</a:t>
            </a:r>
            <a:endParaRPr b="0" i="0" sz="2100" u="none" cap="none" strike="noStrike">
              <a:solidFill>
                <a:schemeClr val="dk1"/>
              </a:solidFill>
              <a:latin typeface="Calibri"/>
              <a:ea typeface="Calibri"/>
              <a:cs typeface="Calibri"/>
              <a:sym typeface="Calibri"/>
            </a:endParaRPr>
          </a:p>
        </p:txBody>
      </p:sp>
      <p:sp>
        <p:nvSpPr>
          <p:cNvPr id="99" name="Google Shape;99;p2"/>
          <p:cNvSpPr/>
          <p:nvPr/>
        </p:nvSpPr>
        <p:spPr>
          <a:xfrm>
            <a:off x="9418320" y="7860792"/>
            <a:ext cx="7955280" cy="769620"/>
          </a:xfrm>
          <a:prstGeom prst="roundRect">
            <a:avLst>
              <a:gd fmla="val 1782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
          <p:cNvSpPr/>
          <p:nvPr/>
        </p:nvSpPr>
        <p:spPr>
          <a:xfrm>
            <a:off x="9646920" y="7962138"/>
            <a:ext cx="2468880" cy="566928"/>
          </a:xfrm>
          <a:prstGeom prst="roundRect">
            <a:avLst>
              <a:gd fmla="val 19355"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1800"/>
              <a:buFont typeface="Calibri"/>
              <a:buNone/>
            </a:pPr>
            <a:r>
              <a:rPr b="1" i="0" lang="en-US" sz="1800" u="none" cap="none" strike="noStrike">
                <a:solidFill>
                  <a:srgbClr val="FDFBFB"/>
                </a:solidFill>
                <a:latin typeface="Calibri"/>
                <a:ea typeface="Calibri"/>
                <a:cs typeface="Calibri"/>
                <a:sym typeface="Calibri"/>
              </a:rPr>
              <a:t>02:50–03:00</a:t>
            </a:r>
            <a:endParaRPr b="0" i="0" sz="1800" u="none" cap="none" strike="noStrike">
              <a:solidFill>
                <a:schemeClr val="dk1"/>
              </a:solidFill>
              <a:latin typeface="Calibri"/>
              <a:ea typeface="Calibri"/>
              <a:cs typeface="Calibri"/>
              <a:sym typeface="Calibri"/>
            </a:endParaRPr>
          </a:p>
        </p:txBody>
      </p:sp>
      <p:sp>
        <p:nvSpPr>
          <p:cNvPr id="101" name="Google Shape;101;p2"/>
          <p:cNvSpPr txBox="1"/>
          <p:nvPr/>
        </p:nvSpPr>
        <p:spPr>
          <a:xfrm>
            <a:off x="12344400" y="7860792"/>
            <a:ext cx="3931920" cy="7696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1" i="0" lang="en-US" sz="2200" u="none" cap="none" strike="noStrike">
                <a:solidFill>
                  <a:srgbClr val="13123D"/>
                </a:solidFill>
                <a:latin typeface="Calibri"/>
                <a:ea typeface="Calibri"/>
                <a:cs typeface="Calibri"/>
                <a:sym typeface="Calibri"/>
              </a:rPr>
              <a:t>Rangkuman &amp; tanya jawab</a:t>
            </a:r>
            <a:endParaRPr b="0" i="0" sz="2200" u="none" cap="none" strike="noStrike">
              <a:solidFill>
                <a:schemeClr val="dk1"/>
              </a:solidFill>
              <a:latin typeface="Calibri"/>
              <a:ea typeface="Calibri"/>
              <a:cs typeface="Calibri"/>
              <a:sym typeface="Calibri"/>
            </a:endParaRPr>
          </a:p>
        </p:txBody>
      </p:sp>
      <p:sp>
        <p:nvSpPr>
          <p:cNvPr id="102" name="Google Shape;102;p2"/>
          <p:cNvSpPr txBox="1"/>
          <p:nvPr/>
        </p:nvSpPr>
        <p:spPr>
          <a:xfrm>
            <a:off x="16276320" y="7860792"/>
            <a:ext cx="914400" cy="7696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5F86"/>
              </a:buClr>
              <a:buSzPts val="2100"/>
              <a:buFont typeface="Calibri"/>
              <a:buNone/>
            </a:pPr>
            <a:r>
              <a:rPr b="0" i="0" lang="en-US" sz="2100" u="none" cap="none" strike="noStrike">
                <a:solidFill>
                  <a:srgbClr val="5A5F86"/>
                </a:solidFill>
                <a:latin typeface="Calibri"/>
                <a:ea typeface="Calibri"/>
                <a:cs typeface="Calibri"/>
                <a:sym typeface="Calibri"/>
              </a:rPr>
              <a:t>10'</a:t>
            </a:r>
            <a:endParaRPr b="0" i="0" sz="2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descr="/home/claude/assets/image6.png" id="108" name="Google Shape;108;p3"/>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109" name="Google Shape;109;p3"/>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110" name="Google Shape;110;p3"/>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PEMBUKAAN · 5 MENIT</a:t>
            </a:r>
            <a:endParaRPr b="0" i="0" sz="2000" u="none" cap="none" strike="noStrike">
              <a:solidFill>
                <a:schemeClr val="dk1"/>
              </a:solidFill>
              <a:latin typeface="Calibri"/>
              <a:ea typeface="Calibri"/>
              <a:cs typeface="Calibri"/>
              <a:sym typeface="Calibri"/>
            </a:endParaRPr>
          </a:p>
        </p:txBody>
      </p:sp>
      <p:sp>
        <p:nvSpPr>
          <p:cNvPr id="111" name="Google Shape;111;p3"/>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Tujuan Pembelajaran</a:t>
            </a:r>
            <a:endParaRPr b="0" i="0" sz="4800" u="none" cap="none" strike="noStrike">
              <a:solidFill>
                <a:schemeClr val="dk1"/>
              </a:solidFill>
              <a:latin typeface="Calibri"/>
              <a:ea typeface="Calibri"/>
              <a:cs typeface="Calibri"/>
              <a:sym typeface="Calibri"/>
            </a:endParaRPr>
          </a:p>
        </p:txBody>
      </p:sp>
      <p:sp>
        <p:nvSpPr>
          <p:cNvPr id="112" name="Google Shape;112;p3"/>
          <p:cNvSpPr/>
          <p:nvPr/>
        </p:nvSpPr>
        <p:spPr>
          <a:xfrm>
            <a:off x="914400" y="4343400"/>
            <a:ext cx="7955280" cy="2468880"/>
          </a:xfrm>
          <a:prstGeom prst="roundRect">
            <a:avLst>
              <a:gd fmla="val 5556"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p:nvPr/>
        </p:nvSpPr>
        <p:spPr>
          <a:xfrm>
            <a:off x="1234440" y="5029200"/>
            <a:ext cx="1097280" cy="1097280"/>
          </a:xfrm>
          <a:prstGeom prst="ellipse">
            <a:avLst/>
          </a:prstGeom>
          <a:solidFill>
            <a:srgbClr val="162CA2"/>
          </a:solidFill>
          <a:ln cap="flat" cmpd="sng" w="12700">
            <a:solidFill>
              <a:srgbClr val="162C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4" name="Google Shape;114;p3"/>
          <p:cNvPicPr preferRelativeResize="0"/>
          <p:nvPr/>
        </p:nvPicPr>
        <p:blipFill rotWithShape="1">
          <a:blip r:embed="rId5">
            <a:alphaModFix/>
          </a:blip>
          <a:srcRect b="0" l="0" r="0" t="0"/>
          <a:stretch/>
        </p:blipFill>
        <p:spPr>
          <a:xfrm>
            <a:off x="1497787" y="5292547"/>
            <a:ext cx="570586" cy="570586"/>
          </a:xfrm>
          <a:prstGeom prst="rect">
            <a:avLst/>
          </a:prstGeom>
          <a:noFill/>
          <a:ln>
            <a:noFill/>
          </a:ln>
        </p:spPr>
      </p:pic>
      <p:sp>
        <p:nvSpPr>
          <p:cNvPr id="115" name="Google Shape;115;p3"/>
          <p:cNvSpPr txBox="1"/>
          <p:nvPr/>
        </p:nvSpPr>
        <p:spPr>
          <a:xfrm>
            <a:off x="2697480" y="4709160"/>
            <a:ext cx="59436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800"/>
              <a:buFont typeface="Calibri"/>
              <a:buNone/>
            </a:pPr>
            <a:r>
              <a:rPr b="1" i="0" lang="en-US" sz="2800" u="none" cap="none" strike="noStrike">
                <a:solidFill>
                  <a:srgbClr val="162CA2"/>
                </a:solidFill>
                <a:latin typeface="Calibri"/>
                <a:ea typeface="Calibri"/>
                <a:cs typeface="Calibri"/>
                <a:sym typeface="Calibri"/>
              </a:rPr>
              <a:t>Memahami konsep</a:t>
            </a:r>
            <a:endParaRPr b="0" i="0" sz="2800" u="none" cap="none" strike="noStrike">
              <a:solidFill>
                <a:schemeClr val="dk1"/>
              </a:solidFill>
              <a:latin typeface="Calibri"/>
              <a:ea typeface="Calibri"/>
              <a:cs typeface="Calibri"/>
              <a:sym typeface="Calibri"/>
            </a:endParaRPr>
          </a:p>
        </p:txBody>
      </p:sp>
      <p:sp>
        <p:nvSpPr>
          <p:cNvPr id="116" name="Google Shape;116;p3"/>
          <p:cNvSpPr txBox="1"/>
          <p:nvPr/>
        </p:nvSpPr>
        <p:spPr>
          <a:xfrm>
            <a:off x="2697480" y="5349240"/>
            <a:ext cx="585216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Menjelaskan apa itu pemrograman, algoritma, dan pseudocode.</a:t>
            </a:r>
            <a:endParaRPr b="0" i="0" sz="2200" u="none" cap="none" strike="noStrike">
              <a:solidFill>
                <a:schemeClr val="dk1"/>
              </a:solidFill>
              <a:latin typeface="Calibri"/>
              <a:ea typeface="Calibri"/>
              <a:cs typeface="Calibri"/>
              <a:sym typeface="Calibri"/>
            </a:endParaRPr>
          </a:p>
        </p:txBody>
      </p:sp>
      <p:sp>
        <p:nvSpPr>
          <p:cNvPr id="117" name="Google Shape;117;p3"/>
          <p:cNvSpPr/>
          <p:nvPr/>
        </p:nvSpPr>
        <p:spPr>
          <a:xfrm>
            <a:off x="9418320" y="4343400"/>
            <a:ext cx="7955280" cy="2468880"/>
          </a:xfrm>
          <a:prstGeom prst="roundRect">
            <a:avLst>
              <a:gd fmla="val 5556"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3"/>
          <p:cNvSpPr/>
          <p:nvPr/>
        </p:nvSpPr>
        <p:spPr>
          <a:xfrm>
            <a:off x="9738360" y="5029200"/>
            <a:ext cx="1097280" cy="1097280"/>
          </a:xfrm>
          <a:prstGeom prst="ellipse">
            <a:avLst/>
          </a:prstGeom>
          <a:solidFill>
            <a:srgbClr val="162CA2"/>
          </a:solidFill>
          <a:ln cap="flat" cmpd="sng" w="12700">
            <a:solidFill>
              <a:srgbClr val="162C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9" name="Google Shape;119;p3"/>
          <p:cNvPicPr preferRelativeResize="0"/>
          <p:nvPr/>
        </p:nvPicPr>
        <p:blipFill rotWithShape="1">
          <a:blip r:embed="rId6">
            <a:alphaModFix/>
          </a:blip>
          <a:srcRect b="0" l="0" r="0" t="0"/>
          <a:stretch/>
        </p:blipFill>
        <p:spPr>
          <a:xfrm>
            <a:off x="10001707" y="5292547"/>
            <a:ext cx="570586" cy="570586"/>
          </a:xfrm>
          <a:prstGeom prst="rect">
            <a:avLst/>
          </a:prstGeom>
          <a:noFill/>
          <a:ln>
            <a:noFill/>
          </a:ln>
        </p:spPr>
      </p:pic>
      <p:sp>
        <p:nvSpPr>
          <p:cNvPr id="120" name="Google Shape;120;p3"/>
          <p:cNvSpPr txBox="1"/>
          <p:nvPr/>
        </p:nvSpPr>
        <p:spPr>
          <a:xfrm>
            <a:off x="11201400" y="4709160"/>
            <a:ext cx="59436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800"/>
              <a:buFont typeface="Calibri"/>
              <a:buNone/>
            </a:pPr>
            <a:r>
              <a:rPr b="1" i="0" lang="en-US" sz="2800" u="none" cap="none" strike="noStrike">
                <a:solidFill>
                  <a:srgbClr val="162CA2"/>
                </a:solidFill>
                <a:latin typeface="Calibri"/>
                <a:ea typeface="Calibri"/>
                <a:cs typeface="Calibri"/>
                <a:sym typeface="Calibri"/>
              </a:rPr>
              <a:t>Memvisualisasikan logika</a:t>
            </a:r>
            <a:endParaRPr b="0" i="0" sz="2800" u="none" cap="none" strike="noStrike">
              <a:solidFill>
                <a:schemeClr val="dk1"/>
              </a:solidFill>
              <a:latin typeface="Calibri"/>
              <a:ea typeface="Calibri"/>
              <a:cs typeface="Calibri"/>
              <a:sym typeface="Calibri"/>
            </a:endParaRPr>
          </a:p>
        </p:txBody>
      </p:sp>
      <p:sp>
        <p:nvSpPr>
          <p:cNvPr id="121" name="Google Shape;121;p3"/>
          <p:cNvSpPr txBox="1"/>
          <p:nvPr/>
        </p:nvSpPr>
        <p:spPr>
          <a:xfrm>
            <a:off x="11201400" y="5349240"/>
            <a:ext cx="585216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Menggambar alur berpikir dengan flowchart.</a:t>
            </a:r>
            <a:endParaRPr b="0" i="0" sz="2200" u="none" cap="none" strike="noStrike">
              <a:solidFill>
                <a:schemeClr val="dk1"/>
              </a:solidFill>
              <a:latin typeface="Calibri"/>
              <a:ea typeface="Calibri"/>
              <a:cs typeface="Calibri"/>
              <a:sym typeface="Calibri"/>
            </a:endParaRPr>
          </a:p>
        </p:txBody>
      </p:sp>
      <p:sp>
        <p:nvSpPr>
          <p:cNvPr id="122" name="Google Shape;122;p3"/>
          <p:cNvSpPr/>
          <p:nvPr/>
        </p:nvSpPr>
        <p:spPr>
          <a:xfrm>
            <a:off x="914400" y="7086600"/>
            <a:ext cx="7955280" cy="2468880"/>
          </a:xfrm>
          <a:prstGeom prst="roundRect">
            <a:avLst>
              <a:gd fmla="val 5556"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3"/>
          <p:cNvSpPr/>
          <p:nvPr/>
        </p:nvSpPr>
        <p:spPr>
          <a:xfrm>
            <a:off x="1234440" y="7772400"/>
            <a:ext cx="1097280" cy="1097280"/>
          </a:xfrm>
          <a:prstGeom prst="ellipse">
            <a:avLst/>
          </a:prstGeom>
          <a:solidFill>
            <a:srgbClr val="162CA2"/>
          </a:solidFill>
          <a:ln cap="flat" cmpd="sng" w="12700">
            <a:solidFill>
              <a:srgbClr val="162C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4" name="Google Shape;124;p3"/>
          <p:cNvPicPr preferRelativeResize="0"/>
          <p:nvPr/>
        </p:nvPicPr>
        <p:blipFill rotWithShape="1">
          <a:blip r:embed="rId7">
            <a:alphaModFix/>
          </a:blip>
          <a:srcRect b="0" l="0" r="0" t="0"/>
          <a:stretch/>
        </p:blipFill>
        <p:spPr>
          <a:xfrm>
            <a:off x="1497787" y="8035747"/>
            <a:ext cx="570586" cy="570586"/>
          </a:xfrm>
          <a:prstGeom prst="rect">
            <a:avLst/>
          </a:prstGeom>
          <a:noFill/>
          <a:ln>
            <a:noFill/>
          </a:ln>
        </p:spPr>
      </p:pic>
      <p:sp>
        <p:nvSpPr>
          <p:cNvPr id="125" name="Google Shape;125;p3"/>
          <p:cNvSpPr txBox="1"/>
          <p:nvPr/>
        </p:nvSpPr>
        <p:spPr>
          <a:xfrm>
            <a:off x="2697480" y="7452360"/>
            <a:ext cx="59436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800"/>
              <a:buFont typeface="Calibri"/>
              <a:buNone/>
            </a:pPr>
            <a:r>
              <a:rPr b="1" i="0" lang="en-US" sz="2800" u="none" cap="none" strike="noStrike">
                <a:solidFill>
                  <a:srgbClr val="162CA2"/>
                </a:solidFill>
                <a:latin typeface="Calibri"/>
                <a:ea typeface="Calibri"/>
                <a:cs typeface="Calibri"/>
                <a:sym typeface="Calibri"/>
              </a:rPr>
              <a:t>Menerapkan konsep dasar</a:t>
            </a:r>
            <a:endParaRPr b="0" i="0" sz="2800" u="none" cap="none" strike="noStrike">
              <a:solidFill>
                <a:schemeClr val="dk1"/>
              </a:solidFill>
              <a:latin typeface="Calibri"/>
              <a:ea typeface="Calibri"/>
              <a:cs typeface="Calibri"/>
              <a:sym typeface="Calibri"/>
            </a:endParaRPr>
          </a:p>
        </p:txBody>
      </p:sp>
      <p:sp>
        <p:nvSpPr>
          <p:cNvPr id="126" name="Google Shape;126;p3"/>
          <p:cNvSpPr txBox="1"/>
          <p:nvPr/>
        </p:nvSpPr>
        <p:spPr>
          <a:xfrm>
            <a:off x="2697480" y="8092440"/>
            <a:ext cx="585216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Memakai variabel, operator, percabangan, perulangan, fungsi, dan array/list.</a:t>
            </a:r>
            <a:endParaRPr b="0" i="0" sz="2200" u="none" cap="none" strike="noStrike">
              <a:solidFill>
                <a:schemeClr val="dk1"/>
              </a:solidFill>
              <a:latin typeface="Calibri"/>
              <a:ea typeface="Calibri"/>
              <a:cs typeface="Calibri"/>
              <a:sym typeface="Calibri"/>
            </a:endParaRPr>
          </a:p>
        </p:txBody>
      </p:sp>
      <p:sp>
        <p:nvSpPr>
          <p:cNvPr id="127" name="Google Shape;127;p3"/>
          <p:cNvSpPr/>
          <p:nvPr/>
        </p:nvSpPr>
        <p:spPr>
          <a:xfrm>
            <a:off x="9418320" y="7086600"/>
            <a:ext cx="7955280" cy="2468880"/>
          </a:xfrm>
          <a:prstGeom prst="roundRect">
            <a:avLst>
              <a:gd fmla="val 5556"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3"/>
          <p:cNvSpPr/>
          <p:nvPr/>
        </p:nvSpPr>
        <p:spPr>
          <a:xfrm>
            <a:off x="9738360" y="7772400"/>
            <a:ext cx="1097280" cy="1097280"/>
          </a:xfrm>
          <a:prstGeom prst="ellipse">
            <a:avLst/>
          </a:prstGeom>
          <a:solidFill>
            <a:srgbClr val="162CA2"/>
          </a:solidFill>
          <a:ln cap="flat" cmpd="sng" w="12700">
            <a:solidFill>
              <a:srgbClr val="162C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9" name="Google Shape;129;p3"/>
          <p:cNvPicPr preferRelativeResize="0"/>
          <p:nvPr/>
        </p:nvPicPr>
        <p:blipFill rotWithShape="1">
          <a:blip r:embed="rId8">
            <a:alphaModFix/>
          </a:blip>
          <a:srcRect b="0" l="0" r="0" t="0"/>
          <a:stretch/>
        </p:blipFill>
        <p:spPr>
          <a:xfrm>
            <a:off x="10001707" y="8035747"/>
            <a:ext cx="570586" cy="570586"/>
          </a:xfrm>
          <a:prstGeom prst="rect">
            <a:avLst/>
          </a:prstGeom>
          <a:noFill/>
          <a:ln>
            <a:noFill/>
          </a:ln>
        </p:spPr>
      </p:pic>
      <p:sp>
        <p:nvSpPr>
          <p:cNvPr id="130" name="Google Shape;130;p3"/>
          <p:cNvSpPr txBox="1"/>
          <p:nvPr/>
        </p:nvSpPr>
        <p:spPr>
          <a:xfrm>
            <a:off x="11201400" y="7452360"/>
            <a:ext cx="59436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800"/>
              <a:buFont typeface="Calibri"/>
              <a:buNone/>
            </a:pPr>
            <a:r>
              <a:rPr b="1" i="0" lang="en-US" sz="2800" u="none" cap="none" strike="noStrike">
                <a:solidFill>
                  <a:srgbClr val="162CA2"/>
                </a:solidFill>
                <a:latin typeface="Calibri"/>
                <a:ea typeface="Calibri"/>
                <a:cs typeface="Calibri"/>
                <a:sym typeface="Calibri"/>
              </a:rPr>
              <a:t>Memecahkan masalah</a:t>
            </a:r>
            <a:endParaRPr b="0" i="0" sz="2800" u="none" cap="none" strike="noStrike">
              <a:solidFill>
                <a:schemeClr val="dk1"/>
              </a:solidFill>
              <a:latin typeface="Calibri"/>
              <a:ea typeface="Calibri"/>
              <a:cs typeface="Calibri"/>
              <a:sym typeface="Calibri"/>
            </a:endParaRPr>
          </a:p>
        </p:txBody>
      </p:sp>
      <p:sp>
        <p:nvSpPr>
          <p:cNvPr id="131" name="Google Shape;131;p3"/>
          <p:cNvSpPr txBox="1"/>
          <p:nvPr/>
        </p:nvSpPr>
        <p:spPr>
          <a:xfrm>
            <a:off x="11201400" y="8092440"/>
            <a:ext cx="585216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Menyusun solusi bertahap untuk kasus sederhana.</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descr="/home/claude/assets/image6.png" id="137" name="Google Shape;137;p4"/>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138" name="Google Shape;138;p4"/>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139" name="Google Shape;139;p4"/>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PERSIAPAN · SEBELUM SESI 1</a:t>
            </a:r>
            <a:endParaRPr b="0" i="0" sz="2000" u="none" cap="none" strike="noStrike">
              <a:solidFill>
                <a:schemeClr val="dk1"/>
              </a:solidFill>
              <a:latin typeface="Calibri"/>
              <a:ea typeface="Calibri"/>
              <a:cs typeface="Calibri"/>
              <a:sym typeface="Calibri"/>
            </a:endParaRPr>
          </a:p>
        </p:txBody>
      </p:sp>
      <p:sp>
        <p:nvSpPr>
          <p:cNvPr id="140" name="Google Shape;140;p4"/>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Alat yang Perlu Diinstal</a:t>
            </a:r>
            <a:endParaRPr b="0" i="0" sz="4800" u="none" cap="none" strike="noStrike">
              <a:solidFill>
                <a:schemeClr val="dk1"/>
              </a:solidFill>
              <a:latin typeface="Calibri"/>
              <a:ea typeface="Calibri"/>
              <a:cs typeface="Calibri"/>
              <a:sym typeface="Calibri"/>
            </a:endParaRPr>
          </a:p>
        </p:txBody>
      </p:sp>
      <p:graphicFrame>
        <p:nvGraphicFramePr>
          <p:cNvPr id="141" name="Google Shape;141;p4"/>
          <p:cNvGraphicFramePr/>
          <p:nvPr/>
        </p:nvGraphicFramePr>
        <p:xfrm>
          <a:off x="914400" y="4343400"/>
          <a:ext cx="3000000" cy="3000000"/>
        </p:xfrm>
        <a:graphic>
          <a:graphicData uri="http://schemas.openxmlformats.org/drawingml/2006/table">
            <a:tbl>
              <a:tblPr>
                <a:noFill/>
                <a:tableStyleId>{73E2A723-B492-44FB-AF4C-91DFBF99BAEE}</a:tableStyleId>
              </a:tblPr>
              <a:tblGrid>
                <a:gridCol w="5943600"/>
                <a:gridCol w="7315200"/>
                <a:gridCol w="3200400"/>
              </a:tblGrid>
              <a:tr h="530350">
                <a:tc>
                  <a:txBody>
                    <a:bodyPr/>
                    <a:lstStyle/>
                    <a:p>
                      <a:pPr indent="0" lvl="0" marL="0" marR="0" rtl="0" algn="l">
                        <a:spcBef>
                          <a:spcPts val="0"/>
                        </a:spcBef>
                        <a:spcAft>
                          <a:spcPts val="0"/>
                        </a:spcAft>
                        <a:buClr>
                          <a:srgbClr val="FDFBFB"/>
                        </a:buClr>
                        <a:buSzPts val="2100"/>
                        <a:buFont typeface="Calibri"/>
                        <a:buNone/>
                      </a:pPr>
                      <a:r>
                        <a:rPr b="1" lang="en-US" sz="2100" u="none" cap="none" strike="noStrike">
                          <a:solidFill>
                            <a:srgbClr val="FDFBFB"/>
                          </a:solidFill>
                          <a:latin typeface="Calibri"/>
                          <a:ea typeface="Calibri"/>
                          <a:cs typeface="Calibri"/>
                          <a:sym typeface="Calibri"/>
                        </a:rPr>
                        <a:t>Alat</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162CA2"/>
                    </a:solidFill>
                  </a:tcPr>
                </a:tc>
                <a:tc>
                  <a:txBody>
                    <a:bodyPr/>
                    <a:lstStyle/>
                    <a:p>
                      <a:pPr indent="0" lvl="0" marL="0" marR="0" rtl="0" algn="l">
                        <a:spcBef>
                          <a:spcPts val="0"/>
                        </a:spcBef>
                        <a:spcAft>
                          <a:spcPts val="0"/>
                        </a:spcAft>
                        <a:buClr>
                          <a:srgbClr val="FDFBFB"/>
                        </a:buClr>
                        <a:buSzPts val="2100"/>
                        <a:buFont typeface="Calibri"/>
                        <a:buNone/>
                      </a:pPr>
                      <a:r>
                        <a:rPr b="1" lang="en-US" sz="2100" u="none" cap="none" strike="noStrike">
                          <a:solidFill>
                            <a:srgbClr val="FDFBFB"/>
                          </a:solidFill>
                          <a:latin typeface="Calibri"/>
                          <a:ea typeface="Calibri"/>
                          <a:cs typeface="Calibri"/>
                          <a:sym typeface="Calibri"/>
                        </a:rPr>
                        <a:t>Untuk apa</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162CA2"/>
                    </a:solidFill>
                  </a:tcPr>
                </a:tc>
                <a:tc>
                  <a:txBody>
                    <a:bodyPr/>
                    <a:lstStyle/>
                    <a:p>
                      <a:pPr indent="0" lvl="0" marL="0" marR="0" rtl="0" algn="l">
                        <a:spcBef>
                          <a:spcPts val="0"/>
                        </a:spcBef>
                        <a:spcAft>
                          <a:spcPts val="0"/>
                        </a:spcAft>
                        <a:buClr>
                          <a:srgbClr val="FDFBFB"/>
                        </a:buClr>
                        <a:buSzPts val="2100"/>
                        <a:buFont typeface="Calibri"/>
                        <a:buNone/>
                      </a:pPr>
                      <a:r>
                        <a:rPr b="1" lang="en-US" sz="2100" u="none" cap="none" strike="noStrike">
                          <a:solidFill>
                            <a:srgbClr val="FDFBFB"/>
                          </a:solidFill>
                          <a:latin typeface="Calibri"/>
                          <a:ea typeface="Calibri"/>
                          <a:cs typeface="Calibri"/>
                          <a:sym typeface="Calibri"/>
                        </a:rPr>
                        <a:t>Dipakai mulai</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162CA2"/>
                    </a:solidFill>
                  </a:tcPr>
                </a:tc>
              </a:tr>
              <a:tr h="530350">
                <a:tc>
                  <a:txBody>
                    <a:bodyPr/>
                    <a:lstStyle/>
                    <a:p>
                      <a:pPr indent="0" lvl="0" marL="0" marR="0" rtl="0" algn="l">
                        <a:spcBef>
                          <a:spcPts val="0"/>
                        </a:spcBef>
                        <a:spcAft>
                          <a:spcPts val="0"/>
                        </a:spcAft>
                        <a:buClr>
                          <a:srgbClr val="13123D"/>
                        </a:buClr>
                        <a:buSzPts val="2100"/>
                        <a:buFont typeface="Calibri"/>
                        <a:buNone/>
                      </a:pPr>
                      <a:r>
                        <a:rPr lang="en-US" sz="2100" u="none" cap="none" strike="noStrike">
                          <a:solidFill>
                            <a:srgbClr val="13123D"/>
                          </a:solidFill>
                          <a:latin typeface="Calibri"/>
                          <a:ea typeface="Calibri"/>
                          <a:cs typeface="Calibri"/>
                          <a:sym typeface="Calibri"/>
                        </a:rPr>
                        <a:t>VS Code</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100"/>
                        <a:buFont typeface="Calibri"/>
                        <a:buNone/>
                      </a:pPr>
                      <a:r>
                        <a:rPr lang="en-US" sz="2100" u="none" cap="none" strike="noStrike">
                          <a:solidFill>
                            <a:srgbClr val="13123D"/>
                          </a:solidFill>
                          <a:latin typeface="Calibri"/>
                          <a:ea typeface="Calibri"/>
                          <a:cs typeface="Calibri"/>
                          <a:sym typeface="Calibri"/>
                        </a:rPr>
                        <a:t>Code editor utama sepanjang bootcamp</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100"/>
                        <a:buFont typeface="Calibri"/>
                        <a:buNone/>
                      </a:pPr>
                      <a:r>
                        <a:rPr lang="en-US" sz="2100" u="none" cap="none" strike="noStrike">
                          <a:solidFill>
                            <a:srgbClr val="13123D"/>
                          </a:solidFill>
                          <a:latin typeface="Calibri"/>
                          <a:ea typeface="Calibri"/>
                          <a:cs typeface="Calibri"/>
                          <a:sym typeface="Calibri"/>
                        </a:rPr>
                        <a:t>Sesi 2</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r h="530350">
                <a:tc>
                  <a:txBody>
                    <a:bodyPr/>
                    <a:lstStyle/>
                    <a:p>
                      <a:pPr indent="0" lvl="0" marL="0" marR="0" rtl="0" algn="l">
                        <a:spcBef>
                          <a:spcPts val="0"/>
                        </a:spcBef>
                        <a:spcAft>
                          <a:spcPts val="0"/>
                        </a:spcAft>
                        <a:buClr>
                          <a:srgbClr val="13123D"/>
                        </a:buClr>
                        <a:buSzPts val="2100"/>
                        <a:buFont typeface="Calibri"/>
                        <a:buNone/>
                      </a:pPr>
                      <a:r>
                        <a:rPr lang="en-US" sz="2100" u="none" cap="none" strike="noStrike">
                          <a:solidFill>
                            <a:srgbClr val="13123D"/>
                          </a:solidFill>
                          <a:latin typeface="Calibri"/>
                          <a:ea typeface="Calibri"/>
                          <a:cs typeface="Calibri"/>
                          <a:sym typeface="Calibri"/>
                        </a:rPr>
                        <a:t>Go (Golang)</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100"/>
                        <a:buFont typeface="Calibri"/>
                        <a:buNone/>
                      </a:pPr>
                      <a:r>
                        <a:rPr lang="en-US" sz="2100" u="none" cap="none" strike="noStrike">
                          <a:solidFill>
                            <a:srgbClr val="13123D"/>
                          </a:solidFill>
                          <a:latin typeface="Calibri"/>
                          <a:ea typeface="Calibri"/>
                          <a:cs typeface="Calibri"/>
                          <a:sym typeface="Calibri"/>
                        </a:rPr>
                        <a:t>Bahasa pemrograman untuk backend</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100"/>
                        <a:buFont typeface="Calibri"/>
                        <a:buNone/>
                      </a:pPr>
                      <a:r>
                        <a:rPr lang="en-US" sz="2100" u="none" cap="none" strike="noStrike">
                          <a:solidFill>
                            <a:srgbClr val="13123D"/>
                          </a:solidFill>
                          <a:latin typeface="Calibri"/>
                          <a:ea typeface="Calibri"/>
                          <a:cs typeface="Calibri"/>
                          <a:sym typeface="Calibri"/>
                        </a:rPr>
                        <a:t>Sesi 2</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r h="530350">
                <a:tc>
                  <a:txBody>
                    <a:bodyPr/>
                    <a:lstStyle/>
                    <a:p>
                      <a:pPr indent="0" lvl="0" marL="0" marR="0" rtl="0" algn="l">
                        <a:spcBef>
                          <a:spcPts val="0"/>
                        </a:spcBef>
                        <a:spcAft>
                          <a:spcPts val="0"/>
                        </a:spcAft>
                        <a:buClr>
                          <a:srgbClr val="13123D"/>
                        </a:buClr>
                        <a:buSzPts val="2100"/>
                        <a:buFont typeface="Calibri"/>
                        <a:buNone/>
                      </a:pPr>
                      <a:r>
                        <a:rPr lang="en-US" sz="2100" u="none" cap="none" strike="noStrike">
                          <a:solidFill>
                            <a:srgbClr val="13123D"/>
                          </a:solidFill>
                          <a:latin typeface="Calibri"/>
                          <a:ea typeface="Calibri"/>
                          <a:cs typeface="Calibri"/>
                          <a:sym typeface="Calibri"/>
                        </a:rPr>
                        <a:t>Node.js &amp; npm</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100"/>
                        <a:buFont typeface="Calibri"/>
                        <a:buNone/>
                      </a:pPr>
                      <a:r>
                        <a:rPr lang="en-US" sz="2100" u="none" cap="none" strike="noStrike">
                          <a:solidFill>
                            <a:srgbClr val="13123D"/>
                          </a:solidFill>
                          <a:latin typeface="Calibri"/>
                          <a:ea typeface="Calibri"/>
                          <a:cs typeface="Calibri"/>
                          <a:sym typeface="Calibri"/>
                        </a:rPr>
                        <a:t>Menjalankan proyek Vue.js</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100"/>
                        <a:buFont typeface="Calibri"/>
                        <a:buNone/>
                      </a:pPr>
                      <a:r>
                        <a:rPr lang="en-US" sz="2100" u="none" cap="none" strike="noStrike">
                          <a:solidFill>
                            <a:srgbClr val="13123D"/>
                          </a:solidFill>
                          <a:latin typeface="Calibri"/>
                          <a:ea typeface="Calibri"/>
                          <a:cs typeface="Calibri"/>
                          <a:sym typeface="Calibri"/>
                        </a:rPr>
                        <a:t>Sesi 6</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r h="530350">
                <a:tc>
                  <a:txBody>
                    <a:bodyPr/>
                    <a:lstStyle/>
                    <a:p>
                      <a:pPr indent="0" lvl="0" marL="0" marR="0" rtl="0" algn="l">
                        <a:spcBef>
                          <a:spcPts val="0"/>
                        </a:spcBef>
                        <a:spcAft>
                          <a:spcPts val="0"/>
                        </a:spcAft>
                        <a:buClr>
                          <a:srgbClr val="13123D"/>
                        </a:buClr>
                        <a:buSzPts val="2100"/>
                        <a:buFont typeface="Calibri"/>
                        <a:buNone/>
                      </a:pPr>
                      <a:r>
                        <a:rPr lang="en-US" sz="2100" u="none" cap="none" strike="noStrike">
                          <a:solidFill>
                            <a:srgbClr val="13123D"/>
                          </a:solidFill>
                          <a:latin typeface="Calibri"/>
                          <a:ea typeface="Calibri"/>
                          <a:cs typeface="Calibri"/>
                          <a:sym typeface="Calibri"/>
                        </a:rPr>
                        <a:t>Git</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100"/>
                        <a:buFont typeface="Calibri"/>
                        <a:buNone/>
                      </a:pPr>
                      <a:r>
                        <a:rPr lang="en-US" sz="2100" u="none" cap="none" strike="noStrike">
                          <a:solidFill>
                            <a:srgbClr val="13123D"/>
                          </a:solidFill>
                          <a:latin typeface="Calibri"/>
                          <a:ea typeface="Calibri"/>
                          <a:cs typeface="Calibri"/>
                          <a:sym typeface="Calibri"/>
                        </a:rPr>
                        <a:t>Version control</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100"/>
                        <a:buFont typeface="Calibri"/>
                        <a:buNone/>
                      </a:pPr>
                      <a:r>
                        <a:rPr lang="en-US" sz="2100" u="none" cap="none" strike="noStrike">
                          <a:solidFill>
                            <a:srgbClr val="13123D"/>
                          </a:solidFill>
                          <a:latin typeface="Calibri"/>
                          <a:ea typeface="Calibri"/>
                          <a:cs typeface="Calibri"/>
                          <a:sym typeface="Calibri"/>
                        </a:rPr>
                        <a:t>Sesi 10</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r h="530350">
                <a:tc>
                  <a:txBody>
                    <a:bodyPr/>
                    <a:lstStyle/>
                    <a:p>
                      <a:pPr indent="0" lvl="0" marL="0" marR="0" rtl="0" algn="l">
                        <a:spcBef>
                          <a:spcPts val="0"/>
                        </a:spcBef>
                        <a:spcAft>
                          <a:spcPts val="0"/>
                        </a:spcAft>
                        <a:buClr>
                          <a:srgbClr val="13123D"/>
                        </a:buClr>
                        <a:buSzPts val="2100"/>
                        <a:buFont typeface="Calibri"/>
                        <a:buNone/>
                      </a:pPr>
                      <a:r>
                        <a:rPr lang="en-US" sz="2100" u="none" cap="none" strike="noStrike">
                          <a:solidFill>
                            <a:srgbClr val="13123D"/>
                          </a:solidFill>
                          <a:latin typeface="Calibri"/>
                          <a:ea typeface="Calibri"/>
                          <a:cs typeface="Calibri"/>
                          <a:sym typeface="Calibri"/>
                        </a:rPr>
                        <a:t>Akun GitHub</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100"/>
                        <a:buFont typeface="Calibri"/>
                        <a:buNone/>
                      </a:pPr>
                      <a:r>
                        <a:rPr lang="en-US" sz="2100" u="none" cap="none" strike="noStrike">
                          <a:solidFill>
                            <a:srgbClr val="13123D"/>
                          </a:solidFill>
                          <a:latin typeface="Calibri"/>
                          <a:ea typeface="Calibri"/>
                          <a:cs typeface="Calibri"/>
                          <a:sym typeface="Calibri"/>
                        </a:rPr>
                        <a:t>Menyimpan &amp; berbagi kode</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100"/>
                        <a:buFont typeface="Calibri"/>
                        <a:buNone/>
                      </a:pPr>
                      <a:r>
                        <a:rPr lang="en-US" sz="2100" u="none" cap="none" strike="noStrike">
                          <a:solidFill>
                            <a:srgbClr val="13123D"/>
                          </a:solidFill>
                          <a:latin typeface="Calibri"/>
                          <a:ea typeface="Calibri"/>
                          <a:cs typeface="Calibri"/>
                          <a:sym typeface="Calibri"/>
                        </a:rPr>
                        <a:t>Sesi 10</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r h="530350">
                <a:tc>
                  <a:txBody>
                    <a:bodyPr/>
                    <a:lstStyle/>
                    <a:p>
                      <a:pPr indent="0" lvl="0" marL="0" marR="0" rtl="0" algn="l">
                        <a:spcBef>
                          <a:spcPts val="0"/>
                        </a:spcBef>
                        <a:spcAft>
                          <a:spcPts val="0"/>
                        </a:spcAft>
                        <a:buClr>
                          <a:srgbClr val="13123D"/>
                        </a:buClr>
                        <a:buSzPts val="2100"/>
                        <a:buFont typeface="Calibri"/>
                        <a:buNone/>
                      </a:pPr>
                      <a:r>
                        <a:rPr lang="en-US" sz="2100" u="none" cap="none" strike="noStrike">
                          <a:solidFill>
                            <a:srgbClr val="13123D"/>
                          </a:solidFill>
                          <a:latin typeface="Calibri"/>
                          <a:ea typeface="Calibri"/>
                          <a:cs typeface="Calibri"/>
                          <a:sym typeface="Calibri"/>
                        </a:rPr>
                        <a:t>Docker Desktop</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100"/>
                        <a:buFont typeface="Calibri"/>
                        <a:buNone/>
                      </a:pPr>
                      <a:r>
                        <a:rPr lang="en-US" sz="2100" u="none" cap="none" strike="noStrike">
                          <a:solidFill>
                            <a:srgbClr val="13123D"/>
                          </a:solidFill>
                          <a:latin typeface="Calibri"/>
                          <a:ea typeface="Calibri"/>
                          <a:cs typeface="Calibri"/>
                          <a:sym typeface="Calibri"/>
                        </a:rPr>
                        <a:t>Menjalankan PostgreSQL &amp; container</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100"/>
                        <a:buFont typeface="Calibri"/>
                        <a:buNone/>
                      </a:pPr>
                      <a:r>
                        <a:rPr lang="en-US" sz="2100" u="none" cap="none" strike="noStrike">
                          <a:solidFill>
                            <a:srgbClr val="13123D"/>
                          </a:solidFill>
                          <a:latin typeface="Calibri"/>
                          <a:ea typeface="Calibri"/>
                          <a:cs typeface="Calibri"/>
                          <a:sym typeface="Calibri"/>
                        </a:rPr>
                        <a:t>Sesi 12</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r h="530350">
                <a:tc>
                  <a:txBody>
                    <a:bodyPr/>
                    <a:lstStyle/>
                    <a:p>
                      <a:pPr indent="0" lvl="0" marL="0" marR="0" rtl="0" algn="l">
                        <a:spcBef>
                          <a:spcPts val="0"/>
                        </a:spcBef>
                        <a:spcAft>
                          <a:spcPts val="0"/>
                        </a:spcAft>
                        <a:buClr>
                          <a:srgbClr val="13123D"/>
                        </a:buClr>
                        <a:buSzPts val="2100"/>
                        <a:buFont typeface="Calibri"/>
                        <a:buNone/>
                      </a:pPr>
                      <a:r>
                        <a:rPr lang="en-US" sz="2100" u="none" cap="none" strike="noStrike">
                          <a:solidFill>
                            <a:srgbClr val="13123D"/>
                          </a:solidFill>
                          <a:latin typeface="Calibri"/>
                          <a:ea typeface="Calibri"/>
                          <a:cs typeface="Calibri"/>
                          <a:sym typeface="Calibri"/>
                        </a:rPr>
                        <a:t>DBeaver</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100"/>
                        <a:buFont typeface="Calibri"/>
                        <a:buNone/>
                      </a:pPr>
                      <a:r>
                        <a:rPr lang="en-US" sz="2100" u="none" cap="none" strike="noStrike">
                          <a:solidFill>
                            <a:srgbClr val="13123D"/>
                          </a:solidFill>
                          <a:latin typeface="Calibri"/>
                          <a:ea typeface="Calibri"/>
                          <a:cs typeface="Calibri"/>
                          <a:sym typeface="Calibri"/>
                        </a:rPr>
                        <a:t>Melihat &amp; mengelola data database</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100"/>
                        <a:buFont typeface="Calibri"/>
                        <a:buNone/>
                      </a:pPr>
                      <a:r>
                        <a:rPr lang="en-US" sz="2100" u="none" cap="none" strike="noStrike">
                          <a:solidFill>
                            <a:srgbClr val="13123D"/>
                          </a:solidFill>
                          <a:latin typeface="Calibri"/>
                          <a:ea typeface="Calibri"/>
                          <a:cs typeface="Calibri"/>
                          <a:sym typeface="Calibri"/>
                        </a:rPr>
                        <a:t>Sesi 12</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r h="530350">
                <a:tc>
                  <a:txBody>
                    <a:bodyPr/>
                    <a:lstStyle/>
                    <a:p>
                      <a:pPr indent="0" lvl="0" marL="0" marR="0" rtl="0" algn="l">
                        <a:spcBef>
                          <a:spcPts val="0"/>
                        </a:spcBef>
                        <a:spcAft>
                          <a:spcPts val="0"/>
                        </a:spcAft>
                        <a:buClr>
                          <a:srgbClr val="13123D"/>
                        </a:buClr>
                        <a:buSzPts val="2100"/>
                        <a:buFont typeface="Calibri"/>
                        <a:buNone/>
                      </a:pPr>
                      <a:r>
                        <a:rPr lang="en-US" sz="2100" u="none" cap="none" strike="noStrike">
                          <a:solidFill>
                            <a:srgbClr val="13123D"/>
                          </a:solidFill>
                          <a:latin typeface="Calibri"/>
                          <a:ea typeface="Calibri"/>
                          <a:cs typeface="Calibri"/>
                          <a:sym typeface="Calibri"/>
                        </a:rPr>
                        <a:t>Postman / Insomnia (opsional)</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100"/>
                        <a:buFont typeface="Calibri"/>
                        <a:buNone/>
                      </a:pPr>
                      <a:r>
                        <a:rPr lang="en-US" sz="2100" u="none" cap="none" strike="noStrike">
                          <a:solidFill>
                            <a:srgbClr val="13123D"/>
                          </a:solidFill>
                          <a:latin typeface="Calibri"/>
                          <a:ea typeface="Calibri"/>
                          <a:cs typeface="Calibri"/>
                          <a:sym typeface="Calibri"/>
                        </a:rPr>
                        <a:t>Menguji API tanpa command line</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100"/>
                        <a:buFont typeface="Calibri"/>
                        <a:buNone/>
                      </a:pPr>
                      <a:r>
                        <a:rPr lang="en-US" sz="2100" u="none" cap="none" strike="noStrike">
                          <a:solidFill>
                            <a:srgbClr val="13123D"/>
                          </a:solidFill>
                          <a:latin typeface="Calibri"/>
                          <a:ea typeface="Calibri"/>
                          <a:cs typeface="Calibri"/>
                          <a:sym typeface="Calibri"/>
                        </a:rPr>
                        <a:t>Sesi 10</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r h="530350">
                <a:tc>
                  <a:txBody>
                    <a:bodyPr/>
                    <a:lstStyle/>
                    <a:p>
                      <a:pPr indent="0" lvl="0" marL="0" marR="0" rtl="0" algn="l">
                        <a:spcBef>
                          <a:spcPts val="0"/>
                        </a:spcBef>
                        <a:spcAft>
                          <a:spcPts val="0"/>
                        </a:spcAft>
                        <a:buClr>
                          <a:srgbClr val="13123D"/>
                        </a:buClr>
                        <a:buSzPts val="2100"/>
                        <a:buFont typeface="Calibri"/>
                        <a:buNone/>
                      </a:pPr>
                      <a:r>
                        <a:rPr lang="en-US" sz="2100" u="none" cap="none" strike="noStrike">
                          <a:solidFill>
                            <a:srgbClr val="13123D"/>
                          </a:solidFill>
                          <a:latin typeface="Calibri"/>
                          <a:ea typeface="Calibri"/>
                          <a:cs typeface="Calibri"/>
                          <a:sym typeface="Calibri"/>
                        </a:rPr>
                        <a:t>Browser modern (Chrome/Firefox)</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100"/>
                        <a:buFont typeface="Calibri"/>
                        <a:buNone/>
                      </a:pPr>
                      <a:r>
                        <a:rPr lang="en-US" sz="2100" u="none" cap="none" strike="noStrike">
                          <a:solidFill>
                            <a:srgbClr val="13123D"/>
                          </a:solidFill>
                          <a:latin typeface="Calibri"/>
                          <a:ea typeface="Calibri"/>
                          <a:cs typeface="Calibri"/>
                          <a:sym typeface="Calibri"/>
                        </a:rPr>
                        <a:t>Menjalankan &amp; debug aplikasi Vue</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100"/>
                        <a:buFont typeface="Calibri"/>
                        <a:buNone/>
                      </a:pPr>
                      <a:r>
                        <a:rPr lang="en-US" sz="2100" u="none" cap="none" strike="noStrike">
                          <a:solidFill>
                            <a:srgbClr val="13123D"/>
                          </a:solidFill>
                          <a:latin typeface="Calibri"/>
                          <a:ea typeface="Calibri"/>
                          <a:cs typeface="Calibri"/>
                          <a:sym typeface="Calibri"/>
                        </a:rPr>
                        <a:t>Sesi 6</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descr="/home/claude/assets/image6.png" id="147" name="Google Shape;147;p5"/>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148" name="Google Shape;148;p5"/>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149" name="Google Shape;149;p5"/>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PERSIAPAN · SEBELUM SESI 1</a:t>
            </a:r>
            <a:endParaRPr b="0" i="0" sz="2000" u="none" cap="none" strike="noStrike">
              <a:solidFill>
                <a:schemeClr val="dk1"/>
              </a:solidFill>
              <a:latin typeface="Calibri"/>
              <a:ea typeface="Calibri"/>
              <a:cs typeface="Calibri"/>
              <a:sym typeface="Calibri"/>
            </a:endParaRPr>
          </a:p>
        </p:txBody>
      </p:sp>
      <p:sp>
        <p:nvSpPr>
          <p:cNvPr id="150" name="Google Shape;150;p5"/>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Link Unduhan &amp; Checklist</a:t>
            </a:r>
            <a:endParaRPr b="0" i="0" sz="4800" u="none" cap="none" strike="noStrike">
              <a:solidFill>
                <a:schemeClr val="dk1"/>
              </a:solidFill>
              <a:latin typeface="Calibri"/>
              <a:ea typeface="Calibri"/>
              <a:cs typeface="Calibri"/>
              <a:sym typeface="Calibri"/>
            </a:endParaRPr>
          </a:p>
        </p:txBody>
      </p:sp>
      <p:sp>
        <p:nvSpPr>
          <p:cNvPr id="151" name="Google Shape;151;p5"/>
          <p:cNvSpPr/>
          <p:nvPr/>
        </p:nvSpPr>
        <p:spPr>
          <a:xfrm>
            <a:off x="914400" y="4343400"/>
            <a:ext cx="7955280" cy="5166360"/>
          </a:xfrm>
          <a:prstGeom prst="roundRect">
            <a:avLst>
              <a:gd fmla="val 2655"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
          <p:cNvSpPr txBox="1"/>
          <p:nvPr/>
        </p:nvSpPr>
        <p:spPr>
          <a:xfrm>
            <a:off x="1188720" y="4526280"/>
            <a:ext cx="73152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600"/>
              <a:buFont typeface="Calibri"/>
              <a:buNone/>
            </a:pPr>
            <a:r>
              <a:rPr b="1" i="0" lang="en-US" sz="2600" u="none" cap="none" strike="noStrike">
                <a:solidFill>
                  <a:srgbClr val="162CA2"/>
                </a:solidFill>
                <a:latin typeface="Calibri"/>
                <a:ea typeface="Calibri"/>
                <a:cs typeface="Calibri"/>
                <a:sym typeface="Calibri"/>
              </a:rPr>
              <a:t>Link unduhan</a:t>
            </a:r>
            <a:endParaRPr b="0" i="0" sz="2600" u="none" cap="none" strike="noStrike">
              <a:solidFill>
                <a:schemeClr val="dk1"/>
              </a:solidFill>
              <a:latin typeface="Calibri"/>
              <a:ea typeface="Calibri"/>
              <a:cs typeface="Calibri"/>
              <a:sym typeface="Calibri"/>
            </a:endParaRPr>
          </a:p>
        </p:txBody>
      </p:sp>
      <p:sp>
        <p:nvSpPr>
          <p:cNvPr id="153" name="Google Shape;153;p5"/>
          <p:cNvSpPr txBox="1"/>
          <p:nvPr/>
        </p:nvSpPr>
        <p:spPr>
          <a:xfrm>
            <a:off x="1188720" y="512064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100"/>
              <a:buFont typeface="Calibri"/>
              <a:buNone/>
            </a:pPr>
            <a:r>
              <a:rPr b="1" i="0" lang="en-US" sz="2100" u="none" cap="none" strike="noStrike">
                <a:solidFill>
                  <a:srgbClr val="13123D"/>
                </a:solidFill>
                <a:latin typeface="Calibri"/>
                <a:ea typeface="Calibri"/>
                <a:cs typeface="Calibri"/>
                <a:sym typeface="Calibri"/>
              </a:rPr>
              <a:t>VS Code:  </a:t>
            </a:r>
            <a:r>
              <a:rPr b="0" i="0" lang="en-US" sz="2100" u="none" cap="none" strike="noStrike">
                <a:solidFill>
                  <a:srgbClr val="5A5F86"/>
                </a:solidFill>
                <a:latin typeface="Courier New"/>
                <a:ea typeface="Courier New"/>
                <a:cs typeface="Courier New"/>
                <a:sym typeface="Courier New"/>
              </a:rPr>
              <a:t>code.visualstudio.com</a:t>
            </a:r>
            <a:endParaRPr b="0" i="0" sz="2100" u="none" cap="none" strike="noStrike">
              <a:solidFill>
                <a:schemeClr val="dk1"/>
              </a:solidFill>
              <a:latin typeface="Calibri"/>
              <a:ea typeface="Calibri"/>
              <a:cs typeface="Calibri"/>
              <a:sym typeface="Calibri"/>
            </a:endParaRPr>
          </a:p>
        </p:txBody>
      </p:sp>
      <p:sp>
        <p:nvSpPr>
          <p:cNvPr id="154" name="Google Shape;154;p5"/>
          <p:cNvSpPr txBox="1"/>
          <p:nvPr/>
        </p:nvSpPr>
        <p:spPr>
          <a:xfrm>
            <a:off x="1188720" y="5742432"/>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100"/>
              <a:buFont typeface="Calibri"/>
              <a:buNone/>
            </a:pPr>
            <a:r>
              <a:rPr b="1" i="0" lang="en-US" sz="2100" u="none" cap="none" strike="noStrike">
                <a:solidFill>
                  <a:srgbClr val="13123D"/>
                </a:solidFill>
                <a:latin typeface="Calibri"/>
                <a:ea typeface="Calibri"/>
                <a:cs typeface="Calibri"/>
                <a:sym typeface="Calibri"/>
              </a:rPr>
              <a:t>Go:  </a:t>
            </a:r>
            <a:r>
              <a:rPr b="0" i="0" lang="en-US" sz="2100" u="none" cap="none" strike="noStrike">
                <a:solidFill>
                  <a:srgbClr val="5A5F86"/>
                </a:solidFill>
                <a:latin typeface="Courier New"/>
                <a:ea typeface="Courier New"/>
                <a:cs typeface="Courier New"/>
                <a:sym typeface="Courier New"/>
              </a:rPr>
              <a:t>go.dev/dl</a:t>
            </a:r>
            <a:endParaRPr b="0" i="0" sz="2100" u="none" cap="none" strike="noStrike">
              <a:solidFill>
                <a:schemeClr val="dk1"/>
              </a:solidFill>
              <a:latin typeface="Calibri"/>
              <a:ea typeface="Calibri"/>
              <a:cs typeface="Calibri"/>
              <a:sym typeface="Calibri"/>
            </a:endParaRPr>
          </a:p>
        </p:txBody>
      </p:sp>
      <p:sp>
        <p:nvSpPr>
          <p:cNvPr id="155" name="Google Shape;155;p5"/>
          <p:cNvSpPr txBox="1"/>
          <p:nvPr/>
        </p:nvSpPr>
        <p:spPr>
          <a:xfrm>
            <a:off x="1188720" y="6364224"/>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100"/>
              <a:buFont typeface="Calibri"/>
              <a:buNone/>
            </a:pPr>
            <a:r>
              <a:rPr b="1" i="0" lang="en-US" sz="2100" u="none" cap="none" strike="noStrike">
                <a:solidFill>
                  <a:srgbClr val="13123D"/>
                </a:solidFill>
                <a:latin typeface="Calibri"/>
                <a:ea typeface="Calibri"/>
                <a:cs typeface="Calibri"/>
                <a:sym typeface="Calibri"/>
              </a:rPr>
              <a:t>Node.js (LTS):  </a:t>
            </a:r>
            <a:r>
              <a:rPr b="0" i="0" lang="en-US" sz="2100" u="none" cap="none" strike="noStrike">
                <a:solidFill>
                  <a:srgbClr val="5A5F86"/>
                </a:solidFill>
                <a:latin typeface="Courier New"/>
                <a:ea typeface="Courier New"/>
                <a:cs typeface="Courier New"/>
                <a:sym typeface="Courier New"/>
              </a:rPr>
              <a:t>nodejs.org</a:t>
            </a:r>
            <a:endParaRPr b="0" i="0" sz="2100" u="none" cap="none" strike="noStrike">
              <a:solidFill>
                <a:schemeClr val="dk1"/>
              </a:solidFill>
              <a:latin typeface="Calibri"/>
              <a:ea typeface="Calibri"/>
              <a:cs typeface="Calibri"/>
              <a:sym typeface="Calibri"/>
            </a:endParaRPr>
          </a:p>
        </p:txBody>
      </p:sp>
      <p:sp>
        <p:nvSpPr>
          <p:cNvPr id="156" name="Google Shape;156;p5"/>
          <p:cNvSpPr txBox="1"/>
          <p:nvPr/>
        </p:nvSpPr>
        <p:spPr>
          <a:xfrm>
            <a:off x="1188720" y="6986016"/>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100"/>
              <a:buFont typeface="Calibri"/>
              <a:buNone/>
            </a:pPr>
            <a:r>
              <a:rPr b="1" i="0" lang="en-US" sz="2100" u="none" cap="none" strike="noStrike">
                <a:solidFill>
                  <a:srgbClr val="13123D"/>
                </a:solidFill>
                <a:latin typeface="Calibri"/>
                <a:ea typeface="Calibri"/>
                <a:cs typeface="Calibri"/>
                <a:sym typeface="Calibri"/>
              </a:rPr>
              <a:t>Git:  </a:t>
            </a:r>
            <a:r>
              <a:rPr b="0" i="0" lang="en-US" sz="2100" u="none" cap="none" strike="noStrike">
                <a:solidFill>
                  <a:srgbClr val="5A5F86"/>
                </a:solidFill>
                <a:latin typeface="Courier New"/>
                <a:ea typeface="Courier New"/>
                <a:cs typeface="Courier New"/>
                <a:sym typeface="Courier New"/>
              </a:rPr>
              <a:t>git-scm.com</a:t>
            </a:r>
            <a:endParaRPr b="0" i="0" sz="2100" u="none" cap="none" strike="noStrike">
              <a:solidFill>
                <a:schemeClr val="dk1"/>
              </a:solidFill>
              <a:latin typeface="Calibri"/>
              <a:ea typeface="Calibri"/>
              <a:cs typeface="Calibri"/>
              <a:sym typeface="Calibri"/>
            </a:endParaRPr>
          </a:p>
        </p:txBody>
      </p:sp>
      <p:sp>
        <p:nvSpPr>
          <p:cNvPr id="157" name="Google Shape;157;p5"/>
          <p:cNvSpPr txBox="1"/>
          <p:nvPr/>
        </p:nvSpPr>
        <p:spPr>
          <a:xfrm>
            <a:off x="1188720" y="7607808"/>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100"/>
              <a:buFont typeface="Calibri"/>
              <a:buNone/>
            </a:pPr>
            <a:r>
              <a:rPr b="1" i="0" lang="en-US" sz="2100" u="none" cap="none" strike="noStrike">
                <a:solidFill>
                  <a:srgbClr val="13123D"/>
                </a:solidFill>
                <a:latin typeface="Calibri"/>
                <a:ea typeface="Calibri"/>
                <a:cs typeface="Calibri"/>
                <a:sym typeface="Calibri"/>
              </a:rPr>
              <a:t>Docker Desktop:  </a:t>
            </a:r>
            <a:r>
              <a:rPr b="0" i="0" lang="en-US" sz="2100" u="none" cap="none" strike="noStrike">
                <a:solidFill>
                  <a:srgbClr val="5A5F86"/>
                </a:solidFill>
                <a:latin typeface="Courier New"/>
                <a:ea typeface="Courier New"/>
                <a:cs typeface="Courier New"/>
                <a:sym typeface="Courier New"/>
              </a:rPr>
              <a:t>docker.com/get-started</a:t>
            </a:r>
            <a:endParaRPr b="0" i="0" sz="2100" u="none" cap="none" strike="noStrike">
              <a:solidFill>
                <a:schemeClr val="dk1"/>
              </a:solidFill>
              <a:latin typeface="Calibri"/>
              <a:ea typeface="Calibri"/>
              <a:cs typeface="Calibri"/>
              <a:sym typeface="Calibri"/>
            </a:endParaRPr>
          </a:p>
        </p:txBody>
      </p:sp>
      <p:sp>
        <p:nvSpPr>
          <p:cNvPr id="158" name="Google Shape;158;p5"/>
          <p:cNvSpPr txBox="1"/>
          <p:nvPr/>
        </p:nvSpPr>
        <p:spPr>
          <a:xfrm>
            <a:off x="1188720" y="822960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100"/>
              <a:buFont typeface="Calibri"/>
              <a:buNone/>
            </a:pPr>
            <a:r>
              <a:rPr b="1" i="0" lang="en-US" sz="2100" u="none" cap="none" strike="noStrike">
                <a:solidFill>
                  <a:srgbClr val="13123D"/>
                </a:solidFill>
                <a:latin typeface="Calibri"/>
                <a:ea typeface="Calibri"/>
                <a:cs typeface="Calibri"/>
                <a:sym typeface="Calibri"/>
              </a:rPr>
              <a:t>DBeaver (Community):  </a:t>
            </a:r>
            <a:r>
              <a:rPr b="0" i="0" lang="en-US" sz="2100" u="none" cap="none" strike="noStrike">
                <a:solidFill>
                  <a:srgbClr val="5A5F86"/>
                </a:solidFill>
                <a:latin typeface="Courier New"/>
                <a:ea typeface="Courier New"/>
                <a:cs typeface="Courier New"/>
                <a:sym typeface="Courier New"/>
              </a:rPr>
              <a:t>dbeaver.io</a:t>
            </a:r>
            <a:endParaRPr b="0" i="0" sz="2100" u="none" cap="none" strike="noStrike">
              <a:solidFill>
                <a:schemeClr val="dk1"/>
              </a:solidFill>
              <a:latin typeface="Calibri"/>
              <a:ea typeface="Calibri"/>
              <a:cs typeface="Calibri"/>
              <a:sym typeface="Calibri"/>
            </a:endParaRPr>
          </a:p>
        </p:txBody>
      </p:sp>
      <p:sp>
        <p:nvSpPr>
          <p:cNvPr id="159" name="Google Shape;159;p5"/>
          <p:cNvSpPr txBox="1"/>
          <p:nvPr/>
        </p:nvSpPr>
        <p:spPr>
          <a:xfrm>
            <a:off x="1188720" y="8851392"/>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100"/>
              <a:buFont typeface="Calibri"/>
              <a:buNone/>
            </a:pPr>
            <a:r>
              <a:rPr b="1" i="0" lang="en-US" sz="2100" u="none" cap="none" strike="noStrike">
                <a:solidFill>
                  <a:srgbClr val="13123D"/>
                </a:solidFill>
                <a:latin typeface="Calibri"/>
                <a:ea typeface="Calibri"/>
                <a:cs typeface="Calibri"/>
                <a:sym typeface="Calibri"/>
              </a:rPr>
              <a:t>Postman (opsional):  </a:t>
            </a:r>
            <a:r>
              <a:rPr b="0" i="0" lang="en-US" sz="2100" u="none" cap="none" strike="noStrike">
                <a:solidFill>
                  <a:srgbClr val="5A5F86"/>
                </a:solidFill>
                <a:latin typeface="Courier New"/>
                <a:ea typeface="Courier New"/>
                <a:cs typeface="Courier New"/>
                <a:sym typeface="Courier New"/>
              </a:rPr>
              <a:t>postman.com/downloads</a:t>
            </a:r>
            <a:endParaRPr b="0" i="0" sz="2100" u="none" cap="none" strike="noStrike">
              <a:solidFill>
                <a:schemeClr val="dk1"/>
              </a:solidFill>
              <a:latin typeface="Calibri"/>
              <a:ea typeface="Calibri"/>
              <a:cs typeface="Calibri"/>
              <a:sym typeface="Calibri"/>
            </a:endParaRPr>
          </a:p>
        </p:txBody>
      </p:sp>
      <p:sp>
        <p:nvSpPr>
          <p:cNvPr id="160" name="Google Shape;160;p5"/>
          <p:cNvSpPr/>
          <p:nvPr/>
        </p:nvSpPr>
        <p:spPr>
          <a:xfrm>
            <a:off x="9418320" y="4343400"/>
            <a:ext cx="7955280" cy="5166360"/>
          </a:xfrm>
          <a:prstGeom prst="roundRect">
            <a:avLst>
              <a:gd fmla="val 2655" name="adj"/>
            </a:avLst>
          </a:prstGeom>
          <a:solidFill>
            <a:srgbClr val="FFF3BF"/>
          </a:solidFill>
          <a:ln cap="flat" cmpd="sng" w="12700">
            <a:solidFill>
              <a:srgbClr val="FFF3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5"/>
          <p:cNvSpPr txBox="1"/>
          <p:nvPr/>
        </p:nvSpPr>
        <p:spPr>
          <a:xfrm>
            <a:off x="9692640" y="4526280"/>
            <a:ext cx="73152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600"/>
              <a:buFont typeface="Calibri"/>
              <a:buNone/>
            </a:pPr>
            <a:r>
              <a:rPr b="1" i="0" lang="en-US" sz="2600" u="none" cap="none" strike="noStrike">
                <a:solidFill>
                  <a:srgbClr val="13123D"/>
                </a:solidFill>
                <a:latin typeface="Calibri"/>
                <a:ea typeface="Calibri"/>
                <a:cs typeface="Calibri"/>
                <a:sym typeface="Calibri"/>
              </a:rPr>
              <a:t>Checklist sebelum Sesi 2</a:t>
            </a:r>
            <a:endParaRPr b="0" i="0" sz="2600" u="none" cap="none" strike="noStrike">
              <a:solidFill>
                <a:schemeClr val="dk1"/>
              </a:solidFill>
              <a:latin typeface="Calibri"/>
              <a:ea typeface="Calibri"/>
              <a:cs typeface="Calibri"/>
              <a:sym typeface="Calibri"/>
            </a:endParaRPr>
          </a:p>
        </p:txBody>
      </p:sp>
      <p:pic>
        <p:nvPicPr>
          <p:cNvPr descr="preencoded.png" id="162" name="Google Shape;162;p5"/>
          <p:cNvPicPr preferRelativeResize="0"/>
          <p:nvPr/>
        </p:nvPicPr>
        <p:blipFill rotWithShape="1">
          <a:blip r:embed="rId5">
            <a:alphaModFix/>
          </a:blip>
          <a:srcRect b="0" l="0" r="0" t="0"/>
          <a:stretch/>
        </p:blipFill>
        <p:spPr>
          <a:xfrm>
            <a:off x="9692640" y="5166360"/>
            <a:ext cx="384048" cy="384048"/>
          </a:xfrm>
          <a:prstGeom prst="rect">
            <a:avLst/>
          </a:prstGeom>
          <a:noFill/>
          <a:ln>
            <a:noFill/>
          </a:ln>
        </p:spPr>
      </p:pic>
      <p:sp>
        <p:nvSpPr>
          <p:cNvPr id="163" name="Google Shape;163;p5"/>
          <p:cNvSpPr txBox="1"/>
          <p:nvPr/>
        </p:nvSpPr>
        <p:spPr>
          <a:xfrm>
            <a:off x="10241280" y="5120640"/>
            <a:ext cx="69494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000"/>
              <a:buFont typeface="Calibri"/>
              <a:buNone/>
            </a:pPr>
            <a:r>
              <a:rPr b="0" i="0" lang="en-US" sz="2000" u="none" cap="none" strike="noStrike">
                <a:solidFill>
                  <a:srgbClr val="13123D"/>
                </a:solidFill>
                <a:latin typeface="Calibri"/>
                <a:ea typeface="Calibri"/>
                <a:cs typeface="Calibri"/>
                <a:sym typeface="Calibri"/>
              </a:rPr>
              <a:t>VS Code terpasang dan bisa dibuka</a:t>
            </a:r>
            <a:endParaRPr b="0" i="0" sz="2000" u="none" cap="none" strike="noStrike">
              <a:solidFill>
                <a:schemeClr val="dk1"/>
              </a:solidFill>
              <a:latin typeface="Calibri"/>
              <a:ea typeface="Calibri"/>
              <a:cs typeface="Calibri"/>
              <a:sym typeface="Calibri"/>
            </a:endParaRPr>
          </a:p>
        </p:txBody>
      </p:sp>
      <p:pic>
        <p:nvPicPr>
          <p:cNvPr descr="preencoded.png" id="164" name="Google Shape;164;p5"/>
          <p:cNvPicPr preferRelativeResize="0"/>
          <p:nvPr/>
        </p:nvPicPr>
        <p:blipFill rotWithShape="1">
          <a:blip r:embed="rId5">
            <a:alphaModFix/>
          </a:blip>
          <a:srcRect b="0" l="0" r="0" t="0"/>
          <a:stretch/>
        </p:blipFill>
        <p:spPr>
          <a:xfrm>
            <a:off x="9692640" y="5879592"/>
            <a:ext cx="384048" cy="384048"/>
          </a:xfrm>
          <a:prstGeom prst="rect">
            <a:avLst/>
          </a:prstGeom>
          <a:noFill/>
          <a:ln>
            <a:noFill/>
          </a:ln>
        </p:spPr>
      </p:pic>
      <p:sp>
        <p:nvSpPr>
          <p:cNvPr id="165" name="Google Shape;165;p5"/>
          <p:cNvSpPr txBox="1"/>
          <p:nvPr/>
        </p:nvSpPr>
        <p:spPr>
          <a:xfrm>
            <a:off x="10241280" y="5833872"/>
            <a:ext cx="69494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000"/>
              <a:buFont typeface="Calibri"/>
              <a:buNone/>
            </a:pPr>
            <a:r>
              <a:rPr b="0" i="0" lang="en-US" sz="2000" u="none" cap="none" strike="noStrike">
                <a:solidFill>
                  <a:srgbClr val="13123D"/>
                </a:solidFill>
                <a:latin typeface="Calibri"/>
                <a:ea typeface="Calibri"/>
                <a:cs typeface="Calibri"/>
                <a:sym typeface="Calibri"/>
              </a:rPr>
              <a:t>Go terpasang (cek: go version)</a:t>
            </a:r>
            <a:endParaRPr b="0" i="0" sz="2000" u="none" cap="none" strike="noStrike">
              <a:solidFill>
                <a:schemeClr val="dk1"/>
              </a:solidFill>
              <a:latin typeface="Calibri"/>
              <a:ea typeface="Calibri"/>
              <a:cs typeface="Calibri"/>
              <a:sym typeface="Calibri"/>
            </a:endParaRPr>
          </a:p>
        </p:txBody>
      </p:sp>
      <p:pic>
        <p:nvPicPr>
          <p:cNvPr descr="preencoded.png" id="166" name="Google Shape;166;p5"/>
          <p:cNvPicPr preferRelativeResize="0"/>
          <p:nvPr/>
        </p:nvPicPr>
        <p:blipFill rotWithShape="1">
          <a:blip r:embed="rId5">
            <a:alphaModFix/>
          </a:blip>
          <a:srcRect b="0" l="0" r="0" t="0"/>
          <a:stretch/>
        </p:blipFill>
        <p:spPr>
          <a:xfrm>
            <a:off x="9692640" y="6592824"/>
            <a:ext cx="384048" cy="384048"/>
          </a:xfrm>
          <a:prstGeom prst="rect">
            <a:avLst/>
          </a:prstGeom>
          <a:noFill/>
          <a:ln>
            <a:noFill/>
          </a:ln>
        </p:spPr>
      </p:pic>
      <p:sp>
        <p:nvSpPr>
          <p:cNvPr id="167" name="Google Shape;167;p5"/>
          <p:cNvSpPr txBox="1"/>
          <p:nvPr/>
        </p:nvSpPr>
        <p:spPr>
          <a:xfrm>
            <a:off x="10241280" y="6547104"/>
            <a:ext cx="69494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000"/>
              <a:buFont typeface="Calibri"/>
              <a:buNone/>
            </a:pPr>
            <a:r>
              <a:rPr b="0" i="0" lang="en-US" sz="2000" u="none" cap="none" strike="noStrike">
                <a:solidFill>
                  <a:srgbClr val="13123D"/>
                </a:solidFill>
                <a:latin typeface="Calibri"/>
                <a:ea typeface="Calibri"/>
                <a:cs typeface="Calibri"/>
                <a:sym typeface="Calibri"/>
              </a:rPr>
              <a:t>Node.js terpasang (cek: node -v)</a:t>
            </a:r>
            <a:endParaRPr b="0" i="0" sz="2000" u="none" cap="none" strike="noStrike">
              <a:solidFill>
                <a:schemeClr val="dk1"/>
              </a:solidFill>
              <a:latin typeface="Calibri"/>
              <a:ea typeface="Calibri"/>
              <a:cs typeface="Calibri"/>
              <a:sym typeface="Calibri"/>
            </a:endParaRPr>
          </a:p>
        </p:txBody>
      </p:sp>
      <p:pic>
        <p:nvPicPr>
          <p:cNvPr descr="preencoded.png" id="168" name="Google Shape;168;p5"/>
          <p:cNvPicPr preferRelativeResize="0"/>
          <p:nvPr/>
        </p:nvPicPr>
        <p:blipFill rotWithShape="1">
          <a:blip r:embed="rId5">
            <a:alphaModFix/>
          </a:blip>
          <a:srcRect b="0" l="0" r="0" t="0"/>
          <a:stretch/>
        </p:blipFill>
        <p:spPr>
          <a:xfrm>
            <a:off x="9692640" y="7306056"/>
            <a:ext cx="384048" cy="384048"/>
          </a:xfrm>
          <a:prstGeom prst="rect">
            <a:avLst/>
          </a:prstGeom>
          <a:noFill/>
          <a:ln>
            <a:noFill/>
          </a:ln>
        </p:spPr>
      </p:pic>
      <p:sp>
        <p:nvSpPr>
          <p:cNvPr id="169" name="Google Shape;169;p5"/>
          <p:cNvSpPr txBox="1"/>
          <p:nvPr/>
        </p:nvSpPr>
        <p:spPr>
          <a:xfrm>
            <a:off x="10241280" y="7260336"/>
            <a:ext cx="69494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000"/>
              <a:buFont typeface="Calibri"/>
              <a:buNone/>
            </a:pPr>
            <a:r>
              <a:rPr b="0" i="0" lang="en-US" sz="2000" u="none" cap="none" strike="noStrike">
                <a:solidFill>
                  <a:srgbClr val="13123D"/>
                </a:solidFill>
                <a:latin typeface="Calibri"/>
                <a:ea typeface="Calibri"/>
                <a:cs typeface="Calibri"/>
                <a:sym typeface="Calibri"/>
              </a:rPr>
              <a:t>Git terpasang, akun GitHub sudah ada</a:t>
            </a:r>
            <a:endParaRPr b="0" i="0" sz="2000" u="none" cap="none" strike="noStrike">
              <a:solidFill>
                <a:schemeClr val="dk1"/>
              </a:solidFill>
              <a:latin typeface="Calibri"/>
              <a:ea typeface="Calibri"/>
              <a:cs typeface="Calibri"/>
              <a:sym typeface="Calibri"/>
            </a:endParaRPr>
          </a:p>
        </p:txBody>
      </p:sp>
      <p:pic>
        <p:nvPicPr>
          <p:cNvPr descr="preencoded.png" id="170" name="Google Shape;170;p5"/>
          <p:cNvPicPr preferRelativeResize="0"/>
          <p:nvPr/>
        </p:nvPicPr>
        <p:blipFill rotWithShape="1">
          <a:blip r:embed="rId5">
            <a:alphaModFix/>
          </a:blip>
          <a:srcRect b="0" l="0" r="0" t="0"/>
          <a:stretch/>
        </p:blipFill>
        <p:spPr>
          <a:xfrm>
            <a:off x="9692640" y="8019288"/>
            <a:ext cx="384048" cy="384048"/>
          </a:xfrm>
          <a:prstGeom prst="rect">
            <a:avLst/>
          </a:prstGeom>
          <a:noFill/>
          <a:ln>
            <a:noFill/>
          </a:ln>
        </p:spPr>
      </p:pic>
      <p:sp>
        <p:nvSpPr>
          <p:cNvPr id="171" name="Google Shape;171;p5"/>
          <p:cNvSpPr txBox="1"/>
          <p:nvPr/>
        </p:nvSpPr>
        <p:spPr>
          <a:xfrm>
            <a:off x="10241280" y="7973568"/>
            <a:ext cx="69494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000"/>
              <a:buFont typeface="Calibri"/>
              <a:buNone/>
            </a:pPr>
            <a:r>
              <a:rPr b="0" i="0" lang="en-US" sz="2000" u="none" cap="none" strike="noStrike">
                <a:solidFill>
                  <a:srgbClr val="13123D"/>
                </a:solidFill>
                <a:latin typeface="Calibri"/>
                <a:ea typeface="Calibri"/>
                <a:cs typeface="Calibri"/>
                <a:sym typeface="Calibri"/>
              </a:rPr>
              <a:t>Docker Desktop terpasang &amp; bisa dibuka</a:t>
            </a:r>
            <a:endParaRPr b="0" i="0" sz="2000" u="none" cap="none" strike="noStrike">
              <a:solidFill>
                <a:schemeClr val="dk1"/>
              </a:solidFill>
              <a:latin typeface="Calibri"/>
              <a:ea typeface="Calibri"/>
              <a:cs typeface="Calibri"/>
              <a:sym typeface="Calibri"/>
            </a:endParaRPr>
          </a:p>
        </p:txBody>
      </p:sp>
      <p:pic>
        <p:nvPicPr>
          <p:cNvPr descr="preencoded.png" id="172" name="Google Shape;172;p5"/>
          <p:cNvPicPr preferRelativeResize="0"/>
          <p:nvPr/>
        </p:nvPicPr>
        <p:blipFill rotWithShape="1">
          <a:blip r:embed="rId5">
            <a:alphaModFix/>
          </a:blip>
          <a:srcRect b="0" l="0" r="0" t="0"/>
          <a:stretch/>
        </p:blipFill>
        <p:spPr>
          <a:xfrm>
            <a:off x="9692640" y="8732520"/>
            <a:ext cx="384048" cy="384048"/>
          </a:xfrm>
          <a:prstGeom prst="rect">
            <a:avLst/>
          </a:prstGeom>
          <a:noFill/>
          <a:ln>
            <a:noFill/>
          </a:ln>
        </p:spPr>
      </p:pic>
      <p:sp>
        <p:nvSpPr>
          <p:cNvPr id="173" name="Google Shape;173;p5"/>
          <p:cNvSpPr txBox="1"/>
          <p:nvPr/>
        </p:nvSpPr>
        <p:spPr>
          <a:xfrm>
            <a:off x="10241280" y="8686800"/>
            <a:ext cx="69494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000"/>
              <a:buFont typeface="Calibri"/>
              <a:buNone/>
            </a:pPr>
            <a:r>
              <a:rPr b="0" i="0" lang="en-US" sz="2000" u="none" cap="none" strike="noStrike">
                <a:solidFill>
                  <a:srgbClr val="13123D"/>
                </a:solidFill>
                <a:latin typeface="Calibri"/>
                <a:ea typeface="Calibri"/>
                <a:cs typeface="Calibri"/>
                <a:sym typeface="Calibri"/>
              </a:rPr>
              <a:t>DBeaver terpasang</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pic>
        <p:nvPicPr>
          <p:cNvPr descr="/home/claude/assets/image6.png" id="179" name="Google Shape;179;p6"/>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180" name="Google Shape;180;p6"/>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181" name="Google Shape;181;p6"/>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BAGIAN 1 · 10 MENIT</a:t>
            </a:r>
            <a:endParaRPr b="0" i="0" sz="2000" u="none" cap="none" strike="noStrike">
              <a:solidFill>
                <a:schemeClr val="dk1"/>
              </a:solidFill>
              <a:latin typeface="Calibri"/>
              <a:ea typeface="Calibri"/>
              <a:cs typeface="Calibri"/>
              <a:sym typeface="Calibri"/>
            </a:endParaRPr>
          </a:p>
        </p:txBody>
      </p:sp>
      <p:sp>
        <p:nvSpPr>
          <p:cNvPr id="182" name="Google Shape;182;p6"/>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Apa Itu Pemrograman?</a:t>
            </a:r>
            <a:endParaRPr b="0" i="0" sz="4800" u="none" cap="none" strike="noStrike">
              <a:solidFill>
                <a:schemeClr val="dk1"/>
              </a:solidFill>
              <a:latin typeface="Calibri"/>
              <a:ea typeface="Calibri"/>
              <a:cs typeface="Calibri"/>
              <a:sym typeface="Calibri"/>
            </a:endParaRPr>
          </a:p>
        </p:txBody>
      </p:sp>
      <p:sp>
        <p:nvSpPr>
          <p:cNvPr id="183" name="Google Shape;183;p6"/>
          <p:cNvSpPr txBox="1"/>
          <p:nvPr/>
        </p:nvSpPr>
        <p:spPr>
          <a:xfrm>
            <a:off x="914400" y="4343400"/>
            <a:ext cx="7955280" cy="2743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3000"/>
              <a:buFont typeface="Arial"/>
              <a:buNone/>
            </a:pPr>
            <a:r>
              <a:rPr b="0" i="0" lang="en-US" sz="3000" u="none" cap="none" strike="noStrike">
                <a:solidFill>
                  <a:srgbClr val="13123D"/>
                </a:solidFill>
                <a:latin typeface="Arial"/>
                <a:ea typeface="Arial"/>
                <a:cs typeface="Arial"/>
                <a:sym typeface="Arial"/>
              </a:rPr>
              <a:t>Pemrograman adalah proses menyusun instruksi yang jelas dan berurutan agar komputer mengerjakan tugas tertentu.</a:t>
            </a:r>
            <a:endParaRPr b="0" i="0" sz="3000" u="none" cap="none" strike="noStrike">
              <a:solidFill>
                <a:schemeClr val="dk1"/>
              </a:solidFill>
              <a:latin typeface="Calibri"/>
              <a:ea typeface="Calibri"/>
              <a:cs typeface="Calibri"/>
              <a:sym typeface="Calibri"/>
            </a:endParaRPr>
          </a:p>
        </p:txBody>
      </p:sp>
      <p:sp>
        <p:nvSpPr>
          <p:cNvPr id="184" name="Google Shape;184;p6"/>
          <p:cNvSpPr/>
          <p:nvPr/>
        </p:nvSpPr>
        <p:spPr>
          <a:xfrm>
            <a:off x="914400" y="7406640"/>
            <a:ext cx="7955280" cy="2103120"/>
          </a:xfrm>
          <a:prstGeom prst="roundRect">
            <a:avLst>
              <a:gd fmla="val 6522" name="adj"/>
            </a:avLst>
          </a:prstGeom>
          <a:solidFill>
            <a:srgbClr val="FFF3BF"/>
          </a:solidFill>
          <a:ln cap="flat" cmpd="sng" w="12700">
            <a:solidFill>
              <a:srgbClr val="FFF3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6"/>
          <p:cNvSpPr txBox="1"/>
          <p:nvPr/>
        </p:nvSpPr>
        <p:spPr>
          <a:xfrm>
            <a:off x="1188720" y="7406640"/>
            <a:ext cx="7406640" cy="2103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500"/>
              <a:buFont typeface="Calibri"/>
              <a:buNone/>
            </a:pPr>
            <a:r>
              <a:rPr b="1" i="0" lang="en-US" sz="2500" u="none" cap="none" strike="noStrike">
                <a:solidFill>
                  <a:srgbClr val="13123D"/>
                </a:solidFill>
                <a:latin typeface="Calibri"/>
                <a:ea typeface="Calibri"/>
                <a:cs typeface="Calibri"/>
                <a:sym typeface="Calibri"/>
              </a:rPr>
              <a:t>Komputer itu patuh, tapi literal.</a:t>
            </a:r>
            <a:endParaRPr b="0" i="0" sz="2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3123D"/>
              </a:buClr>
              <a:buSzPts val="2500"/>
              <a:buFont typeface="Calibri"/>
              <a:buNone/>
            </a:pPr>
            <a:r>
              <a:rPr b="0" i="0" lang="en-US" sz="2500" u="none" cap="none" strike="noStrike">
                <a:solidFill>
                  <a:srgbClr val="13123D"/>
                </a:solidFill>
                <a:latin typeface="Calibri"/>
                <a:ea typeface="Calibri"/>
                <a:cs typeface="Calibri"/>
                <a:sym typeface="Calibri"/>
              </a:rPr>
              <a:t>Ia hanya mengerjakan persis apa yang kita tulis, bukan apa yang kita maksud.</a:t>
            </a:r>
            <a:endParaRPr b="0" i="0" sz="2500" u="none" cap="none" strike="noStrike">
              <a:solidFill>
                <a:schemeClr val="dk1"/>
              </a:solidFill>
              <a:latin typeface="Calibri"/>
              <a:ea typeface="Calibri"/>
              <a:cs typeface="Calibri"/>
              <a:sym typeface="Calibri"/>
            </a:endParaRPr>
          </a:p>
        </p:txBody>
      </p:sp>
      <p:sp>
        <p:nvSpPr>
          <p:cNvPr id="186" name="Google Shape;186;p6"/>
          <p:cNvSpPr/>
          <p:nvPr/>
        </p:nvSpPr>
        <p:spPr>
          <a:xfrm>
            <a:off x="9418320" y="4343400"/>
            <a:ext cx="7955280" cy="5166360"/>
          </a:xfrm>
          <a:prstGeom prst="roundRect">
            <a:avLst>
              <a:gd fmla="val 2655"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6"/>
          <p:cNvSpPr txBox="1"/>
          <p:nvPr/>
        </p:nvSpPr>
        <p:spPr>
          <a:xfrm>
            <a:off x="9692640" y="4526280"/>
            <a:ext cx="73152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800"/>
              <a:buFont typeface="Calibri"/>
              <a:buNone/>
            </a:pPr>
            <a:r>
              <a:rPr b="1" i="0" lang="en-US" sz="2800" u="none" cap="none" strike="noStrike">
                <a:solidFill>
                  <a:srgbClr val="162CA2"/>
                </a:solidFill>
                <a:latin typeface="Calibri"/>
                <a:ea typeface="Calibri"/>
                <a:cs typeface="Calibri"/>
                <a:sym typeface="Calibri"/>
              </a:rPr>
              <a:t>Analogi: resep masakan</a:t>
            </a:r>
            <a:endParaRPr b="0" i="0" sz="2800" u="none" cap="none" strike="noStrike">
              <a:solidFill>
                <a:schemeClr val="dk1"/>
              </a:solidFill>
              <a:latin typeface="Calibri"/>
              <a:ea typeface="Calibri"/>
              <a:cs typeface="Calibri"/>
              <a:sym typeface="Calibri"/>
            </a:endParaRPr>
          </a:p>
        </p:txBody>
      </p:sp>
      <p:sp>
        <p:nvSpPr>
          <p:cNvPr id="188" name="Google Shape;188;p6"/>
          <p:cNvSpPr/>
          <p:nvPr/>
        </p:nvSpPr>
        <p:spPr>
          <a:xfrm>
            <a:off x="9692640" y="5349240"/>
            <a:ext cx="3108960" cy="777240"/>
          </a:xfrm>
          <a:prstGeom prst="roundRect">
            <a:avLst>
              <a:gd fmla="val 14118" name="adj"/>
            </a:avLst>
          </a:prstGeom>
          <a:solidFill>
            <a:srgbClr val="D9E0F7"/>
          </a:solidFill>
          <a:ln cap="flat" cmpd="sng" w="9525">
            <a:solidFill>
              <a:srgbClr val="D9E0F7"/>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Koki</a:t>
            </a:r>
            <a:endParaRPr b="0" i="0" sz="2400" u="none" cap="none" strike="noStrike">
              <a:solidFill>
                <a:schemeClr val="dk1"/>
              </a:solidFill>
              <a:latin typeface="Calibri"/>
              <a:ea typeface="Calibri"/>
              <a:cs typeface="Calibri"/>
              <a:sym typeface="Calibri"/>
            </a:endParaRPr>
          </a:p>
        </p:txBody>
      </p:sp>
      <p:sp>
        <p:nvSpPr>
          <p:cNvPr id="189" name="Google Shape;189;p6"/>
          <p:cNvSpPr txBox="1"/>
          <p:nvPr/>
        </p:nvSpPr>
        <p:spPr>
          <a:xfrm>
            <a:off x="12847320" y="5349240"/>
            <a:ext cx="64008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5F86"/>
              </a:buClr>
              <a:buSzPts val="3000"/>
              <a:buFont typeface="Calibri"/>
              <a:buNone/>
            </a:pPr>
            <a:r>
              <a:rPr b="1" i="0" lang="en-US" sz="3000" u="none" cap="none" strike="noStrike">
                <a:solidFill>
                  <a:srgbClr val="5A5F86"/>
                </a:solidFill>
                <a:latin typeface="Calibri"/>
                <a:ea typeface="Calibri"/>
                <a:cs typeface="Calibri"/>
                <a:sym typeface="Calibri"/>
              </a:rPr>
              <a:t>=</a:t>
            </a:r>
            <a:endParaRPr b="0" i="0" sz="3000" u="none" cap="none" strike="noStrike">
              <a:solidFill>
                <a:schemeClr val="dk1"/>
              </a:solidFill>
              <a:latin typeface="Calibri"/>
              <a:ea typeface="Calibri"/>
              <a:cs typeface="Calibri"/>
              <a:sym typeface="Calibri"/>
            </a:endParaRPr>
          </a:p>
        </p:txBody>
      </p:sp>
      <p:sp>
        <p:nvSpPr>
          <p:cNvPr id="190" name="Google Shape;190;p6"/>
          <p:cNvSpPr/>
          <p:nvPr/>
        </p:nvSpPr>
        <p:spPr>
          <a:xfrm>
            <a:off x="13533120" y="5349240"/>
            <a:ext cx="3566160" cy="777240"/>
          </a:xfrm>
          <a:prstGeom prst="roundRect">
            <a:avLst>
              <a:gd fmla="val 14118"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2400"/>
              <a:buFont typeface="Calibri"/>
              <a:buNone/>
            </a:pPr>
            <a:r>
              <a:rPr b="1" i="0" lang="en-US" sz="2400" u="none" cap="none" strike="noStrike">
                <a:solidFill>
                  <a:srgbClr val="FDFBFB"/>
                </a:solidFill>
                <a:latin typeface="Calibri"/>
                <a:ea typeface="Calibri"/>
                <a:cs typeface="Calibri"/>
                <a:sym typeface="Calibri"/>
              </a:rPr>
              <a:t>Komputer</a:t>
            </a:r>
            <a:endParaRPr b="0" i="0" sz="2400" u="none" cap="none" strike="noStrike">
              <a:solidFill>
                <a:schemeClr val="dk1"/>
              </a:solidFill>
              <a:latin typeface="Calibri"/>
              <a:ea typeface="Calibri"/>
              <a:cs typeface="Calibri"/>
              <a:sym typeface="Calibri"/>
            </a:endParaRPr>
          </a:p>
        </p:txBody>
      </p:sp>
      <p:sp>
        <p:nvSpPr>
          <p:cNvPr id="191" name="Google Shape;191;p6"/>
          <p:cNvSpPr/>
          <p:nvPr/>
        </p:nvSpPr>
        <p:spPr>
          <a:xfrm>
            <a:off x="9692640" y="6373368"/>
            <a:ext cx="3108960" cy="777240"/>
          </a:xfrm>
          <a:prstGeom prst="roundRect">
            <a:avLst>
              <a:gd fmla="val 14118" name="adj"/>
            </a:avLst>
          </a:prstGeom>
          <a:solidFill>
            <a:srgbClr val="D9E0F7"/>
          </a:solidFill>
          <a:ln cap="flat" cmpd="sng" w="9525">
            <a:solidFill>
              <a:srgbClr val="D9E0F7"/>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Resep</a:t>
            </a:r>
            <a:endParaRPr b="0" i="0" sz="2400" u="none" cap="none" strike="noStrike">
              <a:solidFill>
                <a:schemeClr val="dk1"/>
              </a:solidFill>
              <a:latin typeface="Calibri"/>
              <a:ea typeface="Calibri"/>
              <a:cs typeface="Calibri"/>
              <a:sym typeface="Calibri"/>
            </a:endParaRPr>
          </a:p>
        </p:txBody>
      </p:sp>
      <p:sp>
        <p:nvSpPr>
          <p:cNvPr id="192" name="Google Shape;192;p6"/>
          <p:cNvSpPr txBox="1"/>
          <p:nvPr/>
        </p:nvSpPr>
        <p:spPr>
          <a:xfrm>
            <a:off x="12847320" y="6373368"/>
            <a:ext cx="64008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5F86"/>
              </a:buClr>
              <a:buSzPts val="3000"/>
              <a:buFont typeface="Calibri"/>
              <a:buNone/>
            </a:pPr>
            <a:r>
              <a:rPr b="1" i="0" lang="en-US" sz="3000" u="none" cap="none" strike="noStrike">
                <a:solidFill>
                  <a:srgbClr val="5A5F86"/>
                </a:solidFill>
                <a:latin typeface="Calibri"/>
                <a:ea typeface="Calibri"/>
                <a:cs typeface="Calibri"/>
                <a:sym typeface="Calibri"/>
              </a:rPr>
              <a:t>=</a:t>
            </a:r>
            <a:endParaRPr b="0" i="0" sz="3000" u="none" cap="none" strike="noStrike">
              <a:solidFill>
                <a:schemeClr val="dk1"/>
              </a:solidFill>
              <a:latin typeface="Calibri"/>
              <a:ea typeface="Calibri"/>
              <a:cs typeface="Calibri"/>
              <a:sym typeface="Calibri"/>
            </a:endParaRPr>
          </a:p>
        </p:txBody>
      </p:sp>
      <p:sp>
        <p:nvSpPr>
          <p:cNvPr id="193" name="Google Shape;193;p6"/>
          <p:cNvSpPr/>
          <p:nvPr/>
        </p:nvSpPr>
        <p:spPr>
          <a:xfrm>
            <a:off x="13533120" y="6373368"/>
            <a:ext cx="3566160" cy="777240"/>
          </a:xfrm>
          <a:prstGeom prst="roundRect">
            <a:avLst>
              <a:gd fmla="val 14118"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2400"/>
              <a:buFont typeface="Calibri"/>
              <a:buNone/>
            </a:pPr>
            <a:r>
              <a:rPr b="1" i="0" lang="en-US" sz="2400" u="none" cap="none" strike="noStrike">
                <a:solidFill>
                  <a:srgbClr val="FDFBFB"/>
                </a:solidFill>
                <a:latin typeface="Calibri"/>
                <a:ea typeface="Calibri"/>
                <a:cs typeface="Calibri"/>
                <a:sym typeface="Calibri"/>
              </a:rPr>
              <a:t>Program</a:t>
            </a:r>
            <a:endParaRPr b="0" i="0" sz="2400" u="none" cap="none" strike="noStrike">
              <a:solidFill>
                <a:schemeClr val="dk1"/>
              </a:solidFill>
              <a:latin typeface="Calibri"/>
              <a:ea typeface="Calibri"/>
              <a:cs typeface="Calibri"/>
              <a:sym typeface="Calibri"/>
            </a:endParaRPr>
          </a:p>
        </p:txBody>
      </p:sp>
      <p:sp>
        <p:nvSpPr>
          <p:cNvPr id="194" name="Google Shape;194;p6"/>
          <p:cNvSpPr/>
          <p:nvPr/>
        </p:nvSpPr>
        <p:spPr>
          <a:xfrm>
            <a:off x="9692640" y="7397496"/>
            <a:ext cx="3108960" cy="777240"/>
          </a:xfrm>
          <a:prstGeom prst="roundRect">
            <a:avLst>
              <a:gd fmla="val 14118" name="adj"/>
            </a:avLst>
          </a:prstGeom>
          <a:solidFill>
            <a:srgbClr val="D9E0F7"/>
          </a:solidFill>
          <a:ln cap="flat" cmpd="sng" w="9525">
            <a:solidFill>
              <a:srgbClr val="D9E0F7"/>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Bahan</a:t>
            </a:r>
            <a:endParaRPr b="0" i="0" sz="2400" u="none" cap="none" strike="noStrike">
              <a:solidFill>
                <a:schemeClr val="dk1"/>
              </a:solidFill>
              <a:latin typeface="Calibri"/>
              <a:ea typeface="Calibri"/>
              <a:cs typeface="Calibri"/>
              <a:sym typeface="Calibri"/>
            </a:endParaRPr>
          </a:p>
        </p:txBody>
      </p:sp>
      <p:sp>
        <p:nvSpPr>
          <p:cNvPr id="195" name="Google Shape;195;p6"/>
          <p:cNvSpPr txBox="1"/>
          <p:nvPr/>
        </p:nvSpPr>
        <p:spPr>
          <a:xfrm>
            <a:off x="12847320" y="7397496"/>
            <a:ext cx="64008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5F86"/>
              </a:buClr>
              <a:buSzPts val="3000"/>
              <a:buFont typeface="Calibri"/>
              <a:buNone/>
            </a:pPr>
            <a:r>
              <a:rPr b="1" i="0" lang="en-US" sz="3000" u="none" cap="none" strike="noStrike">
                <a:solidFill>
                  <a:srgbClr val="5A5F86"/>
                </a:solidFill>
                <a:latin typeface="Calibri"/>
                <a:ea typeface="Calibri"/>
                <a:cs typeface="Calibri"/>
                <a:sym typeface="Calibri"/>
              </a:rPr>
              <a:t>=</a:t>
            </a:r>
            <a:endParaRPr b="0" i="0" sz="3000" u="none" cap="none" strike="noStrike">
              <a:solidFill>
                <a:schemeClr val="dk1"/>
              </a:solidFill>
              <a:latin typeface="Calibri"/>
              <a:ea typeface="Calibri"/>
              <a:cs typeface="Calibri"/>
              <a:sym typeface="Calibri"/>
            </a:endParaRPr>
          </a:p>
        </p:txBody>
      </p:sp>
      <p:sp>
        <p:nvSpPr>
          <p:cNvPr id="196" name="Google Shape;196;p6"/>
          <p:cNvSpPr/>
          <p:nvPr/>
        </p:nvSpPr>
        <p:spPr>
          <a:xfrm>
            <a:off x="13533120" y="7397496"/>
            <a:ext cx="3566160" cy="777240"/>
          </a:xfrm>
          <a:prstGeom prst="roundRect">
            <a:avLst>
              <a:gd fmla="val 14118"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2400"/>
              <a:buFont typeface="Calibri"/>
              <a:buNone/>
            </a:pPr>
            <a:r>
              <a:rPr b="1" i="0" lang="en-US" sz="2400" u="none" cap="none" strike="noStrike">
                <a:solidFill>
                  <a:srgbClr val="FDFBFB"/>
                </a:solidFill>
                <a:latin typeface="Calibri"/>
                <a:ea typeface="Calibri"/>
                <a:cs typeface="Calibri"/>
                <a:sym typeface="Calibri"/>
              </a:rPr>
              <a:t>Input</a:t>
            </a:r>
            <a:endParaRPr b="0" i="0" sz="2400" u="none" cap="none" strike="noStrike">
              <a:solidFill>
                <a:schemeClr val="dk1"/>
              </a:solidFill>
              <a:latin typeface="Calibri"/>
              <a:ea typeface="Calibri"/>
              <a:cs typeface="Calibri"/>
              <a:sym typeface="Calibri"/>
            </a:endParaRPr>
          </a:p>
        </p:txBody>
      </p:sp>
      <p:sp>
        <p:nvSpPr>
          <p:cNvPr id="197" name="Google Shape;197;p6"/>
          <p:cNvSpPr/>
          <p:nvPr/>
        </p:nvSpPr>
        <p:spPr>
          <a:xfrm>
            <a:off x="9692640" y="8421624"/>
            <a:ext cx="3108960" cy="777240"/>
          </a:xfrm>
          <a:prstGeom prst="roundRect">
            <a:avLst>
              <a:gd fmla="val 14118" name="adj"/>
            </a:avLst>
          </a:prstGeom>
          <a:solidFill>
            <a:srgbClr val="D9E0F7"/>
          </a:solidFill>
          <a:ln cap="flat" cmpd="sng" w="9525">
            <a:solidFill>
              <a:srgbClr val="D9E0F7"/>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Hidangan</a:t>
            </a:r>
            <a:endParaRPr b="0" i="0" sz="2400" u="none" cap="none" strike="noStrike">
              <a:solidFill>
                <a:schemeClr val="dk1"/>
              </a:solidFill>
              <a:latin typeface="Calibri"/>
              <a:ea typeface="Calibri"/>
              <a:cs typeface="Calibri"/>
              <a:sym typeface="Calibri"/>
            </a:endParaRPr>
          </a:p>
        </p:txBody>
      </p:sp>
      <p:sp>
        <p:nvSpPr>
          <p:cNvPr id="198" name="Google Shape;198;p6"/>
          <p:cNvSpPr txBox="1"/>
          <p:nvPr/>
        </p:nvSpPr>
        <p:spPr>
          <a:xfrm>
            <a:off x="12847320" y="8421624"/>
            <a:ext cx="64008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5F86"/>
              </a:buClr>
              <a:buSzPts val="3000"/>
              <a:buFont typeface="Calibri"/>
              <a:buNone/>
            </a:pPr>
            <a:r>
              <a:rPr b="1" i="0" lang="en-US" sz="3000" u="none" cap="none" strike="noStrike">
                <a:solidFill>
                  <a:srgbClr val="5A5F86"/>
                </a:solidFill>
                <a:latin typeface="Calibri"/>
                <a:ea typeface="Calibri"/>
                <a:cs typeface="Calibri"/>
                <a:sym typeface="Calibri"/>
              </a:rPr>
              <a:t>=</a:t>
            </a:r>
            <a:endParaRPr b="0" i="0" sz="3000" u="none" cap="none" strike="noStrike">
              <a:solidFill>
                <a:schemeClr val="dk1"/>
              </a:solidFill>
              <a:latin typeface="Calibri"/>
              <a:ea typeface="Calibri"/>
              <a:cs typeface="Calibri"/>
              <a:sym typeface="Calibri"/>
            </a:endParaRPr>
          </a:p>
        </p:txBody>
      </p:sp>
      <p:sp>
        <p:nvSpPr>
          <p:cNvPr id="199" name="Google Shape;199;p6"/>
          <p:cNvSpPr/>
          <p:nvPr/>
        </p:nvSpPr>
        <p:spPr>
          <a:xfrm>
            <a:off x="13533120" y="8421624"/>
            <a:ext cx="3566160" cy="777240"/>
          </a:xfrm>
          <a:prstGeom prst="roundRect">
            <a:avLst>
              <a:gd fmla="val 14118"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2400"/>
              <a:buFont typeface="Calibri"/>
              <a:buNone/>
            </a:pPr>
            <a:r>
              <a:rPr b="1" i="0" lang="en-US" sz="2400" u="none" cap="none" strike="noStrike">
                <a:solidFill>
                  <a:srgbClr val="FDFBFB"/>
                </a:solidFill>
                <a:latin typeface="Calibri"/>
                <a:ea typeface="Calibri"/>
                <a:cs typeface="Calibri"/>
                <a:sym typeface="Calibri"/>
              </a:rPr>
              <a:t>Output</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pic>
        <p:nvPicPr>
          <p:cNvPr descr="/home/claude/assets/image6.png" id="205" name="Google Shape;205;p7"/>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206" name="Google Shape;206;p7"/>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207" name="Google Shape;207;p7"/>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BAGIAN 1 · 10 MENIT</a:t>
            </a:r>
            <a:endParaRPr b="0" i="0" sz="2000" u="none" cap="none" strike="noStrike">
              <a:solidFill>
                <a:schemeClr val="dk1"/>
              </a:solidFill>
              <a:latin typeface="Calibri"/>
              <a:ea typeface="Calibri"/>
              <a:cs typeface="Calibri"/>
              <a:sym typeface="Calibri"/>
            </a:endParaRPr>
          </a:p>
        </p:txBody>
      </p:sp>
      <p:sp>
        <p:nvSpPr>
          <p:cNvPr id="208" name="Google Shape;208;p7"/>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Input → Proses → Output</a:t>
            </a:r>
            <a:endParaRPr b="0" i="0" sz="4800" u="none" cap="none" strike="noStrike">
              <a:solidFill>
                <a:schemeClr val="dk1"/>
              </a:solidFill>
              <a:latin typeface="Calibri"/>
              <a:ea typeface="Calibri"/>
              <a:cs typeface="Calibri"/>
              <a:sym typeface="Calibri"/>
            </a:endParaRPr>
          </a:p>
        </p:txBody>
      </p:sp>
      <p:sp>
        <p:nvSpPr>
          <p:cNvPr id="209" name="Google Shape;209;p7"/>
          <p:cNvSpPr/>
          <p:nvPr/>
        </p:nvSpPr>
        <p:spPr>
          <a:xfrm>
            <a:off x="914400" y="4343400"/>
            <a:ext cx="4572000" cy="3611880"/>
          </a:xfrm>
          <a:prstGeom prst="roundRect">
            <a:avLst>
              <a:gd fmla="val 3797"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7"/>
          <p:cNvSpPr/>
          <p:nvPr/>
        </p:nvSpPr>
        <p:spPr>
          <a:xfrm>
            <a:off x="2651760" y="4572000"/>
            <a:ext cx="1097280" cy="1097280"/>
          </a:xfrm>
          <a:prstGeom prst="ellipse">
            <a:avLst/>
          </a:prstGeom>
          <a:solidFill>
            <a:srgbClr val="162CA2"/>
          </a:solidFill>
          <a:ln cap="flat" cmpd="sng" w="12700">
            <a:solidFill>
              <a:srgbClr val="162C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1" name="Google Shape;211;p7"/>
          <p:cNvPicPr preferRelativeResize="0"/>
          <p:nvPr/>
        </p:nvPicPr>
        <p:blipFill rotWithShape="1">
          <a:blip r:embed="rId5">
            <a:alphaModFix/>
          </a:blip>
          <a:srcRect b="0" l="0" r="0" t="0"/>
          <a:stretch/>
        </p:blipFill>
        <p:spPr>
          <a:xfrm>
            <a:off x="2915107" y="4835347"/>
            <a:ext cx="570586" cy="570586"/>
          </a:xfrm>
          <a:prstGeom prst="rect">
            <a:avLst/>
          </a:prstGeom>
          <a:noFill/>
          <a:ln>
            <a:noFill/>
          </a:ln>
        </p:spPr>
      </p:pic>
      <p:sp>
        <p:nvSpPr>
          <p:cNvPr id="212" name="Google Shape;212;p7"/>
          <p:cNvSpPr txBox="1"/>
          <p:nvPr/>
        </p:nvSpPr>
        <p:spPr>
          <a:xfrm>
            <a:off x="914400" y="5806440"/>
            <a:ext cx="4572000"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2CA2"/>
              </a:buClr>
              <a:buSzPts val="3000"/>
              <a:buFont typeface="Calibri"/>
              <a:buNone/>
            </a:pPr>
            <a:r>
              <a:rPr b="1" i="0" lang="en-US" sz="3000" u="none" cap="none" strike="noStrike">
                <a:solidFill>
                  <a:srgbClr val="162CA2"/>
                </a:solidFill>
                <a:latin typeface="Calibri"/>
                <a:ea typeface="Calibri"/>
                <a:cs typeface="Calibri"/>
                <a:sym typeface="Calibri"/>
              </a:rPr>
              <a:t>INPUT</a:t>
            </a:r>
            <a:endParaRPr b="0" i="0" sz="3000" u="none" cap="none" strike="noStrike">
              <a:solidFill>
                <a:schemeClr val="dk1"/>
              </a:solidFill>
              <a:latin typeface="Calibri"/>
              <a:ea typeface="Calibri"/>
              <a:cs typeface="Calibri"/>
              <a:sym typeface="Calibri"/>
            </a:endParaRPr>
          </a:p>
        </p:txBody>
      </p:sp>
      <p:sp>
        <p:nvSpPr>
          <p:cNvPr id="213" name="Google Shape;213;p7"/>
          <p:cNvSpPr txBox="1"/>
          <p:nvPr/>
        </p:nvSpPr>
        <p:spPr>
          <a:xfrm>
            <a:off x="914400" y="6400800"/>
            <a:ext cx="457200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A5F86"/>
              </a:buClr>
              <a:buSzPts val="2200"/>
              <a:buFont typeface="Calibri"/>
              <a:buNone/>
            </a:pPr>
            <a:r>
              <a:rPr b="0" i="0" lang="en-US" sz="2200" u="none" cap="none" strike="noStrike">
                <a:solidFill>
                  <a:srgbClr val="5A5F86"/>
                </a:solidFill>
                <a:latin typeface="Calibri"/>
                <a:ea typeface="Calibri"/>
                <a:cs typeface="Calibri"/>
                <a:sym typeface="Calibri"/>
              </a:rPr>
              <a:t>Data yang masuk</a:t>
            </a:r>
            <a:endParaRPr b="0" i="0" sz="2200" u="none" cap="none" strike="noStrike">
              <a:solidFill>
                <a:schemeClr val="dk1"/>
              </a:solidFill>
              <a:latin typeface="Calibri"/>
              <a:ea typeface="Calibri"/>
              <a:cs typeface="Calibri"/>
              <a:sym typeface="Calibri"/>
            </a:endParaRPr>
          </a:p>
        </p:txBody>
      </p:sp>
      <p:sp>
        <p:nvSpPr>
          <p:cNvPr id="214" name="Google Shape;214;p7"/>
          <p:cNvSpPr/>
          <p:nvPr/>
        </p:nvSpPr>
        <p:spPr>
          <a:xfrm>
            <a:off x="1737360" y="7086600"/>
            <a:ext cx="2926080" cy="640080"/>
          </a:xfrm>
          <a:prstGeom prst="roundRect">
            <a:avLst>
              <a:gd fmla="val 17143" name="adj"/>
            </a:avLst>
          </a:prstGeom>
          <a:solidFill>
            <a:srgbClr val="FFF3BF"/>
          </a:solidFill>
          <a:ln cap="flat" cmpd="sng" w="9525">
            <a:solidFill>
              <a:srgbClr val="FFF3BF"/>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Angka 5 dan 3</a:t>
            </a:r>
            <a:endParaRPr b="0" i="0" sz="2400" u="none" cap="none" strike="noStrike">
              <a:solidFill>
                <a:schemeClr val="dk1"/>
              </a:solidFill>
              <a:latin typeface="Calibri"/>
              <a:ea typeface="Calibri"/>
              <a:cs typeface="Calibri"/>
              <a:sym typeface="Calibri"/>
            </a:endParaRPr>
          </a:p>
        </p:txBody>
      </p:sp>
      <p:sp>
        <p:nvSpPr>
          <p:cNvPr id="215" name="Google Shape;215;p7"/>
          <p:cNvSpPr/>
          <p:nvPr/>
        </p:nvSpPr>
        <p:spPr>
          <a:xfrm>
            <a:off x="5623560" y="5806440"/>
            <a:ext cx="1097280" cy="731520"/>
          </a:xfrm>
          <a:prstGeom prst="rightArrow">
            <a:avLst>
              <a:gd fmla="val 50000" name="adj1"/>
              <a:gd fmla="val 50000" name="adj2"/>
            </a:avLst>
          </a:prstGeom>
          <a:solidFill>
            <a:srgbClr val="FCDF59"/>
          </a:solidFill>
          <a:ln cap="flat" cmpd="sng" w="12700">
            <a:solidFill>
              <a:srgbClr val="FCDF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7"/>
          <p:cNvSpPr/>
          <p:nvPr/>
        </p:nvSpPr>
        <p:spPr>
          <a:xfrm>
            <a:off x="6858000" y="4343400"/>
            <a:ext cx="4572000" cy="3611880"/>
          </a:xfrm>
          <a:prstGeom prst="roundRect">
            <a:avLst>
              <a:gd fmla="val 3797"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7"/>
          <p:cNvSpPr/>
          <p:nvPr/>
        </p:nvSpPr>
        <p:spPr>
          <a:xfrm>
            <a:off x="8595360" y="4572000"/>
            <a:ext cx="1097280" cy="1097280"/>
          </a:xfrm>
          <a:prstGeom prst="ellipse">
            <a:avLst/>
          </a:prstGeom>
          <a:solidFill>
            <a:srgbClr val="13123D"/>
          </a:solidFill>
          <a:ln cap="flat" cmpd="sng" w="12700">
            <a:solidFill>
              <a:srgbClr val="1312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8" name="Google Shape;218;p7"/>
          <p:cNvPicPr preferRelativeResize="0"/>
          <p:nvPr/>
        </p:nvPicPr>
        <p:blipFill rotWithShape="1">
          <a:blip r:embed="rId6">
            <a:alphaModFix/>
          </a:blip>
          <a:srcRect b="0" l="0" r="0" t="0"/>
          <a:stretch/>
        </p:blipFill>
        <p:spPr>
          <a:xfrm>
            <a:off x="8858707" y="4835347"/>
            <a:ext cx="570586" cy="570586"/>
          </a:xfrm>
          <a:prstGeom prst="rect">
            <a:avLst/>
          </a:prstGeom>
          <a:noFill/>
          <a:ln>
            <a:noFill/>
          </a:ln>
        </p:spPr>
      </p:pic>
      <p:sp>
        <p:nvSpPr>
          <p:cNvPr id="219" name="Google Shape;219;p7"/>
          <p:cNvSpPr txBox="1"/>
          <p:nvPr/>
        </p:nvSpPr>
        <p:spPr>
          <a:xfrm>
            <a:off x="6858000" y="5806440"/>
            <a:ext cx="4572000"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2CA2"/>
              </a:buClr>
              <a:buSzPts val="3000"/>
              <a:buFont typeface="Calibri"/>
              <a:buNone/>
            </a:pPr>
            <a:r>
              <a:rPr b="1" i="0" lang="en-US" sz="3000" u="none" cap="none" strike="noStrike">
                <a:solidFill>
                  <a:srgbClr val="162CA2"/>
                </a:solidFill>
                <a:latin typeface="Calibri"/>
                <a:ea typeface="Calibri"/>
                <a:cs typeface="Calibri"/>
                <a:sym typeface="Calibri"/>
              </a:rPr>
              <a:t>PROSES</a:t>
            </a:r>
            <a:endParaRPr b="0" i="0" sz="3000" u="none" cap="none" strike="noStrike">
              <a:solidFill>
                <a:schemeClr val="dk1"/>
              </a:solidFill>
              <a:latin typeface="Calibri"/>
              <a:ea typeface="Calibri"/>
              <a:cs typeface="Calibri"/>
              <a:sym typeface="Calibri"/>
            </a:endParaRPr>
          </a:p>
        </p:txBody>
      </p:sp>
      <p:sp>
        <p:nvSpPr>
          <p:cNvPr id="220" name="Google Shape;220;p7"/>
          <p:cNvSpPr txBox="1"/>
          <p:nvPr/>
        </p:nvSpPr>
        <p:spPr>
          <a:xfrm>
            <a:off x="6858000" y="6400800"/>
            <a:ext cx="457200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A5F86"/>
              </a:buClr>
              <a:buSzPts val="2200"/>
              <a:buFont typeface="Calibri"/>
              <a:buNone/>
            </a:pPr>
            <a:r>
              <a:rPr b="0" i="0" lang="en-US" sz="2200" u="none" cap="none" strike="noStrike">
                <a:solidFill>
                  <a:srgbClr val="5A5F86"/>
                </a:solidFill>
                <a:latin typeface="Calibri"/>
                <a:ea typeface="Calibri"/>
                <a:cs typeface="Calibri"/>
                <a:sym typeface="Calibri"/>
              </a:rPr>
              <a:t>Instruksi mengolah data</a:t>
            </a:r>
            <a:endParaRPr b="0" i="0" sz="2200" u="none" cap="none" strike="noStrike">
              <a:solidFill>
                <a:schemeClr val="dk1"/>
              </a:solidFill>
              <a:latin typeface="Calibri"/>
              <a:ea typeface="Calibri"/>
              <a:cs typeface="Calibri"/>
              <a:sym typeface="Calibri"/>
            </a:endParaRPr>
          </a:p>
        </p:txBody>
      </p:sp>
      <p:sp>
        <p:nvSpPr>
          <p:cNvPr id="221" name="Google Shape;221;p7"/>
          <p:cNvSpPr/>
          <p:nvPr/>
        </p:nvSpPr>
        <p:spPr>
          <a:xfrm>
            <a:off x="7680960" y="7086600"/>
            <a:ext cx="2926080" cy="640080"/>
          </a:xfrm>
          <a:prstGeom prst="roundRect">
            <a:avLst>
              <a:gd fmla="val 17143" name="adj"/>
            </a:avLst>
          </a:prstGeom>
          <a:solidFill>
            <a:srgbClr val="FFF3BF"/>
          </a:solidFill>
          <a:ln cap="flat" cmpd="sng" w="9525">
            <a:solidFill>
              <a:srgbClr val="FFF3BF"/>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5 + 3</a:t>
            </a:r>
            <a:endParaRPr b="0" i="0" sz="2400" u="none" cap="none" strike="noStrike">
              <a:solidFill>
                <a:schemeClr val="dk1"/>
              </a:solidFill>
              <a:latin typeface="Calibri"/>
              <a:ea typeface="Calibri"/>
              <a:cs typeface="Calibri"/>
              <a:sym typeface="Calibri"/>
            </a:endParaRPr>
          </a:p>
        </p:txBody>
      </p:sp>
      <p:sp>
        <p:nvSpPr>
          <p:cNvPr id="222" name="Google Shape;222;p7"/>
          <p:cNvSpPr/>
          <p:nvPr/>
        </p:nvSpPr>
        <p:spPr>
          <a:xfrm>
            <a:off x="11567160" y="5806440"/>
            <a:ext cx="1097280" cy="731520"/>
          </a:xfrm>
          <a:prstGeom prst="rightArrow">
            <a:avLst>
              <a:gd fmla="val 50000" name="adj1"/>
              <a:gd fmla="val 50000" name="adj2"/>
            </a:avLst>
          </a:prstGeom>
          <a:solidFill>
            <a:srgbClr val="FCDF59"/>
          </a:solidFill>
          <a:ln cap="flat" cmpd="sng" w="12700">
            <a:solidFill>
              <a:srgbClr val="FCDF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7"/>
          <p:cNvSpPr/>
          <p:nvPr/>
        </p:nvSpPr>
        <p:spPr>
          <a:xfrm>
            <a:off x="12801600" y="4343400"/>
            <a:ext cx="4572000" cy="3611880"/>
          </a:xfrm>
          <a:prstGeom prst="roundRect">
            <a:avLst>
              <a:gd fmla="val 3797"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7"/>
          <p:cNvSpPr/>
          <p:nvPr/>
        </p:nvSpPr>
        <p:spPr>
          <a:xfrm>
            <a:off x="14538960" y="4572000"/>
            <a:ext cx="1097280" cy="1097280"/>
          </a:xfrm>
          <a:prstGeom prst="ellipse">
            <a:avLst/>
          </a:prstGeom>
          <a:solidFill>
            <a:srgbClr val="162CA2"/>
          </a:solidFill>
          <a:ln cap="flat" cmpd="sng" w="12700">
            <a:solidFill>
              <a:srgbClr val="162C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5" name="Google Shape;225;p7"/>
          <p:cNvPicPr preferRelativeResize="0"/>
          <p:nvPr/>
        </p:nvPicPr>
        <p:blipFill rotWithShape="1">
          <a:blip r:embed="rId7">
            <a:alphaModFix/>
          </a:blip>
          <a:srcRect b="0" l="0" r="0" t="0"/>
          <a:stretch/>
        </p:blipFill>
        <p:spPr>
          <a:xfrm>
            <a:off x="14802307" y="4835347"/>
            <a:ext cx="570586" cy="570586"/>
          </a:xfrm>
          <a:prstGeom prst="rect">
            <a:avLst/>
          </a:prstGeom>
          <a:noFill/>
          <a:ln>
            <a:noFill/>
          </a:ln>
        </p:spPr>
      </p:pic>
      <p:sp>
        <p:nvSpPr>
          <p:cNvPr id="226" name="Google Shape;226;p7"/>
          <p:cNvSpPr txBox="1"/>
          <p:nvPr/>
        </p:nvSpPr>
        <p:spPr>
          <a:xfrm>
            <a:off x="12801600" y="5806440"/>
            <a:ext cx="4572000"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2CA2"/>
              </a:buClr>
              <a:buSzPts val="3000"/>
              <a:buFont typeface="Calibri"/>
              <a:buNone/>
            </a:pPr>
            <a:r>
              <a:rPr b="1" i="0" lang="en-US" sz="3000" u="none" cap="none" strike="noStrike">
                <a:solidFill>
                  <a:srgbClr val="162CA2"/>
                </a:solidFill>
                <a:latin typeface="Calibri"/>
                <a:ea typeface="Calibri"/>
                <a:cs typeface="Calibri"/>
                <a:sym typeface="Calibri"/>
              </a:rPr>
              <a:t>OUTPUT</a:t>
            </a:r>
            <a:endParaRPr b="0" i="0" sz="3000" u="none" cap="none" strike="noStrike">
              <a:solidFill>
                <a:schemeClr val="dk1"/>
              </a:solidFill>
              <a:latin typeface="Calibri"/>
              <a:ea typeface="Calibri"/>
              <a:cs typeface="Calibri"/>
              <a:sym typeface="Calibri"/>
            </a:endParaRPr>
          </a:p>
        </p:txBody>
      </p:sp>
      <p:sp>
        <p:nvSpPr>
          <p:cNvPr id="227" name="Google Shape;227;p7"/>
          <p:cNvSpPr txBox="1"/>
          <p:nvPr/>
        </p:nvSpPr>
        <p:spPr>
          <a:xfrm>
            <a:off x="12801600" y="6400800"/>
            <a:ext cx="457200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A5F86"/>
              </a:buClr>
              <a:buSzPts val="2200"/>
              <a:buFont typeface="Calibri"/>
              <a:buNone/>
            </a:pPr>
            <a:r>
              <a:rPr b="0" i="0" lang="en-US" sz="2200" u="none" cap="none" strike="noStrike">
                <a:solidFill>
                  <a:srgbClr val="5A5F86"/>
                </a:solidFill>
                <a:latin typeface="Calibri"/>
                <a:ea typeface="Calibri"/>
                <a:cs typeface="Calibri"/>
                <a:sym typeface="Calibri"/>
              </a:rPr>
              <a:t>Hasil yang ditampilkan</a:t>
            </a:r>
            <a:endParaRPr b="0" i="0" sz="2200" u="none" cap="none" strike="noStrike">
              <a:solidFill>
                <a:schemeClr val="dk1"/>
              </a:solidFill>
              <a:latin typeface="Calibri"/>
              <a:ea typeface="Calibri"/>
              <a:cs typeface="Calibri"/>
              <a:sym typeface="Calibri"/>
            </a:endParaRPr>
          </a:p>
        </p:txBody>
      </p:sp>
      <p:sp>
        <p:nvSpPr>
          <p:cNvPr id="228" name="Google Shape;228;p7"/>
          <p:cNvSpPr/>
          <p:nvPr/>
        </p:nvSpPr>
        <p:spPr>
          <a:xfrm>
            <a:off x="13624560" y="7086600"/>
            <a:ext cx="2926080" cy="640080"/>
          </a:xfrm>
          <a:prstGeom prst="roundRect">
            <a:avLst>
              <a:gd fmla="val 17143" name="adj"/>
            </a:avLst>
          </a:prstGeom>
          <a:solidFill>
            <a:srgbClr val="FFF3BF"/>
          </a:solidFill>
          <a:ln cap="flat" cmpd="sng" w="9525">
            <a:solidFill>
              <a:srgbClr val="FFF3BF"/>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8</a:t>
            </a:r>
            <a:endParaRPr b="0" i="0" sz="2400" u="none" cap="none" strike="noStrike">
              <a:solidFill>
                <a:schemeClr val="dk1"/>
              </a:solidFill>
              <a:latin typeface="Calibri"/>
              <a:ea typeface="Calibri"/>
              <a:cs typeface="Calibri"/>
              <a:sym typeface="Calibri"/>
            </a:endParaRPr>
          </a:p>
        </p:txBody>
      </p:sp>
      <p:sp>
        <p:nvSpPr>
          <p:cNvPr id="229" name="Google Shape;229;p7"/>
          <p:cNvSpPr/>
          <p:nvPr/>
        </p:nvSpPr>
        <p:spPr>
          <a:xfrm>
            <a:off x="914400" y="8229600"/>
            <a:ext cx="16459200" cy="1280160"/>
          </a:xfrm>
          <a:prstGeom prst="roundRect">
            <a:avLst>
              <a:gd fmla="val 10714" name="adj"/>
            </a:avLst>
          </a:prstGeom>
          <a:solidFill>
            <a:srgbClr val="162CA2"/>
          </a:solidFill>
          <a:ln cap="flat" cmpd="sng" w="12700">
            <a:solidFill>
              <a:srgbClr val="162C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7"/>
          <p:cNvSpPr txBox="1"/>
          <p:nvPr/>
        </p:nvSpPr>
        <p:spPr>
          <a:xfrm>
            <a:off x="1188720" y="8229600"/>
            <a:ext cx="15910560" cy="12801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DFBFB"/>
              </a:buClr>
              <a:buSzPts val="2800"/>
              <a:buFont typeface="Calibri"/>
              <a:buNone/>
            </a:pPr>
            <a:r>
              <a:rPr b="0" i="0" lang="en-US" sz="2800" u="none" cap="none" strike="noStrike">
                <a:solidFill>
                  <a:srgbClr val="FDFBFB"/>
                </a:solidFill>
                <a:latin typeface="Calibri"/>
                <a:ea typeface="Calibri"/>
                <a:cs typeface="Calibri"/>
                <a:sym typeface="Calibri"/>
              </a:rPr>
              <a:t>Bahasa pemrograman berbeda sintaksnya, tetapi </a:t>
            </a:r>
            <a:r>
              <a:rPr b="1" i="0" lang="en-US" sz="2800" u="none" cap="none" strike="noStrike">
                <a:solidFill>
                  <a:srgbClr val="FCDF59"/>
                </a:solidFill>
                <a:latin typeface="Calibri"/>
                <a:ea typeface="Calibri"/>
                <a:cs typeface="Calibri"/>
                <a:sym typeface="Calibri"/>
              </a:rPr>
              <a:t>logikanya universal.</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descr="/home/claude/assets/image6.png" id="236" name="Google Shape;236;p8"/>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237" name="Google Shape;237;p8"/>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238" name="Google Shape;238;p8"/>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BAGIAN 2 · 15 MENIT</a:t>
            </a:r>
            <a:endParaRPr b="0" i="0" sz="2000" u="none" cap="none" strike="noStrike">
              <a:solidFill>
                <a:schemeClr val="dk1"/>
              </a:solidFill>
              <a:latin typeface="Calibri"/>
              <a:ea typeface="Calibri"/>
              <a:cs typeface="Calibri"/>
              <a:sym typeface="Calibri"/>
            </a:endParaRPr>
          </a:p>
        </p:txBody>
      </p:sp>
      <p:sp>
        <p:nvSpPr>
          <p:cNvPr id="239" name="Google Shape;239;p8"/>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Algoritma</a:t>
            </a:r>
            <a:endParaRPr b="0" i="0" sz="4800" u="none" cap="none" strike="noStrike">
              <a:solidFill>
                <a:schemeClr val="dk1"/>
              </a:solidFill>
              <a:latin typeface="Calibri"/>
              <a:ea typeface="Calibri"/>
              <a:cs typeface="Calibri"/>
              <a:sym typeface="Calibri"/>
            </a:endParaRPr>
          </a:p>
        </p:txBody>
      </p:sp>
      <p:sp>
        <p:nvSpPr>
          <p:cNvPr id="240" name="Google Shape;240;p8"/>
          <p:cNvSpPr txBox="1"/>
          <p:nvPr/>
        </p:nvSpPr>
        <p:spPr>
          <a:xfrm>
            <a:off x="914400" y="4206240"/>
            <a:ext cx="164592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CA2"/>
              </a:buClr>
              <a:buSzPts val="2700"/>
              <a:buFont typeface="Calibri"/>
              <a:buNone/>
            </a:pPr>
            <a:r>
              <a:rPr b="1" i="0" lang="en-US" sz="2700" u="none" cap="none" strike="noStrike">
                <a:solidFill>
                  <a:srgbClr val="162CA2"/>
                </a:solidFill>
                <a:latin typeface="Calibri"/>
                <a:ea typeface="Calibri"/>
                <a:cs typeface="Calibri"/>
                <a:sym typeface="Calibri"/>
              </a:rPr>
              <a:t>Algoritma</a:t>
            </a:r>
            <a:r>
              <a:rPr b="0" i="0" lang="en-US" sz="2700" u="none" cap="none" strike="noStrike">
                <a:solidFill>
                  <a:srgbClr val="13123D"/>
                </a:solidFill>
                <a:latin typeface="Calibri"/>
                <a:ea typeface="Calibri"/>
                <a:cs typeface="Calibri"/>
                <a:sym typeface="Calibri"/>
              </a:rPr>
              <a:t> = urutan langkah logis dan terhingga untuk menyelesaikan suatu masalah.</a:t>
            </a:r>
            <a:endParaRPr b="0" i="0" sz="2700" u="none" cap="none" strike="noStrike">
              <a:solidFill>
                <a:schemeClr val="dk1"/>
              </a:solidFill>
              <a:latin typeface="Calibri"/>
              <a:ea typeface="Calibri"/>
              <a:cs typeface="Calibri"/>
              <a:sym typeface="Calibri"/>
            </a:endParaRPr>
          </a:p>
        </p:txBody>
      </p:sp>
      <p:sp>
        <p:nvSpPr>
          <p:cNvPr id="241" name="Google Shape;241;p8"/>
          <p:cNvSpPr/>
          <p:nvPr/>
        </p:nvSpPr>
        <p:spPr>
          <a:xfrm>
            <a:off x="914400" y="5120640"/>
            <a:ext cx="7955280" cy="4389120"/>
          </a:xfrm>
          <a:prstGeom prst="roundRect">
            <a:avLst>
              <a:gd fmla="val 3125"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8"/>
          <p:cNvSpPr txBox="1"/>
          <p:nvPr/>
        </p:nvSpPr>
        <p:spPr>
          <a:xfrm>
            <a:off x="1188720" y="5303520"/>
            <a:ext cx="73152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700"/>
              <a:buFont typeface="Calibri"/>
              <a:buNone/>
            </a:pPr>
            <a:r>
              <a:rPr b="1" i="0" lang="en-US" sz="2700" u="none" cap="none" strike="noStrike">
                <a:solidFill>
                  <a:srgbClr val="162CA2"/>
                </a:solidFill>
                <a:latin typeface="Calibri"/>
                <a:ea typeface="Calibri"/>
                <a:cs typeface="Calibri"/>
                <a:sym typeface="Calibri"/>
              </a:rPr>
              <a:t>Contoh: membuat teh manis</a:t>
            </a:r>
            <a:endParaRPr b="0" i="0" sz="2700" u="none" cap="none" strike="noStrike">
              <a:solidFill>
                <a:schemeClr val="dk1"/>
              </a:solidFill>
              <a:latin typeface="Calibri"/>
              <a:ea typeface="Calibri"/>
              <a:cs typeface="Calibri"/>
              <a:sym typeface="Calibri"/>
            </a:endParaRPr>
          </a:p>
        </p:txBody>
      </p:sp>
      <p:sp>
        <p:nvSpPr>
          <p:cNvPr id="243" name="Google Shape;243;p8"/>
          <p:cNvSpPr txBox="1"/>
          <p:nvPr/>
        </p:nvSpPr>
        <p:spPr>
          <a:xfrm>
            <a:off x="1188720" y="5989320"/>
            <a:ext cx="7406640" cy="3383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3123D"/>
              </a:buClr>
              <a:buSzPts val="2500"/>
              <a:buFont typeface="Calibri"/>
              <a:buAutoNum type="arabicPeriod"/>
            </a:pPr>
            <a:r>
              <a:rPr b="0" i="0" lang="en-US" sz="2500" u="none" cap="none" strike="noStrike">
                <a:solidFill>
                  <a:srgbClr val="13123D"/>
                </a:solidFill>
                <a:latin typeface="Calibri"/>
                <a:ea typeface="Calibri"/>
                <a:cs typeface="Calibri"/>
                <a:sym typeface="Calibri"/>
              </a:rPr>
              <a:t>Rebus air hingga mendidih</a:t>
            </a:r>
            <a:endParaRPr b="0" i="0" sz="2500" u="none" cap="none" strike="noStrike">
              <a:solidFill>
                <a:schemeClr val="dk1"/>
              </a:solidFill>
              <a:latin typeface="Calibri"/>
              <a:ea typeface="Calibri"/>
              <a:cs typeface="Calibri"/>
              <a:sym typeface="Calibri"/>
            </a:endParaRPr>
          </a:p>
          <a:p>
            <a:pPr indent="-342900" lvl="0" marL="342900" marR="0" rtl="0" algn="l">
              <a:spcBef>
                <a:spcPts val="1200"/>
              </a:spcBef>
              <a:spcAft>
                <a:spcPts val="0"/>
              </a:spcAft>
              <a:buClr>
                <a:srgbClr val="13123D"/>
              </a:buClr>
              <a:buSzPts val="2500"/>
              <a:buFont typeface="Calibri"/>
              <a:buAutoNum type="arabicPeriod"/>
            </a:pPr>
            <a:r>
              <a:rPr b="0" i="0" lang="en-US" sz="2500" u="none" cap="none" strike="noStrike">
                <a:solidFill>
                  <a:srgbClr val="13123D"/>
                </a:solidFill>
                <a:latin typeface="Calibri"/>
                <a:ea typeface="Calibri"/>
                <a:cs typeface="Calibri"/>
                <a:sym typeface="Calibri"/>
              </a:rPr>
              <a:t>Masukkan teh celup ke gelas</a:t>
            </a:r>
            <a:endParaRPr b="0" i="0" sz="2500" u="none" cap="none" strike="noStrike">
              <a:solidFill>
                <a:schemeClr val="dk1"/>
              </a:solidFill>
              <a:latin typeface="Calibri"/>
              <a:ea typeface="Calibri"/>
              <a:cs typeface="Calibri"/>
              <a:sym typeface="Calibri"/>
            </a:endParaRPr>
          </a:p>
          <a:p>
            <a:pPr indent="-342900" lvl="0" marL="342900" marR="0" rtl="0" algn="l">
              <a:spcBef>
                <a:spcPts val="1200"/>
              </a:spcBef>
              <a:spcAft>
                <a:spcPts val="0"/>
              </a:spcAft>
              <a:buClr>
                <a:srgbClr val="13123D"/>
              </a:buClr>
              <a:buSzPts val="2500"/>
              <a:buFont typeface="Calibri"/>
              <a:buAutoNum type="arabicPeriod"/>
            </a:pPr>
            <a:r>
              <a:rPr b="0" i="0" lang="en-US" sz="2500" u="none" cap="none" strike="noStrike">
                <a:solidFill>
                  <a:srgbClr val="13123D"/>
                </a:solidFill>
                <a:latin typeface="Calibri"/>
                <a:ea typeface="Calibri"/>
                <a:cs typeface="Calibri"/>
                <a:sym typeface="Calibri"/>
              </a:rPr>
              <a:t>Tuang air panas ke gelas</a:t>
            </a:r>
            <a:endParaRPr b="0" i="0" sz="2500" u="none" cap="none" strike="noStrike">
              <a:solidFill>
                <a:schemeClr val="dk1"/>
              </a:solidFill>
              <a:latin typeface="Calibri"/>
              <a:ea typeface="Calibri"/>
              <a:cs typeface="Calibri"/>
              <a:sym typeface="Calibri"/>
            </a:endParaRPr>
          </a:p>
          <a:p>
            <a:pPr indent="-342900" lvl="0" marL="342900" marR="0" rtl="0" algn="l">
              <a:spcBef>
                <a:spcPts val="1200"/>
              </a:spcBef>
              <a:spcAft>
                <a:spcPts val="0"/>
              </a:spcAft>
              <a:buClr>
                <a:srgbClr val="13123D"/>
              </a:buClr>
              <a:buSzPts val="2500"/>
              <a:buFont typeface="Calibri"/>
              <a:buAutoNum type="arabicPeriod"/>
            </a:pPr>
            <a:r>
              <a:rPr b="0" i="0" lang="en-US" sz="2500" u="none" cap="none" strike="noStrike">
                <a:solidFill>
                  <a:srgbClr val="13123D"/>
                </a:solidFill>
                <a:latin typeface="Calibri"/>
                <a:ea typeface="Calibri"/>
                <a:cs typeface="Calibri"/>
                <a:sym typeface="Calibri"/>
              </a:rPr>
              <a:t>Tambahkan gula secukupnya</a:t>
            </a:r>
            <a:endParaRPr b="0" i="0" sz="2500" u="none" cap="none" strike="noStrike">
              <a:solidFill>
                <a:schemeClr val="dk1"/>
              </a:solidFill>
              <a:latin typeface="Calibri"/>
              <a:ea typeface="Calibri"/>
              <a:cs typeface="Calibri"/>
              <a:sym typeface="Calibri"/>
            </a:endParaRPr>
          </a:p>
          <a:p>
            <a:pPr indent="-342900" lvl="0" marL="342900" marR="0" rtl="0" algn="l">
              <a:spcBef>
                <a:spcPts val="1200"/>
              </a:spcBef>
              <a:spcAft>
                <a:spcPts val="0"/>
              </a:spcAft>
              <a:buClr>
                <a:srgbClr val="13123D"/>
              </a:buClr>
              <a:buSzPts val="2500"/>
              <a:buFont typeface="Calibri"/>
              <a:buAutoNum type="arabicPeriod"/>
            </a:pPr>
            <a:r>
              <a:rPr b="0" i="0" lang="en-US" sz="2500" u="none" cap="none" strike="noStrike">
                <a:solidFill>
                  <a:srgbClr val="13123D"/>
                </a:solidFill>
                <a:latin typeface="Calibri"/>
                <a:ea typeface="Calibri"/>
                <a:cs typeface="Calibri"/>
                <a:sym typeface="Calibri"/>
              </a:rPr>
              <a:t>Aduk, lalu sajikan</a:t>
            </a:r>
            <a:endParaRPr b="0" i="0" sz="2500" u="none" cap="none" strike="noStrike">
              <a:solidFill>
                <a:schemeClr val="dk1"/>
              </a:solidFill>
              <a:latin typeface="Calibri"/>
              <a:ea typeface="Calibri"/>
              <a:cs typeface="Calibri"/>
              <a:sym typeface="Calibri"/>
            </a:endParaRPr>
          </a:p>
        </p:txBody>
      </p:sp>
      <p:sp>
        <p:nvSpPr>
          <p:cNvPr id="244" name="Google Shape;244;p8"/>
          <p:cNvSpPr txBox="1"/>
          <p:nvPr/>
        </p:nvSpPr>
        <p:spPr>
          <a:xfrm>
            <a:off x="9418320" y="5120640"/>
            <a:ext cx="795528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700"/>
              <a:buFont typeface="Calibri"/>
              <a:buNone/>
            </a:pPr>
            <a:r>
              <a:rPr b="1" i="0" lang="en-US" sz="2700" u="none" cap="none" strike="noStrike">
                <a:solidFill>
                  <a:srgbClr val="162CA2"/>
                </a:solidFill>
                <a:latin typeface="Calibri"/>
                <a:ea typeface="Calibri"/>
                <a:cs typeface="Calibri"/>
                <a:sym typeface="Calibri"/>
              </a:rPr>
              <a:t>Ciri algoritma yang baik</a:t>
            </a:r>
            <a:endParaRPr b="0" i="0" sz="2700" u="none" cap="none" strike="noStrike">
              <a:solidFill>
                <a:schemeClr val="dk1"/>
              </a:solidFill>
              <a:latin typeface="Calibri"/>
              <a:ea typeface="Calibri"/>
              <a:cs typeface="Calibri"/>
              <a:sym typeface="Calibri"/>
            </a:endParaRPr>
          </a:p>
        </p:txBody>
      </p:sp>
      <p:sp>
        <p:nvSpPr>
          <p:cNvPr id="245" name="Google Shape;245;p8"/>
          <p:cNvSpPr/>
          <p:nvPr/>
        </p:nvSpPr>
        <p:spPr>
          <a:xfrm>
            <a:off x="9418320" y="5760720"/>
            <a:ext cx="7955280" cy="841248"/>
          </a:xfrm>
          <a:prstGeom prst="roundRect">
            <a:avLst>
              <a:gd fmla="val 16304"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8"/>
          <p:cNvSpPr/>
          <p:nvPr/>
        </p:nvSpPr>
        <p:spPr>
          <a:xfrm>
            <a:off x="9601200" y="5870448"/>
            <a:ext cx="621792" cy="621792"/>
          </a:xfrm>
          <a:prstGeom prst="ellipse">
            <a:avLst/>
          </a:prstGeom>
          <a:solidFill>
            <a:srgbClr val="FCDF59"/>
          </a:solidFill>
          <a:ln cap="flat" cmpd="sng" w="9525">
            <a:solidFill>
              <a:srgbClr val="FCDF59"/>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3123D"/>
              </a:buClr>
              <a:buSzPts val="2200"/>
              <a:buFont typeface="Arial"/>
              <a:buNone/>
            </a:pPr>
            <a:r>
              <a:rPr b="1" i="0" lang="en-US" sz="2200" u="none" cap="none" strike="noStrike">
                <a:solidFill>
                  <a:srgbClr val="13123D"/>
                </a:solidFill>
                <a:latin typeface="Arial"/>
                <a:ea typeface="Arial"/>
                <a:cs typeface="Arial"/>
                <a:sym typeface="Arial"/>
              </a:rPr>
              <a:t>1</a:t>
            </a:r>
            <a:endParaRPr b="0" i="0" sz="2200" u="none" cap="none" strike="noStrike">
              <a:solidFill>
                <a:schemeClr val="dk1"/>
              </a:solidFill>
              <a:latin typeface="Calibri"/>
              <a:ea typeface="Calibri"/>
              <a:cs typeface="Calibri"/>
              <a:sym typeface="Calibri"/>
            </a:endParaRPr>
          </a:p>
        </p:txBody>
      </p:sp>
      <p:sp>
        <p:nvSpPr>
          <p:cNvPr id="247" name="Google Shape;247;p8"/>
          <p:cNvSpPr txBox="1"/>
          <p:nvPr/>
        </p:nvSpPr>
        <p:spPr>
          <a:xfrm>
            <a:off x="10424160" y="5760720"/>
            <a:ext cx="676656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Jelas</a:t>
            </a:r>
            <a:r>
              <a:rPr b="0" i="0" lang="en-US" sz="2400" u="none" cap="none" strike="noStrike">
                <a:solidFill>
                  <a:srgbClr val="5A5F86"/>
                </a:solidFill>
                <a:latin typeface="Calibri"/>
                <a:ea typeface="Calibri"/>
                <a:cs typeface="Calibri"/>
                <a:sym typeface="Calibri"/>
              </a:rPr>
              <a:t> — tiap langkah tidak ambigu</a:t>
            </a:r>
            <a:endParaRPr b="0" i="0" sz="2400" u="none" cap="none" strike="noStrike">
              <a:solidFill>
                <a:schemeClr val="dk1"/>
              </a:solidFill>
              <a:latin typeface="Calibri"/>
              <a:ea typeface="Calibri"/>
              <a:cs typeface="Calibri"/>
              <a:sym typeface="Calibri"/>
            </a:endParaRPr>
          </a:p>
        </p:txBody>
      </p:sp>
      <p:sp>
        <p:nvSpPr>
          <p:cNvPr id="248" name="Google Shape;248;p8"/>
          <p:cNvSpPr/>
          <p:nvPr/>
        </p:nvSpPr>
        <p:spPr>
          <a:xfrm>
            <a:off x="9418320" y="6720840"/>
            <a:ext cx="7955280" cy="841248"/>
          </a:xfrm>
          <a:prstGeom prst="roundRect">
            <a:avLst>
              <a:gd fmla="val 16304"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8"/>
          <p:cNvSpPr/>
          <p:nvPr/>
        </p:nvSpPr>
        <p:spPr>
          <a:xfrm>
            <a:off x="9601200" y="6830568"/>
            <a:ext cx="621792" cy="621792"/>
          </a:xfrm>
          <a:prstGeom prst="ellipse">
            <a:avLst/>
          </a:prstGeom>
          <a:solidFill>
            <a:srgbClr val="FCDF59"/>
          </a:solidFill>
          <a:ln cap="flat" cmpd="sng" w="9525">
            <a:solidFill>
              <a:srgbClr val="FCDF59"/>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3123D"/>
              </a:buClr>
              <a:buSzPts val="2200"/>
              <a:buFont typeface="Arial"/>
              <a:buNone/>
            </a:pPr>
            <a:r>
              <a:rPr b="1" i="0" lang="en-US" sz="2200" u="none" cap="none" strike="noStrike">
                <a:solidFill>
                  <a:srgbClr val="13123D"/>
                </a:solidFill>
                <a:latin typeface="Arial"/>
                <a:ea typeface="Arial"/>
                <a:cs typeface="Arial"/>
                <a:sym typeface="Arial"/>
              </a:rPr>
              <a:t>2</a:t>
            </a:r>
            <a:endParaRPr b="0" i="0" sz="2200" u="none" cap="none" strike="noStrike">
              <a:solidFill>
                <a:schemeClr val="dk1"/>
              </a:solidFill>
              <a:latin typeface="Calibri"/>
              <a:ea typeface="Calibri"/>
              <a:cs typeface="Calibri"/>
              <a:sym typeface="Calibri"/>
            </a:endParaRPr>
          </a:p>
        </p:txBody>
      </p:sp>
      <p:sp>
        <p:nvSpPr>
          <p:cNvPr id="250" name="Google Shape;250;p8"/>
          <p:cNvSpPr txBox="1"/>
          <p:nvPr/>
        </p:nvSpPr>
        <p:spPr>
          <a:xfrm>
            <a:off x="10424160" y="6720840"/>
            <a:ext cx="676656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Berhingga</a:t>
            </a:r>
            <a:r>
              <a:rPr b="0" i="0" lang="en-US" sz="2400" u="none" cap="none" strike="noStrike">
                <a:solidFill>
                  <a:srgbClr val="5A5F86"/>
                </a:solidFill>
                <a:latin typeface="Calibri"/>
                <a:ea typeface="Calibri"/>
                <a:cs typeface="Calibri"/>
                <a:sym typeface="Calibri"/>
              </a:rPr>
              <a:t> — pasti ada akhirnya</a:t>
            </a:r>
            <a:endParaRPr b="0" i="0" sz="2400" u="none" cap="none" strike="noStrike">
              <a:solidFill>
                <a:schemeClr val="dk1"/>
              </a:solidFill>
              <a:latin typeface="Calibri"/>
              <a:ea typeface="Calibri"/>
              <a:cs typeface="Calibri"/>
              <a:sym typeface="Calibri"/>
            </a:endParaRPr>
          </a:p>
        </p:txBody>
      </p:sp>
      <p:sp>
        <p:nvSpPr>
          <p:cNvPr id="251" name="Google Shape;251;p8"/>
          <p:cNvSpPr/>
          <p:nvPr/>
        </p:nvSpPr>
        <p:spPr>
          <a:xfrm>
            <a:off x="9418320" y="7680960"/>
            <a:ext cx="7955280" cy="841248"/>
          </a:xfrm>
          <a:prstGeom prst="roundRect">
            <a:avLst>
              <a:gd fmla="val 16304"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8"/>
          <p:cNvSpPr/>
          <p:nvPr/>
        </p:nvSpPr>
        <p:spPr>
          <a:xfrm>
            <a:off x="9601200" y="7790688"/>
            <a:ext cx="621792" cy="621792"/>
          </a:xfrm>
          <a:prstGeom prst="ellipse">
            <a:avLst/>
          </a:prstGeom>
          <a:solidFill>
            <a:srgbClr val="FCDF59"/>
          </a:solidFill>
          <a:ln cap="flat" cmpd="sng" w="9525">
            <a:solidFill>
              <a:srgbClr val="FCDF59"/>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3123D"/>
              </a:buClr>
              <a:buSzPts val="2200"/>
              <a:buFont typeface="Arial"/>
              <a:buNone/>
            </a:pPr>
            <a:r>
              <a:rPr b="1" i="0" lang="en-US" sz="2200" u="none" cap="none" strike="noStrike">
                <a:solidFill>
                  <a:srgbClr val="13123D"/>
                </a:solidFill>
                <a:latin typeface="Arial"/>
                <a:ea typeface="Arial"/>
                <a:cs typeface="Arial"/>
                <a:sym typeface="Arial"/>
              </a:rPr>
              <a:t>3</a:t>
            </a:r>
            <a:endParaRPr b="0" i="0" sz="2200" u="none" cap="none" strike="noStrike">
              <a:solidFill>
                <a:schemeClr val="dk1"/>
              </a:solidFill>
              <a:latin typeface="Calibri"/>
              <a:ea typeface="Calibri"/>
              <a:cs typeface="Calibri"/>
              <a:sym typeface="Calibri"/>
            </a:endParaRPr>
          </a:p>
        </p:txBody>
      </p:sp>
      <p:sp>
        <p:nvSpPr>
          <p:cNvPr id="253" name="Google Shape;253;p8"/>
          <p:cNvSpPr txBox="1"/>
          <p:nvPr/>
        </p:nvSpPr>
        <p:spPr>
          <a:xfrm>
            <a:off x="10424160" y="7680960"/>
            <a:ext cx="676656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Terurut</a:t>
            </a:r>
            <a:r>
              <a:rPr b="0" i="0" lang="en-US" sz="2400" u="none" cap="none" strike="noStrike">
                <a:solidFill>
                  <a:srgbClr val="5A5F86"/>
                </a:solidFill>
                <a:latin typeface="Calibri"/>
                <a:ea typeface="Calibri"/>
                <a:cs typeface="Calibri"/>
                <a:sym typeface="Calibri"/>
              </a:rPr>
              <a:t> — urutan menentukan hasil</a:t>
            </a:r>
            <a:endParaRPr b="0" i="0" sz="2400" u="none" cap="none" strike="noStrike">
              <a:solidFill>
                <a:schemeClr val="dk1"/>
              </a:solidFill>
              <a:latin typeface="Calibri"/>
              <a:ea typeface="Calibri"/>
              <a:cs typeface="Calibri"/>
              <a:sym typeface="Calibri"/>
            </a:endParaRPr>
          </a:p>
        </p:txBody>
      </p:sp>
      <p:sp>
        <p:nvSpPr>
          <p:cNvPr id="254" name="Google Shape;254;p8"/>
          <p:cNvSpPr/>
          <p:nvPr/>
        </p:nvSpPr>
        <p:spPr>
          <a:xfrm>
            <a:off x="9418320" y="8641080"/>
            <a:ext cx="7955280" cy="841248"/>
          </a:xfrm>
          <a:prstGeom prst="roundRect">
            <a:avLst>
              <a:gd fmla="val 16304"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8"/>
          <p:cNvSpPr/>
          <p:nvPr/>
        </p:nvSpPr>
        <p:spPr>
          <a:xfrm>
            <a:off x="9601200" y="8750808"/>
            <a:ext cx="621792" cy="621792"/>
          </a:xfrm>
          <a:prstGeom prst="ellipse">
            <a:avLst/>
          </a:prstGeom>
          <a:solidFill>
            <a:srgbClr val="FCDF59"/>
          </a:solidFill>
          <a:ln cap="flat" cmpd="sng" w="9525">
            <a:solidFill>
              <a:srgbClr val="FCDF59"/>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3123D"/>
              </a:buClr>
              <a:buSzPts val="2200"/>
              <a:buFont typeface="Arial"/>
              <a:buNone/>
            </a:pPr>
            <a:r>
              <a:rPr b="1" i="0" lang="en-US" sz="2200" u="none" cap="none" strike="noStrike">
                <a:solidFill>
                  <a:srgbClr val="13123D"/>
                </a:solidFill>
                <a:latin typeface="Arial"/>
                <a:ea typeface="Arial"/>
                <a:cs typeface="Arial"/>
                <a:sym typeface="Arial"/>
              </a:rPr>
              <a:t>4</a:t>
            </a:r>
            <a:endParaRPr b="0" i="0" sz="2200" u="none" cap="none" strike="noStrike">
              <a:solidFill>
                <a:schemeClr val="dk1"/>
              </a:solidFill>
              <a:latin typeface="Calibri"/>
              <a:ea typeface="Calibri"/>
              <a:cs typeface="Calibri"/>
              <a:sym typeface="Calibri"/>
            </a:endParaRPr>
          </a:p>
        </p:txBody>
      </p:sp>
      <p:sp>
        <p:nvSpPr>
          <p:cNvPr id="256" name="Google Shape;256;p8"/>
          <p:cNvSpPr txBox="1"/>
          <p:nvPr/>
        </p:nvSpPr>
        <p:spPr>
          <a:xfrm>
            <a:off x="10424160" y="8641080"/>
            <a:ext cx="676656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Ada output</a:t>
            </a:r>
            <a:r>
              <a:rPr b="0" i="0" lang="en-US" sz="2400" u="none" cap="none" strike="noStrike">
                <a:solidFill>
                  <a:srgbClr val="5A5F86"/>
                </a:solidFill>
                <a:latin typeface="Calibri"/>
                <a:ea typeface="Calibri"/>
                <a:cs typeface="Calibri"/>
                <a:sym typeface="Calibri"/>
              </a:rPr>
              <a:t> — menghasilkan jawaban</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pic>
        <p:nvPicPr>
          <p:cNvPr descr="/home/claude/assets/image4.png" id="262" name="Google Shape;262;p9"/>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263" name="Google Shape;263;p9"/>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264" name="Google Shape;264;p9"/>
          <p:cNvSpPr txBox="1"/>
          <p:nvPr/>
        </p:nvSpPr>
        <p:spPr>
          <a:xfrm>
            <a:off x="1024128" y="1554480"/>
            <a:ext cx="58521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1800"/>
              <a:buFont typeface="Arial"/>
              <a:buNone/>
            </a:pPr>
            <a:r>
              <a:rPr b="1" i="0" lang="en-US" sz="1800" u="none" cap="none" strike="noStrike">
                <a:solidFill>
                  <a:srgbClr val="FCDF59"/>
                </a:solidFill>
                <a:latin typeface="Arial"/>
                <a:ea typeface="Arial"/>
                <a:cs typeface="Arial"/>
                <a:sym typeface="Arial"/>
              </a:rPr>
              <a:t>BAGIAN 2 · 15 MENIT</a:t>
            </a:r>
            <a:endParaRPr b="0" i="0" sz="1800" u="none" cap="none" strike="noStrike">
              <a:solidFill>
                <a:schemeClr val="dk1"/>
              </a:solidFill>
              <a:latin typeface="Calibri"/>
              <a:ea typeface="Calibri"/>
              <a:cs typeface="Calibri"/>
              <a:sym typeface="Calibri"/>
            </a:endParaRPr>
          </a:p>
        </p:txBody>
      </p:sp>
      <p:sp>
        <p:nvSpPr>
          <p:cNvPr id="265" name="Google Shape;265;p9"/>
          <p:cNvSpPr txBox="1"/>
          <p:nvPr/>
        </p:nvSpPr>
        <p:spPr>
          <a:xfrm>
            <a:off x="1024128" y="2011680"/>
            <a:ext cx="5760720" cy="2651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400"/>
              <a:buFont typeface="Arial"/>
              <a:buNone/>
            </a:pPr>
            <a:r>
              <a:rPr b="1" i="0" lang="en-US" sz="4400" u="none" cap="none" strike="noStrike">
                <a:solidFill>
                  <a:srgbClr val="FDFBFB"/>
                </a:solidFill>
                <a:latin typeface="Arial"/>
                <a:ea typeface="Arial"/>
                <a:cs typeface="Arial"/>
                <a:sym typeface="Arial"/>
              </a:rPr>
              <a:t>Pseudocode</a:t>
            </a:r>
            <a:endParaRPr b="0" i="0" sz="4400" u="none" cap="none" strike="noStrike">
              <a:solidFill>
                <a:schemeClr val="dk1"/>
              </a:solidFill>
              <a:latin typeface="Calibri"/>
              <a:ea typeface="Calibri"/>
              <a:cs typeface="Calibri"/>
              <a:sym typeface="Calibri"/>
            </a:endParaRPr>
          </a:p>
        </p:txBody>
      </p:sp>
      <p:sp>
        <p:nvSpPr>
          <p:cNvPr id="266" name="Google Shape;266;p9"/>
          <p:cNvSpPr txBox="1"/>
          <p:nvPr/>
        </p:nvSpPr>
        <p:spPr>
          <a:xfrm>
            <a:off x="1024128" y="4937760"/>
            <a:ext cx="5486400" cy="42062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FDFBFB"/>
              </a:buClr>
              <a:buSzPts val="2600"/>
              <a:buFont typeface="Calibri"/>
              <a:buChar char="•"/>
            </a:pPr>
            <a:r>
              <a:rPr b="0" i="0" lang="en-US" sz="2600" u="none" cap="none" strike="noStrike">
                <a:solidFill>
                  <a:srgbClr val="FDFBFB"/>
                </a:solidFill>
                <a:latin typeface="Calibri"/>
                <a:ea typeface="Calibri"/>
                <a:cs typeface="Calibri"/>
                <a:sym typeface="Calibri"/>
              </a:rPr>
              <a:t>Draf algoritma bergaya kode</a:t>
            </a:r>
            <a:endParaRPr b="0" i="0" sz="2600" u="none" cap="none" strike="noStrike">
              <a:solidFill>
                <a:schemeClr val="dk1"/>
              </a:solidFill>
              <a:latin typeface="Calibri"/>
              <a:ea typeface="Calibri"/>
              <a:cs typeface="Calibri"/>
              <a:sym typeface="Calibri"/>
            </a:endParaRPr>
          </a:p>
          <a:p>
            <a:pPr indent="-342900" lvl="0" marL="342900" marR="0" rtl="0" algn="l">
              <a:spcBef>
                <a:spcPts val="1400"/>
              </a:spcBef>
              <a:spcAft>
                <a:spcPts val="0"/>
              </a:spcAft>
              <a:buClr>
                <a:srgbClr val="FDFBFB"/>
              </a:buClr>
              <a:buSzPts val="2600"/>
              <a:buFont typeface="Calibri"/>
              <a:buChar char="•"/>
            </a:pPr>
            <a:r>
              <a:rPr b="0" i="0" lang="en-US" sz="2600" u="none" cap="none" strike="noStrike">
                <a:solidFill>
                  <a:srgbClr val="FDFBFB"/>
                </a:solidFill>
                <a:latin typeface="Calibri"/>
                <a:ea typeface="Calibri"/>
                <a:cs typeface="Calibri"/>
                <a:sym typeface="Calibri"/>
              </a:rPr>
              <a:t>Tidak terikat sintaks bahasa tertentu</a:t>
            </a:r>
            <a:endParaRPr b="0" i="0" sz="2600" u="none" cap="none" strike="noStrike">
              <a:solidFill>
                <a:schemeClr val="dk1"/>
              </a:solidFill>
              <a:latin typeface="Calibri"/>
              <a:ea typeface="Calibri"/>
              <a:cs typeface="Calibri"/>
              <a:sym typeface="Calibri"/>
            </a:endParaRPr>
          </a:p>
          <a:p>
            <a:pPr indent="-342900" lvl="0" marL="342900" marR="0" rtl="0" algn="l">
              <a:spcBef>
                <a:spcPts val="1400"/>
              </a:spcBef>
              <a:spcAft>
                <a:spcPts val="0"/>
              </a:spcAft>
              <a:buClr>
                <a:srgbClr val="FDFBFB"/>
              </a:buClr>
              <a:buSzPts val="2600"/>
              <a:buFont typeface="Calibri"/>
              <a:buChar char="•"/>
            </a:pPr>
            <a:r>
              <a:rPr b="0" i="0" lang="en-US" sz="2600" u="none" cap="none" strike="noStrike">
                <a:solidFill>
                  <a:srgbClr val="FDFBFB"/>
                </a:solidFill>
                <a:latin typeface="Calibri"/>
                <a:ea typeface="Calibri"/>
                <a:cs typeface="Calibri"/>
                <a:sym typeface="Calibri"/>
              </a:rPr>
              <a:t>Satu baris = satu instruksi</a:t>
            </a:r>
            <a:endParaRPr b="0" i="0" sz="2600" u="none" cap="none" strike="noStrike">
              <a:solidFill>
                <a:schemeClr val="dk1"/>
              </a:solidFill>
              <a:latin typeface="Calibri"/>
              <a:ea typeface="Calibri"/>
              <a:cs typeface="Calibri"/>
              <a:sym typeface="Calibri"/>
            </a:endParaRPr>
          </a:p>
          <a:p>
            <a:pPr indent="-342900" lvl="0" marL="342900" marR="0" rtl="0" algn="l">
              <a:spcBef>
                <a:spcPts val="1400"/>
              </a:spcBef>
              <a:spcAft>
                <a:spcPts val="0"/>
              </a:spcAft>
              <a:buClr>
                <a:srgbClr val="FDFBFB"/>
              </a:buClr>
              <a:buSzPts val="2600"/>
              <a:buFont typeface="Calibri"/>
              <a:buChar char="•"/>
            </a:pPr>
            <a:r>
              <a:rPr b="0" i="0" lang="en-US" sz="2600" u="none" cap="none" strike="noStrike">
                <a:solidFill>
                  <a:srgbClr val="FDFBFB"/>
                </a:solidFill>
                <a:latin typeface="Calibri"/>
                <a:ea typeface="Calibri"/>
                <a:cs typeface="Calibri"/>
                <a:sym typeface="Calibri"/>
              </a:rPr>
              <a:t>Indentasi menunjukkan blok</a:t>
            </a:r>
            <a:endParaRPr b="0" i="0" sz="2600" u="none" cap="none" strike="noStrike">
              <a:solidFill>
                <a:schemeClr val="dk1"/>
              </a:solidFill>
              <a:latin typeface="Calibri"/>
              <a:ea typeface="Calibri"/>
              <a:cs typeface="Calibri"/>
              <a:sym typeface="Calibri"/>
            </a:endParaRPr>
          </a:p>
        </p:txBody>
      </p:sp>
      <p:sp>
        <p:nvSpPr>
          <p:cNvPr id="267" name="Google Shape;267;p9"/>
          <p:cNvSpPr/>
          <p:nvPr/>
        </p:nvSpPr>
        <p:spPr>
          <a:xfrm>
            <a:off x="8229600" y="731520"/>
            <a:ext cx="9418320" cy="2252980"/>
          </a:xfrm>
          <a:prstGeom prst="roundRect">
            <a:avLst>
              <a:gd fmla="val 6088" name="adj"/>
            </a:avLst>
          </a:prstGeom>
          <a:solidFill>
            <a:srgbClr val="13123D"/>
          </a:solidFill>
          <a:ln cap="flat" cmpd="sng" w="12700">
            <a:solidFill>
              <a:srgbClr val="1312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9"/>
          <p:cNvSpPr txBox="1"/>
          <p:nvPr/>
        </p:nvSpPr>
        <p:spPr>
          <a:xfrm>
            <a:off x="8503920" y="987552"/>
            <a:ext cx="8869680" cy="17957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C93C9"/>
              </a:buClr>
              <a:buSzPts val="2200"/>
              <a:buFont typeface="Courier New"/>
              <a:buNone/>
            </a:pPr>
            <a:r>
              <a:rPr b="0" i="0" lang="en-US" sz="2200" u="none" cap="none" strike="noStrike">
                <a:solidFill>
                  <a:srgbClr val="8C93C9"/>
                </a:solidFill>
                <a:latin typeface="Courier New"/>
                <a:ea typeface="Courier New"/>
                <a:cs typeface="Courier New"/>
                <a:sym typeface="Courier New"/>
              </a:rPr>
              <a:t>// Hitung luas persegi panjang</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CDF59"/>
              </a:buClr>
              <a:buSzPts val="2200"/>
              <a:buFont typeface="Courier New"/>
              <a:buNone/>
            </a:pPr>
            <a:r>
              <a:rPr b="0" i="0" lang="en-US" sz="2200" u="none" cap="none" strike="noStrike">
                <a:solidFill>
                  <a:srgbClr val="FCDF59"/>
                </a:solidFill>
                <a:latin typeface="Courier New"/>
                <a:ea typeface="Courier New"/>
                <a:cs typeface="Courier New"/>
                <a:sym typeface="Courier New"/>
              </a:rPr>
              <a:t>input</a:t>
            </a:r>
            <a:r>
              <a:rPr b="0" i="0" lang="en-US" sz="2200" u="none" cap="none" strike="noStrike">
                <a:solidFill>
                  <a:srgbClr val="E8ECFF"/>
                </a:solidFill>
                <a:latin typeface="Courier New"/>
                <a:ea typeface="Courier New"/>
                <a:cs typeface="Courier New"/>
                <a:sym typeface="Courier New"/>
              </a:rPr>
              <a:t> panjang</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CDF59"/>
              </a:buClr>
              <a:buSzPts val="2200"/>
              <a:buFont typeface="Courier New"/>
              <a:buNone/>
            </a:pPr>
            <a:r>
              <a:rPr b="0" i="0" lang="en-US" sz="2200" u="none" cap="none" strike="noStrike">
                <a:solidFill>
                  <a:srgbClr val="FCDF59"/>
                </a:solidFill>
                <a:latin typeface="Courier New"/>
                <a:ea typeface="Courier New"/>
                <a:cs typeface="Courier New"/>
                <a:sym typeface="Courier New"/>
              </a:rPr>
              <a:t>input</a:t>
            </a:r>
            <a:r>
              <a:rPr b="0" i="0" lang="en-US" sz="2200" u="none" cap="none" strike="noStrike">
                <a:solidFill>
                  <a:srgbClr val="E8ECFF"/>
                </a:solidFill>
                <a:latin typeface="Courier New"/>
                <a:ea typeface="Courier New"/>
                <a:cs typeface="Courier New"/>
                <a:sym typeface="Courier New"/>
              </a:rPr>
              <a:t> lebar</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200"/>
              <a:buFont typeface="Courier New"/>
              <a:buNone/>
            </a:pPr>
            <a:r>
              <a:rPr b="0" i="0" lang="en-US" sz="2200" u="none" cap="none" strike="noStrike">
                <a:solidFill>
                  <a:srgbClr val="E8ECFF"/>
                </a:solidFill>
                <a:latin typeface="Courier New"/>
                <a:ea typeface="Courier New"/>
                <a:cs typeface="Courier New"/>
                <a:sym typeface="Courier New"/>
              </a:rPr>
              <a:t>luas = panjang * lebar</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CDF59"/>
              </a:buClr>
              <a:buSzPts val="2200"/>
              <a:buFont typeface="Courier New"/>
              <a:buNone/>
            </a:pPr>
            <a:r>
              <a:rPr b="0" i="0" lang="en-US" sz="2200" u="none" cap="none" strike="noStrike">
                <a:solidFill>
                  <a:srgbClr val="FCDF59"/>
                </a:solidFill>
                <a:latin typeface="Courier New"/>
                <a:ea typeface="Courier New"/>
                <a:cs typeface="Courier New"/>
                <a:sym typeface="Courier New"/>
              </a:rPr>
              <a:t>print</a:t>
            </a:r>
            <a:r>
              <a:rPr b="0" i="0" lang="en-US" sz="2200" u="none" cap="none" strike="noStrike">
                <a:solidFill>
                  <a:srgbClr val="E8ECFF"/>
                </a:solidFill>
                <a:latin typeface="Courier New"/>
                <a:ea typeface="Courier New"/>
                <a:cs typeface="Courier New"/>
                <a:sym typeface="Courier New"/>
              </a:rPr>
              <a:t> </a:t>
            </a:r>
            <a:r>
              <a:rPr b="0" i="0" lang="en-US" sz="2200" u="none" cap="none" strike="noStrike">
                <a:solidFill>
                  <a:srgbClr val="A8E6CF"/>
                </a:solidFill>
                <a:latin typeface="Courier New"/>
                <a:ea typeface="Courier New"/>
                <a:cs typeface="Courier New"/>
                <a:sym typeface="Courier New"/>
              </a:rPr>
              <a:t>"Luas = "</a:t>
            </a:r>
            <a:r>
              <a:rPr b="0" i="0" lang="en-US" sz="2200" u="none" cap="none" strike="noStrike">
                <a:solidFill>
                  <a:srgbClr val="E8ECFF"/>
                </a:solidFill>
                <a:latin typeface="Courier New"/>
                <a:ea typeface="Courier New"/>
                <a:cs typeface="Courier New"/>
                <a:sym typeface="Courier New"/>
              </a:rPr>
              <a:t> + luas</a:t>
            </a:r>
            <a:endParaRPr b="0" i="0" sz="2200" u="none" cap="none" strike="noStrike">
              <a:solidFill>
                <a:schemeClr val="dk1"/>
              </a:solidFill>
              <a:latin typeface="Calibri"/>
              <a:ea typeface="Calibri"/>
              <a:cs typeface="Calibri"/>
              <a:sym typeface="Calibri"/>
            </a:endParaRPr>
          </a:p>
        </p:txBody>
      </p:sp>
      <p:sp>
        <p:nvSpPr>
          <p:cNvPr id="269" name="Google Shape;269;p9"/>
          <p:cNvSpPr txBox="1"/>
          <p:nvPr/>
        </p:nvSpPr>
        <p:spPr>
          <a:xfrm>
            <a:off x="8229600" y="4206240"/>
            <a:ext cx="941832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700"/>
              <a:buFont typeface="Calibri"/>
              <a:buNone/>
            </a:pPr>
            <a:r>
              <a:rPr b="1" i="0" lang="en-US" sz="2700" u="none" cap="none" strike="noStrike">
                <a:solidFill>
                  <a:srgbClr val="162CA2"/>
                </a:solidFill>
                <a:latin typeface="Calibri"/>
                <a:ea typeface="Calibri"/>
                <a:cs typeface="Calibri"/>
                <a:sym typeface="Calibri"/>
              </a:rPr>
              <a:t>Logika sama, sintaks berbeda</a:t>
            </a:r>
            <a:endParaRPr b="0" i="0" sz="2700" u="none" cap="none" strike="noStrike">
              <a:solidFill>
                <a:schemeClr val="dk1"/>
              </a:solidFill>
              <a:latin typeface="Calibri"/>
              <a:ea typeface="Calibri"/>
              <a:cs typeface="Calibri"/>
              <a:sym typeface="Calibri"/>
            </a:endParaRPr>
          </a:p>
        </p:txBody>
      </p:sp>
      <p:sp>
        <p:nvSpPr>
          <p:cNvPr id="270" name="Google Shape;270;p9"/>
          <p:cNvSpPr/>
          <p:nvPr/>
        </p:nvSpPr>
        <p:spPr>
          <a:xfrm>
            <a:off x="8229600" y="4937760"/>
            <a:ext cx="9418320" cy="1143000"/>
          </a:xfrm>
          <a:prstGeom prst="roundRect">
            <a:avLst>
              <a:gd fmla="val 12000"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9"/>
          <p:cNvSpPr/>
          <p:nvPr/>
        </p:nvSpPr>
        <p:spPr>
          <a:xfrm>
            <a:off x="8503920" y="5166360"/>
            <a:ext cx="2743200" cy="685800"/>
          </a:xfrm>
          <a:prstGeom prst="roundRect">
            <a:avLst>
              <a:gd fmla="val 16000"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2400"/>
              <a:buFont typeface="Calibri"/>
              <a:buNone/>
            </a:pPr>
            <a:r>
              <a:rPr b="1" i="0" lang="en-US" sz="2400" u="none" cap="none" strike="noStrike">
                <a:solidFill>
                  <a:srgbClr val="FDFBFB"/>
                </a:solidFill>
                <a:latin typeface="Calibri"/>
                <a:ea typeface="Calibri"/>
                <a:cs typeface="Calibri"/>
                <a:sym typeface="Calibri"/>
              </a:rPr>
              <a:t>Python</a:t>
            </a:r>
            <a:endParaRPr b="0" i="0" sz="2400" u="none" cap="none" strike="noStrike">
              <a:solidFill>
                <a:schemeClr val="dk1"/>
              </a:solidFill>
              <a:latin typeface="Calibri"/>
              <a:ea typeface="Calibri"/>
              <a:cs typeface="Calibri"/>
              <a:sym typeface="Calibri"/>
            </a:endParaRPr>
          </a:p>
        </p:txBody>
      </p:sp>
      <p:sp>
        <p:nvSpPr>
          <p:cNvPr id="272" name="Google Shape;272;p9"/>
          <p:cNvSpPr txBox="1"/>
          <p:nvPr/>
        </p:nvSpPr>
        <p:spPr>
          <a:xfrm>
            <a:off x="11612880" y="4937760"/>
            <a:ext cx="585216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600"/>
              <a:buFont typeface="Courier New"/>
              <a:buNone/>
            </a:pPr>
            <a:r>
              <a:rPr b="0" i="0" lang="en-US" sz="2600" u="none" cap="none" strike="noStrike">
                <a:solidFill>
                  <a:srgbClr val="13123D"/>
                </a:solidFill>
                <a:latin typeface="Courier New"/>
                <a:ea typeface="Courier New"/>
                <a:cs typeface="Courier New"/>
                <a:sym typeface="Courier New"/>
              </a:rPr>
              <a:t>luas = p * l</a:t>
            </a:r>
            <a:endParaRPr b="0" i="0" sz="2600" u="none" cap="none" strike="noStrike">
              <a:solidFill>
                <a:schemeClr val="dk1"/>
              </a:solidFill>
              <a:latin typeface="Calibri"/>
              <a:ea typeface="Calibri"/>
              <a:cs typeface="Calibri"/>
              <a:sym typeface="Calibri"/>
            </a:endParaRPr>
          </a:p>
        </p:txBody>
      </p:sp>
      <p:sp>
        <p:nvSpPr>
          <p:cNvPr id="273" name="Google Shape;273;p9"/>
          <p:cNvSpPr/>
          <p:nvPr/>
        </p:nvSpPr>
        <p:spPr>
          <a:xfrm>
            <a:off x="8229600" y="6309360"/>
            <a:ext cx="9418320" cy="1143000"/>
          </a:xfrm>
          <a:prstGeom prst="roundRect">
            <a:avLst>
              <a:gd fmla="val 12000"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9"/>
          <p:cNvSpPr/>
          <p:nvPr/>
        </p:nvSpPr>
        <p:spPr>
          <a:xfrm>
            <a:off x="8503920" y="6537960"/>
            <a:ext cx="2743200" cy="685800"/>
          </a:xfrm>
          <a:prstGeom prst="roundRect">
            <a:avLst>
              <a:gd fmla="val 16000"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2400"/>
              <a:buFont typeface="Calibri"/>
              <a:buNone/>
            </a:pPr>
            <a:r>
              <a:rPr b="1" i="0" lang="en-US" sz="2400" u="none" cap="none" strike="noStrike">
                <a:solidFill>
                  <a:srgbClr val="FDFBFB"/>
                </a:solidFill>
                <a:latin typeface="Calibri"/>
                <a:ea typeface="Calibri"/>
                <a:cs typeface="Calibri"/>
                <a:sym typeface="Calibri"/>
              </a:rPr>
              <a:t>JavaScript</a:t>
            </a:r>
            <a:endParaRPr b="0" i="0" sz="2400" u="none" cap="none" strike="noStrike">
              <a:solidFill>
                <a:schemeClr val="dk1"/>
              </a:solidFill>
              <a:latin typeface="Calibri"/>
              <a:ea typeface="Calibri"/>
              <a:cs typeface="Calibri"/>
              <a:sym typeface="Calibri"/>
            </a:endParaRPr>
          </a:p>
        </p:txBody>
      </p:sp>
      <p:sp>
        <p:nvSpPr>
          <p:cNvPr id="275" name="Google Shape;275;p9"/>
          <p:cNvSpPr txBox="1"/>
          <p:nvPr/>
        </p:nvSpPr>
        <p:spPr>
          <a:xfrm>
            <a:off x="11612880" y="6309360"/>
            <a:ext cx="585216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600"/>
              <a:buFont typeface="Courier New"/>
              <a:buNone/>
            </a:pPr>
            <a:r>
              <a:rPr b="0" i="0" lang="en-US" sz="2600" u="none" cap="none" strike="noStrike">
                <a:solidFill>
                  <a:srgbClr val="13123D"/>
                </a:solidFill>
                <a:latin typeface="Courier New"/>
                <a:ea typeface="Courier New"/>
                <a:cs typeface="Courier New"/>
                <a:sym typeface="Courier New"/>
              </a:rPr>
              <a:t>let luas = p * l;</a:t>
            </a:r>
            <a:endParaRPr b="0" i="0" sz="2600" u="none" cap="none" strike="noStrike">
              <a:solidFill>
                <a:schemeClr val="dk1"/>
              </a:solidFill>
              <a:latin typeface="Calibri"/>
              <a:ea typeface="Calibri"/>
              <a:cs typeface="Calibri"/>
              <a:sym typeface="Calibri"/>
            </a:endParaRPr>
          </a:p>
        </p:txBody>
      </p:sp>
      <p:sp>
        <p:nvSpPr>
          <p:cNvPr id="276" name="Google Shape;276;p9"/>
          <p:cNvSpPr/>
          <p:nvPr/>
        </p:nvSpPr>
        <p:spPr>
          <a:xfrm>
            <a:off x="8229600" y="7680960"/>
            <a:ext cx="9418320" cy="1143000"/>
          </a:xfrm>
          <a:prstGeom prst="roundRect">
            <a:avLst>
              <a:gd fmla="val 12000"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9"/>
          <p:cNvSpPr/>
          <p:nvPr/>
        </p:nvSpPr>
        <p:spPr>
          <a:xfrm>
            <a:off x="8503920" y="7909560"/>
            <a:ext cx="2743200" cy="685800"/>
          </a:xfrm>
          <a:prstGeom prst="roundRect">
            <a:avLst>
              <a:gd fmla="val 16000"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2400"/>
              <a:buFont typeface="Calibri"/>
              <a:buNone/>
            </a:pPr>
            <a:r>
              <a:rPr b="1" i="0" lang="en-US" sz="2400" u="none" cap="none" strike="noStrike">
                <a:solidFill>
                  <a:srgbClr val="FDFBFB"/>
                </a:solidFill>
                <a:latin typeface="Calibri"/>
                <a:ea typeface="Calibri"/>
                <a:cs typeface="Calibri"/>
                <a:sym typeface="Calibri"/>
              </a:rPr>
              <a:t>Java</a:t>
            </a:r>
            <a:endParaRPr b="0" i="0" sz="2400" u="none" cap="none" strike="noStrike">
              <a:solidFill>
                <a:schemeClr val="dk1"/>
              </a:solidFill>
              <a:latin typeface="Calibri"/>
              <a:ea typeface="Calibri"/>
              <a:cs typeface="Calibri"/>
              <a:sym typeface="Calibri"/>
            </a:endParaRPr>
          </a:p>
        </p:txBody>
      </p:sp>
      <p:sp>
        <p:nvSpPr>
          <p:cNvPr id="278" name="Google Shape;278;p9"/>
          <p:cNvSpPr txBox="1"/>
          <p:nvPr/>
        </p:nvSpPr>
        <p:spPr>
          <a:xfrm>
            <a:off x="11612880" y="7680960"/>
            <a:ext cx="585216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600"/>
              <a:buFont typeface="Courier New"/>
              <a:buNone/>
            </a:pPr>
            <a:r>
              <a:rPr b="0" i="0" lang="en-US" sz="2600" u="none" cap="none" strike="noStrike">
                <a:solidFill>
                  <a:srgbClr val="13123D"/>
                </a:solidFill>
                <a:latin typeface="Courier New"/>
                <a:ea typeface="Courier New"/>
                <a:cs typeface="Courier New"/>
                <a:sym typeface="Courier New"/>
              </a:rPr>
              <a:t>int luas = p * l;</a:t>
            </a:r>
            <a:endParaRPr b="0" i="0" sz="26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pic>
        <p:nvPicPr>
          <p:cNvPr descr="/home/claude/assets/image6.png" id="284" name="Google Shape;284;p10"/>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285" name="Google Shape;285;p10"/>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286" name="Google Shape;286;p10"/>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BAGIAN 3 · 15 MENIT</a:t>
            </a:r>
            <a:endParaRPr b="0" i="0" sz="2000" u="none" cap="none" strike="noStrike">
              <a:solidFill>
                <a:schemeClr val="dk1"/>
              </a:solidFill>
              <a:latin typeface="Calibri"/>
              <a:ea typeface="Calibri"/>
              <a:cs typeface="Calibri"/>
              <a:sym typeface="Calibri"/>
            </a:endParaRPr>
          </a:p>
        </p:txBody>
      </p:sp>
      <p:sp>
        <p:nvSpPr>
          <p:cNvPr id="287" name="Google Shape;287;p10"/>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Flowchart: Visualisasi Logika</a:t>
            </a:r>
            <a:endParaRPr b="0" i="0" sz="4800" u="none" cap="none" strike="noStrike">
              <a:solidFill>
                <a:schemeClr val="dk1"/>
              </a:solidFill>
              <a:latin typeface="Calibri"/>
              <a:ea typeface="Calibri"/>
              <a:cs typeface="Calibri"/>
              <a:sym typeface="Calibri"/>
            </a:endParaRPr>
          </a:p>
        </p:txBody>
      </p:sp>
      <p:sp>
        <p:nvSpPr>
          <p:cNvPr id="288" name="Google Shape;288;p10"/>
          <p:cNvSpPr/>
          <p:nvPr/>
        </p:nvSpPr>
        <p:spPr>
          <a:xfrm>
            <a:off x="914400" y="4343400"/>
            <a:ext cx="3017520" cy="4206240"/>
          </a:xfrm>
          <a:prstGeom prst="roundRect">
            <a:avLst>
              <a:gd fmla="val 4545"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0"/>
          <p:cNvSpPr/>
          <p:nvPr/>
        </p:nvSpPr>
        <p:spPr>
          <a:xfrm>
            <a:off x="1325880" y="4617720"/>
            <a:ext cx="2194560" cy="1280160"/>
          </a:xfrm>
          <a:prstGeom prst="flowChartTerminator">
            <a:avLst/>
          </a:prstGeom>
          <a:solidFill>
            <a:srgbClr val="162CA2"/>
          </a:solidFill>
          <a:ln cap="flat" cmpd="sng" w="25400">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2000"/>
              <a:buFont typeface="Calibri"/>
              <a:buNone/>
            </a:pPr>
            <a:r>
              <a:rPr b="1" i="0" lang="en-US" sz="2000" u="none" cap="none" strike="noStrike">
                <a:solidFill>
                  <a:srgbClr val="FDFBFB"/>
                </a:solidFill>
                <a:latin typeface="Calibri"/>
                <a:ea typeface="Calibri"/>
                <a:cs typeface="Calibri"/>
                <a:sym typeface="Calibri"/>
              </a:rPr>
              <a:t>Mulai</a:t>
            </a:r>
            <a:endParaRPr b="0" i="0" sz="2000" u="none" cap="none" strike="noStrike">
              <a:solidFill>
                <a:schemeClr val="dk1"/>
              </a:solidFill>
              <a:latin typeface="Calibri"/>
              <a:ea typeface="Calibri"/>
              <a:cs typeface="Calibri"/>
              <a:sym typeface="Calibri"/>
            </a:endParaRPr>
          </a:p>
        </p:txBody>
      </p:sp>
      <p:sp>
        <p:nvSpPr>
          <p:cNvPr id="290" name="Google Shape;290;p10"/>
          <p:cNvSpPr txBox="1"/>
          <p:nvPr/>
        </p:nvSpPr>
        <p:spPr>
          <a:xfrm>
            <a:off x="1005840" y="6217920"/>
            <a:ext cx="2834640"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Mulai / Selesai</a:t>
            </a:r>
            <a:endParaRPr b="0" i="0" sz="2400" u="none" cap="none" strike="noStrike">
              <a:solidFill>
                <a:schemeClr val="dk1"/>
              </a:solidFill>
              <a:latin typeface="Calibri"/>
              <a:ea typeface="Calibri"/>
              <a:cs typeface="Calibri"/>
              <a:sym typeface="Calibri"/>
            </a:endParaRPr>
          </a:p>
        </p:txBody>
      </p:sp>
      <p:sp>
        <p:nvSpPr>
          <p:cNvPr id="291" name="Google Shape;291;p10"/>
          <p:cNvSpPr txBox="1"/>
          <p:nvPr/>
        </p:nvSpPr>
        <p:spPr>
          <a:xfrm>
            <a:off x="1143000" y="6903720"/>
            <a:ext cx="2560320" cy="15544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A5F86"/>
              </a:buClr>
              <a:buSzPts val="2000"/>
              <a:buFont typeface="Calibri"/>
              <a:buNone/>
            </a:pPr>
            <a:r>
              <a:rPr b="0" i="0" lang="en-US" sz="2000" u="none" cap="none" strike="noStrike">
                <a:solidFill>
                  <a:srgbClr val="5A5F86"/>
                </a:solidFill>
                <a:latin typeface="Calibri"/>
                <a:ea typeface="Calibri"/>
                <a:cs typeface="Calibri"/>
                <a:sym typeface="Calibri"/>
              </a:rPr>
              <a:t>Titik awal dan akhir alur</a:t>
            </a:r>
            <a:endParaRPr b="0" i="0" sz="2000" u="none" cap="none" strike="noStrike">
              <a:solidFill>
                <a:schemeClr val="dk1"/>
              </a:solidFill>
              <a:latin typeface="Calibri"/>
              <a:ea typeface="Calibri"/>
              <a:cs typeface="Calibri"/>
              <a:sym typeface="Calibri"/>
            </a:endParaRPr>
          </a:p>
        </p:txBody>
      </p:sp>
      <p:sp>
        <p:nvSpPr>
          <p:cNvPr id="292" name="Google Shape;292;p10"/>
          <p:cNvSpPr/>
          <p:nvPr/>
        </p:nvSpPr>
        <p:spPr>
          <a:xfrm>
            <a:off x="4279392" y="4343400"/>
            <a:ext cx="3017520" cy="4206240"/>
          </a:xfrm>
          <a:prstGeom prst="roundRect">
            <a:avLst>
              <a:gd fmla="val 4545"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0"/>
          <p:cNvSpPr/>
          <p:nvPr/>
        </p:nvSpPr>
        <p:spPr>
          <a:xfrm>
            <a:off x="4690872" y="4617720"/>
            <a:ext cx="2194560" cy="1280160"/>
          </a:xfrm>
          <a:prstGeom prst="parallelogram">
            <a:avLst>
              <a:gd fmla="val 25000" name="adj"/>
            </a:avLst>
          </a:prstGeom>
          <a:solidFill>
            <a:srgbClr val="162CA2"/>
          </a:solidFill>
          <a:ln cap="flat" cmpd="sng" w="25400">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2000"/>
              <a:buFont typeface="Calibri"/>
              <a:buNone/>
            </a:pPr>
            <a:r>
              <a:rPr b="1" i="0" lang="en-US" sz="2000" u="none" cap="none" strike="noStrike">
                <a:solidFill>
                  <a:srgbClr val="FDFBFB"/>
                </a:solidFill>
                <a:latin typeface="Calibri"/>
                <a:ea typeface="Calibri"/>
                <a:cs typeface="Calibri"/>
                <a:sym typeface="Calibri"/>
              </a:rPr>
              <a:t>Input</a:t>
            </a:r>
            <a:endParaRPr b="0" i="0" sz="2000" u="none" cap="none" strike="noStrike">
              <a:solidFill>
                <a:schemeClr val="dk1"/>
              </a:solidFill>
              <a:latin typeface="Calibri"/>
              <a:ea typeface="Calibri"/>
              <a:cs typeface="Calibri"/>
              <a:sym typeface="Calibri"/>
            </a:endParaRPr>
          </a:p>
        </p:txBody>
      </p:sp>
      <p:sp>
        <p:nvSpPr>
          <p:cNvPr id="294" name="Google Shape;294;p10"/>
          <p:cNvSpPr txBox="1"/>
          <p:nvPr/>
        </p:nvSpPr>
        <p:spPr>
          <a:xfrm>
            <a:off x="4370832" y="6217920"/>
            <a:ext cx="2834640"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Input / Output</a:t>
            </a:r>
            <a:endParaRPr b="0" i="0" sz="2400" u="none" cap="none" strike="noStrike">
              <a:solidFill>
                <a:schemeClr val="dk1"/>
              </a:solidFill>
              <a:latin typeface="Calibri"/>
              <a:ea typeface="Calibri"/>
              <a:cs typeface="Calibri"/>
              <a:sym typeface="Calibri"/>
            </a:endParaRPr>
          </a:p>
        </p:txBody>
      </p:sp>
      <p:sp>
        <p:nvSpPr>
          <p:cNvPr id="295" name="Google Shape;295;p10"/>
          <p:cNvSpPr txBox="1"/>
          <p:nvPr/>
        </p:nvSpPr>
        <p:spPr>
          <a:xfrm>
            <a:off x="4507992" y="6903720"/>
            <a:ext cx="2560320" cy="15544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A5F86"/>
              </a:buClr>
              <a:buSzPts val="2000"/>
              <a:buFont typeface="Calibri"/>
              <a:buNone/>
            </a:pPr>
            <a:r>
              <a:rPr b="0" i="0" lang="en-US" sz="2000" u="none" cap="none" strike="noStrike">
                <a:solidFill>
                  <a:srgbClr val="5A5F86"/>
                </a:solidFill>
                <a:latin typeface="Calibri"/>
                <a:ea typeface="Calibri"/>
                <a:cs typeface="Calibri"/>
                <a:sym typeface="Calibri"/>
              </a:rPr>
              <a:t>Membaca data atau menampilkan hasil</a:t>
            </a:r>
            <a:endParaRPr b="0" i="0" sz="2000" u="none" cap="none" strike="noStrike">
              <a:solidFill>
                <a:schemeClr val="dk1"/>
              </a:solidFill>
              <a:latin typeface="Calibri"/>
              <a:ea typeface="Calibri"/>
              <a:cs typeface="Calibri"/>
              <a:sym typeface="Calibri"/>
            </a:endParaRPr>
          </a:p>
        </p:txBody>
      </p:sp>
      <p:sp>
        <p:nvSpPr>
          <p:cNvPr id="296" name="Google Shape;296;p10"/>
          <p:cNvSpPr/>
          <p:nvPr/>
        </p:nvSpPr>
        <p:spPr>
          <a:xfrm>
            <a:off x="7644384" y="4343400"/>
            <a:ext cx="3017520" cy="4206240"/>
          </a:xfrm>
          <a:prstGeom prst="roundRect">
            <a:avLst>
              <a:gd fmla="val 4545"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0"/>
          <p:cNvSpPr txBox="1"/>
          <p:nvPr/>
        </p:nvSpPr>
        <p:spPr>
          <a:xfrm>
            <a:off x="8055864" y="4617720"/>
            <a:ext cx="2194560" cy="1280160"/>
          </a:xfrm>
          <a:prstGeom prst="rect">
            <a:avLst/>
          </a:prstGeom>
          <a:solidFill>
            <a:srgbClr val="162CA2"/>
          </a:solidFill>
          <a:ln cap="flat" cmpd="sng" w="25400">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2000"/>
              <a:buFont typeface="Calibri"/>
              <a:buNone/>
            </a:pPr>
            <a:r>
              <a:rPr b="1" i="0" lang="en-US" sz="2000" u="none" cap="none" strike="noStrike">
                <a:solidFill>
                  <a:srgbClr val="FDFBFB"/>
                </a:solidFill>
                <a:latin typeface="Calibri"/>
                <a:ea typeface="Calibri"/>
                <a:cs typeface="Calibri"/>
                <a:sym typeface="Calibri"/>
              </a:rPr>
              <a:t>Hitung</a:t>
            </a:r>
            <a:endParaRPr b="0" i="0" sz="2000" u="none" cap="none" strike="noStrike">
              <a:solidFill>
                <a:schemeClr val="dk1"/>
              </a:solidFill>
              <a:latin typeface="Calibri"/>
              <a:ea typeface="Calibri"/>
              <a:cs typeface="Calibri"/>
              <a:sym typeface="Calibri"/>
            </a:endParaRPr>
          </a:p>
        </p:txBody>
      </p:sp>
      <p:sp>
        <p:nvSpPr>
          <p:cNvPr id="298" name="Google Shape;298;p10"/>
          <p:cNvSpPr txBox="1"/>
          <p:nvPr/>
        </p:nvSpPr>
        <p:spPr>
          <a:xfrm>
            <a:off x="7735824" y="6217920"/>
            <a:ext cx="2834640"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Proses</a:t>
            </a:r>
            <a:endParaRPr b="0" i="0" sz="2400" u="none" cap="none" strike="noStrike">
              <a:solidFill>
                <a:schemeClr val="dk1"/>
              </a:solidFill>
              <a:latin typeface="Calibri"/>
              <a:ea typeface="Calibri"/>
              <a:cs typeface="Calibri"/>
              <a:sym typeface="Calibri"/>
            </a:endParaRPr>
          </a:p>
        </p:txBody>
      </p:sp>
      <p:sp>
        <p:nvSpPr>
          <p:cNvPr id="299" name="Google Shape;299;p10"/>
          <p:cNvSpPr txBox="1"/>
          <p:nvPr/>
        </p:nvSpPr>
        <p:spPr>
          <a:xfrm>
            <a:off x="7872984" y="6903720"/>
            <a:ext cx="2560320" cy="15544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A5F86"/>
              </a:buClr>
              <a:buSzPts val="2000"/>
              <a:buFont typeface="Calibri"/>
              <a:buNone/>
            </a:pPr>
            <a:r>
              <a:rPr b="0" i="0" lang="en-US" sz="2000" u="none" cap="none" strike="noStrike">
                <a:solidFill>
                  <a:srgbClr val="5A5F86"/>
                </a:solidFill>
                <a:latin typeface="Calibri"/>
                <a:ea typeface="Calibri"/>
                <a:cs typeface="Calibri"/>
                <a:sym typeface="Calibri"/>
              </a:rPr>
              <a:t>Perhitungan atau pemberian nilai</a:t>
            </a:r>
            <a:endParaRPr b="0" i="0" sz="2000" u="none" cap="none" strike="noStrike">
              <a:solidFill>
                <a:schemeClr val="dk1"/>
              </a:solidFill>
              <a:latin typeface="Calibri"/>
              <a:ea typeface="Calibri"/>
              <a:cs typeface="Calibri"/>
              <a:sym typeface="Calibri"/>
            </a:endParaRPr>
          </a:p>
        </p:txBody>
      </p:sp>
      <p:sp>
        <p:nvSpPr>
          <p:cNvPr id="300" name="Google Shape;300;p10"/>
          <p:cNvSpPr/>
          <p:nvPr/>
        </p:nvSpPr>
        <p:spPr>
          <a:xfrm>
            <a:off x="11009376" y="4343400"/>
            <a:ext cx="3017520" cy="4206240"/>
          </a:xfrm>
          <a:prstGeom prst="roundRect">
            <a:avLst>
              <a:gd fmla="val 4545"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0"/>
          <p:cNvSpPr/>
          <p:nvPr/>
        </p:nvSpPr>
        <p:spPr>
          <a:xfrm>
            <a:off x="11420856" y="4617720"/>
            <a:ext cx="2194560" cy="1280160"/>
          </a:xfrm>
          <a:prstGeom prst="flowChartDecision">
            <a:avLst/>
          </a:prstGeom>
          <a:solidFill>
            <a:srgbClr val="162CA2"/>
          </a:solidFill>
          <a:ln cap="flat" cmpd="sng" w="25400">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2000"/>
              <a:buFont typeface="Calibri"/>
              <a:buNone/>
            </a:pPr>
            <a:r>
              <a:rPr b="1" i="0" lang="en-US" sz="2000" u="none" cap="none" strike="noStrike">
                <a:solidFill>
                  <a:srgbClr val="FDFBFB"/>
                </a:solidFill>
                <a:latin typeface="Calibri"/>
                <a:ea typeface="Calibri"/>
                <a:cs typeface="Calibri"/>
                <a:sym typeface="Calibri"/>
              </a:rPr>
              <a:t>a &gt; b?</a:t>
            </a:r>
            <a:endParaRPr b="0" i="0" sz="2000" u="none" cap="none" strike="noStrike">
              <a:solidFill>
                <a:schemeClr val="dk1"/>
              </a:solidFill>
              <a:latin typeface="Calibri"/>
              <a:ea typeface="Calibri"/>
              <a:cs typeface="Calibri"/>
              <a:sym typeface="Calibri"/>
            </a:endParaRPr>
          </a:p>
        </p:txBody>
      </p:sp>
      <p:sp>
        <p:nvSpPr>
          <p:cNvPr id="302" name="Google Shape;302;p10"/>
          <p:cNvSpPr txBox="1"/>
          <p:nvPr/>
        </p:nvSpPr>
        <p:spPr>
          <a:xfrm>
            <a:off x="11100816" y="6217920"/>
            <a:ext cx="2834640"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Keputusan</a:t>
            </a:r>
            <a:endParaRPr b="0" i="0" sz="2400" u="none" cap="none" strike="noStrike">
              <a:solidFill>
                <a:schemeClr val="dk1"/>
              </a:solidFill>
              <a:latin typeface="Calibri"/>
              <a:ea typeface="Calibri"/>
              <a:cs typeface="Calibri"/>
              <a:sym typeface="Calibri"/>
            </a:endParaRPr>
          </a:p>
        </p:txBody>
      </p:sp>
      <p:sp>
        <p:nvSpPr>
          <p:cNvPr id="303" name="Google Shape;303;p10"/>
          <p:cNvSpPr txBox="1"/>
          <p:nvPr/>
        </p:nvSpPr>
        <p:spPr>
          <a:xfrm>
            <a:off x="11237976" y="6903720"/>
            <a:ext cx="2560320" cy="15544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A5F86"/>
              </a:buClr>
              <a:buSzPts val="2000"/>
              <a:buFont typeface="Calibri"/>
              <a:buNone/>
            </a:pPr>
            <a:r>
              <a:rPr b="0" i="0" lang="en-US" sz="2000" u="none" cap="none" strike="noStrike">
                <a:solidFill>
                  <a:srgbClr val="5A5F86"/>
                </a:solidFill>
                <a:latin typeface="Calibri"/>
                <a:ea typeface="Calibri"/>
                <a:cs typeface="Calibri"/>
                <a:sym typeface="Calibri"/>
              </a:rPr>
              <a:t>Percabangan dengan jalur Ya / Tidak</a:t>
            </a:r>
            <a:endParaRPr b="0" i="0" sz="2000" u="none" cap="none" strike="noStrike">
              <a:solidFill>
                <a:schemeClr val="dk1"/>
              </a:solidFill>
              <a:latin typeface="Calibri"/>
              <a:ea typeface="Calibri"/>
              <a:cs typeface="Calibri"/>
              <a:sym typeface="Calibri"/>
            </a:endParaRPr>
          </a:p>
        </p:txBody>
      </p:sp>
      <p:sp>
        <p:nvSpPr>
          <p:cNvPr id="304" name="Google Shape;304;p10"/>
          <p:cNvSpPr/>
          <p:nvPr/>
        </p:nvSpPr>
        <p:spPr>
          <a:xfrm>
            <a:off x="14374368" y="4343400"/>
            <a:ext cx="3017520" cy="4206240"/>
          </a:xfrm>
          <a:prstGeom prst="roundRect">
            <a:avLst>
              <a:gd fmla="val 4545"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5" name="Google Shape;305;p10"/>
          <p:cNvCxnSpPr/>
          <p:nvPr/>
        </p:nvCxnSpPr>
        <p:spPr>
          <a:xfrm>
            <a:off x="14831568" y="5257800"/>
            <a:ext cx="2103120" cy="0"/>
          </a:xfrm>
          <a:prstGeom prst="straightConnector1">
            <a:avLst/>
          </a:prstGeom>
          <a:noFill/>
          <a:ln cap="flat" cmpd="sng" w="31750">
            <a:solidFill>
              <a:srgbClr val="162CA2"/>
            </a:solidFill>
            <a:prstDash val="solid"/>
            <a:round/>
            <a:headEnd len="sm" w="sm" type="none"/>
            <a:tailEnd len="med" w="med" type="triangle"/>
          </a:ln>
        </p:spPr>
      </p:cxnSp>
      <p:sp>
        <p:nvSpPr>
          <p:cNvPr id="306" name="Google Shape;306;p10"/>
          <p:cNvSpPr txBox="1"/>
          <p:nvPr/>
        </p:nvSpPr>
        <p:spPr>
          <a:xfrm>
            <a:off x="14465808" y="6217920"/>
            <a:ext cx="2834640"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Arah alur</a:t>
            </a:r>
            <a:endParaRPr b="0" i="0" sz="2400" u="none" cap="none" strike="noStrike">
              <a:solidFill>
                <a:schemeClr val="dk1"/>
              </a:solidFill>
              <a:latin typeface="Calibri"/>
              <a:ea typeface="Calibri"/>
              <a:cs typeface="Calibri"/>
              <a:sym typeface="Calibri"/>
            </a:endParaRPr>
          </a:p>
        </p:txBody>
      </p:sp>
      <p:sp>
        <p:nvSpPr>
          <p:cNvPr id="307" name="Google Shape;307;p10"/>
          <p:cNvSpPr txBox="1"/>
          <p:nvPr/>
        </p:nvSpPr>
        <p:spPr>
          <a:xfrm>
            <a:off x="14602968" y="6903720"/>
            <a:ext cx="2560320" cy="15544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A5F86"/>
              </a:buClr>
              <a:buSzPts val="2000"/>
              <a:buFont typeface="Calibri"/>
              <a:buNone/>
            </a:pPr>
            <a:r>
              <a:rPr b="0" i="0" lang="en-US" sz="2000" u="none" cap="none" strike="noStrike">
                <a:solidFill>
                  <a:srgbClr val="5A5F86"/>
                </a:solidFill>
                <a:latin typeface="Calibri"/>
                <a:ea typeface="Calibri"/>
                <a:cs typeface="Calibri"/>
                <a:sym typeface="Calibri"/>
              </a:rPr>
              <a:t>Menghubungkan antar-langkah</a:t>
            </a:r>
            <a:endParaRPr b="0" i="0" sz="2000" u="none" cap="none" strike="noStrike">
              <a:solidFill>
                <a:schemeClr val="dk1"/>
              </a:solidFill>
              <a:latin typeface="Calibri"/>
              <a:ea typeface="Calibri"/>
              <a:cs typeface="Calibri"/>
              <a:sym typeface="Calibri"/>
            </a:endParaRPr>
          </a:p>
        </p:txBody>
      </p:sp>
      <p:sp>
        <p:nvSpPr>
          <p:cNvPr id="308" name="Google Shape;308;p10"/>
          <p:cNvSpPr txBox="1"/>
          <p:nvPr/>
        </p:nvSpPr>
        <p:spPr>
          <a:xfrm>
            <a:off x="914400" y="8869680"/>
            <a:ext cx="164592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CA2"/>
              </a:buClr>
              <a:buSzPts val="2600"/>
              <a:buFont typeface="Calibri"/>
              <a:buNone/>
            </a:pPr>
            <a:r>
              <a:rPr b="1" i="0" lang="en-US" sz="2600" u="none" cap="none" strike="noStrike">
                <a:solidFill>
                  <a:srgbClr val="162CA2"/>
                </a:solidFill>
                <a:latin typeface="Calibri"/>
                <a:ea typeface="Calibri"/>
                <a:cs typeface="Calibri"/>
                <a:sym typeface="Calibri"/>
              </a:rPr>
              <a:t>Aturan: </a:t>
            </a:r>
            <a:r>
              <a:rPr b="0" i="0" lang="en-US" sz="2600" u="none" cap="none" strike="noStrike">
                <a:solidFill>
                  <a:srgbClr val="13123D"/>
                </a:solidFill>
                <a:latin typeface="Calibri"/>
                <a:ea typeface="Calibri"/>
                <a:cs typeface="Calibri"/>
                <a:sym typeface="Calibri"/>
              </a:rPr>
              <a:t>satu titik Mulai, satu titik Selesai, alur dibaca dari atas ke bawah.</a:t>
            </a:r>
            <a:endParaRPr b="0" i="0" sz="26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pic>
        <p:nvPicPr>
          <p:cNvPr descr="/home/claude/assets/image6.png" id="314" name="Google Shape;314;p11"/>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315" name="Google Shape;315;p11"/>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316" name="Google Shape;316;p11"/>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BAGIAN 3 · 15 MENIT</a:t>
            </a:r>
            <a:endParaRPr b="0" i="0" sz="2000" u="none" cap="none" strike="noStrike">
              <a:solidFill>
                <a:schemeClr val="dk1"/>
              </a:solidFill>
              <a:latin typeface="Calibri"/>
              <a:ea typeface="Calibri"/>
              <a:cs typeface="Calibri"/>
              <a:sym typeface="Calibri"/>
            </a:endParaRPr>
          </a:p>
        </p:txBody>
      </p:sp>
      <p:sp>
        <p:nvSpPr>
          <p:cNvPr id="317" name="Google Shape;317;p11"/>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Contoh Flowchart: Ganjil atau Genap</a:t>
            </a:r>
            <a:endParaRPr b="0" i="0" sz="4800" u="none" cap="none" strike="noStrike">
              <a:solidFill>
                <a:schemeClr val="dk1"/>
              </a:solidFill>
              <a:latin typeface="Calibri"/>
              <a:ea typeface="Calibri"/>
              <a:cs typeface="Calibri"/>
              <a:sym typeface="Calibri"/>
            </a:endParaRPr>
          </a:p>
        </p:txBody>
      </p:sp>
      <p:sp>
        <p:nvSpPr>
          <p:cNvPr id="318" name="Google Shape;318;p11"/>
          <p:cNvSpPr/>
          <p:nvPr/>
        </p:nvSpPr>
        <p:spPr>
          <a:xfrm>
            <a:off x="914400" y="6629400"/>
            <a:ext cx="1737360" cy="640080"/>
          </a:xfrm>
          <a:prstGeom prst="flowChartTerminator">
            <a:avLst/>
          </a:prstGeom>
          <a:solidFill>
            <a:srgbClr val="162CA2"/>
          </a:solidFill>
          <a:ln cap="flat" cmpd="sng" w="25400">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2200"/>
              <a:buFont typeface="Calibri"/>
              <a:buNone/>
            </a:pPr>
            <a:r>
              <a:rPr b="1" i="0" lang="en-US" sz="2200" u="none" cap="none" strike="noStrike">
                <a:solidFill>
                  <a:srgbClr val="FDFBFB"/>
                </a:solidFill>
                <a:latin typeface="Calibri"/>
                <a:ea typeface="Calibri"/>
                <a:cs typeface="Calibri"/>
                <a:sym typeface="Calibri"/>
              </a:rPr>
              <a:t>Mulai</a:t>
            </a:r>
            <a:endParaRPr b="0" i="0" sz="2200" u="none" cap="none" strike="noStrike">
              <a:solidFill>
                <a:schemeClr val="dk1"/>
              </a:solidFill>
              <a:latin typeface="Calibri"/>
              <a:ea typeface="Calibri"/>
              <a:cs typeface="Calibri"/>
              <a:sym typeface="Calibri"/>
            </a:endParaRPr>
          </a:p>
        </p:txBody>
      </p:sp>
      <p:cxnSp>
        <p:nvCxnSpPr>
          <p:cNvPr id="319" name="Google Shape;319;p11"/>
          <p:cNvCxnSpPr/>
          <p:nvPr/>
        </p:nvCxnSpPr>
        <p:spPr>
          <a:xfrm>
            <a:off x="2651760" y="6949440"/>
            <a:ext cx="457200" cy="0"/>
          </a:xfrm>
          <a:prstGeom prst="straightConnector1">
            <a:avLst/>
          </a:prstGeom>
          <a:noFill/>
          <a:ln cap="flat" cmpd="sng" w="31750">
            <a:solidFill>
              <a:srgbClr val="162CA2"/>
            </a:solidFill>
            <a:prstDash val="solid"/>
            <a:round/>
            <a:headEnd len="sm" w="sm" type="none"/>
            <a:tailEnd len="med" w="med" type="triangle"/>
          </a:ln>
        </p:spPr>
      </p:cxnSp>
      <p:sp>
        <p:nvSpPr>
          <p:cNvPr id="320" name="Google Shape;320;p11"/>
          <p:cNvSpPr/>
          <p:nvPr/>
        </p:nvSpPr>
        <p:spPr>
          <a:xfrm>
            <a:off x="3108960" y="6583680"/>
            <a:ext cx="2468880" cy="731520"/>
          </a:xfrm>
          <a:prstGeom prst="parallelogram">
            <a:avLst>
              <a:gd fmla="val 25000" name="adj"/>
            </a:avLst>
          </a:prstGeom>
          <a:solidFill>
            <a:srgbClr val="D9E0F7"/>
          </a:solidFill>
          <a:ln cap="flat" cmpd="sng" w="25400">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3123D"/>
              </a:buClr>
              <a:buSzPts val="2000"/>
              <a:buFont typeface="Calibri"/>
              <a:buNone/>
            </a:pPr>
            <a:r>
              <a:rPr b="1" i="0" lang="en-US" sz="2000" u="none" cap="none" strike="noStrike">
                <a:solidFill>
                  <a:srgbClr val="13123D"/>
                </a:solidFill>
                <a:latin typeface="Calibri"/>
                <a:ea typeface="Calibri"/>
                <a:cs typeface="Calibri"/>
                <a:sym typeface="Calibri"/>
              </a:rPr>
              <a:t>Input angka</a:t>
            </a:r>
            <a:endParaRPr b="0" i="0" sz="2000" u="none" cap="none" strike="noStrike">
              <a:solidFill>
                <a:schemeClr val="dk1"/>
              </a:solidFill>
              <a:latin typeface="Calibri"/>
              <a:ea typeface="Calibri"/>
              <a:cs typeface="Calibri"/>
              <a:sym typeface="Calibri"/>
            </a:endParaRPr>
          </a:p>
        </p:txBody>
      </p:sp>
      <p:cxnSp>
        <p:nvCxnSpPr>
          <p:cNvPr id="321" name="Google Shape;321;p11"/>
          <p:cNvCxnSpPr/>
          <p:nvPr/>
        </p:nvCxnSpPr>
        <p:spPr>
          <a:xfrm>
            <a:off x="5577840" y="6949440"/>
            <a:ext cx="365760" cy="0"/>
          </a:xfrm>
          <a:prstGeom prst="straightConnector1">
            <a:avLst/>
          </a:prstGeom>
          <a:noFill/>
          <a:ln cap="flat" cmpd="sng" w="31750">
            <a:solidFill>
              <a:srgbClr val="162CA2"/>
            </a:solidFill>
            <a:prstDash val="solid"/>
            <a:round/>
            <a:headEnd len="sm" w="sm" type="none"/>
            <a:tailEnd len="med" w="med" type="triangle"/>
          </a:ln>
        </p:spPr>
      </p:cxnSp>
      <p:sp>
        <p:nvSpPr>
          <p:cNvPr id="322" name="Google Shape;322;p11"/>
          <p:cNvSpPr/>
          <p:nvPr/>
        </p:nvSpPr>
        <p:spPr>
          <a:xfrm>
            <a:off x="5943600" y="5669280"/>
            <a:ext cx="3108960" cy="2560320"/>
          </a:xfrm>
          <a:prstGeom prst="flowChartDecision">
            <a:avLst/>
          </a:prstGeom>
          <a:solidFill>
            <a:srgbClr val="FCDF59"/>
          </a:solidFill>
          <a:ln cap="flat" cmpd="sng" w="25400">
            <a:solidFill>
              <a:srgbClr val="FCDF59"/>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3123D"/>
              </a:buClr>
              <a:buSzPts val="2000"/>
              <a:buFont typeface="Calibri"/>
              <a:buNone/>
            </a:pPr>
            <a:r>
              <a:rPr b="1" i="0" lang="en-US" sz="2000" u="none" cap="none" strike="noStrike">
                <a:solidFill>
                  <a:srgbClr val="13123D"/>
                </a:solidFill>
                <a:latin typeface="Calibri"/>
                <a:ea typeface="Calibri"/>
                <a:cs typeface="Calibri"/>
                <a:sym typeface="Calibri"/>
              </a:rPr>
              <a:t>angka MOD 2</a:t>
            </a:r>
            <a:endParaRPr b="0" i="0" sz="2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3123D"/>
              </a:buClr>
              <a:buSzPts val="2000"/>
              <a:buFont typeface="Calibri"/>
              <a:buNone/>
            </a:pPr>
            <a:r>
              <a:rPr b="1" i="0" lang="en-US" sz="2000" u="none" cap="none" strike="noStrike">
                <a:solidFill>
                  <a:srgbClr val="13123D"/>
                </a:solidFill>
                <a:latin typeface="Calibri"/>
                <a:ea typeface="Calibri"/>
                <a:cs typeface="Calibri"/>
                <a:sym typeface="Calibri"/>
              </a:rPr>
              <a:t>= 0 ?</a:t>
            </a:r>
            <a:endParaRPr b="0" i="0" sz="2000" u="none" cap="none" strike="noStrike">
              <a:solidFill>
                <a:schemeClr val="dk1"/>
              </a:solidFill>
              <a:latin typeface="Calibri"/>
              <a:ea typeface="Calibri"/>
              <a:cs typeface="Calibri"/>
              <a:sym typeface="Calibri"/>
            </a:endParaRPr>
          </a:p>
        </p:txBody>
      </p:sp>
      <p:cxnSp>
        <p:nvCxnSpPr>
          <p:cNvPr id="323" name="Google Shape;323;p11"/>
          <p:cNvCxnSpPr/>
          <p:nvPr/>
        </p:nvCxnSpPr>
        <p:spPr>
          <a:xfrm>
            <a:off x="7498080" y="5120640"/>
            <a:ext cx="0" cy="548640"/>
          </a:xfrm>
          <a:prstGeom prst="straightConnector1">
            <a:avLst/>
          </a:prstGeom>
          <a:noFill/>
          <a:ln cap="flat" cmpd="sng" w="31750">
            <a:solidFill>
              <a:srgbClr val="162CA2"/>
            </a:solidFill>
            <a:prstDash val="solid"/>
            <a:round/>
            <a:headEnd len="med" w="med" type="triangle"/>
            <a:tailEnd len="sm" w="sm" type="none"/>
          </a:ln>
        </p:spPr>
      </p:cxnSp>
      <p:sp>
        <p:nvSpPr>
          <p:cNvPr id="324" name="Google Shape;324;p11"/>
          <p:cNvSpPr txBox="1"/>
          <p:nvPr/>
        </p:nvSpPr>
        <p:spPr>
          <a:xfrm>
            <a:off x="7680960" y="5212080"/>
            <a:ext cx="8229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200"/>
              <a:buFont typeface="Calibri"/>
              <a:buNone/>
            </a:pPr>
            <a:r>
              <a:rPr b="1" i="0" lang="en-US" sz="2200" u="none" cap="none" strike="noStrike">
                <a:solidFill>
                  <a:srgbClr val="162CA2"/>
                </a:solidFill>
                <a:latin typeface="Calibri"/>
                <a:ea typeface="Calibri"/>
                <a:cs typeface="Calibri"/>
                <a:sym typeface="Calibri"/>
              </a:rPr>
              <a:t>Ya</a:t>
            </a:r>
            <a:endParaRPr b="0" i="0" sz="2200" u="none" cap="none" strike="noStrike">
              <a:solidFill>
                <a:schemeClr val="dk1"/>
              </a:solidFill>
              <a:latin typeface="Calibri"/>
              <a:ea typeface="Calibri"/>
              <a:cs typeface="Calibri"/>
              <a:sym typeface="Calibri"/>
            </a:endParaRPr>
          </a:p>
        </p:txBody>
      </p:sp>
      <p:sp>
        <p:nvSpPr>
          <p:cNvPr id="325" name="Google Shape;325;p11"/>
          <p:cNvSpPr/>
          <p:nvPr/>
        </p:nvSpPr>
        <p:spPr>
          <a:xfrm>
            <a:off x="6400800" y="4297680"/>
            <a:ext cx="2194560" cy="822960"/>
          </a:xfrm>
          <a:prstGeom prst="parallelogram">
            <a:avLst>
              <a:gd fmla="val 25000" name="adj"/>
            </a:avLst>
          </a:prstGeom>
          <a:solidFill>
            <a:srgbClr val="D9E0F7"/>
          </a:solidFill>
          <a:ln cap="flat" cmpd="sng" w="25400">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3123D"/>
              </a:buClr>
              <a:buSzPts val="2000"/>
              <a:buFont typeface="Calibri"/>
              <a:buNone/>
            </a:pPr>
            <a:r>
              <a:rPr b="1" i="0" lang="en-US" sz="2000" u="none" cap="none" strike="noStrike">
                <a:solidFill>
                  <a:srgbClr val="13123D"/>
                </a:solidFill>
                <a:latin typeface="Calibri"/>
                <a:ea typeface="Calibri"/>
                <a:cs typeface="Calibri"/>
                <a:sym typeface="Calibri"/>
              </a:rPr>
              <a:t>print "Genap"</a:t>
            </a:r>
            <a:endParaRPr b="0" i="0" sz="2000" u="none" cap="none" strike="noStrike">
              <a:solidFill>
                <a:schemeClr val="dk1"/>
              </a:solidFill>
              <a:latin typeface="Calibri"/>
              <a:ea typeface="Calibri"/>
              <a:cs typeface="Calibri"/>
              <a:sym typeface="Calibri"/>
            </a:endParaRPr>
          </a:p>
        </p:txBody>
      </p:sp>
      <p:cxnSp>
        <p:nvCxnSpPr>
          <p:cNvPr id="326" name="Google Shape;326;p11"/>
          <p:cNvCxnSpPr/>
          <p:nvPr/>
        </p:nvCxnSpPr>
        <p:spPr>
          <a:xfrm>
            <a:off x="7498080" y="8229600"/>
            <a:ext cx="0" cy="548640"/>
          </a:xfrm>
          <a:prstGeom prst="straightConnector1">
            <a:avLst/>
          </a:prstGeom>
          <a:noFill/>
          <a:ln cap="flat" cmpd="sng" w="31750">
            <a:solidFill>
              <a:srgbClr val="162CA2"/>
            </a:solidFill>
            <a:prstDash val="solid"/>
            <a:round/>
            <a:headEnd len="sm" w="sm" type="none"/>
            <a:tailEnd len="med" w="med" type="triangle"/>
          </a:ln>
        </p:spPr>
      </p:cxnSp>
      <p:sp>
        <p:nvSpPr>
          <p:cNvPr id="327" name="Google Shape;327;p11"/>
          <p:cNvSpPr txBox="1"/>
          <p:nvPr/>
        </p:nvSpPr>
        <p:spPr>
          <a:xfrm>
            <a:off x="7680960" y="8321040"/>
            <a:ext cx="10972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200"/>
              <a:buFont typeface="Calibri"/>
              <a:buNone/>
            </a:pPr>
            <a:r>
              <a:rPr b="1" i="0" lang="en-US" sz="2200" u="none" cap="none" strike="noStrike">
                <a:solidFill>
                  <a:srgbClr val="162CA2"/>
                </a:solidFill>
                <a:latin typeface="Calibri"/>
                <a:ea typeface="Calibri"/>
                <a:cs typeface="Calibri"/>
                <a:sym typeface="Calibri"/>
              </a:rPr>
              <a:t>Tidak</a:t>
            </a:r>
            <a:endParaRPr b="0" i="0" sz="2200" u="none" cap="none" strike="noStrike">
              <a:solidFill>
                <a:schemeClr val="dk1"/>
              </a:solidFill>
              <a:latin typeface="Calibri"/>
              <a:ea typeface="Calibri"/>
              <a:cs typeface="Calibri"/>
              <a:sym typeface="Calibri"/>
            </a:endParaRPr>
          </a:p>
        </p:txBody>
      </p:sp>
      <p:sp>
        <p:nvSpPr>
          <p:cNvPr id="328" name="Google Shape;328;p11"/>
          <p:cNvSpPr/>
          <p:nvPr/>
        </p:nvSpPr>
        <p:spPr>
          <a:xfrm>
            <a:off x="6400800" y="8778240"/>
            <a:ext cx="2194560" cy="822960"/>
          </a:xfrm>
          <a:prstGeom prst="parallelogram">
            <a:avLst>
              <a:gd fmla="val 25000" name="adj"/>
            </a:avLst>
          </a:prstGeom>
          <a:solidFill>
            <a:srgbClr val="D9E0F7"/>
          </a:solidFill>
          <a:ln cap="flat" cmpd="sng" w="25400">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3123D"/>
              </a:buClr>
              <a:buSzPts val="2000"/>
              <a:buFont typeface="Calibri"/>
              <a:buNone/>
            </a:pPr>
            <a:r>
              <a:rPr b="1" i="0" lang="en-US" sz="2000" u="none" cap="none" strike="noStrike">
                <a:solidFill>
                  <a:srgbClr val="13123D"/>
                </a:solidFill>
                <a:latin typeface="Calibri"/>
                <a:ea typeface="Calibri"/>
                <a:cs typeface="Calibri"/>
                <a:sym typeface="Calibri"/>
              </a:rPr>
              <a:t>print "Ganjil"</a:t>
            </a:r>
            <a:endParaRPr b="0" i="0" sz="2000" u="none" cap="none" strike="noStrike">
              <a:solidFill>
                <a:schemeClr val="dk1"/>
              </a:solidFill>
              <a:latin typeface="Calibri"/>
              <a:ea typeface="Calibri"/>
              <a:cs typeface="Calibri"/>
              <a:sym typeface="Calibri"/>
            </a:endParaRPr>
          </a:p>
        </p:txBody>
      </p:sp>
      <p:cxnSp>
        <p:nvCxnSpPr>
          <p:cNvPr id="329" name="Google Shape;329;p11"/>
          <p:cNvCxnSpPr/>
          <p:nvPr/>
        </p:nvCxnSpPr>
        <p:spPr>
          <a:xfrm>
            <a:off x="8595360" y="4709160"/>
            <a:ext cx="2697480" cy="0"/>
          </a:xfrm>
          <a:prstGeom prst="straightConnector1">
            <a:avLst/>
          </a:prstGeom>
          <a:noFill/>
          <a:ln cap="flat" cmpd="sng" w="31750">
            <a:solidFill>
              <a:srgbClr val="162CA2"/>
            </a:solidFill>
            <a:prstDash val="solid"/>
            <a:round/>
            <a:headEnd len="sm" w="sm" type="none"/>
            <a:tailEnd len="sm" w="sm" type="none"/>
          </a:ln>
        </p:spPr>
      </p:cxnSp>
      <p:cxnSp>
        <p:nvCxnSpPr>
          <p:cNvPr id="330" name="Google Shape;330;p11"/>
          <p:cNvCxnSpPr/>
          <p:nvPr/>
        </p:nvCxnSpPr>
        <p:spPr>
          <a:xfrm>
            <a:off x="11292840" y="4709160"/>
            <a:ext cx="0" cy="1920240"/>
          </a:xfrm>
          <a:prstGeom prst="straightConnector1">
            <a:avLst/>
          </a:prstGeom>
          <a:noFill/>
          <a:ln cap="flat" cmpd="sng" w="31750">
            <a:solidFill>
              <a:srgbClr val="162CA2"/>
            </a:solidFill>
            <a:prstDash val="solid"/>
            <a:round/>
            <a:headEnd len="sm" w="sm" type="none"/>
            <a:tailEnd len="med" w="med" type="triangle"/>
          </a:ln>
        </p:spPr>
      </p:cxnSp>
      <p:cxnSp>
        <p:nvCxnSpPr>
          <p:cNvPr id="331" name="Google Shape;331;p11"/>
          <p:cNvCxnSpPr/>
          <p:nvPr/>
        </p:nvCxnSpPr>
        <p:spPr>
          <a:xfrm>
            <a:off x="8595360" y="9189720"/>
            <a:ext cx="2697480" cy="0"/>
          </a:xfrm>
          <a:prstGeom prst="straightConnector1">
            <a:avLst/>
          </a:prstGeom>
          <a:noFill/>
          <a:ln cap="flat" cmpd="sng" w="31750">
            <a:solidFill>
              <a:srgbClr val="162CA2"/>
            </a:solidFill>
            <a:prstDash val="solid"/>
            <a:round/>
            <a:headEnd len="sm" w="sm" type="none"/>
            <a:tailEnd len="sm" w="sm" type="none"/>
          </a:ln>
        </p:spPr>
      </p:cxnSp>
      <p:cxnSp>
        <p:nvCxnSpPr>
          <p:cNvPr id="332" name="Google Shape;332;p11"/>
          <p:cNvCxnSpPr/>
          <p:nvPr/>
        </p:nvCxnSpPr>
        <p:spPr>
          <a:xfrm>
            <a:off x="11292840" y="7269480"/>
            <a:ext cx="0" cy="1920240"/>
          </a:xfrm>
          <a:prstGeom prst="straightConnector1">
            <a:avLst/>
          </a:prstGeom>
          <a:noFill/>
          <a:ln cap="flat" cmpd="sng" w="31750">
            <a:solidFill>
              <a:srgbClr val="162CA2"/>
            </a:solidFill>
            <a:prstDash val="solid"/>
            <a:round/>
            <a:headEnd len="med" w="med" type="triangle"/>
            <a:tailEnd len="sm" w="sm" type="none"/>
          </a:ln>
        </p:spPr>
      </p:cxnSp>
      <p:sp>
        <p:nvSpPr>
          <p:cNvPr id="333" name="Google Shape;333;p11"/>
          <p:cNvSpPr/>
          <p:nvPr/>
        </p:nvSpPr>
        <p:spPr>
          <a:xfrm>
            <a:off x="10424160" y="6629400"/>
            <a:ext cx="1737360" cy="640080"/>
          </a:xfrm>
          <a:prstGeom prst="flowChartTerminator">
            <a:avLst/>
          </a:prstGeom>
          <a:solidFill>
            <a:srgbClr val="162CA2"/>
          </a:solidFill>
          <a:ln cap="flat" cmpd="sng" w="25400">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2200"/>
              <a:buFont typeface="Calibri"/>
              <a:buNone/>
            </a:pPr>
            <a:r>
              <a:rPr b="1" i="0" lang="en-US" sz="2200" u="none" cap="none" strike="noStrike">
                <a:solidFill>
                  <a:srgbClr val="FDFBFB"/>
                </a:solidFill>
                <a:latin typeface="Calibri"/>
                <a:ea typeface="Calibri"/>
                <a:cs typeface="Calibri"/>
                <a:sym typeface="Calibri"/>
              </a:rPr>
              <a:t>Selesai</a:t>
            </a:r>
            <a:endParaRPr b="0" i="0" sz="2200" u="none" cap="none" strike="noStrike">
              <a:solidFill>
                <a:schemeClr val="dk1"/>
              </a:solidFill>
              <a:latin typeface="Calibri"/>
              <a:ea typeface="Calibri"/>
              <a:cs typeface="Calibri"/>
              <a:sym typeface="Calibri"/>
            </a:endParaRPr>
          </a:p>
        </p:txBody>
      </p:sp>
      <p:sp>
        <p:nvSpPr>
          <p:cNvPr id="334" name="Google Shape;334;p11"/>
          <p:cNvSpPr/>
          <p:nvPr/>
        </p:nvSpPr>
        <p:spPr>
          <a:xfrm>
            <a:off x="13075920" y="4343400"/>
            <a:ext cx="4297680" cy="5166360"/>
          </a:xfrm>
          <a:prstGeom prst="roundRect">
            <a:avLst>
              <a:gd fmla="val 3191"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1"/>
          <p:cNvSpPr txBox="1"/>
          <p:nvPr/>
        </p:nvSpPr>
        <p:spPr>
          <a:xfrm>
            <a:off x="13350240" y="4526280"/>
            <a:ext cx="38404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600"/>
              <a:buFont typeface="Calibri"/>
              <a:buNone/>
            </a:pPr>
            <a:r>
              <a:rPr b="1" i="0" lang="en-US" sz="2600" u="none" cap="none" strike="noStrike">
                <a:solidFill>
                  <a:srgbClr val="162CA2"/>
                </a:solidFill>
                <a:latin typeface="Calibri"/>
                <a:ea typeface="Calibri"/>
                <a:cs typeface="Calibri"/>
                <a:sym typeface="Calibri"/>
              </a:rPr>
              <a:t>Cara membaca</a:t>
            </a:r>
            <a:endParaRPr b="0" i="0" sz="2600" u="none" cap="none" strike="noStrike">
              <a:solidFill>
                <a:schemeClr val="dk1"/>
              </a:solidFill>
              <a:latin typeface="Calibri"/>
              <a:ea typeface="Calibri"/>
              <a:cs typeface="Calibri"/>
              <a:sym typeface="Calibri"/>
            </a:endParaRPr>
          </a:p>
        </p:txBody>
      </p:sp>
      <p:sp>
        <p:nvSpPr>
          <p:cNvPr id="336" name="Google Shape;336;p11"/>
          <p:cNvSpPr txBox="1"/>
          <p:nvPr/>
        </p:nvSpPr>
        <p:spPr>
          <a:xfrm>
            <a:off x="13350240" y="5212080"/>
            <a:ext cx="3749040" cy="41148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3123D"/>
              </a:buClr>
              <a:buSzPts val="2200"/>
              <a:buFont typeface="Calibri"/>
              <a:buChar char="•"/>
            </a:pPr>
            <a:r>
              <a:rPr b="0" i="0" lang="en-US" sz="2200" u="none" cap="none" strike="noStrike">
                <a:solidFill>
                  <a:srgbClr val="13123D"/>
                </a:solidFill>
                <a:latin typeface="Calibri"/>
                <a:ea typeface="Calibri"/>
                <a:cs typeface="Calibri"/>
                <a:sym typeface="Calibri"/>
              </a:rPr>
              <a:t>Ikuti panah dari Mulai sampai Selesai</a:t>
            </a:r>
            <a:endParaRPr b="0" i="0" sz="2200" u="none" cap="none" strike="noStrike">
              <a:solidFill>
                <a:schemeClr val="dk1"/>
              </a:solidFill>
              <a:latin typeface="Calibri"/>
              <a:ea typeface="Calibri"/>
              <a:cs typeface="Calibri"/>
              <a:sym typeface="Calibri"/>
            </a:endParaRPr>
          </a:p>
          <a:p>
            <a:pPr indent="-342900" lvl="0" marL="342900" marR="0" rtl="0" algn="l">
              <a:spcBef>
                <a:spcPts val="1600"/>
              </a:spcBef>
              <a:spcAft>
                <a:spcPts val="0"/>
              </a:spcAft>
              <a:buClr>
                <a:srgbClr val="13123D"/>
              </a:buClr>
              <a:buSzPts val="2200"/>
              <a:buFont typeface="Calibri"/>
              <a:buChar char="•"/>
            </a:pPr>
            <a:r>
              <a:rPr b="0" i="0" lang="en-US" sz="2200" u="none" cap="none" strike="noStrike">
                <a:solidFill>
                  <a:srgbClr val="13123D"/>
                </a:solidFill>
                <a:latin typeface="Calibri"/>
                <a:ea typeface="Calibri"/>
                <a:cs typeface="Calibri"/>
                <a:sym typeface="Calibri"/>
              </a:rPr>
              <a:t>Belah ketupat = pertanyaan Ya / Tidak</a:t>
            </a:r>
            <a:endParaRPr b="0" i="0" sz="2200" u="none" cap="none" strike="noStrike">
              <a:solidFill>
                <a:schemeClr val="dk1"/>
              </a:solidFill>
              <a:latin typeface="Calibri"/>
              <a:ea typeface="Calibri"/>
              <a:cs typeface="Calibri"/>
              <a:sym typeface="Calibri"/>
            </a:endParaRPr>
          </a:p>
          <a:p>
            <a:pPr indent="-342900" lvl="0" marL="342900" marR="0" rtl="0" algn="l">
              <a:spcBef>
                <a:spcPts val="1600"/>
              </a:spcBef>
              <a:spcAft>
                <a:spcPts val="0"/>
              </a:spcAft>
              <a:buClr>
                <a:srgbClr val="13123D"/>
              </a:buClr>
              <a:buSzPts val="2200"/>
              <a:buFont typeface="Calibri"/>
              <a:buChar char="•"/>
            </a:pPr>
            <a:r>
              <a:rPr b="0" i="0" lang="en-US" sz="2200" u="none" cap="none" strike="noStrike">
                <a:solidFill>
                  <a:srgbClr val="13123D"/>
                </a:solidFill>
                <a:latin typeface="Calibri"/>
                <a:ea typeface="Calibri"/>
                <a:cs typeface="Calibri"/>
                <a:sym typeface="Calibri"/>
              </a:rPr>
              <a:t>Hanya satu jalur yang dilalui</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pic>
        <p:nvPicPr>
          <p:cNvPr descr="/home/claude/assets/image6.png" id="342" name="Google Shape;342;p12"/>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343" name="Google Shape;343;p12"/>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344" name="Google Shape;344;p12"/>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BAGIAN 4 · 20 MENIT</a:t>
            </a:r>
            <a:endParaRPr b="0" i="0" sz="2000" u="none" cap="none" strike="noStrike">
              <a:solidFill>
                <a:schemeClr val="dk1"/>
              </a:solidFill>
              <a:latin typeface="Calibri"/>
              <a:ea typeface="Calibri"/>
              <a:cs typeface="Calibri"/>
              <a:sym typeface="Calibri"/>
            </a:endParaRPr>
          </a:p>
        </p:txBody>
      </p:sp>
      <p:sp>
        <p:nvSpPr>
          <p:cNvPr id="345" name="Google Shape;345;p12"/>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Variabel dan Tipe Data</a:t>
            </a:r>
            <a:endParaRPr b="0" i="0" sz="4800" u="none" cap="none" strike="noStrike">
              <a:solidFill>
                <a:schemeClr val="dk1"/>
              </a:solidFill>
              <a:latin typeface="Calibri"/>
              <a:ea typeface="Calibri"/>
              <a:cs typeface="Calibri"/>
              <a:sym typeface="Calibri"/>
            </a:endParaRPr>
          </a:p>
        </p:txBody>
      </p:sp>
      <p:sp>
        <p:nvSpPr>
          <p:cNvPr id="346" name="Google Shape;346;p12"/>
          <p:cNvSpPr/>
          <p:nvPr/>
        </p:nvSpPr>
        <p:spPr>
          <a:xfrm>
            <a:off x="914400" y="4343400"/>
            <a:ext cx="6766560" cy="5166360"/>
          </a:xfrm>
          <a:prstGeom prst="roundRect">
            <a:avLst>
              <a:gd fmla="val 2655"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2"/>
          <p:cNvSpPr txBox="1"/>
          <p:nvPr/>
        </p:nvSpPr>
        <p:spPr>
          <a:xfrm>
            <a:off x="1188720" y="4480560"/>
            <a:ext cx="621792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600"/>
              <a:buFont typeface="Calibri"/>
              <a:buNone/>
            </a:pPr>
            <a:r>
              <a:rPr b="1" i="0" lang="en-US" sz="2600" u="none" cap="none" strike="noStrike">
                <a:solidFill>
                  <a:srgbClr val="162CA2"/>
                </a:solidFill>
                <a:latin typeface="Calibri"/>
                <a:ea typeface="Calibri"/>
                <a:cs typeface="Calibri"/>
                <a:sym typeface="Calibri"/>
              </a:rPr>
              <a:t>Variabel = kotak bernama</a:t>
            </a:r>
            <a:endParaRPr b="0" i="0" sz="2600" u="none" cap="none" strike="noStrike">
              <a:solidFill>
                <a:schemeClr val="dk1"/>
              </a:solidFill>
              <a:latin typeface="Calibri"/>
              <a:ea typeface="Calibri"/>
              <a:cs typeface="Calibri"/>
              <a:sym typeface="Calibri"/>
            </a:endParaRPr>
          </a:p>
        </p:txBody>
      </p:sp>
      <p:sp>
        <p:nvSpPr>
          <p:cNvPr id="348" name="Google Shape;348;p12"/>
          <p:cNvSpPr txBox="1"/>
          <p:nvPr/>
        </p:nvSpPr>
        <p:spPr>
          <a:xfrm>
            <a:off x="2926080" y="5120640"/>
            <a:ext cx="237744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A5F86"/>
              </a:buClr>
              <a:buSzPts val="2400"/>
              <a:buFont typeface="Calibri"/>
              <a:buNone/>
            </a:pPr>
            <a:r>
              <a:rPr b="1" i="0" lang="en-US" sz="2400" u="none" cap="none" strike="noStrike">
                <a:solidFill>
                  <a:srgbClr val="5A5F86"/>
                </a:solidFill>
                <a:latin typeface="Calibri"/>
                <a:ea typeface="Calibri"/>
                <a:cs typeface="Calibri"/>
                <a:sym typeface="Calibri"/>
              </a:rPr>
              <a:t>umur</a:t>
            </a:r>
            <a:endParaRPr b="0" i="0" sz="2400" u="none" cap="none" strike="noStrike">
              <a:solidFill>
                <a:schemeClr val="dk1"/>
              </a:solidFill>
              <a:latin typeface="Calibri"/>
              <a:ea typeface="Calibri"/>
              <a:cs typeface="Calibri"/>
              <a:sym typeface="Calibri"/>
            </a:endParaRPr>
          </a:p>
        </p:txBody>
      </p:sp>
      <p:sp>
        <p:nvSpPr>
          <p:cNvPr id="349" name="Google Shape;349;p12"/>
          <p:cNvSpPr/>
          <p:nvPr/>
        </p:nvSpPr>
        <p:spPr>
          <a:xfrm>
            <a:off x="2926080" y="5623560"/>
            <a:ext cx="2377440" cy="1188720"/>
          </a:xfrm>
          <a:prstGeom prst="roundRect">
            <a:avLst>
              <a:gd fmla="val 11538" name="adj"/>
            </a:avLst>
          </a:prstGeom>
          <a:solidFill>
            <a:srgbClr val="162CA2"/>
          </a:solidFill>
          <a:ln cap="flat" cmpd="sng" w="9525">
            <a:solidFill>
              <a:srgbClr val="162CA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20</a:t>
            </a:r>
            <a:endParaRPr b="0" i="0" sz="4800" u="none" cap="none" strike="noStrike">
              <a:solidFill>
                <a:schemeClr val="dk1"/>
              </a:solidFill>
              <a:latin typeface="Calibri"/>
              <a:ea typeface="Calibri"/>
              <a:cs typeface="Calibri"/>
              <a:sym typeface="Calibri"/>
            </a:endParaRPr>
          </a:p>
        </p:txBody>
      </p:sp>
      <p:sp>
        <p:nvSpPr>
          <p:cNvPr id="350" name="Google Shape;350;p12"/>
          <p:cNvSpPr/>
          <p:nvPr/>
        </p:nvSpPr>
        <p:spPr>
          <a:xfrm>
            <a:off x="2743200" y="7040880"/>
            <a:ext cx="2743200" cy="594360"/>
          </a:xfrm>
          <a:prstGeom prst="roundRect">
            <a:avLst>
              <a:gd fmla="val 18462" name="adj"/>
            </a:avLst>
          </a:prstGeom>
          <a:solidFill>
            <a:srgbClr val="13123D"/>
          </a:solidFill>
          <a:ln cap="flat" cmpd="sng" w="9525">
            <a:solidFill>
              <a:srgbClr val="13123D"/>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E8ECFF"/>
              </a:buClr>
              <a:buSzPts val="2200"/>
              <a:buFont typeface="Courier New"/>
              <a:buNone/>
            </a:pPr>
            <a:r>
              <a:rPr b="1" i="0" lang="en-US" sz="2200" u="none" cap="none" strike="noStrike">
                <a:solidFill>
                  <a:srgbClr val="E8ECFF"/>
                </a:solidFill>
                <a:latin typeface="Courier New"/>
                <a:ea typeface="Courier New"/>
                <a:cs typeface="Courier New"/>
                <a:sym typeface="Courier New"/>
              </a:rPr>
              <a:t>umur = 20</a:t>
            </a:r>
            <a:endParaRPr b="0" i="0" sz="2200" u="none" cap="none" strike="noStrike">
              <a:solidFill>
                <a:schemeClr val="dk1"/>
              </a:solidFill>
              <a:latin typeface="Calibri"/>
              <a:ea typeface="Calibri"/>
              <a:cs typeface="Calibri"/>
              <a:sym typeface="Calibri"/>
            </a:endParaRPr>
          </a:p>
        </p:txBody>
      </p:sp>
      <p:sp>
        <p:nvSpPr>
          <p:cNvPr id="351" name="Google Shape;351;p12"/>
          <p:cNvSpPr txBox="1"/>
          <p:nvPr/>
        </p:nvSpPr>
        <p:spPr>
          <a:xfrm>
            <a:off x="1188720" y="7818120"/>
            <a:ext cx="6217920" cy="164592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3123D"/>
              </a:buClr>
              <a:buSzPts val="2000"/>
              <a:buFont typeface="Calibri"/>
              <a:buChar char="•"/>
            </a:pPr>
            <a:r>
              <a:rPr b="0" i="0" lang="en-US" sz="2000" u="none" cap="none" strike="noStrike">
                <a:solidFill>
                  <a:srgbClr val="13123D"/>
                </a:solidFill>
                <a:latin typeface="Calibri"/>
                <a:ea typeface="Calibri"/>
                <a:cs typeface="Calibri"/>
                <a:sym typeface="Calibri"/>
              </a:rPr>
              <a:t>Nama deskriptif (umur, totalHarga)</a:t>
            </a:r>
            <a:endParaRPr b="0" i="0" sz="20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3123D"/>
              </a:buClr>
              <a:buSzPts val="2000"/>
              <a:buFont typeface="Calibri"/>
              <a:buChar char="•"/>
            </a:pPr>
            <a:r>
              <a:rPr b="0" i="0" lang="en-US" sz="2000" u="none" cap="none" strike="noStrike">
                <a:solidFill>
                  <a:srgbClr val="13123D"/>
                </a:solidFill>
                <a:latin typeface="Calibri"/>
                <a:ea typeface="Calibri"/>
                <a:cs typeface="Calibri"/>
                <a:sym typeface="Calibri"/>
              </a:rPr>
              <a:t>Nilainya dapat berubah</a:t>
            </a:r>
            <a:endParaRPr b="0" i="0" sz="20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3123D"/>
              </a:buClr>
              <a:buSzPts val="2000"/>
              <a:buFont typeface="Calibri"/>
              <a:buChar char="•"/>
            </a:pPr>
            <a:r>
              <a:rPr b="0" i="0" lang="en-US" sz="2000" u="none" cap="none" strike="noStrike">
                <a:solidFill>
                  <a:srgbClr val="13123D"/>
                </a:solidFill>
                <a:latin typeface="Calibri"/>
                <a:ea typeface="Calibri"/>
                <a:cs typeface="Calibri"/>
                <a:sym typeface="Calibri"/>
              </a:rPr>
              <a:t>Tipe menentukan operasi yang boleh</a:t>
            </a:r>
            <a:endParaRPr b="0" i="0" sz="2000" u="none" cap="none" strike="noStrike">
              <a:solidFill>
                <a:schemeClr val="dk1"/>
              </a:solidFill>
              <a:latin typeface="Calibri"/>
              <a:ea typeface="Calibri"/>
              <a:cs typeface="Calibri"/>
              <a:sym typeface="Calibri"/>
            </a:endParaRPr>
          </a:p>
        </p:txBody>
      </p:sp>
      <p:graphicFrame>
        <p:nvGraphicFramePr>
          <p:cNvPr id="352" name="Google Shape;352;p12"/>
          <p:cNvGraphicFramePr/>
          <p:nvPr/>
        </p:nvGraphicFramePr>
        <p:xfrm>
          <a:off x="8046720" y="4343400"/>
          <a:ext cx="3000000" cy="3000000"/>
        </p:xfrm>
        <a:graphic>
          <a:graphicData uri="http://schemas.openxmlformats.org/drawingml/2006/table">
            <a:tbl>
              <a:tblPr>
                <a:noFill/>
                <a:tableStyleId>{73E2A723-B492-44FB-AF4C-91DFBF99BAEE}</a:tableStyleId>
              </a:tblPr>
              <a:tblGrid>
                <a:gridCol w="2194550"/>
                <a:gridCol w="3108950"/>
                <a:gridCol w="4023350"/>
              </a:tblGrid>
              <a:tr h="713225">
                <a:tc>
                  <a:txBody>
                    <a:bodyPr/>
                    <a:lstStyle/>
                    <a:p>
                      <a:pPr indent="0" lvl="0" marL="0" marR="0" rtl="0" algn="l">
                        <a:spcBef>
                          <a:spcPts val="0"/>
                        </a:spcBef>
                        <a:spcAft>
                          <a:spcPts val="0"/>
                        </a:spcAft>
                        <a:buClr>
                          <a:srgbClr val="FDFBFB"/>
                        </a:buClr>
                        <a:buSzPts val="2400"/>
                        <a:buFont typeface="Calibri"/>
                        <a:buNone/>
                      </a:pPr>
                      <a:r>
                        <a:rPr b="1" lang="en-US" sz="2400" u="none" cap="none" strike="noStrike">
                          <a:solidFill>
                            <a:srgbClr val="FDFBFB"/>
                          </a:solidFill>
                          <a:latin typeface="Calibri"/>
                          <a:ea typeface="Calibri"/>
                          <a:cs typeface="Calibri"/>
                          <a:sym typeface="Calibri"/>
                        </a:rPr>
                        <a:t>Tipe</a:t>
                      </a:r>
                      <a:endParaRPr sz="24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162CA2"/>
                    </a:solidFill>
                  </a:tcPr>
                </a:tc>
                <a:tc>
                  <a:txBody>
                    <a:bodyPr/>
                    <a:lstStyle/>
                    <a:p>
                      <a:pPr indent="0" lvl="0" marL="0" marR="0" rtl="0" algn="l">
                        <a:spcBef>
                          <a:spcPts val="0"/>
                        </a:spcBef>
                        <a:spcAft>
                          <a:spcPts val="0"/>
                        </a:spcAft>
                        <a:buClr>
                          <a:srgbClr val="FDFBFB"/>
                        </a:buClr>
                        <a:buSzPts val="2400"/>
                        <a:buFont typeface="Calibri"/>
                        <a:buNone/>
                      </a:pPr>
                      <a:r>
                        <a:rPr b="1" lang="en-US" sz="2400" u="none" cap="none" strike="noStrike">
                          <a:solidFill>
                            <a:srgbClr val="FDFBFB"/>
                          </a:solidFill>
                          <a:latin typeface="Calibri"/>
                          <a:ea typeface="Calibri"/>
                          <a:cs typeface="Calibri"/>
                          <a:sym typeface="Calibri"/>
                        </a:rPr>
                        <a:t>Contoh</a:t>
                      </a:r>
                      <a:endParaRPr sz="24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162CA2"/>
                    </a:solidFill>
                  </a:tcPr>
                </a:tc>
                <a:tc>
                  <a:txBody>
                    <a:bodyPr/>
                    <a:lstStyle/>
                    <a:p>
                      <a:pPr indent="0" lvl="0" marL="0" marR="0" rtl="0" algn="l">
                        <a:spcBef>
                          <a:spcPts val="0"/>
                        </a:spcBef>
                        <a:spcAft>
                          <a:spcPts val="0"/>
                        </a:spcAft>
                        <a:buClr>
                          <a:srgbClr val="FDFBFB"/>
                        </a:buClr>
                        <a:buSzPts val="2400"/>
                        <a:buFont typeface="Calibri"/>
                        <a:buNone/>
                      </a:pPr>
                      <a:r>
                        <a:rPr b="1" lang="en-US" sz="2400" u="none" cap="none" strike="noStrike">
                          <a:solidFill>
                            <a:srgbClr val="FDFBFB"/>
                          </a:solidFill>
                          <a:latin typeface="Calibri"/>
                          <a:ea typeface="Calibri"/>
                          <a:cs typeface="Calibri"/>
                          <a:sym typeface="Calibri"/>
                        </a:rPr>
                        <a:t>Untuk</a:t>
                      </a:r>
                      <a:endParaRPr sz="24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162CA2"/>
                    </a:solidFill>
                  </a:tcPr>
                </a:tc>
              </a:tr>
              <a:tr h="713225">
                <a:tc>
                  <a:txBody>
                    <a:bodyPr/>
                    <a:lstStyle/>
                    <a:p>
                      <a:pPr indent="0" lvl="0" marL="0" marR="0" rtl="0" algn="l">
                        <a:spcBef>
                          <a:spcPts val="0"/>
                        </a:spcBef>
                        <a:spcAft>
                          <a:spcPts val="0"/>
                        </a:spcAft>
                        <a:buClr>
                          <a:srgbClr val="13123D"/>
                        </a:buClr>
                        <a:buSzPts val="2400"/>
                        <a:buFont typeface="Calibri"/>
                        <a:buNone/>
                      </a:pPr>
                      <a:r>
                        <a:rPr b="1" lang="en-US" sz="2400" u="none" cap="none" strike="noStrike">
                          <a:solidFill>
                            <a:srgbClr val="13123D"/>
                          </a:solidFill>
                          <a:latin typeface="Calibri"/>
                          <a:ea typeface="Calibri"/>
                          <a:cs typeface="Calibri"/>
                          <a:sym typeface="Calibri"/>
                        </a:rPr>
                        <a:t>Integer</a:t>
                      </a:r>
                      <a:endParaRPr sz="24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25, -3</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400"/>
                        <a:buFont typeface="Calibri"/>
                        <a:buNone/>
                      </a:pPr>
                      <a:r>
                        <a:rPr lang="en-US" sz="2400" u="none" cap="none" strike="noStrike">
                          <a:solidFill>
                            <a:srgbClr val="13123D"/>
                          </a:solidFill>
                          <a:latin typeface="Calibri"/>
                          <a:ea typeface="Calibri"/>
                          <a:cs typeface="Calibri"/>
                          <a:sym typeface="Calibri"/>
                        </a:rPr>
                        <a:t>Bilangan bulat</a:t>
                      </a:r>
                      <a:endParaRPr sz="24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r h="713225">
                <a:tc>
                  <a:txBody>
                    <a:bodyPr/>
                    <a:lstStyle/>
                    <a:p>
                      <a:pPr indent="0" lvl="0" marL="0" marR="0" rtl="0" algn="l">
                        <a:spcBef>
                          <a:spcPts val="0"/>
                        </a:spcBef>
                        <a:spcAft>
                          <a:spcPts val="0"/>
                        </a:spcAft>
                        <a:buClr>
                          <a:srgbClr val="13123D"/>
                        </a:buClr>
                        <a:buSzPts val="2400"/>
                        <a:buFont typeface="Calibri"/>
                        <a:buNone/>
                      </a:pPr>
                      <a:r>
                        <a:rPr b="1" lang="en-US" sz="2400" u="none" cap="none" strike="noStrike">
                          <a:solidFill>
                            <a:srgbClr val="13123D"/>
                          </a:solidFill>
                          <a:latin typeface="Calibri"/>
                          <a:ea typeface="Calibri"/>
                          <a:cs typeface="Calibri"/>
                          <a:sym typeface="Calibri"/>
                        </a:rPr>
                        <a:t>Float</a:t>
                      </a:r>
                      <a:endParaRPr sz="24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3.14</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400"/>
                        <a:buFont typeface="Calibri"/>
                        <a:buNone/>
                      </a:pPr>
                      <a:r>
                        <a:rPr lang="en-US" sz="2400" u="none" cap="none" strike="noStrike">
                          <a:solidFill>
                            <a:srgbClr val="13123D"/>
                          </a:solidFill>
                          <a:latin typeface="Calibri"/>
                          <a:ea typeface="Calibri"/>
                          <a:cs typeface="Calibri"/>
                          <a:sym typeface="Calibri"/>
                        </a:rPr>
                        <a:t>Bilangan desimal</a:t>
                      </a:r>
                      <a:endParaRPr sz="24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r h="713225">
                <a:tc>
                  <a:txBody>
                    <a:bodyPr/>
                    <a:lstStyle/>
                    <a:p>
                      <a:pPr indent="0" lvl="0" marL="0" marR="0" rtl="0" algn="l">
                        <a:spcBef>
                          <a:spcPts val="0"/>
                        </a:spcBef>
                        <a:spcAft>
                          <a:spcPts val="0"/>
                        </a:spcAft>
                        <a:buClr>
                          <a:srgbClr val="13123D"/>
                        </a:buClr>
                        <a:buSzPts val="2400"/>
                        <a:buFont typeface="Calibri"/>
                        <a:buNone/>
                      </a:pPr>
                      <a:r>
                        <a:rPr b="1" lang="en-US" sz="2400" u="none" cap="none" strike="noStrike">
                          <a:solidFill>
                            <a:srgbClr val="13123D"/>
                          </a:solidFill>
                          <a:latin typeface="Calibri"/>
                          <a:ea typeface="Calibri"/>
                          <a:cs typeface="Calibri"/>
                          <a:sym typeface="Calibri"/>
                        </a:rPr>
                        <a:t>String</a:t>
                      </a:r>
                      <a:endParaRPr sz="24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"Halo"</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400"/>
                        <a:buFont typeface="Calibri"/>
                        <a:buNone/>
                      </a:pPr>
                      <a:r>
                        <a:rPr lang="en-US" sz="2400" u="none" cap="none" strike="noStrike">
                          <a:solidFill>
                            <a:srgbClr val="13123D"/>
                          </a:solidFill>
                          <a:latin typeface="Calibri"/>
                          <a:ea typeface="Calibri"/>
                          <a:cs typeface="Calibri"/>
                          <a:sym typeface="Calibri"/>
                        </a:rPr>
                        <a:t>Teks</a:t>
                      </a:r>
                      <a:endParaRPr sz="24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r h="713225">
                <a:tc>
                  <a:txBody>
                    <a:bodyPr/>
                    <a:lstStyle/>
                    <a:p>
                      <a:pPr indent="0" lvl="0" marL="0" marR="0" rtl="0" algn="l">
                        <a:spcBef>
                          <a:spcPts val="0"/>
                        </a:spcBef>
                        <a:spcAft>
                          <a:spcPts val="0"/>
                        </a:spcAft>
                        <a:buClr>
                          <a:srgbClr val="13123D"/>
                        </a:buClr>
                        <a:buSzPts val="2400"/>
                        <a:buFont typeface="Calibri"/>
                        <a:buNone/>
                      </a:pPr>
                      <a:r>
                        <a:rPr b="1" lang="en-US" sz="2400" u="none" cap="none" strike="noStrike">
                          <a:solidFill>
                            <a:srgbClr val="13123D"/>
                          </a:solidFill>
                          <a:latin typeface="Calibri"/>
                          <a:ea typeface="Calibri"/>
                          <a:cs typeface="Calibri"/>
                          <a:sym typeface="Calibri"/>
                        </a:rPr>
                        <a:t>Boolean</a:t>
                      </a:r>
                      <a:endParaRPr sz="24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true, false</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400"/>
                        <a:buFont typeface="Calibri"/>
                        <a:buNone/>
                      </a:pPr>
                      <a:r>
                        <a:rPr lang="en-US" sz="2400" u="none" cap="none" strike="noStrike">
                          <a:solidFill>
                            <a:srgbClr val="13123D"/>
                          </a:solidFill>
                          <a:latin typeface="Calibri"/>
                          <a:ea typeface="Calibri"/>
                          <a:cs typeface="Calibri"/>
                          <a:sym typeface="Calibri"/>
                        </a:rPr>
                        <a:t>Benar / salah</a:t>
                      </a:r>
                      <a:endParaRPr sz="24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bl>
          </a:graphicData>
        </a:graphic>
      </p:graphicFrame>
      <p:sp>
        <p:nvSpPr>
          <p:cNvPr id="353" name="Google Shape;353;p12"/>
          <p:cNvSpPr/>
          <p:nvPr/>
        </p:nvSpPr>
        <p:spPr>
          <a:xfrm>
            <a:off x="8046720" y="8138160"/>
            <a:ext cx="9326880" cy="1371600"/>
          </a:xfrm>
          <a:prstGeom prst="roundRect">
            <a:avLst>
              <a:gd fmla="val 10000" name="adj"/>
            </a:avLst>
          </a:prstGeom>
          <a:solidFill>
            <a:srgbClr val="FFF3BF"/>
          </a:solidFill>
          <a:ln cap="flat" cmpd="sng" w="12700">
            <a:solidFill>
              <a:srgbClr val="FFF3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2"/>
          <p:cNvSpPr txBox="1"/>
          <p:nvPr/>
        </p:nvSpPr>
        <p:spPr>
          <a:xfrm>
            <a:off x="8321040" y="8138160"/>
            <a:ext cx="877824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300"/>
              <a:buFont typeface="Calibri"/>
              <a:buNone/>
            </a:pPr>
            <a:r>
              <a:rPr b="1" i="0" lang="en-US" sz="2300" u="none" cap="none" strike="noStrike">
                <a:solidFill>
                  <a:srgbClr val="13123D"/>
                </a:solidFill>
                <a:latin typeface="Calibri"/>
                <a:ea typeface="Calibri"/>
                <a:cs typeface="Calibri"/>
                <a:sym typeface="Calibri"/>
              </a:rPr>
              <a:t>Awas tipe: </a:t>
            </a:r>
            <a:r>
              <a:rPr b="0" i="0" lang="en-US" sz="2300" u="none" cap="none" strike="noStrike">
                <a:solidFill>
                  <a:srgbClr val="13123D"/>
                </a:solidFill>
                <a:latin typeface="Calibri"/>
                <a:ea typeface="Calibri"/>
                <a:cs typeface="Calibri"/>
                <a:sym typeface="Calibri"/>
              </a:rPr>
              <a:t>5 + 3 = 8 (angka), tetapi "5" + "3" = "53" (teks) di banyak bahasa.</a:t>
            </a:r>
            <a:endParaRPr b="0" i="0" sz="23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pic>
        <p:nvPicPr>
          <p:cNvPr descr="/home/claude/assets/image6.png" id="360" name="Google Shape;360;p13"/>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361" name="Google Shape;361;p13"/>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362" name="Google Shape;362;p13"/>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BAGIAN 4 · 20 MENIT</a:t>
            </a:r>
            <a:endParaRPr b="0" i="0" sz="2000" u="none" cap="none" strike="noStrike">
              <a:solidFill>
                <a:schemeClr val="dk1"/>
              </a:solidFill>
              <a:latin typeface="Calibri"/>
              <a:ea typeface="Calibri"/>
              <a:cs typeface="Calibri"/>
              <a:sym typeface="Calibri"/>
            </a:endParaRPr>
          </a:p>
        </p:txBody>
      </p:sp>
      <p:sp>
        <p:nvSpPr>
          <p:cNvPr id="363" name="Google Shape;363;p13"/>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Operator</a:t>
            </a:r>
            <a:endParaRPr b="0" i="0" sz="4800" u="none" cap="none" strike="noStrike">
              <a:solidFill>
                <a:schemeClr val="dk1"/>
              </a:solidFill>
              <a:latin typeface="Calibri"/>
              <a:ea typeface="Calibri"/>
              <a:cs typeface="Calibri"/>
              <a:sym typeface="Calibri"/>
            </a:endParaRPr>
          </a:p>
        </p:txBody>
      </p:sp>
      <p:sp>
        <p:nvSpPr>
          <p:cNvPr id="364" name="Google Shape;364;p13"/>
          <p:cNvSpPr/>
          <p:nvPr/>
        </p:nvSpPr>
        <p:spPr>
          <a:xfrm>
            <a:off x="914400" y="4343400"/>
            <a:ext cx="5212080" cy="3703320"/>
          </a:xfrm>
          <a:prstGeom prst="roundRect">
            <a:avLst>
              <a:gd fmla="val 3704"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3"/>
          <p:cNvSpPr txBox="1"/>
          <p:nvPr/>
        </p:nvSpPr>
        <p:spPr>
          <a:xfrm>
            <a:off x="1188720" y="4526280"/>
            <a:ext cx="46634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800"/>
              <a:buFont typeface="Calibri"/>
              <a:buNone/>
            </a:pPr>
            <a:r>
              <a:rPr b="1" i="0" lang="en-US" sz="2800" u="none" cap="none" strike="noStrike">
                <a:solidFill>
                  <a:srgbClr val="162CA2"/>
                </a:solidFill>
                <a:latin typeface="Calibri"/>
                <a:ea typeface="Calibri"/>
                <a:cs typeface="Calibri"/>
                <a:sym typeface="Calibri"/>
              </a:rPr>
              <a:t>Aritmatika</a:t>
            </a:r>
            <a:endParaRPr b="0" i="0" sz="2800" u="none" cap="none" strike="noStrike">
              <a:solidFill>
                <a:schemeClr val="dk1"/>
              </a:solidFill>
              <a:latin typeface="Calibri"/>
              <a:ea typeface="Calibri"/>
              <a:cs typeface="Calibri"/>
              <a:sym typeface="Calibri"/>
            </a:endParaRPr>
          </a:p>
        </p:txBody>
      </p:sp>
      <p:sp>
        <p:nvSpPr>
          <p:cNvPr id="366" name="Google Shape;366;p13"/>
          <p:cNvSpPr/>
          <p:nvPr/>
        </p:nvSpPr>
        <p:spPr>
          <a:xfrm>
            <a:off x="1188720" y="5257800"/>
            <a:ext cx="4663440" cy="685800"/>
          </a:xfrm>
          <a:prstGeom prst="roundRect">
            <a:avLst>
              <a:gd fmla="val 16000" name="adj"/>
            </a:avLst>
          </a:prstGeom>
          <a:solidFill>
            <a:srgbClr val="D9E0F7"/>
          </a:solidFill>
          <a:ln cap="flat" cmpd="sng" w="9525">
            <a:solidFill>
              <a:srgbClr val="D9E0F7"/>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3123D"/>
              </a:buClr>
              <a:buSzPts val="2200"/>
              <a:buFont typeface="Courier New"/>
              <a:buNone/>
            </a:pPr>
            <a:r>
              <a:rPr b="1" i="0" lang="en-US" sz="2200" u="none" cap="none" strike="noStrike">
                <a:solidFill>
                  <a:srgbClr val="13123D"/>
                </a:solidFill>
                <a:latin typeface="Courier New"/>
                <a:ea typeface="Courier New"/>
                <a:cs typeface="Courier New"/>
                <a:sym typeface="Courier New"/>
              </a:rPr>
              <a:t>+   -   *   /   MOD</a:t>
            </a:r>
            <a:endParaRPr b="0" i="0" sz="2200" u="none" cap="none" strike="noStrike">
              <a:solidFill>
                <a:schemeClr val="dk1"/>
              </a:solidFill>
              <a:latin typeface="Calibri"/>
              <a:ea typeface="Calibri"/>
              <a:cs typeface="Calibri"/>
              <a:sym typeface="Calibri"/>
            </a:endParaRPr>
          </a:p>
        </p:txBody>
      </p:sp>
      <p:sp>
        <p:nvSpPr>
          <p:cNvPr id="367" name="Google Shape;367;p13"/>
          <p:cNvSpPr txBox="1"/>
          <p:nvPr/>
        </p:nvSpPr>
        <p:spPr>
          <a:xfrm>
            <a:off x="1188720" y="6217920"/>
            <a:ext cx="46634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100"/>
              <a:buFont typeface="Courier New"/>
              <a:buNone/>
            </a:pPr>
            <a:r>
              <a:rPr b="0" i="0" lang="en-US" sz="2100" u="none" cap="none" strike="noStrike">
                <a:solidFill>
                  <a:srgbClr val="13123D"/>
                </a:solidFill>
                <a:latin typeface="Courier New"/>
                <a:ea typeface="Courier New"/>
                <a:cs typeface="Courier New"/>
                <a:sym typeface="Courier New"/>
              </a:rPr>
              <a:t>7 + 3 = 10</a:t>
            </a:r>
            <a:endParaRPr b="0" i="0" sz="2100" u="none" cap="none" strike="noStrike">
              <a:solidFill>
                <a:schemeClr val="dk1"/>
              </a:solidFill>
              <a:latin typeface="Calibri"/>
              <a:ea typeface="Calibri"/>
              <a:cs typeface="Calibri"/>
              <a:sym typeface="Calibri"/>
            </a:endParaRPr>
          </a:p>
        </p:txBody>
      </p:sp>
      <p:sp>
        <p:nvSpPr>
          <p:cNvPr id="368" name="Google Shape;368;p13"/>
          <p:cNvSpPr txBox="1"/>
          <p:nvPr/>
        </p:nvSpPr>
        <p:spPr>
          <a:xfrm>
            <a:off x="1188720" y="6784848"/>
            <a:ext cx="46634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100"/>
              <a:buFont typeface="Courier New"/>
              <a:buNone/>
            </a:pPr>
            <a:r>
              <a:rPr b="0" i="0" lang="en-US" sz="2100" u="none" cap="none" strike="noStrike">
                <a:solidFill>
                  <a:srgbClr val="13123D"/>
                </a:solidFill>
                <a:latin typeface="Courier New"/>
                <a:ea typeface="Courier New"/>
                <a:cs typeface="Courier New"/>
                <a:sym typeface="Courier New"/>
              </a:rPr>
              <a:t>7 / 2 = 3.5</a:t>
            </a:r>
            <a:endParaRPr b="0" i="0" sz="2100" u="none" cap="none" strike="noStrike">
              <a:solidFill>
                <a:schemeClr val="dk1"/>
              </a:solidFill>
              <a:latin typeface="Calibri"/>
              <a:ea typeface="Calibri"/>
              <a:cs typeface="Calibri"/>
              <a:sym typeface="Calibri"/>
            </a:endParaRPr>
          </a:p>
        </p:txBody>
      </p:sp>
      <p:sp>
        <p:nvSpPr>
          <p:cNvPr id="369" name="Google Shape;369;p13"/>
          <p:cNvSpPr txBox="1"/>
          <p:nvPr/>
        </p:nvSpPr>
        <p:spPr>
          <a:xfrm>
            <a:off x="1188720" y="7351776"/>
            <a:ext cx="46634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100"/>
              <a:buFont typeface="Courier New"/>
              <a:buNone/>
            </a:pPr>
            <a:r>
              <a:rPr b="0" i="0" lang="en-US" sz="2100" u="none" cap="none" strike="noStrike">
                <a:solidFill>
                  <a:srgbClr val="13123D"/>
                </a:solidFill>
                <a:latin typeface="Courier New"/>
                <a:ea typeface="Courier New"/>
                <a:cs typeface="Courier New"/>
                <a:sym typeface="Courier New"/>
              </a:rPr>
              <a:t>7 MOD 3 = 1</a:t>
            </a:r>
            <a:endParaRPr b="0" i="0" sz="2100" u="none" cap="none" strike="noStrike">
              <a:solidFill>
                <a:schemeClr val="dk1"/>
              </a:solidFill>
              <a:latin typeface="Calibri"/>
              <a:ea typeface="Calibri"/>
              <a:cs typeface="Calibri"/>
              <a:sym typeface="Calibri"/>
            </a:endParaRPr>
          </a:p>
        </p:txBody>
      </p:sp>
      <p:sp>
        <p:nvSpPr>
          <p:cNvPr id="370" name="Google Shape;370;p13"/>
          <p:cNvSpPr/>
          <p:nvPr/>
        </p:nvSpPr>
        <p:spPr>
          <a:xfrm>
            <a:off x="6537960" y="4343400"/>
            <a:ext cx="5212080" cy="3703320"/>
          </a:xfrm>
          <a:prstGeom prst="roundRect">
            <a:avLst>
              <a:gd fmla="val 3704"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3"/>
          <p:cNvSpPr txBox="1"/>
          <p:nvPr/>
        </p:nvSpPr>
        <p:spPr>
          <a:xfrm>
            <a:off x="6812280" y="4526280"/>
            <a:ext cx="46634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800"/>
              <a:buFont typeface="Calibri"/>
              <a:buNone/>
            </a:pPr>
            <a:r>
              <a:rPr b="1" i="0" lang="en-US" sz="2800" u="none" cap="none" strike="noStrike">
                <a:solidFill>
                  <a:srgbClr val="162CA2"/>
                </a:solidFill>
                <a:latin typeface="Calibri"/>
                <a:ea typeface="Calibri"/>
                <a:cs typeface="Calibri"/>
                <a:sym typeface="Calibri"/>
              </a:rPr>
              <a:t>Perbandingan</a:t>
            </a:r>
            <a:endParaRPr b="0" i="0" sz="2800" u="none" cap="none" strike="noStrike">
              <a:solidFill>
                <a:schemeClr val="dk1"/>
              </a:solidFill>
              <a:latin typeface="Calibri"/>
              <a:ea typeface="Calibri"/>
              <a:cs typeface="Calibri"/>
              <a:sym typeface="Calibri"/>
            </a:endParaRPr>
          </a:p>
        </p:txBody>
      </p:sp>
      <p:sp>
        <p:nvSpPr>
          <p:cNvPr id="372" name="Google Shape;372;p13"/>
          <p:cNvSpPr/>
          <p:nvPr/>
        </p:nvSpPr>
        <p:spPr>
          <a:xfrm>
            <a:off x="6812280" y="5257800"/>
            <a:ext cx="4663440" cy="685800"/>
          </a:xfrm>
          <a:prstGeom prst="roundRect">
            <a:avLst>
              <a:gd fmla="val 16000" name="adj"/>
            </a:avLst>
          </a:prstGeom>
          <a:solidFill>
            <a:srgbClr val="D9E0F7"/>
          </a:solidFill>
          <a:ln cap="flat" cmpd="sng" w="9525">
            <a:solidFill>
              <a:srgbClr val="D9E0F7"/>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3123D"/>
              </a:buClr>
              <a:buSzPts val="2200"/>
              <a:buFont typeface="Courier New"/>
              <a:buNone/>
            </a:pPr>
            <a:r>
              <a:rPr b="1" i="0" lang="en-US" sz="2200" u="none" cap="none" strike="noStrike">
                <a:solidFill>
                  <a:srgbClr val="13123D"/>
                </a:solidFill>
                <a:latin typeface="Courier New"/>
                <a:ea typeface="Courier New"/>
                <a:cs typeface="Courier New"/>
                <a:sym typeface="Courier New"/>
              </a:rPr>
              <a:t>==  !=  &lt;  &gt;  &lt;=  &gt;=</a:t>
            </a:r>
            <a:endParaRPr b="0" i="0" sz="2200" u="none" cap="none" strike="noStrike">
              <a:solidFill>
                <a:schemeClr val="dk1"/>
              </a:solidFill>
              <a:latin typeface="Calibri"/>
              <a:ea typeface="Calibri"/>
              <a:cs typeface="Calibri"/>
              <a:sym typeface="Calibri"/>
            </a:endParaRPr>
          </a:p>
        </p:txBody>
      </p:sp>
      <p:sp>
        <p:nvSpPr>
          <p:cNvPr id="373" name="Google Shape;373;p13"/>
          <p:cNvSpPr txBox="1"/>
          <p:nvPr/>
        </p:nvSpPr>
        <p:spPr>
          <a:xfrm>
            <a:off x="6812280" y="6217920"/>
            <a:ext cx="46634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100"/>
              <a:buFont typeface="Courier New"/>
              <a:buNone/>
            </a:pPr>
            <a:r>
              <a:rPr b="0" i="0" lang="en-US" sz="2100" u="none" cap="none" strike="noStrike">
                <a:solidFill>
                  <a:srgbClr val="13123D"/>
                </a:solidFill>
                <a:latin typeface="Courier New"/>
                <a:ea typeface="Courier New"/>
                <a:cs typeface="Courier New"/>
                <a:sym typeface="Courier New"/>
              </a:rPr>
              <a:t>5 &gt; 3 = true</a:t>
            </a:r>
            <a:endParaRPr b="0" i="0" sz="2100" u="none" cap="none" strike="noStrike">
              <a:solidFill>
                <a:schemeClr val="dk1"/>
              </a:solidFill>
              <a:latin typeface="Calibri"/>
              <a:ea typeface="Calibri"/>
              <a:cs typeface="Calibri"/>
              <a:sym typeface="Calibri"/>
            </a:endParaRPr>
          </a:p>
        </p:txBody>
      </p:sp>
      <p:sp>
        <p:nvSpPr>
          <p:cNvPr id="374" name="Google Shape;374;p13"/>
          <p:cNvSpPr txBox="1"/>
          <p:nvPr/>
        </p:nvSpPr>
        <p:spPr>
          <a:xfrm>
            <a:off x="6812280" y="6784848"/>
            <a:ext cx="46634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100"/>
              <a:buFont typeface="Courier New"/>
              <a:buNone/>
            </a:pPr>
            <a:r>
              <a:rPr b="0" i="0" lang="en-US" sz="2100" u="none" cap="none" strike="noStrike">
                <a:solidFill>
                  <a:srgbClr val="13123D"/>
                </a:solidFill>
                <a:latin typeface="Courier New"/>
                <a:ea typeface="Courier New"/>
                <a:cs typeface="Courier New"/>
                <a:sym typeface="Courier New"/>
              </a:rPr>
              <a:t>5 == 3 = false</a:t>
            </a:r>
            <a:endParaRPr b="0" i="0" sz="2100" u="none" cap="none" strike="noStrike">
              <a:solidFill>
                <a:schemeClr val="dk1"/>
              </a:solidFill>
              <a:latin typeface="Calibri"/>
              <a:ea typeface="Calibri"/>
              <a:cs typeface="Calibri"/>
              <a:sym typeface="Calibri"/>
            </a:endParaRPr>
          </a:p>
        </p:txBody>
      </p:sp>
      <p:sp>
        <p:nvSpPr>
          <p:cNvPr id="375" name="Google Shape;375;p13"/>
          <p:cNvSpPr txBox="1"/>
          <p:nvPr/>
        </p:nvSpPr>
        <p:spPr>
          <a:xfrm>
            <a:off x="6812280" y="7351776"/>
            <a:ext cx="46634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100"/>
              <a:buFont typeface="Courier New"/>
              <a:buNone/>
            </a:pPr>
            <a:r>
              <a:rPr b="0" i="0" lang="en-US" sz="2100" u="none" cap="none" strike="noStrike">
                <a:solidFill>
                  <a:srgbClr val="13123D"/>
                </a:solidFill>
                <a:latin typeface="Courier New"/>
                <a:ea typeface="Courier New"/>
                <a:cs typeface="Courier New"/>
                <a:sym typeface="Courier New"/>
              </a:rPr>
              <a:t>4 != 4 = false</a:t>
            </a:r>
            <a:endParaRPr b="0" i="0" sz="2100" u="none" cap="none" strike="noStrike">
              <a:solidFill>
                <a:schemeClr val="dk1"/>
              </a:solidFill>
              <a:latin typeface="Calibri"/>
              <a:ea typeface="Calibri"/>
              <a:cs typeface="Calibri"/>
              <a:sym typeface="Calibri"/>
            </a:endParaRPr>
          </a:p>
        </p:txBody>
      </p:sp>
      <p:sp>
        <p:nvSpPr>
          <p:cNvPr id="376" name="Google Shape;376;p13"/>
          <p:cNvSpPr/>
          <p:nvPr/>
        </p:nvSpPr>
        <p:spPr>
          <a:xfrm>
            <a:off x="12161520" y="4343400"/>
            <a:ext cx="5212080" cy="3703320"/>
          </a:xfrm>
          <a:prstGeom prst="roundRect">
            <a:avLst>
              <a:gd fmla="val 3704"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3"/>
          <p:cNvSpPr txBox="1"/>
          <p:nvPr/>
        </p:nvSpPr>
        <p:spPr>
          <a:xfrm>
            <a:off x="12435840" y="4526280"/>
            <a:ext cx="46634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800"/>
              <a:buFont typeface="Calibri"/>
              <a:buNone/>
            </a:pPr>
            <a:r>
              <a:rPr b="1" i="0" lang="en-US" sz="2800" u="none" cap="none" strike="noStrike">
                <a:solidFill>
                  <a:srgbClr val="162CA2"/>
                </a:solidFill>
                <a:latin typeface="Calibri"/>
                <a:ea typeface="Calibri"/>
                <a:cs typeface="Calibri"/>
                <a:sym typeface="Calibri"/>
              </a:rPr>
              <a:t>Logika</a:t>
            </a:r>
            <a:endParaRPr b="0" i="0" sz="2800" u="none" cap="none" strike="noStrike">
              <a:solidFill>
                <a:schemeClr val="dk1"/>
              </a:solidFill>
              <a:latin typeface="Calibri"/>
              <a:ea typeface="Calibri"/>
              <a:cs typeface="Calibri"/>
              <a:sym typeface="Calibri"/>
            </a:endParaRPr>
          </a:p>
        </p:txBody>
      </p:sp>
      <p:sp>
        <p:nvSpPr>
          <p:cNvPr id="378" name="Google Shape;378;p13"/>
          <p:cNvSpPr/>
          <p:nvPr/>
        </p:nvSpPr>
        <p:spPr>
          <a:xfrm>
            <a:off x="12435840" y="5257800"/>
            <a:ext cx="4663440" cy="685800"/>
          </a:xfrm>
          <a:prstGeom prst="roundRect">
            <a:avLst>
              <a:gd fmla="val 16000" name="adj"/>
            </a:avLst>
          </a:prstGeom>
          <a:solidFill>
            <a:srgbClr val="D9E0F7"/>
          </a:solidFill>
          <a:ln cap="flat" cmpd="sng" w="9525">
            <a:solidFill>
              <a:srgbClr val="D9E0F7"/>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3123D"/>
              </a:buClr>
              <a:buSzPts val="2200"/>
              <a:buFont typeface="Courier New"/>
              <a:buNone/>
            </a:pPr>
            <a:r>
              <a:rPr b="1" i="0" lang="en-US" sz="2200" u="none" cap="none" strike="noStrike">
                <a:solidFill>
                  <a:srgbClr val="13123D"/>
                </a:solidFill>
                <a:latin typeface="Courier New"/>
                <a:ea typeface="Courier New"/>
                <a:cs typeface="Courier New"/>
                <a:sym typeface="Courier New"/>
              </a:rPr>
              <a:t>AND   OR   NOT</a:t>
            </a:r>
            <a:endParaRPr b="0" i="0" sz="2200" u="none" cap="none" strike="noStrike">
              <a:solidFill>
                <a:schemeClr val="dk1"/>
              </a:solidFill>
              <a:latin typeface="Calibri"/>
              <a:ea typeface="Calibri"/>
              <a:cs typeface="Calibri"/>
              <a:sym typeface="Calibri"/>
            </a:endParaRPr>
          </a:p>
        </p:txBody>
      </p:sp>
      <p:sp>
        <p:nvSpPr>
          <p:cNvPr id="379" name="Google Shape;379;p13"/>
          <p:cNvSpPr txBox="1"/>
          <p:nvPr/>
        </p:nvSpPr>
        <p:spPr>
          <a:xfrm>
            <a:off x="12435840" y="6217920"/>
            <a:ext cx="46634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100"/>
              <a:buFont typeface="Courier New"/>
              <a:buNone/>
            </a:pPr>
            <a:r>
              <a:rPr b="0" i="0" lang="en-US" sz="2100" u="none" cap="none" strike="noStrike">
                <a:solidFill>
                  <a:srgbClr val="13123D"/>
                </a:solidFill>
                <a:latin typeface="Courier New"/>
                <a:ea typeface="Courier New"/>
                <a:cs typeface="Courier New"/>
                <a:sym typeface="Courier New"/>
              </a:rPr>
              <a:t>true AND false = false</a:t>
            </a:r>
            <a:endParaRPr b="0" i="0" sz="2100" u="none" cap="none" strike="noStrike">
              <a:solidFill>
                <a:schemeClr val="dk1"/>
              </a:solidFill>
              <a:latin typeface="Calibri"/>
              <a:ea typeface="Calibri"/>
              <a:cs typeface="Calibri"/>
              <a:sym typeface="Calibri"/>
            </a:endParaRPr>
          </a:p>
        </p:txBody>
      </p:sp>
      <p:sp>
        <p:nvSpPr>
          <p:cNvPr id="380" name="Google Shape;380;p13"/>
          <p:cNvSpPr txBox="1"/>
          <p:nvPr/>
        </p:nvSpPr>
        <p:spPr>
          <a:xfrm>
            <a:off x="12435840" y="6784848"/>
            <a:ext cx="46634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100"/>
              <a:buFont typeface="Courier New"/>
              <a:buNone/>
            </a:pPr>
            <a:r>
              <a:rPr b="0" i="0" lang="en-US" sz="2100" u="none" cap="none" strike="noStrike">
                <a:solidFill>
                  <a:srgbClr val="13123D"/>
                </a:solidFill>
                <a:latin typeface="Courier New"/>
                <a:ea typeface="Courier New"/>
                <a:cs typeface="Courier New"/>
                <a:sym typeface="Courier New"/>
              </a:rPr>
              <a:t>true OR false = true</a:t>
            </a:r>
            <a:endParaRPr b="0" i="0" sz="2100" u="none" cap="none" strike="noStrike">
              <a:solidFill>
                <a:schemeClr val="dk1"/>
              </a:solidFill>
              <a:latin typeface="Calibri"/>
              <a:ea typeface="Calibri"/>
              <a:cs typeface="Calibri"/>
              <a:sym typeface="Calibri"/>
            </a:endParaRPr>
          </a:p>
        </p:txBody>
      </p:sp>
      <p:sp>
        <p:nvSpPr>
          <p:cNvPr id="381" name="Google Shape;381;p13"/>
          <p:cNvSpPr txBox="1"/>
          <p:nvPr/>
        </p:nvSpPr>
        <p:spPr>
          <a:xfrm>
            <a:off x="12435840" y="7351776"/>
            <a:ext cx="46634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100"/>
              <a:buFont typeface="Courier New"/>
              <a:buNone/>
            </a:pPr>
            <a:r>
              <a:rPr b="0" i="0" lang="en-US" sz="2100" u="none" cap="none" strike="noStrike">
                <a:solidFill>
                  <a:srgbClr val="13123D"/>
                </a:solidFill>
                <a:latin typeface="Courier New"/>
                <a:ea typeface="Courier New"/>
                <a:cs typeface="Courier New"/>
                <a:sym typeface="Courier New"/>
              </a:rPr>
              <a:t>NOT true = false</a:t>
            </a:r>
            <a:endParaRPr b="0" i="0" sz="2100" u="none" cap="none" strike="noStrike">
              <a:solidFill>
                <a:schemeClr val="dk1"/>
              </a:solidFill>
              <a:latin typeface="Calibri"/>
              <a:ea typeface="Calibri"/>
              <a:cs typeface="Calibri"/>
              <a:sym typeface="Calibri"/>
            </a:endParaRPr>
          </a:p>
        </p:txBody>
      </p:sp>
      <p:sp>
        <p:nvSpPr>
          <p:cNvPr id="382" name="Google Shape;382;p13"/>
          <p:cNvSpPr/>
          <p:nvPr/>
        </p:nvSpPr>
        <p:spPr>
          <a:xfrm>
            <a:off x="914400" y="8321040"/>
            <a:ext cx="16459200" cy="1188720"/>
          </a:xfrm>
          <a:prstGeom prst="roundRect">
            <a:avLst>
              <a:gd fmla="val 11538" name="adj"/>
            </a:avLst>
          </a:prstGeom>
          <a:solidFill>
            <a:srgbClr val="162CA2"/>
          </a:solidFill>
          <a:ln cap="flat" cmpd="sng" w="12700">
            <a:solidFill>
              <a:srgbClr val="162C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3"/>
          <p:cNvSpPr txBox="1"/>
          <p:nvPr/>
        </p:nvSpPr>
        <p:spPr>
          <a:xfrm>
            <a:off x="1188720" y="8321040"/>
            <a:ext cx="15910560" cy="11887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CDF59"/>
              </a:buClr>
              <a:buSzPts val="2800"/>
              <a:buFont typeface="Calibri"/>
              <a:buNone/>
            </a:pPr>
            <a:r>
              <a:rPr b="1" i="0" lang="en-US" sz="2800" u="none" cap="none" strike="noStrike">
                <a:solidFill>
                  <a:srgbClr val="FCDF59"/>
                </a:solidFill>
                <a:latin typeface="Calibri"/>
                <a:ea typeface="Calibri"/>
                <a:cs typeface="Calibri"/>
                <a:sym typeface="Calibri"/>
              </a:rPr>
              <a:t>Urutan prioritas: </a:t>
            </a:r>
            <a:r>
              <a:rPr b="0" i="0" lang="en-US" sz="2800" u="none" cap="none" strike="noStrike">
                <a:solidFill>
                  <a:srgbClr val="FDFBFB"/>
                </a:solidFill>
                <a:latin typeface="Calibri"/>
                <a:ea typeface="Calibri"/>
                <a:cs typeface="Calibri"/>
                <a:sym typeface="Calibri"/>
              </a:rPr>
              <a:t>( )  →  * / MOD  →  + -  →  perbandingan  →  NOT  →  AND  →  OR</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pic>
        <p:nvPicPr>
          <p:cNvPr descr="/home/claude/assets/image4.png" id="389" name="Google Shape;389;p14"/>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390" name="Google Shape;390;p14"/>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391" name="Google Shape;391;p14"/>
          <p:cNvSpPr txBox="1"/>
          <p:nvPr/>
        </p:nvSpPr>
        <p:spPr>
          <a:xfrm>
            <a:off x="1024128" y="2194560"/>
            <a:ext cx="594360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6000"/>
              <a:buFont typeface="Arial"/>
              <a:buNone/>
            </a:pPr>
            <a:r>
              <a:rPr b="1" i="0" lang="en-US" sz="6000" u="none" cap="none" strike="noStrike">
                <a:solidFill>
                  <a:srgbClr val="FDFBFB"/>
                </a:solidFill>
                <a:latin typeface="Arial"/>
                <a:ea typeface="Arial"/>
                <a:cs typeface="Arial"/>
                <a:sym typeface="Arial"/>
              </a:rPr>
              <a:t>Istirahat</a:t>
            </a:r>
            <a:endParaRPr b="0" i="0" sz="6000" u="none" cap="none" strike="noStrike">
              <a:solidFill>
                <a:schemeClr val="dk1"/>
              </a:solidFill>
              <a:latin typeface="Calibri"/>
              <a:ea typeface="Calibri"/>
              <a:cs typeface="Calibri"/>
              <a:sym typeface="Calibri"/>
            </a:endParaRPr>
          </a:p>
        </p:txBody>
      </p:sp>
      <p:sp>
        <p:nvSpPr>
          <p:cNvPr id="392" name="Google Shape;392;p14"/>
          <p:cNvSpPr txBox="1"/>
          <p:nvPr/>
        </p:nvSpPr>
        <p:spPr>
          <a:xfrm>
            <a:off x="1024128" y="3566160"/>
            <a:ext cx="576072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4000"/>
              <a:buFont typeface="Arial"/>
              <a:buNone/>
            </a:pPr>
            <a:r>
              <a:rPr b="1" i="0" lang="en-US" sz="4000" u="none" cap="none" strike="noStrike">
                <a:solidFill>
                  <a:srgbClr val="FCDF59"/>
                </a:solidFill>
                <a:latin typeface="Arial"/>
                <a:ea typeface="Arial"/>
                <a:cs typeface="Arial"/>
                <a:sym typeface="Arial"/>
              </a:rPr>
              <a:t>10 menit</a:t>
            </a:r>
            <a:endParaRPr b="0" i="0" sz="4000" u="none" cap="none" strike="noStrike">
              <a:solidFill>
                <a:schemeClr val="dk1"/>
              </a:solidFill>
              <a:latin typeface="Calibri"/>
              <a:ea typeface="Calibri"/>
              <a:cs typeface="Calibri"/>
              <a:sym typeface="Calibri"/>
            </a:endParaRPr>
          </a:p>
        </p:txBody>
      </p:sp>
      <p:sp>
        <p:nvSpPr>
          <p:cNvPr id="393" name="Google Shape;393;p14"/>
          <p:cNvSpPr/>
          <p:nvPr/>
        </p:nvSpPr>
        <p:spPr>
          <a:xfrm>
            <a:off x="11430000" y="2377440"/>
            <a:ext cx="3291840" cy="3291840"/>
          </a:xfrm>
          <a:prstGeom prst="ellipse">
            <a:avLst/>
          </a:prstGeom>
          <a:solidFill>
            <a:srgbClr val="FCDF59"/>
          </a:solidFill>
          <a:ln cap="flat" cmpd="sng" w="12700">
            <a:solidFill>
              <a:srgbClr val="FCDF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94" name="Google Shape;394;p14"/>
          <p:cNvPicPr preferRelativeResize="0"/>
          <p:nvPr/>
        </p:nvPicPr>
        <p:blipFill rotWithShape="1">
          <a:blip r:embed="rId5">
            <a:alphaModFix/>
          </a:blip>
          <a:srcRect b="0" l="0" r="0" t="0"/>
          <a:stretch/>
        </p:blipFill>
        <p:spPr>
          <a:xfrm>
            <a:off x="12435840" y="3383280"/>
            <a:ext cx="1280160" cy="1280160"/>
          </a:xfrm>
          <a:prstGeom prst="rect">
            <a:avLst/>
          </a:prstGeom>
          <a:noFill/>
          <a:ln>
            <a:noFill/>
          </a:ln>
        </p:spPr>
      </p:pic>
      <p:sp>
        <p:nvSpPr>
          <p:cNvPr id="395" name="Google Shape;395;p14"/>
          <p:cNvSpPr txBox="1"/>
          <p:nvPr/>
        </p:nvSpPr>
        <p:spPr>
          <a:xfrm>
            <a:off x="8229600" y="6309360"/>
            <a:ext cx="9418320" cy="14630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2CA2"/>
              </a:buClr>
              <a:buSzPts val="3200"/>
              <a:buFont typeface="Calibri"/>
              <a:buNone/>
            </a:pPr>
            <a:r>
              <a:rPr b="1" i="0" lang="en-US" sz="3200" u="none" cap="none" strike="noStrike">
                <a:solidFill>
                  <a:srgbClr val="162CA2"/>
                </a:solidFill>
                <a:latin typeface="Calibri"/>
                <a:ea typeface="Calibri"/>
                <a:cs typeface="Calibri"/>
                <a:sym typeface="Calibri"/>
              </a:rPr>
              <a:t>Setelah ini: struktur kontrol, percabangan dan perulangan</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pic>
        <p:nvPicPr>
          <p:cNvPr descr="/home/claude/assets/image6.png" id="401" name="Google Shape;401;p15"/>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402" name="Google Shape;402;p15"/>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403" name="Google Shape;403;p15"/>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BAGIAN 5 · 30 MENIT</a:t>
            </a:r>
            <a:endParaRPr b="0" i="0" sz="2000" u="none" cap="none" strike="noStrike">
              <a:solidFill>
                <a:schemeClr val="dk1"/>
              </a:solidFill>
              <a:latin typeface="Calibri"/>
              <a:ea typeface="Calibri"/>
              <a:cs typeface="Calibri"/>
              <a:sym typeface="Calibri"/>
            </a:endParaRPr>
          </a:p>
        </p:txBody>
      </p:sp>
      <p:sp>
        <p:nvSpPr>
          <p:cNvPr id="404" name="Google Shape;404;p15"/>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Struktur Kontrol</a:t>
            </a:r>
            <a:endParaRPr b="0" i="0" sz="4800" u="none" cap="none" strike="noStrike">
              <a:solidFill>
                <a:schemeClr val="dk1"/>
              </a:solidFill>
              <a:latin typeface="Calibri"/>
              <a:ea typeface="Calibri"/>
              <a:cs typeface="Calibri"/>
              <a:sym typeface="Calibri"/>
            </a:endParaRPr>
          </a:p>
        </p:txBody>
      </p:sp>
      <p:sp>
        <p:nvSpPr>
          <p:cNvPr id="405" name="Google Shape;405;p15"/>
          <p:cNvSpPr txBox="1"/>
          <p:nvPr/>
        </p:nvSpPr>
        <p:spPr>
          <a:xfrm>
            <a:off x="914400" y="4160520"/>
            <a:ext cx="164592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F86"/>
              </a:buClr>
              <a:buSzPts val="2600"/>
              <a:buFont typeface="Calibri"/>
              <a:buNone/>
            </a:pPr>
            <a:r>
              <a:rPr b="0" i="0" lang="en-US" sz="2600" u="none" cap="none" strike="noStrike">
                <a:solidFill>
                  <a:srgbClr val="5A5F86"/>
                </a:solidFill>
                <a:latin typeface="Calibri"/>
                <a:ea typeface="Calibri"/>
                <a:cs typeface="Calibri"/>
                <a:sym typeface="Calibri"/>
              </a:rPr>
              <a:t>Struktur kontrol menentukan urutan instruksi dijalankan.</a:t>
            </a:r>
            <a:endParaRPr b="0" i="0" sz="2600" u="none" cap="none" strike="noStrike">
              <a:solidFill>
                <a:schemeClr val="dk1"/>
              </a:solidFill>
              <a:latin typeface="Calibri"/>
              <a:ea typeface="Calibri"/>
              <a:cs typeface="Calibri"/>
              <a:sym typeface="Calibri"/>
            </a:endParaRPr>
          </a:p>
        </p:txBody>
      </p:sp>
      <p:sp>
        <p:nvSpPr>
          <p:cNvPr id="406" name="Google Shape;406;p15"/>
          <p:cNvSpPr/>
          <p:nvPr/>
        </p:nvSpPr>
        <p:spPr>
          <a:xfrm>
            <a:off x="914400" y="4937760"/>
            <a:ext cx="5212080" cy="4572000"/>
          </a:xfrm>
          <a:prstGeom prst="roundRect">
            <a:avLst>
              <a:gd fmla="val 3000"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5"/>
          <p:cNvSpPr/>
          <p:nvPr/>
        </p:nvSpPr>
        <p:spPr>
          <a:xfrm>
            <a:off x="1188720" y="5166360"/>
            <a:ext cx="1097280" cy="1097280"/>
          </a:xfrm>
          <a:prstGeom prst="ellipse">
            <a:avLst/>
          </a:prstGeom>
          <a:solidFill>
            <a:srgbClr val="162CA2"/>
          </a:solidFill>
          <a:ln cap="flat" cmpd="sng" w="12700">
            <a:solidFill>
              <a:srgbClr val="162C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08" name="Google Shape;408;p15"/>
          <p:cNvPicPr preferRelativeResize="0"/>
          <p:nvPr/>
        </p:nvPicPr>
        <p:blipFill rotWithShape="1">
          <a:blip r:embed="rId5">
            <a:alphaModFix/>
          </a:blip>
          <a:srcRect b="0" l="0" r="0" t="0"/>
          <a:stretch/>
        </p:blipFill>
        <p:spPr>
          <a:xfrm>
            <a:off x="1452067" y="5429707"/>
            <a:ext cx="570586" cy="570586"/>
          </a:xfrm>
          <a:prstGeom prst="rect">
            <a:avLst/>
          </a:prstGeom>
          <a:noFill/>
          <a:ln>
            <a:noFill/>
          </a:ln>
        </p:spPr>
      </p:pic>
      <p:sp>
        <p:nvSpPr>
          <p:cNvPr id="409" name="Google Shape;409;p15"/>
          <p:cNvSpPr txBox="1"/>
          <p:nvPr/>
        </p:nvSpPr>
        <p:spPr>
          <a:xfrm>
            <a:off x="2514600" y="5166360"/>
            <a:ext cx="347472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CA2"/>
              </a:buClr>
              <a:buSzPts val="3000"/>
              <a:buFont typeface="Calibri"/>
              <a:buNone/>
            </a:pPr>
            <a:r>
              <a:rPr b="1" i="0" lang="en-US" sz="3000" u="none" cap="none" strike="noStrike">
                <a:solidFill>
                  <a:srgbClr val="162CA2"/>
                </a:solidFill>
                <a:latin typeface="Calibri"/>
                <a:ea typeface="Calibri"/>
                <a:cs typeface="Calibri"/>
                <a:sym typeface="Calibri"/>
              </a:rPr>
              <a:t>Sekuensial</a:t>
            </a:r>
            <a:endParaRPr b="0" i="0" sz="3000" u="none" cap="none" strike="noStrike">
              <a:solidFill>
                <a:schemeClr val="dk1"/>
              </a:solidFill>
              <a:latin typeface="Calibri"/>
              <a:ea typeface="Calibri"/>
              <a:cs typeface="Calibri"/>
              <a:sym typeface="Calibri"/>
            </a:endParaRPr>
          </a:p>
        </p:txBody>
      </p:sp>
      <p:sp>
        <p:nvSpPr>
          <p:cNvPr id="410" name="Google Shape;410;p15"/>
          <p:cNvSpPr txBox="1"/>
          <p:nvPr/>
        </p:nvSpPr>
        <p:spPr>
          <a:xfrm>
            <a:off x="1188720" y="6446520"/>
            <a:ext cx="466344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Instruksi dijalankan satu per satu, dari atas ke bawah.</a:t>
            </a:r>
            <a:endParaRPr b="0" i="0" sz="2200" u="none" cap="none" strike="noStrike">
              <a:solidFill>
                <a:schemeClr val="dk1"/>
              </a:solidFill>
              <a:latin typeface="Calibri"/>
              <a:ea typeface="Calibri"/>
              <a:cs typeface="Calibri"/>
              <a:sym typeface="Calibri"/>
            </a:endParaRPr>
          </a:p>
        </p:txBody>
      </p:sp>
      <p:sp>
        <p:nvSpPr>
          <p:cNvPr id="411" name="Google Shape;411;p15"/>
          <p:cNvSpPr/>
          <p:nvPr/>
        </p:nvSpPr>
        <p:spPr>
          <a:xfrm>
            <a:off x="1188720" y="7909560"/>
            <a:ext cx="4663440" cy="1188720"/>
          </a:xfrm>
          <a:prstGeom prst="roundRect">
            <a:avLst>
              <a:gd fmla="val 11538" name="adj"/>
            </a:avLst>
          </a:prstGeom>
          <a:solidFill>
            <a:srgbClr val="FFF3BF"/>
          </a:solidFill>
          <a:ln cap="flat" cmpd="sng" w="12700">
            <a:solidFill>
              <a:srgbClr val="FFF3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5"/>
          <p:cNvSpPr txBox="1"/>
          <p:nvPr/>
        </p:nvSpPr>
        <p:spPr>
          <a:xfrm>
            <a:off x="1371600" y="7909560"/>
            <a:ext cx="429768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100"/>
              <a:buFont typeface="Calibri"/>
              <a:buNone/>
            </a:pPr>
            <a:r>
              <a:rPr b="0" i="0" lang="en-US" sz="2100" u="none" cap="none" strike="noStrike">
                <a:solidFill>
                  <a:srgbClr val="13123D"/>
                </a:solidFill>
                <a:latin typeface="Calibri"/>
                <a:ea typeface="Calibri"/>
                <a:cs typeface="Calibri"/>
                <a:sym typeface="Calibri"/>
              </a:rPr>
              <a:t>Baca angka → hitung → tampilkan</a:t>
            </a:r>
            <a:endParaRPr b="0" i="0" sz="2100" u="none" cap="none" strike="noStrike">
              <a:solidFill>
                <a:schemeClr val="dk1"/>
              </a:solidFill>
              <a:latin typeface="Calibri"/>
              <a:ea typeface="Calibri"/>
              <a:cs typeface="Calibri"/>
              <a:sym typeface="Calibri"/>
            </a:endParaRPr>
          </a:p>
        </p:txBody>
      </p:sp>
      <p:sp>
        <p:nvSpPr>
          <p:cNvPr id="413" name="Google Shape;413;p15"/>
          <p:cNvSpPr/>
          <p:nvPr/>
        </p:nvSpPr>
        <p:spPr>
          <a:xfrm>
            <a:off x="6537960" y="4937760"/>
            <a:ext cx="5212080" cy="4572000"/>
          </a:xfrm>
          <a:prstGeom prst="roundRect">
            <a:avLst>
              <a:gd fmla="val 3000"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5"/>
          <p:cNvSpPr/>
          <p:nvPr/>
        </p:nvSpPr>
        <p:spPr>
          <a:xfrm>
            <a:off x="6812280" y="5166360"/>
            <a:ext cx="1097280" cy="1097280"/>
          </a:xfrm>
          <a:prstGeom prst="ellipse">
            <a:avLst/>
          </a:prstGeom>
          <a:solidFill>
            <a:srgbClr val="162CA2"/>
          </a:solidFill>
          <a:ln cap="flat" cmpd="sng" w="12700">
            <a:solidFill>
              <a:srgbClr val="162C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5" name="Google Shape;415;p15"/>
          <p:cNvPicPr preferRelativeResize="0"/>
          <p:nvPr/>
        </p:nvPicPr>
        <p:blipFill rotWithShape="1">
          <a:blip r:embed="rId6">
            <a:alphaModFix/>
          </a:blip>
          <a:srcRect b="0" l="0" r="0" t="0"/>
          <a:stretch/>
        </p:blipFill>
        <p:spPr>
          <a:xfrm>
            <a:off x="7075627" y="5429707"/>
            <a:ext cx="570586" cy="570586"/>
          </a:xfrm>
          <a:prstGeom prst="rect">
            <a:avLst/>
          </a:prstGeom>
          <a:noFill/>
          <a:ln>
            <a:noFill/>
          </a:ln>
        </p:spPr>
      </p:pic>
      <p:sp>
        <p:nvSpPr>
          <p:cNvPr id="416" name="Google Shape;416;p15"/>
          <p:cNvSpPr txBox="1"/>
          <p:nvPr/>
        </p:nvSpPr>
        <p:spPr>
          <a:xfrm>
            <a:off x="8138160" y="5166360"/>
            <a:ext cx="347472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CA2"/>
              </a:buClr>
              <a:buSzPts val="3000"/>
              <a:buFont typeface="Calibri"/>
              <a:buNone/>
            </a:pPr>
            <a:r>
              <a:rPr b="1" i="0" lang="en-US" sz="3000" u="none" cap="none" strike="noStrike">
                <a:solidFill>
                  <a:srgbClr val="162CA2"/>
                </a:solidFill>
                <a:latin typeface="Calibri"/>
                <a:ea typeface="Calibri"/>
                <a:cs typeface="Calibri"/>
                <a:sym typeface="Calibri"/>
              </a:rPr>
              <a:t>Percabangan</a:t>
            </a:r>
            <a:endParaRPr b="0" i="0" sz="3000" u="none" cap="none" strike="noStrike">
              <a:solidFill>
                <a:schemeClr val="dk1"/>
              </a:solidFill>
              <a:latin typeface="Calibri"/>
              <a:ea typeface="Calibri"/>
              <a:cs typeface="Calibri"/>
              <a:sym typeface="Calibri"/>
            </a:endParaRPr>
          </a:p>
        </p:txBody>
      </p:sp>
      <p:sp>
        <p:nvSpPr>
          <p:cNvPr id="417" name="Google Shape;417;p15"/>
          <p:cNvSpPr txBox="1"/>
          <p:nvPr/>
        </p:nvSpPr>
        <p:spPr>
          <a:xfrm>
            <a:off x="6812280" y="6446520"/>
            <a:ext cx="466344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Memilih jalur berdasarkan kondisi: if-else dan switch.</a:t>
            </a:r>
            <a:endParaRPr b="0" i="0" sz="2200" u="none" cap="none" strike="noStrike">
              <a:solidFill>
                <a:schemeClr val="dk1"/>
              </a:solidFill>
              <a:latin typeface="Calibri"/>
              <a:ea typeface="Calibri"/>
              <a:cs typeface="Calibri"/>
              <a:sym typeface="Calibri"/>
            </a:endParaRPr>
          </a:p>
        </p:txBody>
      </p:sp>
      <p:sp>
        <p:nvSpPr>
          <p:cNvPr id="418" name="Google Shape;418;p15"/>
          <p:cNvSpPr/>
          <p:nvPr/>
        </p:nvSpPr>
        <p:spPr>
          <a:xfrm>
            <a:off x="6812280" y="7909560"/>
            <a:ext cx="4663440" cy="1188720"/>
          </a:xfrm>
          <a:prstGeom prst="roundRect">
            <a:avLst>
              <a:gd fmla="val 11538" name="adj"/>
            </a:avLst>
          </a:prstGeom>
          <a:solidFill>
            <a:srgbClr val="FFF3BF"/>
          </a:solidFill>
          <a:ln cap="flat" cmpd="sng" w="12700">
            <a:solidFill>
              <a:srgbClr val="FFF3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5"/>
          <p:cNvSpPr txBox="1"/>
          <p:nvPr/>
        </p:nvSpPr>
        <p:spPr>
          <a:xfrm>
            <a:off x="6995160" y="7909560"/>
            <a:ext cx="429768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100"/>
              <a:buFont typeface="Calibri"/>
              <a:buNone/>
            </a:pPr>
            <a:r>
              <a:rPr b="0" i="0" lang="en-US" sz="2100" u="none" cap="none" strike="noStrike">
                <a:solidFill>
                  <a:srgbClr val="13123D"/>
                </a:solidFill>
                <a:latin typeface="Calibri"/>
                <a:ea typeface="Calibri"/>
                <a:cs typeface="Calibri"/>
                <a:sym typeface="Calibri"/>
              </a:rPr>
              <a:t>Jika nilai ≥ 75, maka Lulus</a:t>
            </a:r>
            <a:endParaRPr b="0" i="0" sz="2100" u="none" cap="none" strike="noStrike">
              <a:solidFill>
                <a:schemeClr val="dk1"/>
              </a:solidFill>
              <a:latin typeface="Calibri"/>
              <a:ea typeface="Calibri"/>
              <a:cs typeface="Calibri"/>
              <a:sym typeface="Calibri"/>
            </a:endParaRPr>
          </a:p>
        </p:txBody>
      </p:sp>
      <p:sp>
        <p:nvSpPr>
          <p:cNvPr id="420" name="Google Shape;420;p15"/>
          <p:cNvSpPr/>
          <p:nvPr/>
        </p:nvSpPr>
        <p:spPr>
          <a:xfrm>
            <a:off x="12161520" y="4937760"/>
            <a:ext cx="5212080" cy="4572000"/>
          </a:xfrm>
          <a:prstGeom prst="roundRect">
            <a:avLst>
              <a:gd fmla="val 3000"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5"/>
          <p:cNvSpPr/>
          <p:nvPr/>
        </p:nvSpPr>
        <p:spPr>
          <a:xfrm>
            <a:off x="12435840" y="5166360"/>
            <a:ext cx="1097280" cy="1097280"/>
          </a:xfrm>
          <a:prstGeom prst="ellipse">
            <a:avLst/>
          </a:prstGeom>
          <a:solidFill>
            <a:srgbClr val="162CA2"/>
          </a:solidFill>
          <a:ln cap="flat" cmpd="sng" w="12700">
            <a:solidFill>
              <a:srgbClr val="162C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22" name="Google Shape;422;p15"/>
          <p:cNvPicPr preferRelativeResize="0"/>
          <p:nvPr/>
        </p:nvPicPr>
        <p:blipFill rotWithShape="1">
          <a:blip r:embed="rId7">
            <a:alphaModFix/>
          </a:blip>
          <a:srcRect b="0" l="0" r="0" t="0"/>
          <a:stretch/>
        </p:blipFill>
        <p:spPr>
          <a:xfrm>
            <a:off x="12699187" y="5429707"/>
            <a:ext cx="570586" cy="570586"/>
          </a:xfrm>
          <a:prstGeom prst="rect">
            <a:avLst/>
          </a:prstGeom>
          <a:noFill/>
          <a:ln>
            <a:noFill/>
          </a:ln>
        </p:spPr>
      </p:pic>
      <p:sp>
        <p:nvSpPr>
          <p:cNvPr id="423" name="Google Shape;423;p15"/>
          <p:cNvSpPr txBox="1"/>
          <p:nvPr/>
        </p:nvSpPr>
        <p:spPr>
          <a:xfrm>
            <a:off x="13761720" y="5166360"/>
            <a:ext cx="347472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CA2"/>
              </a:buClr>
              <a:buSzPts val="3000"/>
              <a:buFont typeface="Calibri"/>
              <a:buNone/>
            </a:pPr>
            <a:r>
              <a:rPr b="1" i="0" lang="en-US" sz="3000" u="none" cap="none" strike="noStrike">
                <a:solidFill>
                  <a:srgbClr val="162CA2"/>
                </a:solidFill>
                <a:latin typeface="Calibri"/>
                <a:ea typeface="Calibri"/>
                <a:cs typeface="Calibri"/>
                <a:sym typeface="Calibri"/>
              </a:rPr>
              <a:t>Perulangan</a:t>
            </a:r>
            <a:endParaRPr b="0" i="0" sz="3000" u="none" cap="none" strike="noStrike">
              <a:solidFill>
                <a:schemeClr val="dk1"/>
              </a:solidFill>
              <a:latin typeface="Calibri"/>
              <a:ea typeface="Calibri"/>
              <a:cs typeface="Calibri"/>
              <a:sym typeface="Calibri"/>
            </a:endParaRPr>
          </a:p>
        </p:txBody>
      </p:sp>
      <p:sp>
        <p:nvSpPr>
          <p:cNvPr id="424" name="Google Shape;424;p15"/>
          <p:cNvSpPr txBox="1"/>
          <p:nvPr/>
        </p:nvSpPr>
        <p:spPr>
          <a:xfrm>
            <a:off x="12435840" y="6446520"/>
            <a:ext cx="466344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Mengulang instruksi: for dan while.</a:t>
            </a:r>
            <a:endParaRPr b="0" i="0" sz="2200" u="none" cap="none" strike="noStrike">
              <a:solidFill>
                <a:schemeClr val="dk1"/>
              </a:solidFill>
              <a:latin typeface="Calibri"/>
              <a:ea typeface="Calibri"/>
              <a:cs typeface="Calibri"/>
              <a:sym typeface="Calibri"/>
            </a:endParaRPr>
          </a:p>
        </p:txBody>
      </p:sp>
      <p:sp>
        <p:nvSpPr>
          <p:cNvPr id="425" name="Google Shape;425;p15"/>
          <p:cNvSpPr/>
          <p:nvPr/>
        </p:nvSpPr>
        <p:spPr>
          <a:xfrm>
            <a:off x="12435840" y="7909560"/>
            <a:ext cx="4663440" cy="1188720"/>
          </a:xfrm>
          <a:prstGeom prst="roundRect">
            <a:avLst>
              <a:gd fmla="val 11538" name="adj"/>
            </a:avLst>
          </a:prstGeom>
          <a:solidFill>
            <a:srgbClr val="FFF3BF"/>
          </a:solidFill>
          <a:ln cap="flat" cmpd="sng" w="12700">
            <a:solidFill>
              <a:srgbClr val="FFF3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5"/>
          <p:cNvSpPr txBox="1"/>
          <p:nvPr/>
        </p:nvSpPr>
        <p:spPr>
          <a:xfrm>
            <a:off x="12618720" y="7909560"/>
            <a:ext cx="429768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100"/>
              <a:buFont typeface="Calibri"/>
              <a:buNone/>
            </a:pPr>
            <a:r>
              <a:rPr b="0" i="0" lang="en-US" sz="2100" u="none" cap="none" strike="noStrike">
                <a:solidFill>
                  <a:srgbClr val="13123D"/>
                </a:solidFill>
                <a:latin typeface="Calibri"/>
                <a:ea typeface="Calibri"/>
                <a:cs typeface="Calibri"/>
                <a:sym typeface="Calibri"/>
              </a:rPr>
              <a:t>Cetak angka 1 sampai 10</a:t>
            </a:r>
            <a:endParaRPr b="0" i="0" sz="21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pic>
        <p:nvPicPr>
          <p:cNvPr descr="/home/claude/assets/image4.png" id="432" name="Google Shape;432;p16"/>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433" name="Google Shape;433;p16"/>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434" name="Google Shape;434;p16"/>
          <p:cNvSpPr txBox="1"/>
          <p:nvPr/>
        </p:nvSpPr>
        <p:spPr>
          <a:xfrm>
            <a:off x="1024128" y="1554480"/>
            <a:ext cx="58521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1800"/>
              <a:buFont typeface="Arial"/>
              <a:buNone/>
            </a:pPr>
            <a:r>
              <a:rPr b="1" i="0" lang="en-US" sz="1800" u="none" cap="none" strike="noStrike">
                <a:solidFill>
                  <a:srgbClr val="FCDF59"/>
                </a:solidFill>
                <a:latin typeface="Arial"/>
                <a:ea typeface="Arial"/>
                <a:cs typeface="Arial"/>
                <a:sym typeface="Arial"/>
              </a:rPr>
              <a:t>BAGIAN 5 · 30 MENIT</a:t>
            </a:r>
            <a:endParaRPr b="0" i="0" sz="1800" u="none" cap="none" strike="noStrike">
              <a:solidFill>
                <a:schemeClr val="dk1"/>
              </a:solidFill>
              <a:latin typeface="Calibri"/>
              <a:ea typeface="Calibri"/>
              <a:cs typeface="Calibri"/>
              <a:sym typeface="Calibri"/>
            </a:endParaRPr>
          </a:p>
        </p:txBody>
      </p:sp>
      <p:sp>
        <p:nvSpPr>
          <p:cNvPr id="435" name="Google Shape;435;p16"/>
          <p:cNvSpPr txBox="1"/>
          <p:nvPr/>
        </p:nvSpPr>
        <p:spPr>
          <a:xfrm>
            <a:off x="1024128" y="2011680"/>
            <a:ext cx="5760720" cy="2651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400"/>
              <a:buFont typeface="Arial"/>
              <a:buNone/>
            </a:pPr>
            <a:r>
              <a:rPr b="1" i="0" lang="en-US" sz="4400" u="none" cap="none" strike="noStrike">
                <a:solidFill>
                  <a:srgbClr val="FDFBFB"/>
                </a:solidFill>
                <a:latin typeface="Arial"/>
                <a:ea typeface="Arial"/>
                <a:cs typeface="Arial"/>
                <a:sym typeface="Arial"/>
              </a:rPr>
              <a:t>Percabangan</a:t>
            </a:r>
            <a:endParaRPr b="0" i="0" sz="4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DFBFB"/>
              </a:buClr>
              <a:buSzPts val="4400"/>
              <a:buFont typeface="Arial"/>
              <a:buNone/>
            </a:pPr>
            <a:r>
              <a:rPr b="1" i="0" lang="en-US" sz="4400" u="none" cap="none" strike="noStrike">
                <a:solidFill>
                  <a:srgbClr val="FDFBFB"/>
                </a:solidFill>
                <a:latin typeface="Arial"/>
                <a:ea typeface="Arial"/>
                <a:cs typeface="Arial"/>
                <a:sym typeface="Arial"/>
              </a:rPr>
              <a:t>if – else</a:t>
            </a:r>
            <a:endParaRPr b="0" i="0" sz="4400" u="none" cap="none" strike="noStrike">
              <a:solidFill>
                <a:schemeClr val="dk1"/>
              </a:solidFill>
              <a:latin typeface="Calibri"/>
              <a:ea typeface="Calibri"/>
              <a:cs typeface="Calibri"/>
              <a:sym typeface="Calibri"/>
            </a:endParaRPr>
          </a:p>
        </p:txBody>
      </p:sp>
      <p:sp>
        <p:nvSpPr>
          <p:cNvPr id="436" name="Google Shape;436;p16"/>
          <p:cNvSpPr txBox="1"/>
          <p:nvPr/>
        </p:nvSpPr>
        <p:spPr>
          <a:xfrm>
            <a:off x="1024128" y="4937760"/>
            <a:ext cx="5486400" cy="42062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FDFBFB"/>
              </a:buClr>
              <a:buSzPts val="2600"/>
              <a:buFont typeface="Calibri"/>
              <a:buChar char="•"/>
            </a:pPr>
            <a:r>
              <a:rPr b="0" i="0" lang="en-US" sz="2600" u="none" cap="none" strike="noStrike">
                <a:solidFill>
                  <a:srgbClr val="FDFBFB"/>
                </a:solidFill>
                <a:latin typeface="Calibri"/>
                <a:ea typeface="Calibri"/>
                <a:cs typeface="Calibri"/>
                <a:sym typeface="Calibri"/>
              </a:rPr>
              <a:t>Kondisi diperiksa dari atas</a:t>
            </a:r>
            <a:endParaRPr b="0" i="0" sz="2600" u="none" cap="none" strike="noStrike">
              <a:solidFill>
                <a:schemeClr val="dk1"/>
              </a:solidFill>
              <a:latin typeface="Calibri"/>
              <a:ea typeface="Calibri"/>
              <a:cs typeface="Calibri"/>
              <a:sym typeface="Calibri"/>
            </a:endParaRPr>
          </a:p>
          <a:p>
            <a:pPr indent="-342900" lvl="0" marL="342900" marR="0" rtl="0" algn="l">
              <a:spcBef>
                <a:spcPts val="1400"/>
              </a:spcBef>
              <a:spcAft>
                <a:spcPts val="0"/>
              </a:spcAft>
              <a:buClr>
                <a:srgbClr val="FDFBFB"/>
              </a:buClr>
              <a:buSzPts val="2600"/>
              <a:buFont typeface="Calibri"/>
              <a:buChar char="•"/>
            </a:pPr>
            <a:r>
              <a:rPr b="0" i="0" lang="en-US" sz="2600" u="none" cap="none" strike="noStrike">
                <a:solidFill>
                  <a:srgbClr val="FDFBFB"/>
                </a:solidFill>
                <a:latin typeface="Calibri"/>
                <a:ea typeface="Calibri"/>
                <a:cs typeface="Calibri"/>
                <a:sym typeface="Calibri"/>
              </a:rPr>
              <a:t>Hanya blok pertama yang benar yang dijalankan</a:t>
            </a:r>
            <a:endParaRPr b="0" i="0" sz="2600" u="none" cap="none" strike="noStrike">
              <a:solidFill>
                <a:schemeClr val="dk1"/>
              </a:solidFill>
              <a:latin typeface="Calibri"/>
              <a:ea typeface="Calibri"/>
              <a:cs typeface="Calibri"/>
              <a:sym typeface="Calibri"/>
            </a:endParaRPr>
          </a:p>
        </p:txBody>
      </p:sp>
      <p:sp>
        <p:nvSpPr>
          <p:cNvPr id="437" name="Google Shape;437;p16"/>
          <p:cNvSpPr/>
          <p:nvPr/>
        </p:nvSpPr>
        <p:spPr>
          <a:xfrm>
            <a:off x="8229600" y="731520"/>
            <a:ext cx="9418320" cy="3151632"/>
          </a:xfrm>
          <a:prstGeom prst="roundRect">
            <a:avLst>
              <a:gd fmla="val 4352" name="adj"/>
            </a:avLst>
          </a:prstGeom>
          <a:solidFill>
            <a:srgbClr val="13123D"/>
          </a:solidFill>
          <a:ln cap="flat" cmpd="sng" w="12700">
            <a:solidFill>
              <a:srgbClr val="1312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6"/>
          <p:cNvSpPr txBox="1"/>
          <p:nvPr/>
        </p:nvSpPr>
        <p:spPr>
          <a:xfrm>
            <a:off x="8503920" y="987552"/>
            <a:ext cx="8869680" cy="26944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100"/>
              <a:buFont typeface="Courier New"/>
              <a:buNone/>
            </a:pPr>
            <a:r>
              <a:rPr b="0" i="0" lang="en-US" sz="2100" u="none" cap="none" strike="noStrike">
                <a:solidFill>
                  <a:srgbClr val="FCDF59"/>
                </a:solidFill>
                <a:latin typeface="Courier New"/>
                <a:ea typeface="Courier New"/>
                <a:cs typeface="Courier New"/>
                <a:sym typeface="Courier New"/>
              </a:rPr>
              <a:t>input</a:t>
            </a:r>
            <a:r>
              <a:rPr b="0" i="0" lang="en-US" sz="2100" u="none" cap="none" strike="noStrike">
                <a:solidFill>
                  <a:srgbClr val="E8ECFF"/>
                </a:solidFill>
                <a:latin typeface="Courier New"/>
                <a:ea typeface="Courier New"/>
                <a:cs typeface="Courier New"/>
                <a:sym typeface="Courier New"/>
              </a:rPr>
              <a:t> nilai</a:t>
            </a:r>
            <a:endParaRPr b="0" i="0" sz="2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CDF59"/>
              </a:buClr>
              <a:buSzPts val="2100"/>
              <a:buFont typeface="Courier New"/>
              <a:buNone/>
            </a:pPr>
            <a:r>
              <a:rPr b="0" i="0" lang="en-US" sz="2100" u="none" cap="none" strike="noStrike">
                <a:solidFill>
                  <a:srgbClr val="FCDF59"/>
                </a:solidFill>
                <a:latin typeface="Courier New"/>
                <a:ea typeface="Courier New"/>
                <a:cs typeface="Courier New"/>
                <a:sym typeface="Courier New"/>
              </a:rPr>
              <a:t>if</a:t>
            </a:r>
            <a:r>
              <a:rPr b="0" i="0" lang="en-US" sz="2100" u="none" cap="none" strike="noStrike">
                <a:solidFill>
                  <a:srgbClr val="E8ECFF"/>
                </a:solidFill>
                <a:latin typeface="Courier New"/>
                <a:ea typeface="Courier New"/>
                <a:cs typeface="Courier New"/>
                <a:sym typeface="Courier New"/>
              </a:rPr>
              <a:t> nilai &gt;= </a:t>
            </a:r>
            <a:r>
              <a:rPr b="0" i="0" lang="en-US" sz="2100" u="none" cap="none" strike="noStrike">
                <a:solidFill>
                  <a:srgbClr val="FFC58A"/>
                </a:solidFill>
                <a:latin typeface="Courier New"/>
                <a:ea typeface="Courier New"/>
                <a:cs typeface="Courier New"/>
                <a:sym typeface="Courier New"/>
              </a:rPr>
              <a:t>75</a:t>
            </a:r>
            <a:r>
              <a:rPr b="0" i="0" lang="en-US" sz="2100" u="none" cap="none" strike="noStrike">
                <a:solidFill>
                  <a:srgbClr val="E8ECFF"/>
                </a:solidFill>
                <a:latin typeface="Courier New"/>
                <a:ea typeface="Courier New"/>
                <a:cs typeface="Courier New"/>
                <a:sym typeface="Courier New"/>
              </a:rPr>
              <a:t> </a:t>
            </a:r>
            <a:r>
              <a:rPr b="0" i="0" lang="en-US" sz="2100" u="none" cap="none" strike="noStrike">
                <a:solidFill>
                  <a:srgbClr val="FCDF59"/>
                </a:solidFill>
                <a:latin typeface="Courier New"/>
                <a:ea typeface="Courier New"/>
                <a:cs typeface="Courier New"/>
                <a:sym typeface="Courier New"/>
              </a:rPr>
              <a:t>then</a:t>
            </a:r>
            <a:endParaRPr b="0" i="0" sz="2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100"/>
              <a:buFont typeface="Courier New"/>
              <a:buNone/>
            </a:pPr>
            <a:r>
              <a:rPr b="0" i="0" lang="en-US" sz="2100" u="none" cap="none" strike="noStrike">
                <a:solidFill>
                  <a:srgbClr val="E8ECFF"/>
                </a:solidFill>
                <a:latin typeface="Courier New"/>
                <a:ea typeface="Courier New"/>
                <a:cs typeface="Courier New"/>
                <a:sym typeface="Courier New"/>
              </a:rPr>
              <a:t>    </a:t>
            </a:r>
            <a:r>
              <a:rPr b="0" i="0" lang="en-US" sz="2100" u="none" cap="none" strike="noStrike">
                <a:solidFill>
                  <a:srgbClr val="FCDF59"/>
                </a:solidFill>
                <a:latin typeface="Courier New"/>
                <a:ea typeface="Courier New"/>
                <a:cs typeface="Courier New"/>
                <a:sym typeface="Courier New"/>
              </a:rPr>
              <a:t>print</a:t>
            </a:r>
            <a:r>
              <a:rPr b="0" i="0" lang="en-US" sz="2100" u="none" cap="none" strike="noStrike">
                <a:solidFill>
                  <a:srgbClr val="E8ECFF"/>
                </a:solidFill>
                <a:latin typeface="Courier New"/>
                <a:ea typeface="Courier New"/>
                <a:cs typeface="Courier New"/>
                <a:sym typeface="Courier New"/>
              </a:rPr>
              <a:t> </a:t>
            </a:r>
            <a:r>
              <a:rPr b="0" i="0" lang="en-US" sz="2100" u="none" cap="none" strike="noStrike">
                <a:solidFill>
                  <a:srgbClr val="A8E6CF"/>
                </a:solidFill>
                <a:latin typeface="Courier New"/>
                <a:ea typeface="Courier New"/>
                <a:cs typeface="Courier New"/>
                <a:sym typeface="Courier New"/>
              </a:rPr>
              <a:t>"Lulus"</a:t>
            </a:r>
            <a:endParaRPr b="0" i="0" sz="2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CDF59"/>
              </a:buClr>
              <a:buSzPts val="2100"/>
              <a:buFont typeface="Courier New"/>
              <a:buNone/>
            </a:pPr>
            <a:r>
              <a:rPr b="0" i="0" lang="en-US" sz="2100" u="none" cap="none" strike="noStrike">
                <a:solidFill>
                  <a:srgbClr val="FCDF59"/>
                </a:solidFill>
                <a:latin typeface="Courier New"/>
                <a:ea typeface="Courier New"/>
                <a:cs typeface="Courier New"/>
                <a:sym typeface="Courier New"/>
              </a:rPr>
              <a:t>else</a:t>
            </a:r>
            <a:r>
              <a:rPr b="0" i="0" lang="en-US" sz="2100" u="none" cap="none" strike="noStrike">
                <a:solidFill>
                  <a:srgbClr val="E8ECFF"/>
                </a:solidFill>
                <a:latin typeface="Courier New"/>
                <a:ea typeface="Courier New"/>
                <a:cs typeface="Courier New"/>
                <a:sym typeface="Courier New"/>
              </a:rPr>
              <a:t> </a:t>
            </a:r>
            <a:r>
              <a:rPr b="0" i="0" lang="en-US" sz="2100" u="none" cap="none" strike="noStrike">
                <a:solidFill>
                  <a:srgbClr val="FCDF59"/>
                </a:solidFill>
                <a:latin typeface="Courier New"/>
                <a:ea typeface="Courier New"/>
                <a:cs typeface="Courier New"/>
                <a:sym typeface="Courier New"/>
              </a:rPr>
              <a:t>if</a:t>
            </a:r>
            <a:r>
              <a:rPr b="0" i="0" lang="en-US" sz="2100" u="none" cap="none" strike="noStrike">
                <a:solidFill>
                  <a:srgbClr val="E8ECFF"/>
                </a:solidFill>
                <a:latin typeface="Courier New"/>
                <a:ea typeface="Courier New"/>
                <a:cs typeface="Courier New"/>
                <a:sym typeface="Courier New"/>
              </a:rPr>
              <a:t> nilai &gt;= </a:t>
            </a:r>
            <a:r>
              <a:rPr b="0" i="0" lang="en-US" sz="2100" u="none" cap="none" strike="noStrike">
                <a:solidFill>
                  <a:srgbClr val="FFC58A"/>
                </a:solidFill>
                <a:latin typeface="Courier New"/>
                <a:ea typeface="Courier New"/>
                <a:cs typeface="Courier New"/>
                <a:sym typeface="Courier New"/>
              </a:rPr>
              <a:t>60</a:t>
            </a:r>
            <a:r>
              <a:rPr b="0" i="0" lang="en-US" sz="2100" u="none" cap="none" strike="noStrike">
                <a:solidFill>
                  <a:srgbClr val="E8ECFF"/>
                </a:solidFill>
                <a:latin typeface="Courier New"/>
                <a:ea typeface="Courier New"/>
                <a:cs typeface="Courier New"/>
                <a:sym typeface="Courier New"/>
              </a:rPr>
              <a:t> </a:t>
            </a:r>
            <a:r>
              <a:rPr b="0" i="0" lang="en-US" sz="2100" u="none" cap="none" strike="noStrike">
                <a:solidFill>
                  <a:srgbClr val="FCDF59"/>
                </a:solidFill>
                <a:latin typeface="Courier New"/>
                <a:ea typeface="Courier New"/>
                <a:cs typeface="Courier New"/>
                <a:sym typeface="Courier New"/>
              </a:rPr>
              <a:t>then</a:t>
            </a:r>
            <a:endParaRPr b="0" i="0" sz="2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100"/>
              <a:buFont typeface="Courier New"/>
              <a:buNone/>
            </a:pPr>
            <a:r>
              <a:rPr b="0" i="0" lang="en-US" sz="2100" u="none" cap="none" strike="noStrike">
                <a:solidFill>
                  <a:srgbClr val="E8ECFF"/>
                </a:solidFill>
                <a:latin typeface="Courier New"/>
                <a:ea typeface="Courier New"/>
                <a:cs typeface="Courier New"/>
                <a:sym typeface="Courier New"/>
              </a:rPr>
              <a:t>    </a:t>
            </a:r>
            <a:r>
              <a:rPr b="0" i="0" lang="en-US" sz="2100" u="none" cap="none" strike="noStrike">
                <a:solidFill>
                  <a:srgbClr val="FCDF59"/>
                </a:solidFill>
                <a:latin typeface="Courier New"/>
                <a:ea typeface="Courier New"/>
                <a:cs typeface="Courier New"/>
                <a:sym typeface="Courier New"/>
              </a:rPr>
              <a:t>print</a:t>
            </a:r>
            <a:r>
              <a:rPr b="0" i="0" lang="en-US" sz="2100" u="none" cap="none" strike="noStrike">
                <a:solidFill>
                  <a:srgbClr val="E8ECFF"/>
                </a:solidFill>
                <a:latin typeface="Courier New"/>
                <a:ea typeface="Courier New"/>
                <a:cs typeface="Courier New"/>
                <a:sym typeface="Courier New"/>
              </a:rPr>
              <a:t> </a:t>
            </a:r>
            <a:r>
              <a:rPr b="0" i="0" lang="en-US" sz="2100" u="none" cap="none" strike="noStrike">
                <a:solidFill>
                  <a:srgbClr val="A8E6CF"/>
                </a:solidFill>
                <a:latin typeface="Courier New"/>
                <a:ea typeface="Courier New"/>
                <a:cs typeface="Courier New"/>
                <a:sym typeface="Courier New"/>
              </a:rPr>
              <a:t>"Remedial"</a:t>
            </a:r>
            <a:endParaRPr b="0" i="0" sz="2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CDF59"/>
              </a:buClr>
              <a:buSzPts val="2100"/>
              <a:buFont typeface="Courier New"/>
              <a:buNone/>
            </a:pPr>
            <a:r>
              <a:rPr b="0" i="0" lang="en-US" sz="2100" u="none" cap="none" strike="noStrike">
                <a:solidFill>
                  <a:srgbClr val="FCDF59"/>
                </a:solidFill>
                <a:latin typeface="Courier New"/>
                <a:ea typeface="Courier New"/>
                <a:cs typeface="Courier New"/>
                <a:sym typeface="Courier New"/>
              </a:rPr>
              <a:t>else</a:t>
            </a:r>
            <a:endParaRPr b="0" i="0" sz="2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100"/>
              <a:buFont typeface="Courier New"/>
              <a:buNone/>
            </a:pPr>
            <a:r>
              <a:rPr b="0" i="0" lang="en-US" sz="2100" u="none" cap="none" strike="noStrike">
                <a:solidFill>
                  <a:srgbClr val="E8ECFF"/>
                </a:solidFill>
                <a:latin typeface="Courier New"/>
                <a:ea typeface="Courier New"/>
                <a:cs typeface="Courier New"/>
                <a:sym typeface="Courier New"/>
              </a:rPr>
              <a:t>    </a:t>
            </a:r>
            <a:r>
              <a:rPr b="0" i="0" lang="en-US" sz="2100" u="none" cap="none" strike="noStrike">
                <a:solidFill>
                  <a:srgbClr val="FCDF59"/>
                </a:solidFill>
                <a:latin typeface="Courier New"/>
                <a:ea typeface="Courier New"/>
                <a:cs typeface="Courier New"/>
                <a:sym typeface="Courier New"/>
              </a:rPr>
              <a:t>print</a:t>
            </a:r>
            <a:r>
              <a:rPr b="0" i="0" lang="en-US" sz="2100" u="none" cap="none" strike="noStrike">
                <a:solidFill>
                  <a:srgbClr val="E8ECFF"/>
                </a:solidFill>
                <a:latin typeface="Courier New"/>
                <a:ea typeface="Courier New"/>
                <a:cs typeface="Courier New"/>
                <a:sym typeface="Courier New"/>
              </a:rPr>
              <a:t> </a:t>
            </a:r>
            <a:r>
              <a:rPr b="0" i="0" lang="en-US" sz="2100" u="none" cap="none" strike="noStrike">
                <a:solidFill>
                  <a:srgbClr val="A8E6CF"/>
                </a:solidFill>
                <a:latin typeface="Courier New"/>
                <a:ea typeface="Courier New"/>
                <a:cs typeface="Courier New"/>
                <a:sym typeface="Courier New"/>
              </a:rPr>
              <a:t>"Tidak lulus"</a:t>
            </a:r>
            <a:endParaRPr b="0" i="0" sz="2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CDF59"/>
              </a:buClr>
              <a:buSzPts val="2100"/>
              <a:buFont typeface="Courier New"/>
              <a:buNone/>
            </a:pPr>
            <a:r>
              <a:rPr b="0" i="0" lang="en-US" sz="2100" u="none" cap="none" strike="noStrike">
                <a:solidFill>
                  <a:srgbClr val="FCDF59"/>
                </a:solidFill>
                <a:latin typeface="Courier New"/>
                <a:ea typeface="Courier New"/>
                <a:cs typeface="Courier New"/>
                <a:sym typeface="Courier New"/>
              </a:rPr>
              <a:t>end</a:t>
            </a:r>
            <a:r>
              <a:rPr b="0" i="0" lang="en-US" sz="2100" u="none" cap="none" strike="noStrike">
                <a:solidFill>
                  <a:srgbClr val="E8ECFF"/>
                </a:solidFill>
                <a:latin typeface="Courier New"/>
                <a:ea typeface="Courier New"/>
                <a:cs typeface="Courier New"/>
                <a:sym typeface="Courier New"/>
              </a:rPr>
              <a:t> </a:t>
            </a:r>
            <a:r>
              <a:rPr b="0" i="0" lang="en-US" sz="2100" u="none" cap="none" strike="noStrike">
                <a:solidFill>
                  <a:srgbClr val="FCDF59"/>
                </a:solidFill>
                <a:latin typeface="Courier New"/>
                <a:ea typeface="Courier New"/>
                <a:cs typeface="Courier New"/>
                <a:sym typeface="Courier New"/>
              </a:rPr>
              <a:t>if</a:t>
            </a:r>
            <a:endParaRPr b="0" i="0" sz="2100" u="none" cap="none" strike="noStrike">
              <a:solidFill>
                <a:schemeClr val="dk1"/>
              </a:solidFill>
              <a:latin typeface="Calibri"/>
              <a:ea typeface="Calibri"/>
              <a:cs typeface="Calibri"/>
              <a:sym typeface="Calibri"/>
            </a:endParaRPr>
          </a:p>
        </p:txBody>
      </p:sp>
      <p:sp>
        <p:nvSpPr>
          <p:cNvPr id="439" name="Google Shape;439;p16"/>
          <p:cNvSpPr/>
          <p:nvPr/>
        </p:nvSpPr>
        <p:spPr>
          <a:xfrm>
            <a:off x="8229600" y="4434840"/>
            <a:ext cx="3017520" cy="822960"/>
          </a:xfrm>
          <a:prstGeom prst="roundRect">
            <a:avLst>
              <a:gd fmla="val 13333" name="adj"/>
            </a:avLst>
          </a:prstGeom>
          <a:solidFill>
            <a:srgbClr val="D9E0F7"/>
          </a:solidFill>
          <a:ln cap="flat" cmpd="sng" w="9525">
            <a:solidFill>
              <a:srgbClr val="D9E0F7"/>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3123D"/>
              </a:buClr>
              <a:buSzPts val="2200"/>
              <a:buFont typeface="Calibri"/>
              <a:buNone/>
            </a:pPr>
            <a:r>
              <a:rPr b="1" i="0" lang="en-US" sz="2200" u="none" cap="none" strike="noStrike">
                <a:solidFill>
                  <a:srgbClr val="13123D"/>
                </a:solidFill>
                <a:latin typeface="Calibri"/>
                <a:ea typeface="Calibri"/>
                <a:cs typeface="Calibri"/>
                <a:sym typeface="Calibri"/>
              </a:rPr>
              <a:t>80  →  Lulus</a:t>
            </a:r>
            <a:endParaRPr b="0" i="0" sz="2200" u="none" cap="none" strike="noStrike">
              <a:solidFill>
                <a:schemeClr val="dk1"/>
              </a:solidFill>
              <a:latin typeface="Calibri"/>
              <a:ea typeface="Calibri"/>
              <a:cs typeface="Calibri"/>
              <a:sym typeface="Calibri"/>
            </a:endParaRPr>
          </a:p>
        </p:txBody>
      </p:sp>
      <p:sp>
        <p:nvSpPr>
          <p:cNvPr id="440" name="Google Shape;440;p16"/>
          <p:cNvSpPr/>
          <p:nvPr/>
        </p:nvSpPr>
        <p:spPr>
          <a:xfrm>
            <a:off x="11430000" y="4434840"/>
            <a:ext cx="3017520" cy="822960"/>
          </a:xfrm>
          <a:prstGeom prst="roundRect">
            <a:avLst>
              <a:gd fmla="val 13333" name="adj"/>
            </a:avLst>
          </a:prstGeom>
          <a:solidFill>
            <a:srgbClr val="D9E0F7"/>
          </a:solidFill>
          <a:ln cap="flat" cmpd="sng" w="9525">
            <a:solidFill>
              <a:srgbClr val="D9E0F7"/>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3123D"/>
              </a:buClr>
              <a:buSzPts val="2200"/>
              <a:buFont typeface="Calibri"/>
              <a:buNone/>
            </a:pPr>
            <a:r>
              <a:rPr b="1" i="0" lang="en-US" sz="2200" u="none" cap="none" strike="noStrike">
                <a:solidFill>
                  <a:srgbClr val="13123D"/>
                </a:solidFill>
                <a:latin typeface="Calibri"/>
                <a:ea typeface="Calibri"/>
                <a:cs typeface="Calibri"/>
                <a:sym typeface="Calibri"/>
              </a:rPr>
              <a:t>65  →  Remedial</a:t>
            </a:r>
            <a:endParaRPr b="0" i="0" sz="2200" u="none" cap="none" strike="noStrike">
              <a:solidFill>
                <a:schemeClr val="dk1"/>
              </a:solidFill>
              <a:latin typeface="Calibri"/>
              <a:ea typeface="Calibri"/>
              <a:cs typeface="Calibri"/>
              <a:sym typeface="Calibri"/>
            </a:endParaRPr>
          </a:p>
        </p:txBody>
      </p:sp>
      <p:sp>
        <p:nvSpPr>
          <p:cNvPr id="441" name="Google Shape;441;p16"/>
          <p:cNvSpPr/>
          <p:nvPr/>
        </p:nvSpPr>
        <p:spPr>
          <a:xfrm>
            <a:off x="14630400" y="4434840"/>
            <a:ext cx="3017520" cy="822960"/>
          </a:xfrm>
          <a:prstGeom prst="roundRect">
            <a:avLst>
              <a:gd fmla="val 13333" name="adj"/>
            </a:avLst>
          </a:prstGeom>
          <a:solidFill>
            <a:srgbClr val="D9E0F7"/>
          </a:solidFill>
          <a:ln cap="flat" cmpd="sng" w="9525">
            <a:solidFill>
              <a:srgbClr val="D9E0F7"/>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3123D"/>
              </a:buClr>
              <a:buSzPts val="2200"/>
              <a:buFont typeface="Calibri"/>
              <a:buNone/>
            </a:pPr>
            <a:r>
              <a:rPr b="1" i="0" lang="en-US" sz="2200" u="none" cap="none" strike="noStrike">
                <a:solidFill>
                  <a:srgbClr val="13123D"/>
                </a:solidFill>
                <a:latin typeface="Calibri"/>
                <a:ea typeface="Calibri"/>
                <a:cs typeface="Calibri"/>
                <a:sym typeface="Calibri"/>
              </a:rPr>
              <a:t>40  →  Tidak lulus</a:t>
            </a:r>
            <a:endParaRPr b="0" i="0" sz="2200" u="none" cap="none" strike="noStrike">
              <a:solidFill>
                <a:schemeClr val="dk1"/>
              </a:solidFill>
              <a:latin typeface="Calibri"/>
              <a:ea typeface="Calibri"/>
              <a:cs typeface="Calibri"/>
              <a:sym typeface="Calibri"/>
            </a:endParaRPr>
          </a:p>
        </p:txBody>
      </p:sp>
      <p:sp>
        <p:nvSpPr>
          <p:cNvPr id="442" name="Google Shape;442;p16"/>
          <p:cNvSpPr/>
          <p:nvPr/>
        </p:nvSpPr>
        <p:spPr>
          <a:xfrm>
            <a:off x="8229600" y="5577840"/>
            <a:ext cx="9418320" cy="1737360"/>
          </a:xfrm>
          <a:prstGeom prst="roundRect">
            <a:avLst>
              <a:gd fmla="val 7895"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6"/>
          <p:cNvSpPr txBox="1"/>
          <p:nvPr/>
        </p:nvSpPr>
        <p:spPr>
          <a:xfrm>
            <a:off x="8503920" y="5577840"/>
            <a:ext cx="8869680" cy="1737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CA2"/>
              </a:buClr>
              <a:buSzPts val="2400"/>
              <a:buFont typeface="Calibri"/>
              <a:buNone/>
            </a:pPr>
            <a:r>
              <a:rPr b="1" i="0" lang="en-US" sz="2400" u="none" cap="none" strike="noStrike">
                <a:solidFill>
                  <a:srgbClr val="162CA2"/>
                </a:solidFill>
                <a:latin typeface="Calibri"/>
                <a:ea typeface="Calibri"/>
                <a:cs typeface="Calibri"/>
                <a:sym typeface="Calibri"/>
              </a:rPr>
              <a:t>Kapan dipakai?</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Saat ada dua atau lebih jalur berdasarkan kondisi, misalnya rentang nilai atau benar/salah.</a:t>
            </a:r>
            <a:endParaRPr b="0" i="0" sz="2400" u="none" cap="none" strike="noStrike">
              <a:solidFill>
                <a:schemeClr val="dk1"/>
              </a:solidFill>
              <a:latin typeface="Calibri"/>
              <a:ea typeface="Calibri"/>
              <a:cs typeface="Calibri"/>
              <a:sym typeface="Calibri"/>
            </a:endParaRPr>
          </a:p>
        </p:txBody>
      </p:sp>
      <p:sp>
        <p:nvSpPr>
          <p:cNvPr id="444" name="Google Shape;444;p16"/>
          <p:cNvSpPr/>
          <p:nvPr/>
        </p:nvSpPr>
        <p:spPr>
          <a:xfrm>
            <a:off x="8229600" y="7543800"/>
            <a:ext cx="9418320" cy="1920240"/>
          </a:xfrm>
          <a:prstGeom prst="roundRect">
            <a:avLst>
              <a:gd fmla="val 7143" name="adj"/>
            </a:avLst>
          </a:prstGeom>
          <a:solidFill>
            <a:srgbClr val="FFF3BF"/>
          </a:solidFill>
          <a:ln cap="flat" cmpd="sng" w="12700">
            <a:solidFill>
              <a:srgbClr val="FFF3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6"/>
          <p:cNvSpPr txBox="1"/>
          <p:nvPr/>
        </p:nvSpPr>
        <p:spPr>
          <a:xfrm>
            <a:off x="8503920" y="7543800"/>
            <a:ext cx="8869680" cy="1920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Perhatikan</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Kondisi diperiksa dari atas. Hanya blok pertama yang benar yang dijalankan.</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pic>
        <p:nvPicPr>
          <p:cNvPr descr="/home/claude/assets/image4.png" id="451" name="Google Shape;451;p17"/>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452" name="Google Shape;452;p17"/>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453" name="Google Shape;453;p17"/>
          <p:cNvSpPr txBox="1"/>
          <p:nvPr/>
        </p:nvSpPr>
        <p:spPr>
          <a:xfrm>
            <a:off x="1024128" y="1554480"/>
            <a:ext cx="58521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1800"/>
              <a:buFont typeface="Arial"/>
              <a:buNone/>
            </a:pPr>
            <a:r>
              <a:rPr b="1" i="0" lang="en-US" sz="1800" u="none" cap="none" strike="noStrike">
                <a:solidFill>
                  <a:srgbClr val="FCDF59"/>
                </a:solidFill>
                <a:latin typeface="Arial"/>
                <a:ea typeface="Arial"/>
                <a:cs typeface="Arial"/>
                <a:sym typeface="Arial"/>
              </a:rPr>
              <a:t>BAGIAN 5 · 30 MENIT</a:t>
            </a:r>
            <a:endParaRPr b="0" i="0" sz="1800" u="none" cap="none" strike="noStrike">
              <a:solidFill>
                <a:schemeClr val="dk1"/>
              </a:solidFill>
              <a:latin typeface="Calibri"/>
              <a:ea typeface="Calibri"/>
              <a:cs typeface="Calibri"/>
              <a:sym typeface="Calibri"/>
            </a:endParaRPr>
          </a:p>
        </p:txBody>
      </p:sp>
      <p:sp>
        <p:nvSpPr>
          <p:cNvPr id="454" name="Google Shape;454;p17"/>
          <p:cNvSpPr txBox="1"/>
          <p:nvPr/>
        </p:nvSpPr>
        <p:spPr>
          <a:xfrm>
            <a:off x="1024128" y="2011680"/>
            <a:ext cx="5760720" cy="2651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400"/>
              <a:buFont typeface="Arial"/>
              <a:buNone/>
            </a:pPr>
            <a:r>
              <a:rPr b="1" i="0" lang="en-US" sz="4400" u="none" cap="none" strike="noStrike">
                <a:solidFill>
                  <a:srgbClr val="FDFBFB"/>
                </a:solidFill>
                <a:latin typeface="Arial"/>
                <a:ea typeface="Arial"/>
                <a:cs typeface="Arial"/>
                <a:sym typeface="Arial"/>
              </a:rPr>
              <a:t>Percabangan</a:t>
            </a:r>
            <a:endParaRPr b="0" i="0" sz="4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DFBFB"/>
              </a:buClr>
              <a:buSzPts val="4400"/>
              <a:buFont typeface="Arial"/>
              <a:buNone/>
            </a:pPr>
            <a:r>
              <a:rPr b="1" i="0" lang="en-US" sz="4400" u="none" cap="none" strike="noStrike">
                <a:solidFill>
                  <a:srgbClr val="FDFBFB"/>
                </a:solidFill>
                <a:latin typeface="Arial"/>
                <a:ea typeface="Arial"/>
                <a:cs typeface="Arial"/>
                <a:sym typeface="Arial"/>
              </a:rPr>
              <a:t>switch</a:t>
            </a:r>
            <a:endParaRPr b="0" i="0" sz="4400" u="none" cap="none" strike="noStrike">
              <a:solidFill>
                <a:schemeClr val="dk1"/>
              </a:solidFill>
              <a:latin typeface="Calibri"/>
              <a:ea typeface="Calibri"/>
              <a:cs typeface="Calibri"/>
              <a:sym typeface="Calibri"/>
            </a:endParaRPr>
          </a:p>
        </p:txBody>
      </p:sp>
      <p:sp>
        <p:nvSpPr>
          <p:cNvPr id="455" name="Google Shape;455;p17"/>
          <p:cNvSpPr txBox="1"/>
          <p:nvPr/>
        </p:nvSpPr>
        <p:spPr>
          <a:xfrm>
            <a:off x="1024128" y="4937760"/>
            <a:ext cx="5486400" cy="42062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FDFBFB"/>
              </a:buClr>
              <a:buSzPts val="2600"/>
              <a:buFont typeface="Calibri"/>
              <a:buChar char="•"/>
            </a:pPr>
            <a:r>
              <a:rPr b="0" i="0" lang="en-US" sz="2600" u="none" cap="none" strike="noStrike">
                <a:solidFill>
                  <a:srgbClr val="FDFBFB"/>
                </a:solidFill>
                <a:latin typeface="Calibri"/>
                <a:ea typeface="Calibri"/>
                <a:cs typeface="Calibri"/>
                <a:sym typeface="Calibri"/>
              </a:rPr>
              <a:t>Memilih dari nilai tertentu</a:t>
            </a:r>
            <a:endParaRPr b="0" i="0" sz="2600" u="none" cap="none" strike="noStrike">
              <a:solidFill>
                <a:schemeClr val="dk1"/>
              </a:solidFill>
              <a:latin typeface="Calibri"/>
              <a:ea typeface="Calibri"/>
              <a:cs typeface="Calibri"/>
              <a:sym typeface="Calibri"/>
            </a:endParaRPr>
          </a:p>
          <a:p>
            <a:pPr indent="-342900" lvl="0" marL="342900" marR="0" rtl="0" algn="l">
              <a:spcBef>
                <a:spcPts val="1400"/>
              </a:spcBef>
              <a:spcAft>
                <a:spcPts val="0"/>
              </a:spcAft>
              <a:buClr>
                <a:srgbClr val="FDFBFB"/>
              </a:buClr>
              <a:buSzPts val="2600"/>
              <a:buFont typeface="Calibri"/>
              <a:buChar char="•"/>
            </a:pPr>
            <a:r>
              <a:rPr b="0" i="0" lang="en-US" sz="2600" u="none" cap="none" strike="noStrike">
                <a:solidFill>
                  <a:srgbClr val="FDFBFB"/>
                </a:solidFill>
                <a:latin typeface="Calibri"/>
                <a:ea typeface="Calibri"/>
                <a:cs typeface="Calibri"/>
                <a:sym typeface="Calibri"/>
              </a:rPr>
              <a:t>if-else untuk rentang, switch untuk nilai pasti</a:t>
            </a:r>
            <a:endParaRPr b="0" i="0" sz="2600" u="none" cap="none" strike="noStrike">
              <a:solidFill>
                <a:schemeClr val="dk1"/>
              </a:solidFill>
              <a:latin typeface="Calibri"/>
              <a:ea typeface="Calibri"/>
              <a:cs typeface="Calibri"/>
              <a:sym typeface="Calibri"/>
            </a:endParaRPr>
          </a:p>
        </p:txBody>
      </p:sp>
      <p:sp>
        <p:nvSpPr>
          <p:cNvPr id="456" name="Google Shape;456;p17"/>
          <p:cNvSpPr/>
          <p:nvPr/>
        </p:nvSpPr>
        <p:spPr>
          <a:xfrm>
            <a:off x="8229600" y="731520"/>
            <a:ext cx="9418320" cy="2826258"/>
          </a:xfrm>
          <a:prstGeom prst="roundRect">
            <a:avLst>
              <a:gd fmla="val 4853" name="adj"/>
            </a:avLst>
          </a:prstGeom>
          <a:solidFill>
            <a:srgbClr val="13123D"/>
          </a:solidFill>
          <a:ln cap="flat" cmpd="sng" w="12700">
            <a:solidFill>
              <a:srgbClr val="1312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7"/>
          <p:cNvSpPr txBox="1"/>
          <p:nvPr/>
        </p:nvSpPr>
        <p:spPr>
          <a:xfrm>
            <a:off x="8503920" y="987552"/>
            <a:ext cx="8869680" cy="236905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100"/>
              <a:buFont typeface="Courier New"/>
              <a:buNone/>
            </a:pPr>
            <a:r>
              <a:rPr b="0" i="0" lang="en-US" sz="2100" u="none" cap="none" strike="noStrike">
                <a:solidFill>
                  <a:srgbClr val="FCDF59"/>
                </a:solidFill>
                <a:latin typeface="Courier New"/>
                <a:ea typeface="Courier New"/>
                <a:cs typeface="Courier New"/>
                <a:sym typeface="Courier New"/>
              </a:rPr>
              <a:t>input</a:t>
            </a:r>
            <a:r>
              <a:rPr b="0" i="0" lang="en-US" sz="2100" u="none" cap="none" strike="noStrike">
                <a:solidFill>
                  <a:srgbClr val="E8ECFF"/>
                </a:solidFill>
                <a:latin typeface="Courier New"/>
                <a:ea typeface="Courier New"/>
                <a:cs typeface="Courier New"/>
                <a:sym typeface="Courier New"/>
              </a:rPr>
              <a:t> hari</a:t>
            </a:r>
            <a:endParaRPr b="0" i="0" sz="2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CDF59"/>
              </a:buClr>
              <a:buSzPts val="2100"/>
              <a:buFont typeface="Courier New"/>
              <a:buNone/>
            </a:pPr>
            <a:r>
              <a:rPr b="0" i="0" lang="en-US" sz="2100" u="none" cap="none" strike="noStrike">
                <a:solidFill>
                  <a:srgbClr val="FCDF59"/>
                </a:solidFill>
                <a:latin typeface="Courier New"/>
                <a:ea typeface="Courier New"/>
                <a:cs typeface="Courier New"/>
                <a:sym typeface="Courier New"/>
              </a:rPr>
              <a:t>switch</a:t>
            </a:r>
            <a:r>
              <a:rPr b="0" i="0" lang="en-US" sz="2100" u="none" cap="none" strike="noStrike">
                <a:solidFill>
                  <a:srgbClr val="E8ECFF"/>
                </a:solidFill>
                <a:latin typeface="Courier New"/>
                <a:ea typeface="Courier New"/>
                <a:cs typeface="Courier New"/>
                <a:sym typeface="Courier New"/>
              </a:rPr>
              <a:t> hari</a:t>
            </a:r>
            <a:endParaRPr b="0" i="0" sz="2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100"/>
              <a:buFont typeface="Courier New"/>
              <a:buNone/>
            </a:pPr>
            <a:r>
              <a:rPr b="0" i="0" lang="en-US" sz="2100" u="none" cap="none" strike="noStrike">
                <a:solidFill>
                  <a:srgbClr val="E8ECFF"/>
                </a:solidFill>
                <a:latin typeface="Courier New"/>
                <a:ea typeface="Courier New"/>
                <a:cs typeface="Courier New"/>
                <a:sym typeface="Courier New"/>
              </a:rPr>
              <a:t>    </a:t>
            </a:r>
            <a:r>
              <a:rPr b="0" i="0" lang="en-US" sz="2100" u="none" cap="none" strike="noStrike">
                <a:solidFill>
                  <a:srgbClr val="FCDF59"/>
                </a:solidFill>
                <a:latin typeface="Courier New"/>
                <a:ea typeface="Courier New"/>
                <a:cs typeface="Courier New"/>
                <a:sym typeface="Courier New"/>
              </a:rPr>
              <a:t>case</a:t>
            </a:r>
            <a:r>
              <a:rPr b="0" i="0" lang="en-US" sz="2100" u="none" cap="none" strike="noStrike">
                <a:solidFill>
                  <a:srgbClr val="E8ECFF"/>
                </a:solidFill>
                <a:latin typeface="Courier New"/>
                <a:ea typeface="Courier New"/>
                <a:cs typeface="Courier New"/>
                <a:sym typeface="Courier New"/>
              </a:rPr>
              <a:t> </a:t>
            </a:r>
            <a:r>
              <a:rPr b="0" i="0" lang="en-US" sz="2100" u="none" cap="none" strike="noStrike">
                <a:solidFill>
                  <a:srgbClr val="FFC58A"/>
                </a:solidFill>
                <a:latin typeface="Courier New"/>
                <a:ea typeface="Courier New"/>
                <a:cs typeface="Courier New"/>
                <a:sym typeface="Courier New"/>
              </a:rPr>
              <a:t>1</a:t>
            </a:r>
            <a:r>
              <a:rPr b="0" i="0" lang="en-US" sz="2100" u="none" cap="none" strike="noStrike">
                <a:solidFill>
                  <a:srgbClr val="E8ECFF"/>
                </a:solidFill>
                <a:latin typeface="Courier New"/>
                <a:ea typeface="Courier New"/>
                <a:cs typeface="Courier New"/>
                <a:sym typeface="Courier New"/>
              </a:rPr>
              <a:t>: </a:t>
            </a:r>
            <a:r>
              <a:rPr b="0" i="0" lang="en-US" sz="2100" u="none" cap="none" strike="noStrike">
                <a:solidFill>
                  <a:srgbClr val="FCDF59"/>
                </a:solidFill>
                <a:latin typeface="Courier New"/>
                <a:ea typeface="Courier New"/>
                <a:cs typeface="Courier New"/>
                <a:sym typeface="Courier New"/>
              </a:rPr>
              <a:t>print</a:t>
            </a:r>
            <a:r>
              <a:rPr b="0" i="0" lang="en-US" sz="2100" u="none" cap="none" strike="noStrike">
                <a:solidFill>
                  <a:srgbClr val="E8ECFF"/>
                </a:solidFill>
                <a:latin typeface="Courier New"/>
                <a:ea typeface="Courier New"/>
                <a:cs typeface="Courier New"/>
                <a:sym typeface="Courier New"/>
              </a:rPr>
              <a:t> </a:t>
            </a:r>
            <a:r>
              <a:rPr b="0" i="0" lang="en-US" sz="2100" u="none" cap="none" strike="noStrike">
                <a:solidFill>
                  <a:srgbClr val="A8E6CF"/>
                </a:solidFill>
                <a:latin typeface="Courier New"/>
                <a:ea typeface="Courier New"/>
                <a:cs typeface="Courier New"/>
                <a:sym typeface="Courier New"/>
              </a:rPr>
              <a:t>"Senin"</a:t>
            </a:r>
            <a:endParaRPr b="0" i="0" sz="2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100"/>
              <a:buFont typeface="Courier New"/>
              <a:buNone/>
            </a:pPr>
            <a:r>
              <a:rPr b="0" i="0" lang="en-US" sz="2100" u="none" cap="none" strike="noStrike">
                <a:solidFill>
                  <a:srgbClr val="E8ECFF"/>
                </a:solidFill>
                <a:latin typeface="Courier New"/>
                <a:ea typeface="Courier New"/>
                <a:cs typeface="Courier New"/>
                <a:sym typeface="Courier New"/>
              </a:rPr>
              <a:t>    </a:t>
            </a:r>
            <a:r>
              <a:rPr b="0" i="0" lang="en-US" sz="2100" u="none" cap="none" strike="noStrike">
                <a:solidFill>
                  <a:srgbClr val="FCDF59"/>
                </a:solidFill>
                <a:latin typeface="Courier New"/>
                <a:ea typeface="Courier New"/>
                <a:cs typeface="Courier New"/>
                <a:sym typeface="Courier New"/>
              </a:rPr>
              <a:t>case</a:t>
            </a:r>
            <a:r>
              <a:rPr b="0" i="0" lang="en-US" sz="2100" u="none" cap="none" strike="noStrike">
                <a:solidFill>
                  <a:srgbClr val="E8ECFF"/>
                </a:solidFill>
                <a:latin typeface="Courier New"/>
                <a:ea typeface="Courier New"/>
                <a:cs typeface="Courier New"/>
                <a:sym typeface="Courier New"/>
              </a:rPr>
              <a:t> </a:t>
            </a:r>
            <a:r>
              <a:rPr b="0" i="0" lang="en-US" sz="2100" u="none" cap="none" strike="noStrike">
                <a:solidFill>
                  <a:srgbClr val="FFC58A"/>
                </a:solidFill>
                <a:latin typeface="Courier New"/>
                <a:ea typeface="Courier New"/>
                <a:cs typeface="Courier New"/>
                <a:sym typeface="Courier New"/>
              </a:rPr>
              <a:t>2</a:t>
            </a:r>
            <a:r>
              <a:rPr b="0" i="0" lang="en-US" sz="2100" u="none" cap="none" strike="noStrike">
                <a:solidFill>
                  <a:srgbClr val="E8ECFF"/>
                </a:solidFill>
                <a:latin typeface="Courier New"/>
                <a:ea typeface="Courier New"/>
                <a:cs typeface="Courier New"/>
                <a:sym typeface="Courier New"/>
              </a:rPr>
              <a:t>: </a:t>
            </a:r>
            <a:r>
              <a:rPr b="0" i="0" lang="en-US" sz="2100" u="none" cap="none" strike="noStrike">
                <a:solidFill>
                  <a:srgbClr val="FCDF59"/>
                </a:solidFill>
                <a:latin typeface="Courier New"/>
                <a:ea typeface="Courier New"/>
                <a:cs typeface="Courier New"/>
                <a:sym typeface="Courier New"/>
              </a:rPr>
              <a:t>print</a:t>
            </a:r>
            <a:r>
              <a:rPr b="0" i="0" lang="en-US" sz="2100" u="none" cap="none" strike="noStrike">
                <a:solidFill>
                  <a:srgbClr val="E8ECFF"/>
                </a:solidFill>
                <a:latin typeface="Courier New"/>
                <a:ea typeface="Courier New"/>
                <a:cs typeface="Courier New"/>
                <a:sym typeface="Courier New"/>
              </a:rPr>
              <a:t> </a:t>
            </a:r>
            <a:r>
              <a:rPr b="0" i="0" lang="en-US" sz="2100" u="none" cap="none" strike="noStrike">
                <a:solidFill>
                  <a:srgbClr val="A8E6CF"/>
                </a:solidFill>
                <a:latin typeface="Courier New"/>
                <a:ea typeface="Courier New"/>
                <a:cs typeface="Courier New"/>
                <a:sym typeface="Courier New"/>
              </a:rPr>
              <a:t>"Selasa"</a:t>
            </a:r>
            <a:endParaRPr b="0" i="0" sz="2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100"/>
              <a:buFont typeface="Courier New"/>
              <a:buNone/>
            </a:pPr>
            <a:r>
              <a:rPr b="0" i="0" lang="en-US" sz="2100" u="none" cap="none" strike="noStrike">
                <a:solidFill>
                  <a:srgbClr val="E8ECFF"/>
                </a:solidFill>
                <a:latin typeface="Courier New"/>
                <a:ea typeface="Courier New"/>
                <a:cs typeface="Courier New"/>
                <a:sym typeface="Courier New"/>
              </a:rPr>
              <a:t>    </a:t>
            </a:r>
            <a:r>
              <a:rPr b="0" i="0" lang="en-US" sz="2100" u="none" cap="none" strike="noStrike">
                <a:solidFill>
                  <a:srgbClr val="FCDF59"/>
                </a:solidFill>
                <a:latin typeface="Courier New"/>
                <a:ea typeface="Courier New"/>
                <a:cs typeface="Courier New"/>
                <a:sym typeface="Courier New"/>
              </a:rPr>
              <a:t>case</a:t>
            </a:r>
            <a:r>
              <a:rPr b="0" i="0" lang="en-US" sz="2100" u="none" cap="none" strike="noStrike">
                <a:solidFill>
                  <a:srgbClr val="E8ECFF"/>
                </a:solidFill>
                <a:latin typeface="Courier New"/>
                <a:ea typeface="Courier New"/>
                <a:cs typeface="Courier New"/>
                <a:sym typeface="Courier New"/>
              </a:rPr>
              <a:t> </a:t>
            </a:r>
            <a:r>
              <a:rPr b="0" i="0" lang="en-US" sz="2100" u="none" cap="none" strike="noStrike">
                <a:solidFill>
                  <a:srgbClr val="FFC58A"/>
                </a:solidFill>
                <a:latin typeface="Courier New"/>
                <a:ea typeface="Courier New"/>
                <a:cs typeface="Courier New"/>
                <a:sym typeface="Courier New"/>
              </a:rPr>
              <a:t>3</a:t>
            </a:r>
            <a:r>
              <a:rPr b="0" i="0" lang="en-US" sz="2100" u="none" cap="none" strike="noStrike">
                <a:solidFill>
                  <a:srgbClr val="E8ECFF"/>
                </a:solidFill>
                <a:latin typeface="Courier New"/>
                <a:ea typeface="Courier New"/>
                <a:cs typeface="Courier New"/>
                <a:sym typeface="Courier New"/>
              </a:rPr>
              <a:t>: </a:t>
            </a:r>
            <a:r>
              <a:rPr b="0" i="0" lang="en-US" sz="2100" u="none" cap="none" strike="noStrike">
                <a:solidFill>
                  <a:srgbClr val="FCDF59"/>
                </a:solidFill>
                <a:latin typeface="Courier New"/>
                <a:ea typeface="Courier New"/>
                <a:cs typeface="Courier New"/>
                <a:sym typeface="Courier New"/>
              </a:rPr>
              <a:t>print</a:t>
            </a:r>
            <a:r>
              <a:rPr b="0" i="0" lang="en-US" sz="2100" u="none" cap="none" strike="noStrike">
                <a:solidFill>
                  <a:srgbClr val="E8ECFF"/>
                </a:solidFill>
                <a:latin typeface="Courier New"/>
                <a:ea typeface="Courier New"/>
                <a:cs typeface="Courier New"/>
                <a:sym typeface="Courier New"/>
              </a:rPr>
              <a:t> </a:t>
            </a:r>
            <a:r>
              <a:rPr b="0" i="0" lang="en-US" sz="2100" u="none" cap="none" strike="noStrike">
                <a:solidFill>
                  <a:srgbClr val="A8E6CF"/>
                </a:solidFill>
                <a:latin typeface="Courier New"/>
                <a:ea typeface="Courier New"/>
                <a:cs typeface="Courier New"/>
                <a:sym typeface="Courier New"/>
              </a:rPr>
              <a:t>"Rabu"</a:t>
            </a:r>
            <a:endParaRPr b="0" i="0" sz="2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100"/>
              <a:buFont typeface="Courier New"/>
              <a:buNone/>
            </a:pPr>
            <a:r>
              <a:rPr b="0" i="0" lang="en-US" sz="2100" u="none" cap="none" strike="noStrike">
                <a:solidFill>
                  <a:srgbClr val="E8ECFF"/>
                </a:solidFill>
                <a:latin typeface="Courier New"/>
                <a:ea typeface="Courier New"/>
                <a:cs typeface="Courier New"/>
                <a:sym typeface="Courier New"/>
              </a:rPr>
              <a:t>    </a:t>
            </a:r>
            <a:r>
              <a:rPr b="0" i="0" lang="en-US" sz="2100" u="none" cap="none" strike="noStrike">
                <a:solidFill>
                  <a:srgbClr val="FCDF59"/>
                </a:solidFill>
                <a:latin typeface="Courier New"/>
                <a:ea typeface="Courier New"/>
                <a:cs typeface="Courier New"/>
                <a:sym typeface="Courier New"/>
              </a:rPr>
              <a:t>default</a:t>
            </a:r>
            <a:r>
              <a:rPr b="0" i="0" lang="en-US" sz="2100" u="none" cap="none" strike="noStrike">
                <a:solidFill>
                  <a:srgbClr val="E8ECFF"/>
                </a:solidFill>
                <a:latin typeface="Courier New"/>
                <a:ea typeface="Courier New"/>
                <a:cs typeface="Courier New"/>
                <a:sym typeface="Courier New"/>
              </a:rPr>
              <a:t>: </a:t>
            </a:r>
            <a:r>
              <a:rPr b="0" i="0" lang="en-US" sz="2100" u="none" cap="none" strike="noStrike">
                <a:solidFill>
                  <a:srgbClr val="FCDF59"/>
                </a:solidFill>
                <a:latin typeface="Courier New"/>
                <a:ea typeface="Courier New"/>
                <a:cs typeface="Courier New"/>
                <a:sym typeface="Courier New"/>
              </a:rPr>
              <a:t>print</a:t>
            </a:r>
            <a:r>
              <a:rPr b="0" i="0" lang="en-US" sz="2100" u="none" cap="none" strike="noStrike">
                <a:solidFill>
                  <a:srgbClr val="E8ECFF"/>
                </a:solidFill>
                <a:latin typeface="Courier New"/>
                <a:ea typeface="Courier New"/>
                <a:cs typeface="Courier New"/>
                <a:sym typeface="Courier New"/>
              </a:rPr>
              <a:t> </a:t>
            </a:r>
            <a:r>
              <a:rPr b="0" i="0" lang="en-US" sz="2100" u="none" cap="none" strike="noStrike">
                <a:solidFill>
                  <a:srgbClr val="A8E6CF"/>
                </a:solidFill>
                <a:latin typeface="Courier New"/>
                <a:ea typeface="Courier New"/>
                <a:cs typeface="Courier New"/>
                <a:sym typeface="Courier New"/>
              </a:rPr>
              <a:t>"Hari tidak valid"</a:t>
            </a:r>
            <a:endParaRPr b="0" i="0" sz="2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CDF59"/>
              </a:buClr>
              <a:buSzPts val="2100"/>
              <a:buFont typeface="Courier New"/>
              <a:buNone/>
            </a:pPr>
            <a:r>
              <a:rPr b="0" i="0" lang="en-US" sz="2100" u="none" cap="none" strike="noStrike">
                <a:solidFill>
                  <a:srgbClr val="FCDF59"/>
                </a:solidFill>
                <a:latin typeface="Courier New"/>
                <a:ea typeface="Courier New"/>
                <a:cs typeface="Courier New"/>
                <a:sym typeface="Courier New"/>
              </a:rPr>
              <a:t>end</a:t>
            </a:r>
            <a:r>
              <a:rPr b="0" i="0" lang="en-US" sz="2100" u="none" cap="none" strike="noStrike">
                <a:solidFill>
                  <a:srgbClr val="E8ECFF"/>
                </a:solidFill>
                <a:latin typeface="Courier New"/>
                <a:ea typeface="Courier New"/>
                <a:cs typeface="Courier New"/>
                <a:sym typeface="Courier New"/>
              </a:rPr>
              <a:t> </a:t>
            </a:r>
            <a:r>
              <a:rPr b="0" i="0" lang="en-US" sz="2100" u="none" cap="none" strike="noStrike">
                <a:solidFill>
                  <a:srgbClr val="FCDF59"/>
                </a:solidFill>
                <a:latin typeface="Courier New"/>
                <a:ea typeface="Courier New"/>
                <a:cs typeface="Courier New"/>
                <a:sym typeface="Courier New"/>
              </a:rPr>
              <a:t>switch</a:t>
            </a:r>
            <a:endParaRPr b="0" i="0" sz="2100" u="none" cap="none" strike="noStrike">
              <a:solidFill>
                <a:schemeClr val="dk1"/>
              </a:solidFill>
              <a:latin typeface="Calibri"/>
              <a:ea typeface="Calibri"/>
              <a:cs typeface="Calibri"/>
              <a:sym typeface="Calibri"/>
            </a:endParaRPr>
          </a:p>
        </p:txBody>
      </p:sp>
      <p:sp>
        <p:nvSpPr>
          <p:cNvPr id="458" name="Google Shape;458;p17"/>
          <p:cNvSpPr/>
          <p:nvPr/>
        </p:nvSpPr>
        <p:spPr>
          <a:xfrm>
            <a:off x="8229600" y="4251960"/>
            <a:ext cx="4617720" cy="1920240"/>
          </a:xfrm>
          <a:prstGeom prst="roundRect">
            <a:avLst>
              <a:gd fmla="val 7143"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7"/>
          <p:cNvSpPr txBox="1"/>
          <p:nvPr/>
        </p:nvSpPr>
        <p:spPr>
          <a:xfrm>
            <a:off x="8503920" y="4251960"/>
            <a:ext cx="4069080" cy="1920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CA2"/>
              </a:buClr>
              <a:buSzPts val="2300"/>
              <a:buFont typeface="Calibri"/>
              <a:buNone/>
            </a:pPr>
            <a:r>
              <a:rPr b="1" i="0" lang="en-US" sz="2300" u="none" cap="none" strike="noStrike">
                <a:solidFill>
                  <a:srgbClr val="162CA2"/>
                </a:solidFill>
                <a:latin typeface="Calibri"/>
                <a:ea typeface="Calibri"/>
                <a:cs typeface="Calibri"/>
                <a:sym typeface="Calibri"/>
              </a:rPr>
              <a:t>if-else</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3123D"/>
              </a:buClr>
              <a:buSzPts val="2100"/>
              <a:buFont typeface="Calibri"/>
              <a:buNone/>
            </a:pPr>
            <a:r>
              <a:rPr b="0" i="0" lang="en-US" sz="2100" u="none" cap="none" strike="noStrike">
                <a:solidFill>
                  <a:srgbClr val="13123D"/>
                </a:solidFill>
                <a:latin typeface="Calibri"/>
                <a:ea typeface="Calibri"/>
                <a:cs typeface="Calibri"/>
                <a:sym typeface="Calibri"/>
              </a:rPr>
              <a:t>Rentang atau ekspresi kompleks. Contoh: nilai &gt;= 75.</a:t>
            </a:r>
            <a:endParaRPr b="0" i="0" sz="2400" u="none" cap="none" strike="noStrike">
              <a:solidFill>
                <a:schemeClr val="dk1"/>
              </a:solidFill>
              <a:latin typeface="Calibri"/>
              <a:ea typeface="Calibri"/>
              <a:cs typeface="Calibri"/>
              <a:sym typeface="Calibri"/>
            </a:endParaRPr>
          </a:p>
        </p:txBody>
      </p:sp>
      <p:sp>
        <p:nvSpPr>
          <p:cNvPr id="460" name="Google Shape;460;p17"/>
          <p:cNvSpPr/>
          <p:nvPr/>
        </p:nvSpPr>
        <p:spPr>
          <a:xfrm>
            <a:off x="13030200" y="4251960"/>
            <a:ext cx="4617720" cy="1920240"/>
          </a:xfrm>
          <a:prstGeom prst="roundRect">
            <a:avLst>
              <a:gd fmla="val 7143" name="adj"/>
            </a:avLst>
          </a:prstGeom>
          <a:solidFill>
            <a:srgbClr val="FFF3BF"/>
          </a:solidFill>
          <a:ln cap="flat" cmpd="sng" w="12700">
            <a:solidFill>
              <a:srgbClr val="FFF3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7"/>
          <p:cNvSpPr txBox="1"/>
          <p:nvPr/>
        </p:nvSpPr>
        <p:spPr>
          <a:xfrm>
            <a:off x="13304520" y="4251960"/>
            <a:ext cx="4069080" cy="1920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300"/>
              <a:buFont typeface="Calibri"/>
              <a:buNone/>
            </a:pPr>
            <a:r>
              <a:rPr b="1" i="0" lang="en-US" sz="2300" u="none" cap="none" strike="noStrike">
                <a:solidFill>
                  <a:srgbClr val="13123D"/>
                </a:solidFill>
                <a:latin typeface="Calibri"/>
                <a:ea typeface="Calibri"/>
                <a:cs typeface="Calibri"/>
                <a:sym typeface="Calibri"/>
              </a:rPr>
              <a:t>switch</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3123D"/>
              </a:buClr>
              <a:buSzPts val="2100"/>
              <a:buFont typeface="Calibri"/>
              <a:buNone/>
            </a:pPr>
            <a:r>
              <a:rPr b="0" i="0" lang="en-US" sz="2100" u="none" cap="none" strike="noStrike">
                <a:solidFill>
                  <a:srgbClr val="13123D"/>
                </a:solidFill>
                <a:latin typeface="Calibri"/>
                <a:ea typeface="Calibri"/>
                <a:cs typeface="Calibri"/>
                <a:sym typeface="Calibri"/>
              </a:rPr>
              <a:t>Nilai tertentu. Contoh: hari 1, 2, 3.</a:t>
            </a:r>
            <a:endParaRPr b="0" i="0" sz="2400" u="none" cap="none" strike="noStrike">
              <a:solidFill>
                <a:schemeClr val="dk1"/>
              </a:solidFill>
              <a:latin typeface="Calibri"/>
              <a:ea typeface="Calibri"/>
              <a:cs typeface="Calibri"/>
              <a:sym typeface="Calibri"/>
            </a:endParaRPr>
          </a:p>
        </p:txBody>
      </p:sp>
      <p:sp>
        <p:nvSpPr>
          <p:cNvPr id="462" name="Google Shape;462;p17"/>
          <p:cNvSpPr/>
          <p:nvPr/>
        </p:nvSpPr>
        <p:spPr>
          <a:xfrm>
            <a:off x="8229600" y="6400800"/>
            <a:ext cx="9418320" cy="3108960"/>
          </a:xfrm>
          <a:prstGeom prst="roundRect">
            <a:avLst>
              <a:gd fmla="val 441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7"/>
          <p:cNvSpPr txBox="1"/>
          <p:nvPr/>
        </p:nvSpPr>
        <p:spPr>
          <a:xfrm>
            <a:off x="8503920" y="6400800"/>
            <a:ext cx="8869680" cy="3108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CA2"/>
              </a:buClr>
              <a:buSzPts val="2300"/>
              <a:buFont typeface="Calibri"/>
              <a:buNone/>
            </a:pPr>
            <a:r>
              <a:rPr b="1" i="0" lang="en-US" sz="2300" u="none" cap="none" strike="noStrike">
                <a:solidFill>
                  <a:srgbClr val="162CA2"/>
                </a:solidFill>
                <a:latin typeface="Calibri"/>
                <a:ea typeface="Calibri"/>
                <a:cs typeface="Calibri"/>
                <a:sym typeface="Calibri"/>
              </a:rPr>
              <a:t>Catatan bahasa</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3123D"/>
              </a:buClr>
              <a:buSzPts val="2100"/>
              <a:buFont typeface="Calibri"/>
              <a:buNone/>
            </a:pPr>
            <a:r>
              <a:rPr b="0" i="0" lang="en-US" sz="2100" u="none" cap="none" strike="noStrike">
                <a:solidFill>
                  <a:srgbClr val="13123D"/>
                </a:solidFill>
                <a:latin typeface="Calibri"/>
                <a:ea typeface="Calibri"/>
                <a:cs typeface="Calibri"/>
                <a:sym typeface="Calibri"/>
              </a:rPr>
              <a:t>Di C, Java, dan JavaScript tiap case perlu break agar tidak jatuh ke case berikutnya. Python memakai match-case. Di Go, break tidak perlu (Sesi 3).</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pic>
        <p:nvPicPr>
          <p:cNvPr descr="/home/claude/assets/image6.png" id="469" name="Google Shape;469;p18"/>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470" name="Google Shape;470;p18"/>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471" name="Google Shape;471;p18"/>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BAGIAN 5 · 30 MENIT</a:t>
            </a:r>
            <a:endParaRPr b="0" i="0" sz="2000" u="none" cap="none" strike="noStrike">
              <a:solidFill>
                <a:schemeClr val="dk1"/>
              </a:solidFill>
              <a:latin typeface="Calibri"/>
              <a:ea typeface="Calibri"/>
              <a:cs typeface="Calibri"/>
              <a:sym typeface="Calibri"/>
            </a:endParaRPr>
          </a:p>
        </p:txBody>
      </p:sp>
      <p:sp>
        <p:nvSpPr>
          <p:cNvPr id="472" name="Google Shape;472;p18"/>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Perulangan: for dan while</a:t>
            </a:r>
            <a:endParaRPr b="0" i="0" sz="4800" u="none" cap="none" strike="noStrike">
              <a:solidFill>
                <a:schemeClr val="dk1"/>
              </a:solidFill>
              <a:latin typeface="Calibri"/>
              <a:ea typeface="Calibri"/>
              <a:cs typeface="Calibri"/>
              <a:sym typeface="Calibri"/>
            </a:endParaRPr>
          </a:p>
        </p:txBody>
      </p:sp>
      <p:sp>
        <p:nvSpPr>
          <p:cNvPr id="473" name="Google Shape;473;p18"/>
          <p:cNvSpPr/>
          <p:nvPr/>
        </p:nvSpPr>
        <p:spPr>
          <a:xfrm>
            <a:off x="914400" y="4343400"/>
            <a:ext cx="7955280" cy="5166360"/>
          </a:xfrm>
          <a:prstGeom prst="roundRect">
            <a:avLst>
              <a:gd fmla="val 2655"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8"/>
          <p:cNvSpPr txBox="1"/>
          <p:nvPr/>
        </p:nvSpPr>
        <p:spPr>
          <a:xfrm>
            <a:off x="1188720" y="4480560"/>
            <a:ext cx="74066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600"/>
              <a:buFont typeface="Calibri"/>
              <a:buNone/>
            </a:pPr>
            <a:r>
              <a:rPr b="1" i="0" lang="en-US" sz="2600" u="none" cap="none" strike="noStrike">
                <a:solidFill>
                  <a:srgbClr val="162CA2"/>
                </a:solidFill>
                <a:latin typeface="Calibri"/>
                <a:ea typeface="Calibri"/>
                <a:cs typeface="Calibri"/>
                <a:sym typeface="Calibri"/>
              </a:rPr>
              <a:t>for — jumlah ulangan diketahui</a:t>
            </a:r>
            <a:endParaRPr b="0" i="0" sz="2600" u="none" cap="none" strike="noStrike">
              <a:solidFill>
                <a:schemeClr val="dk1"/>
              </a:solidFill>
              <a:latin typeface="Calibri"/>
              <a:ea typeface="Calibri"/>
              <a:cs typeface="Calibri"/>
              <a:sym typeface="Calibri"/>
            </a:endParaRPr>
          </a:p>
        </p:txBody>
      </p:sp>
      <p:sp>
        <p:nvSpPr>
          <p:cNvPr id="475" name="Google Shape;475;p18"/>
          <p:cNvSpPr/>
          <p:nvPr/>
        </p:nvSpPr>
        <p:spPr>
          <a:xfrm>
            <a:off x="1188720" y="5120640"/>
            <a:ext cx="7406640" cy="1571244"/>
          </a:xfrm>
          <a:prstGeom prst="roundRect">
            <a:avLst>
              <a:gd fmla="val 8729" name="adj"/>
            </a:avLst>
          </a:prstGeom>
          <a:solidFill>
            <a:srgbClr val="13123D"/>
          </a:solidFill>
          <a:ln cap="flat" cmpd="sng" w="12700">
            <a:solidFill>
              <a:srgbClr val="1312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8"/>
          <p:cNvSpPr txBox="1"/>
          <p:nvPr/>
        </p:nvSpPr>
        <p:spPr>
          <a:xfrm>
            <a:off x="1463040" y="5376672"/>
            <a:ext cx="6858000" cy="11140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200"/>
              <a:buFont typeface="Courier New"/>
              <a:buNone/>
            </a:pPr>
            <a:r>
              <a:rPr b="0" i="0" lang="en-US" sz="2200" u="none" cap="none" strike="noStrike">
                <a:solidFill>
                  <a:srgbClr val="FCDF59"/>
                </a:solidFill>
                <a:latin typeface="Courier New"/>
                <a:ea typeface="Courier New"/>
                <a:cs typeface="Courier New"/>
                <a:sym typeface="Courier New"/>
              </a:rPr>
              <a:t>for</a:t>
            </a:r>
            <a:r>
              <a:rPr b="0" i="0" lang="en-US" sz="2200" u="none" cap="none" strike="noStrike">
                <a:solidFill>
                  <a:srgbClr val="E8ECFF"/>
                </a:solidFill>
                <a:latin typeface="Courier New"/>
                <a:ea typeface="Courier New"/>
                <a:cs typeface="Courier New"/>
                <a:sym typeface="Courier New"/>
              </a:rPr>
              <a:t> i = </a:t>
            </a:r>
            <a:r>
              <a:rPr b="0" i="0" lang="en-US" sz="2200" u="none" cap="none" strike="noStrike">
                <a:solidFill>
                  <a:srgbClr val="FFC58A"/>
                </a:solidFill>
                <a:latin typeface="Courier New"/>
                <a:ea typeface="Courier New"/>
                <a:cs typeface="Courier New"/>
                <a:sym typeface="Courier New"/>
              </a:rPr>
              <a:t>1</a:t>
            </a:r>
            <a:r>
              <a:rPr b="0" i="0" lang="en-US" sz="2200" u="none" cap="none" strike="noStrike">
                <a:solidFill>
                  <a:srgbClr val="E8ECFF"/>
                </a:solidFill>
                <a:latin typeface="Courier New"/>
                <a:ea typeface="Courier New"/>
                <a:cs typeface="Courier New"/>
                <a:sym typeface="Courier New"/>
              </a:rPr>
              <a:t> </a:t>
            </a:r>
            <a:r>
              <a:rPr b="0" i="0" lang="en-US" sz="2200" u="none" cap="none" strike="noStrike">
                <a:solidFill>
                  <a:srgbClr val="FCDF59"/>
                </a:solidFill>
                <a:latin typeface="Courier New"/>
                <a:ea typeface="Courier New"/>
                <a:cs typeface="Courier New"/>
                <a:sym typeface="Courier New"/>
              </a:rPr>
              <a:t>to</a:t>
            </a:r>
            <a:r>
              <a:rPr b="0" i="0" lang="en-US" sz="2200" u="none" cap="none" strike="noStrike">
                <a:solidFill>
                  <a:srgbClr val="E8ECFF"/>
                </a:solidFill>
                <a:latin typeface="Courier New"/>
                <a:ea typeface="Courier New"/>
                <a:cs typeface="Courier New"/>
                <a:sym typeface="Courier New"/>
              </a:rPr>
              <a:t> </a:t>
            </a:r>
            <a:r>
              <a:rPr b="0" i="0" lang="en-US" sz="2200" u="none" cap="none" strike="noStrike">
                <a:solidFill>
                  <a:srgbClr val="FFC58A"/>
                </a:solidFill>
                <a:latin typeface="Courier New"/>
                <a:ea typeface="Courier New"/>
                <a:cs typeface="Courier New"/>
                <a:sym typeface="Courier New"/>
              </a:rPr>
              <a:t>5</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200"/>
              <a:buFont typeface="Courier New"/>
              <a:buNone/>
            </a:pPr>
            <a:r>
              <a:rPr b="0" i="0" lang="en-US" sz="2200" u="none" cap="none" strike="noStrike">
                <a:solidFill>
                  <a:srgbClr val="E8ECFF"/>
                </a:solidFill>
                <a:latin typeface="Courier New"/>
                <a:ea typeface="Courier New"/>
                <a:cs typeface="Courier New"/>
                <a:sym typeface="Courier New"/>
              </a:rPr>
              <a:t>    </a:t>
            </a:r>
            <a:r>
              <a:rPr b="0" i="0" lang="en-US" sz="2200" u="none" cap="none" strike="noStrike">
                <a:solidFill>
                  <a:srgbClr val="FCDF59"/>
                </a:solidFill>
                <a:latin typeface="Courier New"/>
                <a:ea typeface="Courier New"/>
                <a:cs typeface="Courier New"/>
                <a:sym typeface="Courier New"/>
              </a:rPr>
              <a:t>print</a:t>
            </a:r>
            <a:r>
              <a:rPr b="0" i="0" lang="en-US" sz="2200" u="none" cap="none" strike="noStrike">
                <a:solidFill>
                  <a:srgbClr val="E8ECFF"/>
                </a:solidFill>
                <a:latin typeface="Courier New"/>
                <a:ea typeface="Courier New"/>
                <a:cs typeface="Courier New"/>
                <a:sym typeface="Courier New"/>
              </a:rPr>
              <a:t> i</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CDF59"/>
              </a:buClr>
              <a:buSzPts val="2200"/>
              <a:buFont typeface="Courier New"/>
              <a:buNone/>
            </a:pPr>
            <a:r>
              <a:rPr b="0" i="0" lang="en-US" sz="2200" u="none" cap="none" strike="noStrike">
                <a:solidFill>
                  <a:srgbClr val="FCDF59"/>
                </a:solidFill>
                <a:latin typeface="Courier New"/>
                <a:ea typeface="Courier New"/>
                <a:cs typeface="Courier New"/>
                <a:sym typeface="Courier New"/>
              </a:rPr>
              <a:t>end</a:t>
            </a:r>
            <a:r>
              <a:rPr b="0" i="0" lang="en-US" sz="2200" u="none" cap="none" strike="noStrike">
                <a:solidFill>
                  <a:srgbClr val="E8ECFF"/>
                </a:solidFill>
                <a:latin typeface="Courier New"/>
                <a:ea typeface="Courier New"/>
                <a:cs typeface="Courier New"/>
                <a:sym typeface="Courier New"/>
              </a:rPr>
              <a:t> </a:t>
            </a:r>
            <a:r>
              <a:rPr b="0" i="0" lang="en-US" sz="2200" u="none" cap="none" strike="noStrike">
                <a:solidFill>
                  <a:srgbClr val="FCDF59"/>
                </a:solidFill>
                <a:latin typeface="Courier New"/>
                <a:ea typeface="Courier New"/>
                <a:cs typeface="Courier New"/>
                <a:sym typeface="Courier New"/>
              </a:rPr>
              <a:t>for</a:t>
            </a:r>
            <a:endParaRPr b="0" i="0" sz="2200" u="none" cap="none" strike="noStrike">
              <a:solidFill>
                <a:schemeClr val="dk1"/>
              </a:solidFill>
              <a:latin typeface="Calibri"/>
              <a:ea typeface="Calibri"/>
              <a:cs typeface="Calibri"/>
              <a:sym typeface="Calibri"/>
            </a:endParaRPr>
          </a:p>
        </p:txBody>
      </p:sp>
      <p:sp>
        <p:nvSpPr>
          <p:cNvPr id="477" name="Google Shape;477;p18"/>
          <p:cNvSpPr/>
          <p:nvPr/>
        </p:nvSpPr>
        <p:spPr>
          <a:xfrm>
            <a:off x="1188720" y="7040880"/>
            <a:ext cx="4206240" cy="685800"/>
          </a:xfrm>
          <a:prstGeom prst="roundRect">
            <a:avLst>
              <a:gd fmla="val 16000" name="adj"/>
            </a:avLst>
          </a:prstGeom>
          <a:solidFill>
            <a:srgbClr val="D9E0F7"/>
          </a:solidFill>
          <a:ln cap="flat" cmpd="sng" w="9525">
            <a:solidFill>
              <a:srgbClr val="D9E0F7"/>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3123D"/>
              </a:buClr>
              <a:buSzPts val="2200"/>
              <a:buFont typeface="Courier New"/>
              <a:buNone/>
            </a:pPr>
            <a:r>
              <a:rPr b="1" i="0" lang="en-US" sz="2200" u="none" cap="none" strike="noStrike">
                <a:solidFill>
                  <a:srgbClr val="13123D"/>
                </a:solidFill>
                <a:latin typeface="Courier New"/>
                <a:ea typeface="Courier New"/>
                <a:cs typeface="Courier New"/>
                <a:sym typeface="Courier New"/>
              </a:rPr>
              <a:t>Output: 1 2 3 4 5</a:t>
            </a:r>
            <a:endParaRPr b="0" i="0" sz="2200" u="none" cap="none" strike="noStrike">
              <a:solidFill>
                <a:schemeClr val="dk1"/>
              </a:solidFill>
              <a:latin typeface="Calibri"/>
              <a:ea typeface="Calibri"/>
              <a:cs typeface="Calibri"/>
              <a:sym typeface="Calibri"/>
            </a:endParaRPr>
          </a:p>
        </p:txBody>
      </p:sp>
      <p:sp>
        <p:nvSpPr>
          <p:cNvPr id="478" name="Google Shape;478;p18"/>
          <p:cNvSpPr txBox="1"/>
          <p:nvPr/>
        </p:nvSpPr>
        <p:spPr>
          <a:xfrm>
            <a:off x="1188720" y="7955280"/>
            <a:ext cx="740664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Dipakai saat tahu berapa kali harus mengulang, misalnya 1 sampai N.</a:t>
            </a:r>
            <a:endParaRPr b="0" i="0" sz="2200" u="none" cap="none" strike="noStrike">
              <a:solidFill>
                <a:schemeClr val="dk1"/>
              </a:solidFill>
              <a:latin typeface="Calibri"/>
              <a:ea typeface="Calibri"/>
              <a:cs typeface="Calibri"/>
              <a:sym typeface="Calibri"/>
            </a:endParaRPr>
          </a:p>
        </p:txBody>
      </p:sp>
      <p:sp>
        <p:nvSpPr>
          <p:cNvPr id="479" name="Google Shape;479;p18"/>
          <p:cNvSpPr/>
          <p:nvPr/>
        </p:nvSpPr>
        <p:spPr>
          <a:xfrm>
            <a:off x="9418320" y="4343400"/>
            <a:ext cx="7955280" cy="5166360"/>
          </a:xfrm>
          <a:prstGeom prst="roundRect">
            <a:avLst>
              <a:gd fmla="val 2655"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8"/>
          <p:cNvSpPr txBox="1"/>
          <p:nvPr/>
        </p:nvSpPr>
        <p:spPr>
          <a:xfrm>
            <a:off x="9692640" y="4480560"/>
            <a:ext cx="74066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600"/>
              <a:buFont typeface="Calibri"/>
              <a:buNone/>
            </a:pPr>
            <a:r>
              <a:rPr b="1" i="0" lang="en-US" sz="2600" u="none" cap="none" strike="noStrike">
                <a:solidFill>
                  <a:srgbClr val="162CA2"/>
                </a:solidFill>
                <a:latin typeface="Calibri"/>
                <a:ea typeface="Calibri"/>
                <a:cs typeface="Calibri"/>
                <a:sym typeface="Calibri"/>
              </a:rPr>
              <a:t>while — selama kondisi benar</a:t>
            </a:r>
            <a:endParaRPr b="0" i="0" sz="2600" u="none" cap="none" strike="noStrike">
              <a:solidFill>
                <a:schemeClr val="dk1"/>
              </a:solidFill>
              <a:latin typeface="Calibri"/>
              <a:ea typeface="Calibri"/>
              <a:cs typeface="Calibri"/>
              <a:sym typeface="Calibri"/>
            </a:endParaRPr>
          </a:p>
        </p:txBody>
      </p:sp>
      <p:sp>
        <p:nvSpPr>
          <p:cNvPr id="481" name="Google Shape;481;p18"/>
          <p:cNvSpPr/>
          <p:nvPr/>
        </p:nvSpPr>
        <p:spPr>
          <a:xfrm>
            <a:off x="9692640" y="5120640"/>
            <a:ext cx="7406640" cy="2098040"/>
          </a:xfrm>
          <a:prstGeom prst="roundRect">
            <a:avLst>
              <a:gd fmla="val 6538" name="adj"/>
            </a:avLst>
          </a:prstGeom>
          <a:solidFill>
            <a:srgbClr val="13123D"/>
          </a:solidFill>
          <a:ln cap="flat" cmpd="sng" w="12700">
            <a:solidFill>
              <a:srgbClr val="1312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8"/>
          <p:cNvSpPr txBox="1"/>
          <p:nvPr/>
        </p:nvSpPr>
        <p:spPr>
          <a:xfrm>
            <a:off x="9966960" y="5376672"/>
            <a:ext cx="6858000" cy="1640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ECFF"/>
              </a:buClr>
              <a:buSzPts val="2000"/>
              <a:buFont typeface="Courier New"/>
              <a:buNone/>
            </a:pPr>
            <a:r>
              <a:rPr b="0" i="0" lang="en-US" sz="2000" u="none" cap="none" strike="noStrike">
                <a:solidFill>
                  <a:srgbClr val="E8ECFF"/>
                </a:solidFill>
                <a:latin typeface="Courier New"/>
                <a:ea typeface="Courier New"/>
                <a:cs typeface="Courier New"/>
                <a:sym typeface="Courier New"/>
              </a:rPr>
              <a:t>n = </a:t>
            </a:r>
            <a:r>
              <a:rPr b="0" i="0" lang="en-US" sz="2000" u="none" cap="none" strike="noStrike">
                <a:solidFill>
                  <a:srgbClr val="FFC58A"/>
                </a:solidFill>
                <a:latin typeface="Courier New"/>
                <a:ea typeface="Courier New"/>
                <a:cs typeface="Courier New"/>
                <a:sym typeface="Courier New"/>
              </a:rPr>
              <a:t>3</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CDF59"/>
              </a:buClr>
              <a:buSzPts val="2000"/>
              <a:buFont typeface="Courier New"/>
              <a:buNone/>
            </a:pPr>
            <a:r>
              <a:rPr b="0" i="0" lang="en-US" sz="2000" u="none" cap="none" strike="noStrike">
                <a:solidFill>
                  <a:srgbClr val="FCDF59"/>
                </a:solidFill>
                <a:latin typeface="Courier New"/>
                <a:ea typeface="Courier New"/>
                <a:cs typeface="Courier New"/>
                <a:sym typeface="Courier New"/>
              </a:rPr>
              <a:t>while</a:t>
            </a:r>
            <a:r>
              <a:rPr b="0" i="0" lang="en-US" sz="2000" u="none" cap="none" strike="noStrike">
                <a:solidFill>
                  <a:srgbClr val="E8ECFF"/>
                </a:solidFill>
                <a:latin typeface="Courier New"/>
                <a:ea typeface="Courier New"/>
                <a:cs typeface="Courier New"/>
                <a:sym typeface="Courier New"/>
              </a:rPr>
              <a:t> n &gt; </a:t>
            </a:r>
            <a:r>
              <a:rPr b="0" i="0" lang="en-US" sz="2000" u="none" cap="none" strike="noStrike">
                <a:solidFill>
                  <a:srgbClr val="FFC58A"/>
                </a:solidFill>
                <a:latin typeface="Courier New"/>
                <a:ea typeface="Courier New"/>
                <a:cs typeface="Courier New"/>
                <a:sym typeface="Courier New"/>
              </a:rPr>
              <a:t>0</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000"/>
              <a:buFont typeface="Courier New"/>
              <a:buNone/>
            </a:pPr>
            <a:r>
              <a:rPr b="0" i="0" lang="en-US" sz="2000" u="none" cap="none" strike="noStrike">
                <a:solidFill>
                  <a:srgbClr val="E8ECFF"/>
                </a:solidFill>
                <a:latin typeface="Courier New"/>
                <a:ea typeface="Courier New"/>
                <a:cs typeface="Courier New"/>
                <a:sym typeface="Courier New"/>
              </a:rPr>
              <a:t>    </a:t>
            </a:r>
            <a:r>
              <a:rPr b="0" i="0" lang="en-US" sz="2000" u="none" cap="none" strike="noStrike">
                <a:solidFill>
                  <a:srgbClr val="FCDF59"/>
                </a:solidFill>
                <a:latin typeface="Courier New"/>
                <a:ea typeface="Courier New"/>
                <a:cs typeface="Courier New"/>
                <a:sym typeface="Courier New"/>
              </a:rPr>
              <a:t>print</a:t>
            </a:r>
            <a:r>
              <a:rPr b="0" i="0" lang="en-US" sz="2000" u="none" cap="none" strike="noStrike">
                <a:solidFill>
                  <a:srgbClr val="E8ECFF"/>
                </a:solidFill>
                <a:latin typeface="Courier New"/>
                <a:ea typeface="Courier New"/>
                <a:cs typeface="Courier New"/>
                <a:sym typeface="Courier New"/>
              </a:rPr>
              <a:t> n</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000"/>
              <a:buFont typeface="Courier New"/>
              <a:buNone/>
            </a:pPr>
            <a:r>
              <a:rPr b="0" i="0" lang="en-US" sz="2000" u="none" cap="none" strike="noStrike">
                <a:solidFill>
                  <a:srgbClr val="E8ECFF"/>
                </a:solidFill>
                <a:latin typeface="Courier New"/>
                <a:ea typeface="Courier New"/>
                <a:cs typeface="Courier New"/>
                <a:sym typeface="Courier New"/>
              </a:rPr>
              <a:t>    n = n - </a:t>
            </a:r>
            <a:r>
              <a:rPr b="0" i="0" lang="en-US" sz="2000" u="none" cap="none" strike="noStrike">
                <a:solidFill>
                  <a:srgbClr val="FFC58A"/>
                </a:solidFill>
                <a:latin typeface="Courier New"/>
                <a:ea typeface="Courier New"/>
                <a:cs typeface="Courier New"/>
                <a:sym typeface="Courier New"/>
              </a:rPr>
              <a:t>1</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CDF59"/>
              </a:buClr>
              <a:buSzPts val="2000"/>
              <a:buFont typeface="Courier New"/>
              <a:buNone/>
            </a:pPr>
            <a:r>
              <a:rPr b="0" i="0" lang="en-US" sz="2000" u="none" cap="none" strike="noStrike">
                <a:solidFill>
                  <a:srgbClr val="FCDF59"/>
                </a:solidFill>
                <a:latin typeface="Courier New"/>
                <a:ea typeface="Courier New"/>
                <a:cs typeface="Courier New"/>
                <a:sym typeface="Courier New"/>
              </a:rPr>
              <a:t>end</a:t>
            </a:r>
            <a:r>
              <a:rPr b="0" i="0" lang="en-US" sz="2000" u="none" cap="none" strike="noStrike">
                <a:solidFill>
                  <a:srgbClr val="E8ECFF"/>
                </a:solidFill>
                <a:latin typeface="Courier New"/>
                <a:ea typeface="Courier New"/>
                <a:cs typeface="Courier New"/>
                <a:sym typeface="Courier New"/>
              </a:rPr>
              <a:t> </a:t>
            </a:r>
            <a:r>
              <a:rPr b="0" i="0" lang="en-US" sz="2000" u="none" cap="none" strike="noStrike">
                <a:solidFill>
                  <a:srgbClr val="FCDF59"/>
                </a:solidFill>
                <a:latin typeface="Courier New"/>
                <a:ea typeface="Courier New"/>
                <a:cs typeface="Courier New"/>
                <a:sym typeface="Courier New"/>
              </a:rPr>
              <a:t>while</a:t>
            </a:r>
            <a:endParaRPr b="0" i="0" sz="2000" u="none" cap="none" strike="noStrike">
              <a:solidFill>
                <a:schemeClr val="dk1"/>
              </a:solidFill>
              <a:latin typeface="Calibri"/>
              <a:ea typeface="Calibri"/>
              <a:cs typeface="Calibri"/>
              <a:sym typeface="Calibri"/>
            </a:endParaRPr>
          </a:p>
        </p:txBody>
      </p:sp>
      <p:sp>
        <p:nvSpPr>
          <p:cNvPr id="483" name="Google Shape;483;p18"/>
          <p:cNvSpPr/>
          <p:nvPr/>
        </p:nvSpPr>
        <p:spPr>
          <a:xfrm>
            <a:off x="9692640" y="7223760"/>
            <a:ext cx="3657600" cy="685800"/>
          </a:xfrm>
          <a:prstGeom prst="roundRect">
            <a:avLst>
              <a:gd fmla="val 16000" name="adj"/>
            </a:avLst>
          </a:prstGeom>
          <a:solidFill>
            <a:srgbClr val="D9E0F7"/>
          </a:solidFill>
          <a:ln cap="flat" cmpd="sng" w="9525">
            <a:solidFill>
              <a:srgbClr val="D9E0F7"/>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3123D"/>
              </a:buClr>
              <a:buSzPts val="2200"/>
              <a:buFont typeface="Courier New"/>
              <a:buNone/>
            </a:pPr>
            <a:r>
              <a:rPr b="1" i="0" lang="en-US" sz="2200" u="none" cap="none" strike="noStrike">
                <a:solidFill>
                  <a:srgbClr val="13123D"/>
                </a:solidFill>
                <a:latin typeface="Courier New"/>
                <a:ea typeface="Courier New"/>
                <a:cs typeface="Courier New"/>
                <a:sym typeface="Courier New"/>
              </a:rPr>
              <a:t>Output: 3 2 1</a:t>
            </a:r>
            <a:endParaRPr b="0" i="0" sz="2200" u="none" cap="none" strike="noStrike">
              <a:solidFill>
                <a:schemeClr val="dk1"/>
              </a:solidFill>
              <a:latin typeface="Calibri"/>
              <a:ea typeface="Calibri"/>
              <a:cs typeface="Calibri"/>
              <a:sym typeface="Calibri"/>
            </a:endParaRPr>
          </a:p>
        </p:txBody>
      </p:sp>
      <p:sp>
        <p:nvSpPr>
          <p:cNvPr id="484" name="Google Shape;484;p18"/>
          <p:cNvSpPr txBox="1"/>
          <p:nvPr/>
        </p:nvSpPr>
        <p:spPr>
          <a:xfrm>
            <a:off x="9692640" y="8092440"/>
            <a:ext cx="740664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4381A"/>
              </a:buClr>
              <a:buSzPts val="2200"/>
              <a:buFont typeface="Calibri"/>
              <a:buNone/>
            </a:pPr>
            <a:r>
              <a:rPr b="1" i="0" lang="en-US" sz="2200" u="none" cap="none" strike="noStrike">
                <a:solidFill>
                  <a:srgbClr val="B4381A"/>
                </a:solidFill>
                <a:latin typeface="Calibri"/>
                <a:ea typeface="Calibri"/>
                <a:cs typeface="Calibri"/>
                <a:sym typeface="Calibri"/>
              </a:rPr>
              <a:t>Awas infinite loop: </a:t>
            </a:r>
            <a:r>
              <a:rPr b="0" i="0" lang="en-US" sz="2200" u="none" cap="none" strike="noStrike">
                <a:solidFill>
                  <a:srgbClr val="13123D"/>
                </a:solidFill>
                <a:latin typeface="Calibri"/>
                <a:ea typeface="Calibri"/>
                <a:cs typeface="Calibri"/>
                <a:sym typeface="Calibri"/>
              </a:rPr>
              <a:t>pastikan kondisi dapat berubah menjadi salah.</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pic>
        <p:nvPicPr>
          <p:cNvPr descr="/home/claude/assets/image4.png" id="490" name="Google Shape;490;p19"/>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491" name="Google Shape;491;p19"/>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492" name="Google Shape;492;p19"/>
          <p:cNvSpPr txBox="1"/>
          <p:nvPr/>
        </p:nvSpPr>
        <p:spPr>
          <a:xfrm>
            <a:off x="1024128" y="1554480"/>
            <a:ext cx="58521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1800"/>
              <a:buFont typeface="Arial"/>
              <a:buNone/>
            </a:pPr>
            <a:r>
              <a:rPr b="1" i="0" lang="en-US" sz="1800" u="none" cap="none" strike="noStrike">
                <a:solidFill>
                  <a:srgbClr val="FCDF59"/>
                </a:solidFill>
                <a:latin typeface="Arial"/>
                <a:ea typeface="Arial"/>
                <a:cs typeface="Arial"/>
                <a:sym typeface="Arial"/>
              </a:rPr>
              <a:t>BAGIAN 6 · 15 MENIT</a:t>
            </a:r>
            <a:endParaRPr b="0" i="0" sz="1800" u="none" cap="none" strike="noStrike">
              <a:solidFill>
                <a:schemeClr val="dk1"/>
              </a:solidFill>
              <a:latin typeface="Calibri"/>
              <a:ea typeface="Calibri"/>
              <a:cs typeface="Calibri"/>
              <a:sym typeface="Calibri"/>
            </a:endParaRPr>
          </a:p>
        </p:txBody>
      </p:sp>
      <p:sp>
        <p:nvSpPr>
          <p:cNvPr id="493" name="Google Shape;493;p19"/>
          <p:cNvSpPr txBox="1"/>
          <p:nvPr/>
        </p:nvSpPr>
        <p:spPr>
          <a:xfrm>
            <a:off x="1024128" y="2011680"/>
            <a:ext cx="5760720" cy="2651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3600"/>
              <a:buFont typeface="Arial"/>
              <a:buNone/>
            </a:pPr>
            <a:r>
              <a:rPr b="1" i="0" lang="en-US" sz="3600" u="none" cap="none" strike="noStrike">
                <a:solidFill>
                  <a:srgbClr val="FDFBFB"/>
                </a:solidFill>
                <a:latin typeface="Arial"/>
                <a:ea typeface="Arial"/>
                <a:cs typeface="Arial"/>
                <a:sym typeface="Arial"/>
              </a:rPr>
              <a:t>Fungsi: Kode yang Bisa Dipakai Ulang</a:t>
            </a:r>
            <a:endParaRPr b="0" i="0" sz="3600" u="none" cap="none" strike="noStrike">
              <a:solidFill>
                <a:schemeClr val="dk1"/>
              </a:solidFill>
              <a:latin typeface="Calibri"/>
              <a:ea typeface="Calibri"/>
              <a:cs typeface="Calibri"/>
              <a:sym typeface="Calibri"/>
            </a:endParaRPr>
          </a:p>
        </p:txBody>
      </p:sp>
      <p:sp>
        <p:nvSpPr>
          <p:cNvPr id="494" name="Google Shape;494;p19"/>
          <p:cNvSpPr txBox="1"/>
          <p:nvPr/>
        </p:nvSpPr>
        <p:spPr>
          <a:xfrm>
            <a:off x="1024128" y="4937760"/>
            <a:ext cx="5486400" cy="42062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FDFBFB"/>
              </a:buClr>
              <a:buSzPts val="2600"/>
              <a:buFont typeface="Calibri"/>
              <a:buChar char="•"/>
            </a:pPr>
            <a:r>
              <a:rPr b="0" i="0" lang="en-US" sz="2600" u="none" cap="none" strike="noStrike">
                <a:solidFill>
                  <a:srgbClr val="FDFBFB"/>
                </a:solidFill>
                <a:latin typeface="Calibri"/>
                <a:ea typeface="Calibri"/>
                <a:cs typeface="Calibri"/>
                <a:sym typeface="Calibri"/>
              </a:rPr>
              <a:t>Nama, parameter, nilai kembali</a:t>
            </a:r>
            <a:endParaRPr b="0" i="0" sz="2600" u="none" cap="none" strike="noStrike">
              <a:solidFill>
                <a:schemeClr val="dk1"/>
              </a:solidFill>
              <a:latin typeface="Calibri"/>
              <a:ea typeface="Calibri"/>
              <a:cs typeface="Calibri"/>
              <a:sym typeface="Calibri"/>
            </a:endParaRPr>
          </a:p>
          <a:p>
            <a:pPr indent="-342900" lvl="0" marL="342900" marR="0" rtl="0" algn="l">
              <a:spcBef>
                <a:spcPts val="1400"/>
              </a:spcBef>
              <a:spcAft>
                <a:spcPts val="0"/>
              </a:spcAft>
              <a:buClr>
                <a:srgbClr val="FDFBFB"/>
              </a:buClr>
              <a:buSzPts val="2600"/>
              <a:buFont typeface="Calibri"/>
              <a:buChar char="•"/>
            </a:pPr>
            <a:r>
              <a:rPr b="0" i="0" lang="en-US" sz="2600" u="none" cap="none" strike="noStrike">
                <a:solidFill>
                  <a:srgbClr val="FDFBFB"/>
                </a:solidFill>
                <a:latin typeface="Calibri"/>
                <a:ea typeface="Calibri"/>
                <a:cs typeface="Calibri"/>
                <a:sym typeface="Calibri"/>
              </a:rPr>
              <a:t>Dipanggil dengan nilai berbeda</a:t>
            </a:r>
            <a:endParaRPr b="0" i="0" sz="2600" u="none" cap="none" strike="noStrike">
              <a:solidFill>
                <a:schemeClr val="dk1"/>
              </a:solidFill>
              <a:latin typeface="Calibri"/>
              <a:ea typeface="Calibri"/>
              <a:cs typeface="Calibri"/>
              <a:sym typeface="Calibri"/>
            </a:endParaRPr>
          </a:p>
        </p:txBody>
      </p:sp>
      <p:sp>
        <p:nvSpPr>
          <p:cNvPr id="495" name="Google Shape;495;p19"/>
          <p:cNvSpPr/>
          <p:nvPr/>
        </p:nvSpPr>
        <p:spPr>
          <a:xfrm>
            <a:off x="8229600" y="731520"/>
            <a:ext cx="9418320" cy="2717800"/>
          </a:xfrm>
          <a:prstGeom prst="roundRect">
            <a:avLst>
              <a:gd fmla="val 5047" name="adj"/>
            </a:avLst>
          </a:prstGeom>
          <a:solidFill>
            <a:srgbClr val="13123D"/>
          </a:solidFill>
          <a:ln cap="flat" cmpd="sng" w="12700">
            <a:solidFill>
              <a:srgbClr val="1312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9"/>
          <p:cNvSpPr txBox="1"/>
          <p:nvPr/>
        </p:nvSpPr>
        <p:spPr>
          <a:xfrm>
            <a:off x="8503920" y="987552"/>
            <a:ext cx="8869680" cy="2260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Courier New"/>
              <a:buNone/>
            </a:pPr>
            <a:r>
              <a:rPr b="0" i="0" lang="en-US" sz="2000" u="none" cap="none" strike="noStrike">
                <a:solidFill>
                  <a:srgbClr val="FCDF59"/>
                </a:solidFill>
                <a:latin typeface="Courier New"/>
                <a:ea typeface="Courier New"/>
                <a:cs typeface="Courier New"/>
                <a:sym typeface="Courier New"/>
              </a:rPr>
              <a:t>function</a:t>
            </a:r>
            <a:r>
              <a:rPr b="0" i="0" lang="en-US" sz="2000" u="none" cap="none" strike="noStrike">
                <a:solidFill>
                  <a:srgbClr val="E8ECFF"/>
                </a:solidFill>
                <a:latin typeface="Courier New"/>
                <a:ea typeface="Courier New"/>
                <a:cs typeface="Courier New"/>
                <a:sym typeface="Courier New"/>
              </a:rPr>
              <a:t> luasPersegi(sisi)</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000"/>
              <a:buFont typeface="Courier New"/>
              <a:buNone/>
            </a:pPr>
            <a:r>
              <a:rPr b="0" i="0" lang="en-US" sz="2000" u="none" cap="none" strike="noStrike">
                <a:solidFill>
                  <a:srgbClr val="E8ECFF"/>
                </a:solidFill>
                <a:latin typeface="Courier New"/>
                <a:ea typeface="Courier New"/>
                <a:cs typeface="Courier New"/>
                <a:sym typeface="Courier New"/>
              </a:rPr>
              <a:t>    hasil = sisi * sisi</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000"/>
              <a:buFont typeface="Courier New"/>
              <a:buNone/>
            </a:pPr>
            <a:r>
              <a:rPr b="0" i="0" lang="en-US" sz="2000" u="none" cap="none" strike="noStrike">
                <a:solidFill>
                  <a:srgbClr val="E8ECFF"/>
                </a:solidFill>
                <a:latin typeface="Courier New"/>
                <a:ea typeface="Courier New"/>
                <a:cs typeface="Courier New"/>
                <a:sym typeface="Courier New"/>
              </a:rPr>
              <a:t>    </a:t>
            </a:r>
            <a:r>
              <a:rPr b="0" i="0" lang="en-US" sz="2000" u="none" cap="none" strike="noStrike">
                <a:solidFill>
                  <a:srgbClr val="FCDF59"/>
                </a:solidFill>
                <a:latin typeface="Courier New"/>
                <a:ea typeface="Courier New"/>
                <a:cs typeface="Courier New"/>
                <a:sym typeface="Courier New"/>
              </a:rPr>
              <a:t>return</a:t>
            </a:r>
            <a:r>
              <a:rPr b="0" i="0" lang="en-US" sz="2000" u="none" cap="none" strike="noStrike">
                <a:solidFill>
                  <a:srgbClr val="E8ECFF"/>
                </a:solidFill>
                <a:latin typeface="Courier New"/>
                <a:ea typeface="Courier New"/>
                <a:cs typeface="Courier New"/>
                <a:sym typeface="Courier New"/>
              </a:rPr>
              <a:t> hasil</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CDF59"/>
              </a:buClr>
              <a:buSzPts val="2000"/>
              <a:buFont typeface="Courier New"/>
              <a:buNone/>
            </a:pPr>
            <a:r>
              <a:rPr b="0" i="0" lang="en-US" sz="2000" u="none" cap="none" strike="noStrike">
                <a:solidFill>
                  <a:srgbClr val="FCDF59"/>
                </a:solidFill>
                <a:latin typeface="Courier New"/>
                <a:ea typeface="Courier New"/>
                <a:cs typeface="Courier New"/>
                <a:sym typeface="Courier New"/>
              </a:rPr>
              <a:t>end</a:t>
            </a:r>
            <a:r>
              <a:rPr b="0" i="0" lang="en-US" sz="2000" u="none" cap="none" strike="noStrike">
                <a:solidFill>
                  <a:srgbClr val="E8ECFF"/>
                </a:solidFill>
                <a:latin typeface="Courier New"/>
                <a:ea typeface="Courier New"/>
                <a:cs typeface="Courier New"/>
                <a:sym typeface="Courier New"/>
              </a:rPr>
              <a:t> </a:t>
            </a:r>
            <a:r>
              <a:rPr b="0" i="0" lang="en-US" sz="2000" u="none" cap="none" strike="noStrike">
                <a:solidFill>
                  <a:srgbClr val="FCDF59"/>
                </a:solidFill>
                <a:latin typeface="Courier New"/>
                <a:ea typeface="Courier New"/>
                <a:cs typeface="Courier New"/>
                <a:sym typeface="Courier New"/>
              </a:rPr>
              <a:t>function</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2000"/>
              <a:buFont typeface="Courier New"/>
              <a:buNone/>
            </a:pPr>
            <a:r>
              <a:rPr b="0" i="0" lang="en-US" sz="2000" u="none" cap="none" strike="noStrike">
                <a:solidFill>
                  <a:srgbClr val="000000"/>
                </a:solidFill>
                <a:latin typeface="Courier New"/>
                <a:ea typeface="Courier New"/>
                <a:cs typeface="Courier New"/>
                <a:sym typeface="Courier New"/>
              </a:rPr>
              <a:t> </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000"/>
              <a:buFont typeface="Courier New"/>
              <a:buNone/>
            </a:pPr>
            <a:r>
              <a:rPr b="0" i="0" lang="en-US" sz="2000" u="none" cap="none" strike="noStrike">
                <a:solidFill>
                  <a:srgbClr val="E8ECFF"/>
                </a:solidFill>
                <a:latin typeface="Courier New"/>
                <a:ea typeface="Courier New"/>
                <a:cs typeface="Courier New"/>
                <a:sym typeface="Courier New"/>
              </a:rPr>
              <a:t>x = luasPersegi(</a:t>
            </a:r>
            <a:r>
              <a:rPr b="0" i="0" lang="en-US" sz="2000" u="none" cap="none" strike="noStrike">
                <a:solidFill>
                  <a:srgbClr val="FFC58A"/>
                </a:solidFill>
                <a:latin typeface="Courier New"/>
                <a:ea typeface="Courier New"/>
                <a:cs typeface="Courier New"/>
                <a:sym typeface="Courier New"/>
              </a:rPr>
              <a:t>4</a:t>
            </a:r>
            <a:r>
              <a:rPr b="0" i="0" lang="en-US" sz="2000" u="none" cap="none" strike="noStrike">
                <a:solidFill>
                  <a:srgbClr val="E8ECFF"/>
                </a:solidFill>
                <a:latin typeface="Courier New"/>
                <a:ea typeface="Courier New"/>
                <a:cs typeface="Courier New"/>
                <a:sym typeface="Courier New"/>
              </a:rPr>
              <a:t>)</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CDF59"/>
              </a:buClr>
              <a:buSzPts val="2000"/>
              <a:buFont typeface="Courier New"/>
              <a:buNone/>
            </a:pPr>
            <a:r>
              <a:rPr b="0" i="0" lang="en-US" sz="2000" u="none" cap="none" strike="noStrike">
                <a:solidFill>
                  <a:srgbClr val="FCDF59"/>
                </a:solidFill>
                <a:latin typeface="Courier New"/>
                <a:ea typeface="Courier New"/>
                <a:cs typeface="Courier New"/>
                <a:sym typeface="Courier New"/>
              </a:rPr>
              <a:t>print</a:t>
            </a:r>
            <a:r>
              <a:rPr b="0" i="0" lang="en-US" sz="2000" u="none" cap="none" strike="noStrike">
                <a:solidFill>
                  <a:srgbClr val="E8ECFF"/>
                </a:solidFill>
                <a:latin typeface="Courier New"/>
                <a:ea typeface="Courier New"/>
                <a:cs typeface="Courier New"/>
                <a:sym typeface="Courier New"/>
              </a:rPr>
              <a:t> x        </a:t>
            </a:r>
            <a:r>
              <a:rPr b="0" i="0" lang="en-US" sz="2000" u="none" cap="none" strike="noStrike">
                <a:solidFill>
                  <a:srgbClr val="8C93C9"/>
                </a:solidFill>
                <a:latin typeface="Courier New"/>
                <a:ea typeface="Courier New"/>
                <a:cs typeface="Courier New"/>
                <a:sym typeface="Courier New"/>
              </a:rPr>
              <a:t>// 16</a:t>
            </a:r>
            <a:endParaRPr b="0" i="0" sz="2000" u="none" cap="none" strike="noStrike">
              <a:solidFill>
                <a:schemeClr val="dk1"/>
              </a:solidFill>
              <a:latin typeface="Calibri"/>
              <a:ea typeface="Calibri"/>
              <a:cs typeface="Calibri"/>
              <a:sym typeface="Calibri"/>
            </a:endParaRPr>
          </a:p>
        </p:txBody>
      </p:sp>
      <p:sp>
        <p:nvSpPr>
          <p:cNvPr id="497" name="Google Shape;497;p19"/>
          <p:cNvSpPr/>
          <p:nvPr/>
        </p:nvSpPr>
        <p:spPr>
          <a:xfrm>
            <a:off x="8229600" y="4251960"/>
            <a:ext cx="9418320" cy="1143000"/>
          </a:xfrm>
          <a:prstGeom prst="roundRect">
            <a:avLst>
              <a:gd fmla="val 12000"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9"/>
          <p:cNvSpPr/>
          <p:nvPr/>
        </p:nvSpPr>
        <p:spPr>
          <a:xfrm>
            <a:off x="8458200" y="4480560"/>
            <a:ext cx="685800" cy="685800"/>
          </a:xfrm>
          <a:prstGeom prst="ellipse">
            <a:avLst/>
          </a:prstGeom>
          <a:solidFill>
            <a:srgbClr val="FCDF59"/>
          </a:solidFill>
          <a:ln cap="flat" cmpd="sng" w="9525">
            <a:solidFill>
              <a:srgbClr val="FCDF59"/>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3123D"/>
              </a:buClr>
              <a:buSzPts val="2400"/>
              <a:buFont typeface="Arial"/>
              <a:buNone/>
            </a:pPr>
            <a:r>
              <a:rPr b="1" i="0" lang="en-US" sz="2400" u="none" cap="none" strike="noStrike">
                <a:solidFill>
                  <a:srgbClr val="13123D"/>
                </a:solidFill>
                <a:latin typeface="Arial"/>
                <a:ea typeface="Arial"/>
                <a:cs typeface="Arial"/>
                <a:sym typeface="Arial"/>
              </a:rPr>
              <a:t>1</a:t>
            </a:r>
            <a:endParaRPr b="0" i="0" sz="2400" u="none" cap="none" strike="noStrike">
              <a:solidFill>
                <a:schemeClr val="dk1"/>
              </a:solidFill>
              <a:latin typeface="Calibri"/>
              <a:ea typeface="Calibri"/>
              <a:cs typeface="Calibri"/>
              <a:sym typeface="Calibri"/>
            </a:endParaRPr>
          </a:p>
        </p:txBody>
      </p:sp>
      <p:sp>
        <p:nvSpPr>
          <p:cNvPr id="499" name="Google Shape;499;p19"/>
          <p:cNvSpPr txBox="1"/>
          <p:nvPr/>
        </p:nvSpPr>
        <p:spPr>
          <a:xfrm>
            <a:off x="9326880" y="4251960"/>
            <a:ext cx="813816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Nama fungsi</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5F86"/>
              </a:buClr>
              <a:buSzPts val="2000"/>
              <a:buFont typeface="Calibri"/>
              <a:buNone/>
            </a:pPr>
            <a:r>
              <a:rPr b="0" i="0" lang="en-US" sz="2000" u="none" cap="none" strike="noStrike">
                <a:solidFill>
                  <a:srgbClr val="5A5F86"/>
                </a:solidFill>
                <a:latin typeface="Calibri"/>
                <a:ea typeface="Calibri"/>
                <a:cs typeface="Calibri"/>
                <a:sym typeface="Calibri"/>
              </a:rPr>
              <a:t>luasPersegi</a:t>
            </a:r>
            <a:endParaRPr b="0" i="0" sz="2400" u="none" cap="none" strike="noStrike">
              <a:solidFill>
                <a:schemeClr val="dk1"/>
              </a:solidFill>
              <a:latin typeface="Calibri"/>
              <a:ea typeface="Calibri"/>
              <a:cs typeface="Calibri"/>
              <a:sym typeface="Calibri"/>
            </a:endParaRPr>
          </a:p>
        </p:txBody>
      </p:sp>
      <p:sp>
        <p:nvSpPr>
          <p:cNvPr id="500" name="Google Shape;500;p19"/>
          <p:cNvSpPr/>
          <p:nvPr/>
        </p:nvSpPr>
        <p:spPr>
          <a:xfrm>
            <a:off x="8229600" y="5532120"/>
            <a:ext cx="9418320" cy="1143000"/>
          </a:xfrm>
          <a:prstGeom prst="roundRect">
            <a:avLst>
              <a:gd fmla="val 12000"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9"/>
          <p:cNvSpPr/>
          <p:nvPr/>
        </p:nvSpPr>
        <p:spPr>
          <a:xfrm>
            <a:off x="8458200" y="5760720"/>
            <a:ext cx="685800" cy="685800"/>
          </a:xfrm>
          <a:prstGeom prst="ellipse">
            <a:avLst/>
          </a:prstGeom>
          <a:solidFill>
            <a:srgbClr val="FCDF59"/>
          </a:solidFill>
          <a:ln cap="flat" cmpd="sng" w="9525">
            <a:solidFill>
              <a:srgbClr val="FCDF59"/>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3123D"/>
              </a:buClr>
              <a:buSzPts val="2400"/>
              <a:buFont typeface="Arial"/>
              <a:buNone/>
            </a:pPr>
            <a:r>
              <a:rPr b="1" i="0" lang="en-US" sz="2400" u="none" cap="none" strike="noStrike">
                <a:solidFill>
                  <a:srgbClr val="13123D"/>
                </a:solidFill>
                <a:latin typeface="Arial"/>
                <a:ea typeface="Arial"/>
                <a:cs typeface="Arial"/>
                <a:sym typeface="Arial"/>
              </a:rPr>
              <a:t>2</a:t>
            </a:r>
            <a:endParaRPr b="0" i="0" sz="2400" u="none" cap="none" strike="noStrike">
              <a:solidFill>
                <a:schemeClr val="dk1"/>
              </a:solidFill>
              <a:latin typeface="Calibri"/>
              <a:ea typeface="Calibri"/>
              <a:cs typeface="Calibri"/>
              <a:sym typeface="Calibri"/>
            </a:endParaRPr>
          </a:p>
        </p:txBody>
      </p:sp>
      <p:sp>
        <p:nvSpPr>
          <p:cNvPr id="502" name="Google Shape;502;p19"/>
          <p:cNvSpPr txBox="1"/>
          <p:nvPr/>
        </p:nvSpPr>
        <p:spPr>
          <a:xfrm>
            <a:off x="9326880" y="5532120"/>
            <a:ext cx="813816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Parameter</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5F86"/>
              </a:buClr>
              <a:buSzPts val="2000"/>
              <a:buFont typeface="Calibri"/>
              <a:buNone/>
            </a:pPr>
            <a:r>
              <a:rPr b="0" i="0" lang="en-US" sz="2000" u="none" cap="none" strike="noStrike">
                <a:solidFill>
                  <a:srgbClr val="5A5F86"/>
                </a:solidFill>
                <a:latin typeface="Calibri"/>
                <a:ea typeface="Calibri"/>
                <a:cs typeface="Calibri"/>
                <a:sym typeface="Calibri"/>
              </a:rPr>
              <a:t>sisi (input)</a:t>
            </a:r>
            <a:endParaRPr b="0" i="0" sz="2400" u="none" cap="none" strike="noStrike">
              <a:solidFill>
                <a:schemeClr val="dk1"/>
              </a:solidFill>
              <a:latin typeface="Calibri"/>
              <a:ea typeface="Calibri"/>
              <a:cs typeface="Calibri"/>
              <a:sym typeface="Calibri"/>
            </a:endParaRPr>
          </a:p>
        </p:txBody>
      </p:sp>
      <p:sp>
        <p:nvSpPr>
          <p:cNvPr id="503" name="Google Shape;503;p19"/>
          <p:cNvSpPr/>
          <p:nvPr/>
        </p:nvSpPr>
        <p:spPr>
          <a:xfrm>
            <a:off x="8229600" y="6812280"/>
            <a:ext cx="9418320" cy="1143000"/>
          </a:xfrm>
          <a:prstGeom prst="roundRect">
            <a:avLst>
              <a:gd fmla="val 12000"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9"/>
          <p:cNvSpPr/>
          <p:nvPr/>
        </p:nvSpPr>
        <p:spPr>
          <a:xfrm>
            <a:off x="8458200" y="7040880"/>
            <a:ext cx="685800" cy="685800"/>
          </a:xfrm>
          <a:prstGeom prst="ellipse">
            <a:avLst/>
          </a:prstGeom>
          <a:solidFill>
            <a:srgbClr val="FCDF59"/>
          </a:solidFill>
          <a:ln cap="flat" cmpd="sng" w="9525">
            <a:solidFill>
              <a:srgbClr val="FCDF59"/>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3123D"/>
              </a:buClr>
              <a:buSzPts val="2400"/>
              <a:buFont typeface="Arial"/>
              <a:buNone/>
            </a:pPr>
            <a:r>
              <a:rPr b="1" i="0" lang="en-US" sz="2400" u="none" cap="none" strike="noStrike">
                <a:solidFill>
                  <a:srgbClr val="13123D"/>
                </a:solidFill>
                <a:latin typeface="Arial"/>
                <a:ea typeface="Arial"/>
                <a:cs typeface="Arial"/>
                <a:sym typeface="Arial"/>
              </a:rPr>
              <a:t>3</a:t>
            </a:r>
            <a:endParaRPr b="0" i="0" sz="2400" u="none" cap="none" strike="noStrike">
              <a:solidFill>
                <a:schemeClr val="dk1"/>
              </a:solidFill>
              <a:latin typeface="Calibri"/>
              <a:ea typeface="Calibri"/>
              <a:cs typeface="Calibri"/>
              <a:sym typeface="Calibri"/>
            </a:endParaRPr>
          </a:p>
        </p:txBody>
      </p:sp>
      <p:sp>
        <p:nvSpPr>
          <p:cNvPr id="505" name="Google Shape;505;p19"/>
          <p:cNvSpPr txBox="1"/>
          <p:nvPr/>
        </p:nvSpPr>
        <p:spPr>
          <a:xfrm>
            <a:off x="9326880" y="6812280"/>
            <a:ext cx="813816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Nilai kembali</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5F86"/>
              </a:buClr>
              <a:buSzPts val="2000"/>
              <a:buFont typeface="Calibri"/>
              <a:buNone/>
            </a:pPr>
            <a:r>
              <a:rPr b="0" i="0" lang="en-US" sz="2000" u="none" cap="none" strike="noStrike">
                <a:solidFill>
                  <a:srgbClr val="5A5F86"/>
                </a:solidFill>
                <a:latin typeface="Calibri"/>
                <a:ea typeface="Calibri"/>
                <a:cs typeface="Calibri"/>
                <a:sym typeface="Calibri"/>
              </a:rPr>
              <a:t>return hasil (output)</a:t>
            </a:r>
            <a:endParaRPr b="0" i="0" sz="2400" u="none" cap="none" strike="noStrike">
              <a:solidFill>
                <a:schemeClr val="dk1"/>
              </a:solidFill>
              <a:latin typeface="Calibri"/>
              <a:ea typeface="Calibri"/>
              <a:cs typeface="Calibri"/>
              <a:sym typeface="Calibri"/>
            </a:endParaRPr>
          </a:p>
        </p:txBody>
      </p:sp>
      <p:sp>
        <p:nvSpPr>
          <p:cNvPr id="506" name="Google Shape;506;p19"/>
          <p:cNvSpPr/>
          <p:nvPr/>
        </p:nvSpPr>
        <p:spPr>
          <a:xfrm>
            <a:off x="8229600" y="8092440"/>
            <a:ext cx="9418320" cy="1143000"/>
          </a:xfrm>
          <a:prstGeom prst="roundRect">
            <a:avLst>
              <a:gd fmla="val 12000"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9"/>
          <p:cNvSpPr/>
          <p:nvPr/>
        </p:nvSpPr>
        <p:spPr>
          <a:xfrm>
            <a:off x="8458200" y="8321040"/>
            <a:ext cx="685800" cy="685800"/>
          </a:xfrm>
          <a:prstGeom prst="ellipse">
            <a:avLst/>
          </a:prstGeom>
          <a:solidFill>
            <a:srgbClr val="FCDF59"/>
          </a:solidFill>
          <a:ln cap="flat" cmpd="sng" w="9525">
            <a:solidFill>
              <a:srgbClr val="FCDF59"/>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3123D"/>
              </a:buClr>
              <a:buSzPts val="2400"/>
              <a:buFont typeface="Arial"/>
              <a:buNone/>
            </a:pPr>
            <a:r>
              <a:rPr b="1" i="0" lang="en-US" sz="2400" u="none" cap="none" strike="noStrike">
                <a:solidFill>
                  <a:srgbClr val="13123D"/>
                </a:solidFill>
                <a:latin typeface="Arial"/>
                <a:ea typeface="Arial"/>
                <a:cs typeface="Arial"/>
                <a:sym typeface="Arial"/>
              </a:rPr>
              <a:t>4</a:t>
            </a:r>
            <a:endParaRPr b="0" i="0" sz="2400" u="none" cap="none" strike="noStrike">
              <a:solidFill>
                <a:schemeClr val="dk1"/>
              </a:solidFill>
              <a:latin typeface="Calibri"/>
              <a:ea typeface="Calibri"/>
              <a:cs typeface="Calibri"/>
              <a:sym typeface="Calibri"/>
            </a:endParaRPr>
          </a:p>
        </p:txBody>
      </p:sp>
      <p:sp>
        <p:nvSpPr>
          <p:cNvPr id="508" name="Google Shape;508;p19"/>
          <p:cNvSpPr txBox="1"/>
          <p:nvPr/>
        </p:nvSpPr>
        <p:spPr>
          <a:xfrm>
            <a:off x="9326880" y="8092440"/>
            <a:ext cx="813816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Pemanggilan</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5F86"/>
              </a:buClr>
              <a:buSzPts val="2000"/>
              <a:buFont typeface="Calibri"/>
              <a:buNone/>
            </a:pPr>
            <a:r>
              <a:rPr b="0" i="0" lang="en-US" sz="2000" u="none" cap="none" strike="noStrike">
                <a:solidFill>
                  <a:srgbClr val="5A5F86"/>
                </a:solidFill>
                <a:latin typeface="Calibri"/>
                <a:ea typeface="Calibri"/>
                <a:cs typeface="Calibri"/>
                <a:sym typeface="Calibri"/>
              </a:rPr>
              <a:t>luasPersegi(4)</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pic>
        <p:nvPicPr>
          <p:cNvPr descr="/home/claude/assets/image6.png" id="514" name="Google Shape;514;p20"/>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515" name="Google Shape;515;p20"/>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516" name="Google Shape;516;p20"/>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BAGIAN 6 · 15 MENIT</a:t>
            </a:r>
            <a:endParaRPr b="0" i="0" sz="2000" u="none" cap="none" strike="noStrike">
              <a:solidFill>
                <a:schemeClr val="dk1"/>
              </a:solidFill>
              <a:latin typeface="Calibri"/>
              <a:ea typeface="Calibri"/>
              <a:cs typeface="Calibri"/>
              <a:sym typeface="Calibri"/>
            </a:endParaRPr>
          </a:p>
        </p:txBody>
      </p:sp>
      <p:sp>
        <p:nvSpPr>
          <p:cNvPr id="517" name="Google Shape;517;p20"/>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Fungsi, Prosedur, dan Manfaatnya</a:t>
            </a:r>
            <a:endParaRPr b="0" i="0" sz="4800" u="none" cap="none" strike="noStrike">
              <a:solidFill>
                <a:schemeClr val="dk1"/>
              </a:solidFill>
              <a:latin typeface="Calibri"/>
              <a:ea typeface="Calibri"/>
              <a:cs typeface="Calibri"/>
              <a:sym typeface="Calibri"/>
            </a:endParaRPr>
          </a:p>
        </p:txBody>
      </p:sp>
      <p:sp>
        <p:nvSpPr>
          <p:cNvPr id="518" name="Google Shape;518;p20"/>
          <p:cNvSpPr/>
          <p:nvPr/>
        </p:nvSpPr>
        <p:spPr>
          <a:xfrm>
            <a:off x="914400" y="4343400"/>
            <a:ext cx="4937760" cy="1188720"/>
          </a:xfrm>
          <a:prstGeom prst="roundRect">
            <a:avLst>
              <a:gd fmla="val 9231"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2800"/>
              <a:buFont typeface="Calibri"/>
              <a:buNone/>
            </a:pPr>
            <a:r>
              <a:rPr b="1" i="0" lang="en-US" sz="2800" u="none" cap="none" strike="noStrike">
                <a:solidFill>
                  <a:srgbClr val="FDFBFB"/>
                </a:solidFill>
                <a:latin typeface="Calibri"/>
                <a:ea typeface="Calibri"/>
                <a:cs typeface="Calibri"/>
                <a:sym typeface="Calibri"/>
              </a:rPr>
              <a:t>Input (parameter)</a:t>
            </a:r>
            <a:endParaRPr b="0" i="0" sz="2800" u="none" cap="none" strike="noStrike">
              <a:solidFill>
                <a:schemeClr val="dk1"/>
              </a:solidFill>
              <a:latin typeface="Calibri"/>
              <a:ea typeface="Calibri"/>
              <a:cs typeface="Calibri"/>
              <a:sym typeface="Calibri"/>
            </a:endParaRPr>
          </a:p>
        </p:txBody>
      </p:sp>
      <p:cxnSp>
        <p:nvCxnSpPr>
          <p:cNvPr id="519" name="Google Shape;519;p20"/>
          <p:cNvCxnSpPr/>
          <p:nvPr/>
        </p:nvCxnSpPr>
        <p:spPr>
          <a:xfrm>
            <a:off x="5943600" y="4937760"/>
            <a:ext cx="1280160" cy="0"/>
          </a:xfrm>
          <a:prstGeom prst="straightConnector1">
            <a:avLst/>
          </a:prstGeom>
          <a:noFill/>
          <a:ln cap="flat" cmpd="sng" w="31750">
            <a:solidFill>
              <a:srgbClr val="162CA2"/>
            </a:solidFill>
            <a:prstDash val="solid"/>
            <a:round/>
            <a:headEnd len="sm" w="sm" type="none"/>
            <a:tailEnd len="med" w="med" type="triangle"/>
          </a:ln>
        </p:spPr>
      </p:cxnSp>
      <p:sp>
        <p:nvSpPr>
          <p:cNvPr id="520" name="Google Shape;520;p20"/>
          <p:cNvSpPr/>
          <p:nvPr/>
        </p:nvSpPr>
        <p:spPr>
          <a:xfrm>
            <a:off x="7223760" y="4343400"/>
            <a:ext cx="3840480" cy="1188720"/>
          </a:xfrm>
          <a:prstGeom prst="roundRect">
            <a:avLst>
              <a:gd fmla="val 9231" name="adj"/>
            </a:avLst>
          </a:prstGeom>
          <a:solidFill>
            <a:srgbClr val="13123D"/>
          </a:solidFill>
          <a:ln cap="flat" cmpd="sng" w="9525">
            <a:solidFill>
              <a:srgbClr val="13123D"/>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3000"/>
              <a:buFont typeface="Courier New"/>
              <a:buNone/>
            </a:pPr>
            <a:r>
              <a:rPr b="1" i="0" lang="en-US" sz="3000" u="none" cap="none" strike="noStrike">
                <a:solidFill>
                  <a:srgbClr val="FDFBFB"/>
                </a:solidFill>
                <a:latin typeface="Courier New"/>
                <a:ea typeface="Courier New"/>
                <a:cs typeface="Courier New"/>
                <a:sym typeface="Courier New"/>
              </a:rPr>
              <a:t>fungsi( )</a:t>
            </a:r>
            <a:endParaRPr b="0" i="0" sz="3000" u="none" cap="none" strike="noStrike">
              <a:solidFill>
                <a:schemeClr val="dk1"/>
              </a:solidFill>
              <a:latin typeface="Calibri"/>
              <a:ea typeface="Calibri"/>
              <a:cs typeface="Calibri"/>
              <a:sym typeface="Calibri"/>
            </a:endParaRPr>
          </a:p>
        </p:txBody>
      </p:sp>
      <p:cxnSp>
        <p:nvCxnSpPr>
          <p:cNvPr id="521" name="Google Shape;521;p20"/>
          <p:cNvCxnSpPr/>
          <p:nvPr/>
        </p:nvCxnSpPr>
        <p:spPr>
          <a:xfrm>
            <a:off x="11155680" y="4937760"/>
            <a:ext cx="1280160" cy="0"/>
          </a:xfrm>
          <a:prstGeom prst="straightConnector1">
            <a:avLst/>
          </a:prstGeom>
          <a:noFill/>
          <a:ln cap="flat" cmpd="sng" w="31750">
            <a:solidFill>
              <a:srgbClr val="162CA2"/>
            </a:solidFill>
            <a:prstDash val="solid"/>
            <a:round/>
            <a:headEnd len="sm" w="sm" type="none"/>
            <a:tailEnd len="med" w="med" type="triangle"/>
          </a:ln>
        </p:spPr>
      </p:cxnSp>
      <p:sp>
        <p:nvSpPr>
          <p:cNvPr id="522" name="Google Shape;522;p20"/>
          <p:cNvSpPr/>
          <p:nvPr/>
        </p:nvSpPr>
        <p:spPr>
          <a:xfrm>
            <a:off x="12435840" y="4343400"/>
            <a:ext cx="4937760" cy="1188720"/>
          </a:xfrm>
          <a:prstGeom prst="roundRect">
            <a:avLst>
              <a:gd fmla="val 9231" name="adj"/>
            </a:avLst>
          </a:prstGeom>
          <a:solidFill>
            <a:srgbClr val="FCDF59"/>
          </a:solidFill>
          <a:ln cap="flat" cmpd="sng" w="9525">
            <a:solidFill>
              <a:srgbClr val="FCDF59"/>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3123D"/>
              </a:buClr>
              <a:buSzPts val="2800"/>
              <a:buFont typeface="Calibri"/>
              <a:buNone/>
            </a:pPr>
            <a:r>
              <a:rPr b="1" i="0" lang="en-US" sz="2800" u="none" cap="none" strike="noStrike">
                <a:solidFill>
                  <a:srgbClr val="13123D"/>
                </a:solidFill>
                <a:latin typeface="Calibri"/>
                <a:ea typeface="Calibri"/>
                <a:cs typeface="Calibri"/>
                <a:sym typeface="Calibri"/>
              </a:rPr>
              <a:t>Nilai kembali (return)</a:t>
            </a:r>
            <a:endParaRPr b="0" i="0" sz="2800" u="none" cap="none" strike="noStrike">
              <a:solidFill>
                <a:schemeClr val="dk1"/>
              </a:solidFill>
              <a:latin typeface="Calibri"/>
              <a:ea typeface="Calibri"/>
              <a:cs typeface="Calibri"/>
              <a:sym typeface="Calibri"/>
            </a:endParaRPr>
          </a:p>
        </p:txBody>
      </p:sp>
      <p:sp>
        <p:nvSpPr>
          <p:cNvPr id="523" name="Google Shape;523;p20"/>
          <p:cNvSpPr/>
          <p:nvPr/>
        </p:nvSpPr>
        <p:spPr>
          <a:xfrm>
            <a:off x="914400" y="5852160"/>
            <a:ext cx="7955280" cy="2011680"/>
          </a:xfrm>
          <a:prstGeom prst="roundRect">
            <a:avLst>
              <a:gd fmla="val 6818"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20"/>
          <p:cNvSpPr txBox="1"/>
          <p:nvPr/>
        </p:nvSpPr>
        <p:spPr>
          <a:xfrm>
            <a:off x="1188720" y="5852160"/>
            <a:ext cx="7406640" cy="2011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CA2"/>
              </a:buClr>
              <a:buSzPts val="2400"/>
              <a:buFont typeface="Calibri"/>
              <a:buNone/>
            </a:pPr>
            <a:r>
              <a:rPr b="1" i="0" lang="en-US" sz="2400" u="none" cap="none" strike="noStrike">
                <a:solidFill>
                  <a:srgbClr val="162CA2"/>
                </a:solidFill>
                <a:latin typeface="Calibri"/>
                <a:ea typeface="Calibri"/>
                <a:cs typeface="Calibri"/>
                <a:sym typeface="Calibri"/>
              </a:rPr>
              <a:t>Fungsi (function)</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Mengembalikan nilai. Contoh: luasPersegi(4) menghasilkan 16.</a:t>
            </a:r>
            <a:endParaRPr b="0" i="0" sz="2400" u="none" cap="none" strike="noStrike">
              <a:solidFill>
                <a:schemeClr val="dk1"/>
              </a:solidFill>
              <a:latin typeface="Calibri"/>
              <a:ea typeface="Calibri"/>
              <a:cs typeface="Calibri"/>
              <a:sym typeface="Calibri"/>
            </a:endParaRPr>
          </a:p>
        </p:txBody>
      </p:sp>
      <p:sp>
        <p:nvSpPr>
          <p:cNvPr id="525" name="Google Shape;525;p20"/>
          <p:cNvSpPr/>
          <p:nvPr/>
        </p:nvSpPr>
        <p:spPr>
          <a:xfrm>
            <a:off x="9418320" y="5852160"/>
            <a:ext cx="7955280" cy="2011680"/>
          </a:xfrm>
          <a:prstGeom prst="roundRect">
            <a:avLst>
              <a:gd fmla="val 6818"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0"/>
          <p:cNvSpPr txBox="1"/>
          <p:nvPr/>
        </p:nvSpPr>
        <p:spPr>
          <a:xfrm>
            <a:off x="9692640" y="5852160"/>
            <a:ext cx="7406640" cy="2011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CA2"/>
              </a:buClr>
              <a:buSzPts val="2400"/>
              <a:buFont typeface="Calibri"/>
              <a:buNone/>
            </a:pPr>
            <a:r>
              <a:rPr b="1" i="0" lang="en-US" sz="2400" u="none" cap="none" strike="noStrike">
                <a:solidFill>
                  <a:srgbClr val="162CA2"/>
                </a:solidFill>
                <a:latin typeface="Calibri"/>
                <a:ea typeface="Calibri"/>
                <a:cs typeface="Calibri"/>
                <a:sym typeface="Calibri"/>
              </a:rPr>
              <a:t>Prosedur (procedure)</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Menjalankan aksi tanpa nilai kembali. Contoh: tampilkanSalam(nama).</a:t>
            </a:r>
            <a:endParaRPr b="0" i="0" sz="2400" u="none" cap="none" strike="noStrike">
              <a:solidFill>
                <a:schemeClr val="dk1"/>
              </a:solidFill>
              <a:latin typeface="Calibri"/>
              <a:ea typeface="Calibri"/>
              <a:cs typeface="Calibri"/>
              <a:sym typeface="Calibri"/>
            </a:endParaRPr>
          </a:p>
        </p:txBody>
      </p:sp>
      <p:sp>
        <p:nvSpPr>
          <p:cNvPr id="527" name="Google Shape;527;p20"/>
          <p:cNvSpPr/>
          <p:nvPr/>
        </p:nvSpPr>
        <p:spPr>
          <a:xfrm>
            <a:off x="914400" y="8138160"/>
            <a:ext cx="5212080" cy="1371600"/>
          </a:xfrm>
          <a:prstGeom prst="roundRect">
            <a:avLst>
              <a:gd fmla="val 10000" name="adj"/>
            </a:avLst>
          </a:prstGeom>
          <a:solidFill>
            <a:srgbClr val="FFF3BF"/>
          </a:solidFill>
          <a:ln cap="flat" cmpd="sng" w="12700">
            <a:solidFill>
              <a:srgbClr val="FFF3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0"/>
          <p:cNvSpPr txBox="1"/>
          <p:nvPr/>
        </p:nvSpPr>
        <p:spPr>
          <a:xfrm>
            <a:off x="1188720" y="8138160"/>
            <a:ext cx="466344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500"/>
              <a:buFont typeface="Calibri"/>
              <a:buNone/>
            </a:pPr>
            <a:r>
              <a:rPr b="1" i="0" lang="en-US" sz="2500" u="none" cap="none" strike="noStrike">
                <a:solidFill>
                  <a:srgbClr val="13123D"/>
                </a:solidFill>
                <a:latin typeface="Calibri"/>
                <a:ea typeface="Calibri"/>
                <a:cs typeface="Calibri"/>
                <a:sym typeface="Calibri"/>
              </a:rPr>
              <a:t>Reusable</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5F86"/>
              </a:buClr>
              <a:buSzPts val="2100"/>
              <a:buFont typeface="Calibri"/>
              <a:buNone/>
            </a:pPr>
            <a:r>
              <a:rPr b="0" i="0" lang="en-US" sz="2100" u="none" cap="none" strike="noStrike">
                <a:solidFill>
                  <a:srgbClr val="5A5F86"/>
                </a:solidFill>
                <a:latin typeface="Calibri"/>
                <a:ea typeface="Calibri"/>
                <a:cs typeface="Calibri"/>
                <a:sym typeface="Calibri"/>
              </a:rPr>
              <a:t>tulis sekali, pakai berkali-kali</a:t>
            </a:r>
            <a:endParaRPr b="0" i="0" sz="2400" u="none" cap="none" strike="noStrike">
              <a:solidFill>
                <a:schemeClr val="dk1"/>
              </a:solidFill>
              <a:latin typeface="Calibri"/>
              <a:ea typeface="Calibri"/>
              <a:cs typeface="Calibri"/>
              <a:sym typeface="Calibri"/>
            </a:endParaRPr>
          </a:p>
        </p:txBody>
      </p:sp>
      <p:sp>
        <p:nvSpPr>
          <p:cNvPr id="529" name="Google Shape;529;p20"/>
          <p:cNvSpPr/>
          <p:nvPr/>
        </p:nvSpPr>
        <p:spPr>
          <a:xfrm>
            <a:off x="6537960" y="8138160"/>
            <a:ext cx="5212080" cy="1371600"/>
          </a:xfrm>
          <a:prstGeom prst="roundRect">
            <a:avLst>
              <a:gd fmla="val 10000" name="adj"/>
            </a:avLst>
          </a:prstGeom>
          <a:solidFill>
            <a:srgbClr val="FFF3BF"/>
          </a:solidFill>
          <a:ln cap="flat" cmpd="sng" w="12700">
            <a:solidFill>
              <a:srgbClr val="FFF3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0"/>
          <p:cNvSpPr txBox="1"/>
          <p:nvPr/>
        </p:nvSpPr>
        <p:spPr>
          <a:xfrm>
            <a:off x="6812280" y="8138160"/>
            <a:ext cx="466344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500"/>
              <a:buFont typeface="Calibri"/>
              <a:buNone/>
            </a:pPr>
            <a:r>
              <a:rPr b="1" i="0" lang="en-US" sz="2500" u="none" cap="none" strike="noStrike">
                <a:solidFill>
                  <a:srgbClr val="13123D"/>
                </a:solidFill>
                <a:latin typeface="Calibri"/>
                <a:ea typeface="Calibri"/>
                <a:cs typeface="Calibri"/>
                <a:sym typeface="Calibri"/>
              </a:rPr>
              <a:t>Terbaca</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5F86"/>
              </a:buClr>
              <a:buSzPts val="2100"/>
              <a:buFont typeface="Calibri"/>
              <a:buNone/>
            </a:pPr>
            <a:r>
              <a:rPr b="0" i="0" lang="en-US" sz="2100" u="none" cap="none" strike="noStrike">
                <a:solidFill>
                  <a:srgbClr val="5A5F86"/>
                </a:solidFill>
                <a:latin typeface="Calibri"/>
                <a:ea typeface="Calibri"/>
                <a:cs typeface="Calibri"/>
                <a:sym typeface="Calibri"/>
              </a:rPr>
              <a:t>kode terbagi jadi bagian bermakna</a:t>
            </a:r>
            <a:endParaRPr b="0" i="0" sz="2400" u="none" cap="none" strike="noStrike">
              <a:solidFill>
                <a:schemeClr val="dk1"/>
              </a:solidFill>
              <a:latin typeface="Calibri"/>
              <a:ea typeface="Calibri"/>
              <a:cs typeface="Calibri"/>
              <a:sym typeface="Calibri"/>
            </a:endParaRPr>
          </a:p>
        </p:txBody>
      </p:sp>
      <p:sp>
        <p:nvSpPr>
          <p:cNvPr id="531" name="Google Shape;531;p20"/>
          <p:cNvSpPr/>
          <p:nvPr/>
        </p:nvSpPr>
        <p:spPr>
          <a:xfrm>
            <a:off x="12161520" y="8138160"/>
            <a:ext cx="5212080" cy="1371600"/>
          </a:xfrm>
          <a:prstGeom prst="roundRect">
            <a:avLst>
              <a:gd fmla="val 10000" name="adj"/>
            </a:avLst>
          </a:prstGeom>
          <a:solidFill>
            <a:srgbClr val="FFF3BF"/>
          </a:solidFill>
          <a:ln cap="flat" cmpd="sng" w="12700">
            <a:solidFill>
              <a:srgbClr val="FFF3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0"/>
          <p:cNvSpPr txBox="1"/>
          <p:nvPr/>
        </p:nvSpPr>
        <p:spPr>
          <a:xfrm>
            <a:off x="12435840" y="8138160"/>
            <a:ext cx="466344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500"/>
              <a:buFont typeface="Calibri"/>
              <a:buNone/>
            </a:pPr>
            <a:r>
              <a:rPr b="1" i="0" lang="en-US" sz="2500" u="none" cap="none" strike="noStrike">
                <a:solidFill>
                  <a:srgbClr val="13123D"/>
                </a:solidFill>
                <a:latin typeface="Calibri"/>
                <a:ea typeface="Calibri"/>
                <a:cs typeface="Calibri"/>
                <a:sym typeface="Calibri"/>
              </a:rPr>
              <a:t>Mudah diuji</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5F86"/>
              </a:buClr>
              <a:buSzPts val="2100"/>
              <a:buFont typeface="Calibri"/>
              <a:buNone/>
            </a:pPr>
            <a:r>
              <a:rPr b="0" i="0" lang="en-US" sz="2100" u="none" cap="none" strike="noStrike">
                <a:solidFill>
                  <a:srgbClr val="5A5F86"/>
                </a:solidFill>
                <a:latin typeface="Calibri"/>
                <a:ea typeface="Calibri"/>
                <a:cs typeface="Calibri"/>
                <a:sym typeface="Calibri"/>
              </a:rPr>
              <a:t>bug lebih mudah dilacak</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pic>
        <p:nvPicPr>
          <p:cNvPr descr="/home/claude/assets/image6.png" id="538" name="Google Shape;538;p21"/>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539" name="Google Shape;539;p21"/>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540" name="Google Shape;540;p21"/>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BAGIAN 7 · 15 MENIT</a:t>
            </a:r>
            <a:endParaRPr b="0" i="0" sz="2000" u="none" cap="none" strike="noStrike">
              <a:solidFill>
                <a:schemeClr val="dk1"/>
              </a:solidFill>
              <a:latin typeface="Calibri"/>
              <a:ea typeface="Calibri"/>
              <a:cs typeface="Calibri"/>
              <a:sym typeface="Calibri"/>
            </a:endParaRPr>
          </a:p>
        </p:txBody>
      </p:sp>
      <p:sp>
        <p:nvSpPr>
          <p:cNvPr id="541" name="Google Shape;541;p21"/>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Struktur Data Dasar: Array &amp; List</a:t>
            </a:r>
            <a:endParaRPr b="0" i="0" sz="4800" u="none" cap="none" strike="noStrike">
              <a:solidFill>
                <a:schemeClr val="dk1"/>
              </a:solidFill>
              <a:latin typeface="Calibri"/>
              <a:ea typeface="Calibri"/>
              <a:cs typeface="Calibri"/>
              <a:sym typeface="Calibri"/>
            </a:endParaRPr>
          </a:p>
        </p:txBody>
      </p:sp>
      <p:sp>
        <p:nvSpPr>
          <p:cNvPr id="542" name="Google Shape;542;p21"/>
          <p:cNvSpPr txBox="1"/>
          <p:nvPr/>
        </p:nvSpPr>
        <p:spPr>
          <a:xfrm>
            <a:off x="914400" y="4206240"/>
            <a:ext cx="27432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F86"/>
              </a:buClr>
              <a:buSzPts val="2400"/>
              <a:buFont typeface="Calibri"/>
              <a:buNone/>
            </a:pPr>
            <a:r>
              <a:rPr b="1" i="0" lang="en-US" sz="2400" u="none" cap="none" strike="noStrike">
                <a:solidFill>
                  <a:srgbClr val="5A5F86"/>
                </a:solidFill>
                <a:latin typeface="Calibri"/>
                <a:ea typeface="Calibri"/>
                <a:cs typeface="Calibri"/>
                <a:sym typeface="Calibri"/>
              </a:rPr>
              <a:t>angka</a:t>
            </a:r>
            <a:endParaRPr b="0" i="0" sz="2400" u="none" cap="none" strike="noStrike">
              <a:solidFill>
                <a:schemeClr val="dk1"/>
              </a:solidFill>
              <a:latin typeface="Calibri"/>
              <a:ea typeface="Calibri"/>
              <a:cs typeface="Calibri"/>
              <a:sym typeface="Calibri"/>
            </a:endParaRPr>
          </a:p>
        </p:txBody>
      </p:sp>
      <p:sp>
        <p:nvSpPr>
          <p:cNvPr id="543" name="Google Shape;543;p21"/>
          <p:cNvSpPr txBox="1"/>
          <p:nvPr/>
        </p:nvSpPr>
        <p:spPr>
          <a:xfrm>
            <a:off x="914400" y="4709160"/>
            <a:ext cx="1554480" cy="1097280"/>
          </a:xfrm>
          <a:prstGeom prst="rect">
            <a:avLst/>
          </a:prstGeom>
          <a:solidFill>
            <a:srgbClr val="162CA2"/>
          </a:solidFill>
          <a:ln cap="flat" cmpd="sng" w="25400">
            <a:solidFill>
              <a:srgbClr val="FDFBF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DFBFB"/>
              </a:buClr>
              <a:buSzPts val="3200"/>
              <a:buFont typeface="Arial"/>
              <a:buNone/>
            </a:pPr>
            <a:r>
              <a:rPr b="1" i="0" lang="en-US" sz="3200" u="none" cap="none" strike="noStrike">
                <a:solidFill>
                  <a:srgbClr val="FDFBFB"/>
                </a:solidFill>
                <a:latin typeface="Arial"/>
                <a:ea typeface="Arial"/>
                <a:cs typeface="Arial"/>
                <a:sym typeface="Arial"/>
              </a:rPr>
              <a:t>10</a:t>
            </a:r>
            <a:endParaRPr b="0" i="0" sz="3200" u="none" cap="none" strike="noStrike">
              <a:solidFill>
                <a:schemeClr val="dk1"/>
              </a:solidFill>
              <a:latin typeface="Calibri"/>
              <a:ea typeface="Calibri"/>
              <a:cs typeface="Calibri"/>
              <a:sym typeface="Calibri"/>
            </a:endParaRPr>
          </a:p>
        </p:txBody>
      </p:sp>
      <p:sp>
        <p:nvSpPr>
          <p:cNvPr id="544" name="Google Shape;544;p21"/>
          <p:cNvSpPr txBox="1"/>
          <p:nvPr/>
        </p:nvSpPr>
        <p:spPr>
          <a:xfrm>
            <a:off x="914400" y="5852160"/>
            <a:ext cx="1554480" cy="4114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A5F86"/>
              </a:buClr>
              <a:buSzPts val="2200"/>
              <a:buFont typeface="Courier New"/>
              <a:buNone/>
            </a:pPr>
            <a:r>
              <a:rPr b="0" i="0" lang="en-US" sz="2200" u="none" cap="none" strike="noStrike">
                <a:solidFill>
                  <a:srgbClr val="5A5F86"/>
                </a:solidFill>
                <a:latin typeface="Courier New"/>
                <a:ea typeface="Courier New"/>
                <a:cs typeface="Courier New"/>
                <a:sym typeface="Courier New"/>
              </a:rPr>
              <a:t>0</a:t>
            </a:r>
            <a:endParaRPr b="0" i="0" sz="2200" u="none" cap="none" strike="noStrike">
              <a:solidFill>
                <a:schemeClr val="dk1"/>
              </a:solidFill>
              <a:latin typeface="Calibri"/>
              <a:ea typeface="Calibri"/>
              <a:cs typeface="Calibri"/>
              <a:sym typeface="Calibri"/>
            </a:endParaRPr>
          </a:p>
        </p:txBody>
      </p:sp>
      <p:sp>
        <p:nvSpPr>
          <p:cNvPr id="545" name="Google Shape;545;p21"/>
          <p:cNvSpPr txBox="1"/>
          <p:nvPr/>
        </p:nvSpPr>
        <p:spPr>
          <a:xfrm>
            <a:off x="2514600" y="4709160"/>
            <a:ext cx="1554480" cy="1097280"/>
          </a:xfrm>
          <a:prstGeom prst="rect">
            <a:avLst/>
          </a:prstGeom>
          <a:solidFill>
            <a:srgbClr val="162CA2"/>
          </a:solidFill>
          <a:ln cap="flat" cmpd="sng" w="25400">
            <a:solidFill>
              <a:srgbClr val="FDFBF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DFBFB"/>
              </a:buClr>
              <a:buSzPts val="3200"/>
              <a:buFont typeface="Arial"/>
              <a:buNone/>
            </a:pPr>
            <a:r>
              <a:rPr b="1" i="0" lang="en-US" sz="3200" u="none" cap="none" strike="noStrike">
                <a:solidFill>
                  <a:srgbClr val="FDFBFB"/>
                </a:solidFill>
                <a:latin typeface="Arial"/>
                <a:ea typeface="Arial"/>
                <a:cs typeface="Arial"/>
                <a:sym typeface="Arial"/>
              </a:rPr>
              <a:t>20</a:t>
            </a:r>
            <a:endParaRPr b="0" i="0" sz="3200" u="none" cap="none" strike="noStrike">
              <a:solidFill>
                <a:schemeClr val="dk1"/>
              </a:solidFill>
              <a:latin typeface="Calibri"/>
              <a:ea typeface="Calibri"/>
              <a:cs typeface="Calibri"/>
              <a:sym typeface="Calibri"/>
            </a:endParaRPr>
          </a:p>
        </p:txBody>
      </p:sp>
      <p:sp>
        <p:nvSpPr>
          <p:cNvPr id="546" name="Google Shape;546;p21"/>
          <p:cNvSpPr txBox="1"/>
          <p:nvPr/>
        </p:nvSpPr>
        <p:spPr>
          <a:xfrm>
            <a:off x="2514600" y="5852160"/>
            <a:ext cx="1554480" cy="4114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A5F86"/>
              </a:buClr>
              <a:buSzPts val="2200"/>
              <a:buFont typeface="Courier New"/>
              <a:buNone/>
            </a:pPr>
            <a:r>
              <a:rPr b="0" i="0" lang="en-US" sz="2200" u="none" cap="none" strike="noStrike">
                <a:solidFill>
                  <a:srgbClr val="5A5F86"/>
                </a:solidFill>
                <a:latin typeface="Courier New"/>
                <a:ea typeface="Courier New"/>
                <a:cs typeface="Courier New"/>
                <a:sym typeface="Courier New"/>
              </a:rPr>
              <a:t>1</a:t>
            </a:r>
            <a:endParaRPr b="0" i="0" sz="2200" u="none" cap="none" strike="noStrike">
              <a:solidFill>
                <a:schemeClr val="dk1"/>
              </a:solidFill>
              <a:latin typeface="Calibri"/>
              <a:ea typeface="Calibri"/>
              <a:cs typeface="Calibri"/>
              <a:sym typeface="Calibri"/>
            </a:endParaRPr>
          </a:p>
        </p:txBody>
      </p:sp>
      <p:sp>
        <p:nvSpPr>
          <p:cNvPr id="547" name="Google Shape;547;p21"/>
          <p:cNvSpPr txBox="1"/>
          <p:nvPr/>
        </p:nvSpPr>
        <p:spPr>
          <a:xfrm>
            <a:off x="4114800" y="4709160"/>
            <a:ext cx="1554480" cy="1097280"/>
          </a:xfrm>
          <a:prstGeom prst="rect">
            <a:avLst/>
          </a:prstGeom>
          <a:solidFill>
            <a:srgbClr val="162CA2"/>
          </a:solidFill>
          <a:ln cap="flat" cmpd="sng" w="25400">
            <a:solidFill>
              <a:srgbClr val="FDFBF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DFBFB"/>
              </a:buClr>
              <a:buSzPts val="3200"/>
              <a:buFont typeface="Arial"/>
              <a:buNone/>
            </a:pPr>
            <a:r>
              <a:rPr b="1" i="0" lang="en-US" sz="3200" u="none" cap="none" strike="noStrike">
                <a:solidFill>
                  <a:srgbClr val="FDFBFB"/>
                </a:solidFill>
                <a:latin typeface="Arial"/>
                <a:ea typeface="Arial"/>
                <a:cs typeface="Arial"/>
                <a:sym typeface="Arial"/>
              </a:rPr>
              <a:t>30</a:t>
            </a:r>
            <a:endParaRPr b="0" i="0" sz="3200" u="none" cap="none" strike="noStrike">
              <a:solidFill>
                <a:schemeClr val="dk1"/>
              </a:solidFill>
              <a:latin typeface="Calibri"/>
              <a:ea typeface="Calibri"/>
              <a:cs typeface="Calibri"/>
              <a:sym typeface="Calibri"/>
            </a:endParaRPr>
          </a:p>
        </p:txBody>
      </p:sp>
      <p:sp>
        <p:nvSpPr>
          <p:cNvPr id="548" name="Google Shape;548;p21"/>
          <p:cNvSpPr txBox="1"/>
          <p:nvPr/>
        </p:nvSpPr>
        <p:spPr>
          <a:xfrm>
            <a:off x="4114800" y="5852160"/>
            <a:ext cx="1554480" cy="4114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A5F86"/>
              </a:buClr>
              <a:buSzPts val="2200"/>
              <a:buFont typeface="Courier New"/>
              <a:buNone/>
            </a:pPr>
            <a:r>
              <a:rPr b="0" i="0" lang="en-US" sz="2200" u="none" cap="none" strike="noStrike">
                <a:solidFill>
                  <a:srgbClr val="5A5F86"/>
                </a:solidFill>
                <a:latin typeface="Courier New"/>
                <a:ea typeface="Courier New"/>
                <a:cs typeface="Courier New"/>
                <a:sym typeface="Courier New"/>
              </a:rPr>
              <a:t>2</a:t>
            </a:r>
            <a:endParaRPr b="0" i="0" sz="2200" u="none" cap="none" strike="noStrike">
              <a:solidFill>
                <a:schemeClr val="dk1"/>
              </a:solidFill>
              <a:latin typeface="Calibri"/>
              <a:ea typeface="Calibri"/>
              <a:cs typeface="Calibri"/>
              <a:sym typeface="Calibri"/>
            </a:endParaRPr>
          </a:p>
        </p:txBody>
      </p:sp>
      <p:sp>
        <p:nvSpPr>
          <p:cNvPr id="549" name="Google Shape;549;p21"/>
          <p:cNvSpPr txBox="1"/>
          <p:nvPr/>
        </p:nvSpPr>
        <p:spPr>
          <a:xfrm>
            <a:off x="5715000" y="4709160"/>
            <a:ext cx="1554480" cy="1097280"/>
          </a:xfrm>
          <a:prstGeom prst="rect">
            <a:avLst/>
          </a:prstGeom>
          <a:solidFill>
            <a:srgbClr val="162CA2"/>
          </a:solidFill>
          <a:ln cap="flat" cmpd="sng" w="25400">
            <a:solidFill>
              <a:srgbClr val="FDFBF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DFBFB"/>
              </a:buClr>
              <a:buSzPts val="3200"/>
              <a:buFont typeface="Arial"/>
              <a:buNone/>
            </a:pPr>
            <a:r>
              <a:rPr b="1" i="0" lang="en-US" sz="3200" u="none" cap="none" strike="noStrike">
                <a:solidFill>
                  <a:srgbClr val="FDFBFB"/>
                </a:solidFill>
                <a:latin typeface="Arial"/>
                <a:ea typeface="Arial"/>
                <a:cs typeface="Arial"/>
                <a:sym typeface="Arial"/>
              </a:rPr>
              <a:t>40</a:t>
            </a:r>
            <a:endParaRPr b="0" i="0" sz="3200" u="none" cap="none" strike="noStrike">
              <a:solidFill>
                <a:schemeClr val="dk1"/>
              </a:solidFill>
              <a:latin typeface="Calibri"/>
              <a:ea typeface="Calibri"/>
              <a:cs typeface="Calibri"/>
              <a:sym typeface="Calibri"/>
            </a:endParaRPr>
          </a:p>
        </p:txBody>
      </p:sp>
      <p:sp>
        <p:nvSpPr>
          <p:cNvPr id="550" name="Google Shape;550;p21"/>
          <p:cNvSpPr txBox="1"/>
          <p:nvPr/>
        </p:nvSpPr>
        <p:spPr>
          <a:xfrm>
            <a:off x="5715000" y="5852160"/>
            <a:ext cx="1554480" cy="4114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A5F86"/>
              </a:buClr>
              <a:buSzPts val="2200"/>
              <a:buFont typeface="Courier New"/>
              <a:buNone/>
            </a:pPr>
            <a:r>
              <a:rPr b="0" i="0" lang="en-US" sz="2200" u="none" cap="none" strike="noStrike">
                <a:solidFill>
                  <a:srgbClr val="5A5F86"/>
                </a:solidFill>
                <a:latin typeface="Courier New"/>
                <a:ea typeface="Courier New"/>
                <a:cs typeface="Courier New"/>
                <a:sym typeface="Courier New"/>
              </a:rPr>
              <a:t>3</a:t>
            </a:r>
            <a:endParaRPr b="0" i="0" sz="2200" u="none" cap="none" strike="noStrike">
              <a:solidFill>
                <a:schemeClr val="dk1"/>
              </a:solidFill>
              <a:latin typeface="Calibri"/>
              <a:ea typeface="Calibri"/>
              <a:cs typeface="Calibri"/>
              <a:sym typeface="Calibri"/>
            </a:endParaRPr>
          </a:p>
        </p:txBody>
      </p:sp>
      <p:sp>
        <p:nvSpPr>
          <p:cNvPr id="551" name="Google Shape;551;p21"/>
          <p:cNvSpPr txBox="1"/>
          <p:nvPr/>
        </p:nvSpPr>
        <p:spPr>
          <a:xfrm>
            <a:off x="7315200" y="4709160"/>
            <a:ext cx="1554480" cy="1097280"/>
          </a:xfrm>
          <a:prstGeom prst="rect">
            <a:avLst/>
          </a:prstGeom>
          <a:solidFill>
            <a:srgbClr val="162CA2"/>
          </a:solidFill>
          <a:ln cap="flat" cmpd="sng" w="25400">
            <a:solidFill>
              <a:srgbClr val="FDFBF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DFBFB"/>
              </a:buClr>
              <a:buSzPts val="3200"/>
              <a:buFont typeface="Arial"/>
              <a:buNone/>
            </a:pPr>
            <a:r>
              <a:rPr b="1" i="0" lang="en-US" sz="3200" u="none" cap="none" strike="noStrike">
                <a:solidFill>
                  <a:srgbClr val="FDFBFB"/>
                </a:solidFill>
                <a:latin typeface="Arial"/>
                <a:ea typeface="Arial"/>
                <a:cs typeface="Arial"/>
                <a:sym typeface="Arial"/>
              </a:rPr>
              <a:t>50</a:t>
            </a:r>
            <a:endParaRPr b="0" i="0" sz="3200" u="none" cap="none" strike="noStrike">
              <a:solidFill>
                <a:schemeClr val="dk1"/>
              </a:solidFill>
              <a:latin typeface="Calibri"/>
              <a:ea typeface="Calibri"/>
              <a:cs typeface="Calibri"/>
              <a:sym typeface="Calibri"/>
            </a:endParaRPr>
          </a:p>
        </p:txBody>
      </p:sp>
      <p:sp>
        <p:nvSpPr>
          <p:cNvPr id="552" name="Google Shape;552;p21"/>
          <p:cNvSpPr txBox="1"/>
          <p:nvPr/>
        </p:nvSpPr>
        <p:spPr>
          <a:xfrm>
            <a:off x="7315200" y="5852160"/>
            <a:ext cx="1554480" cy="4114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A5F86"/>
              </a:buClr>
              <a:buSzPts val="2200"/>
              <a:buFont typeface="Courier New"/>
              <a:buNone/>
            </a:pPr>
            <a:r>
              <a:rPr b="0" i="0" lang="en-US" sz="2200" u="none" cap="none" strike="noStrike">
                <a:solidFill>
                  <a:srgbClr val="5A5F86"/>
                </a:solidFill>
                <a:latin typeface="Courier New"/>
                <a:ea typeface="Courier New"/>
                <a:cs typeface="Courier New"/>
                <a:sym typeface="Courier New"/>
              </a:rPr>
              <a:t>4</a:t>
            </a:r>
            <a:endParaRPr b="0" i="0" sz="2200" u="none" cap="none" strike="noStrike">
              <a:solidFill>
                <a:schemeClr val="dk1"/>
              </a:solidFill>
              <a:latin typeface="Calibri"/>
              <a:ea typeface="Calibri"/>
              <a:cs typeface="Calibri"/>
              <a:sym typeface="Calibri"/>
            </a:endParaRPr>
          </a:p>
        </p:txBody>
      </p:sp>
      <p:sp>
        <p:nvSpPr>
          <p:cNvPr id="553" name="Google Shape;553;p21"/>
          <p:cNvSpPr/>
          <p:nvPr/>
        </p:nvSpPr>
        <p:spPr>
          <a:xfrm>
            <a:off x="9509760" y="4343400"/>
            <a:ext cx="7863840" cy="2011680"/>
          </a:xfrm>
          <a:prstGeom prst="roundRect">
            <a:avLst>
              <a:gd fmla="val 6818" name="adj"/>
            </a:avLst>
          </a:prstGeom>
          <a:solidFill>
            <a:srgbClr val="FFF3BF"/>
          </a:solidFill>
          <a:ln cap="flat" cmpd="sng" w="12700">
            <a:solidFill>
              <a:srgbClr val="FFF3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1"/>
          <p:cNvSpPr txBox="1"/>
          <p:nvPr/>
        </p:nvSpPr>
        <p:spPr>
          <a:xfrm>
            <a:off x="9784080" y="4343400"/>
            <a:ext cx="7315200" cy="2011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Indeks mulai dari 0</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Elemen pertama: angka[0]. Terakhir: angka[4].</a:t>
            </a:r>
            <a:endParaRPr b="0" i="0" sz="2400" u="none" cap="none" strike="noStrike">
              <a:solidFill>
                <a:schemeClr val="dk1"/>
              </a:solidFill>
              <a:latin typeface="Calibri"/>
              <a:ea typeface="Calibri"/>
              <a:cs typeface="Calibri"/>
              <a:sym typeface="Calibri"/>
            </a:endParaRPr>
          </a:p>
        </p:txBody>
      </p:sp>
      <p:sp>
        <p:nvSpPr>
          <p:cNvPr id="555" name="Google Shape;555;p21"/>
          <p:cNvSpPr/>
          <p:nvPr/>
        </p:nvSpPr>
        <p:spPr>
          <a:xfrm>
            <a:off x="914400" y="6675120"/>
            <a:ext cx="10058400" cy="2834640"/>
          </a:xfrm>
          <a:prstGeom prst="roundRect">
            <a:avLst>
              <a:gd fmla="val 4839" name="adj"/>
            </a:avLst>
          </a:prstGeom>
          <a:solidFill>
            <a:srgbClr val="13123D"/>
          </a:solidFill>
          <a:ln cap="flat" cmpd="sng" w="12700">
            <a:solidFill>
              <a:srgbClr val="1312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1"/>
          <p:cNvSpPr txBox="1"/>
          <p:nvPr/>
        </p:nvSpPr>
        <p:spPr>
          <a:xfrm>
            <a:off x="1188720" y="6931152"/>
            <a:ext cx="9509760" cy="2377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ECFF"/>
              </a:buClr>
              <a:buSzPts val="1900"/>
              <a:buFont typeface="Courier New"/>
              <a:buNone/>
            </a:pPr>
            <a:r>
              <a:rPr b="0" i="0" lang="en-US" sz="1900" u="none" cap="none" strike="noStrike">
                <a:solidFill>
                  <a:srgbClr val="E8ECFF"/>
                </a:solidFill>
                <a:latin typeface="Courier New"/>
                <a:ea typeface="Courier New"/>
                <a:cs typeface="Courier New"/>
                <a:sym typeface="Courier New"/>
              </a:rPr>
              <a:t>angka = [</a:t>
            </a:r>
            <a:r>
              <a:rPr b="0" i="0" lang="en-US" sz="1900" u="none" cap="none" strike="noStrike">
                <a:solidFill>
                  <a:srgbClr val="FFC58A"/>
                </a:solidFill>
                <a:latin typeface="Courier New"/>
                <a:ea typeface="Courier New"/>
                <a:cs typeface="Courier New"/>
                <a:sym typeface="Courier New"/>
              </a:rPr>
              <a:t>10</a:t>
            </a:r>
            <a:r>
              <a:rPr b="0" i="0" lang="en-US" sz="1900" u="none" cap="none" strike="noStrike">
                <a:solidFill>
                  <a:srgbClr val="E8ECFF"/>
                </a:solidFill>
                <a:latin typeface="Courier New"/>
                <a:ea typeface="Courier New"/>
                <a:cs typeface="Courier New"/>
                <a:sym typeface="Courier New"/>
              </a:rPr>
              <a:t>, </a:t>
            </a:r>
            <a:r>
              <a:rPr b="0" i="0" lang="en-US" sz="1900" u="none" cap="none" strike="noStrike">
                <a:solidFill>
                  <a:srgbClr val="FFC58A"/>
                </a:solidFill>
                <a:latin typeface="Courier New"/>
                <a:ea typeface="Courier New"/>
                <a:cs typeface="Courier New"/>
                <a:sym typeface="Courier New"/>
              </a:rPr>
              <a:t>20</a:t>
            </a:r>
            <a:r>
              <a:rPr b="0" i="0" lang="en-US" sz="1900" u="none" cap="none" strike="noStrike">
                <a:solidFill>
                  <a:srgbClr val="E8ECFF"/>
                </a:solidFill>
                <a:latin typeface="Courier New"/>
                <a:ea typeface="Courier New"/>
                <a:cs typeface="Courier New"/>
                <a:sym typeface="Courier New"/>
              </a:rPr>
              <a:t>, </a:t>
            </a:r>
            <a:r>
              <a:rPr b="0" i="0" lang="en-US" sz="1900" u="none" cap="none" strike="noStrike">
                <a:solidFill>
                  <a:srgbClr val="FFC58A"/>
                </a:solidFill>
                <a:latin typeface="Courier New"/>
                <a:ea typeface="Courier New"/>
                <a:cs typeface="Courier New"/>
                <a:sym typeface="Courier New"/>
              </a:rPr>
              <a:t>30</a:t>
            </a:r>
            <a:r>
              <a:rPr b="0" i="0" lang="en-US" sz="1900" u="none" cap="none" strike="noStrike">
                <a:solidFill>
                  <a:srgbClr val="E8ECFF"/>
                </a:solidFill>
                <a:latin typeface="Courier New"/>
                <a:ea typeface="Courier New"/>
                <a:cs typeface="Courier New"/>
                <a:sym typeface="Courier New"/>
              </a:rPr>
              <a:t>, </a:t>
            </a:r>
            <a:r>
              <a:rPr b="0" i="0" lang="en-US" sz="1900" u="none" cap="none" strike="noStrike">
                <a:solidFill>
                  <a:srgbClr val="FFC58A"/>
                </a:solidFill>
                <a:latin typeface="Courier New"/>
                <a:ea typeface="Courier New"/>
                <a:cs typeface="Courier New"/>
                <a:sym typeface="Courier New"/>
              </a:rPr>
              <a:t>40</a:t>
            </a:r>
            <a:r>
              <a:rPr b="0" i="0" lang="en-US" sz="1900" u="none" cap="none" strike="noStrike">
                <a:solidFill>
                  <a:srgbClr val="E8ECFF"/>
                </a:solidFill>
                <a:latin typeface="Courier New"/>
                <a:ea typeface="Courier New"/>
                <a:cs typeface="Courier New"/>
                <a:sym typeface="Courier New"/>
              </a:rPr>
              <a:t>, </a:t>
            </a:r>
            <a:r>
              <a:rPr b="0" i="0" lang="en-US" sz="1900" u="none" cap="none" strike="noStrike">
                <a:solidFill>
                  <a:srgbClr val="FFC58A"/>
                </a:solidFill>
                <a:latin typeface="Courier New"/>
                <a:ea typeface="Courier New"/>
                <a:cs typeface="Courier New"/>
                <a:sym typeface="Courier New"/>
              </a:rPr>
              <a:t>50</a:t>
            </a:r>
            <a:r>
              <a:rPr b="0" i="0" lang="en-US" sz="1900" u="none" cap="none" strike="noStrike">
                <a:solidFill>
                  <a:srgbClr val="E8ECFF"/>
                </a:solidFill>
                <a:latin typeface="Courier New"/>
                <a:ea typeface="Courier New"/>
                <a:cs typeface="Courier New"/>
                <a:sym typeface="Courier New"/>
              </a:rPr>
              <a:t>]</a:t>
            </a:r>
            <a:endParaRPr b="0" i="0" sz="1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CDF59"/>
              </a:buClr>
              <a:buSzPts val="1900"/>
              <a:buFont typeface="Courier New"/>
              <a:buNone/>
            </a:pPr>
            <a:r>
              <a:rPr b="0" i="0" lang="en-US" sz="1900" u="none" cap="none" strike="noStrike">
                <a:solidFill>
                  <a:srgbClr val="FCDF59"/>
                </a:solidFill>
                <a:latin typeface="Courier New"/>
                <a:ea typeface="Courier New"/>
                <a:cs typeface="Courier New"/>
                <a:sym typeface="Courier New"/>
              </a:rPr>
              <a:t>print</a:t>
            </a:r>
            <a:r>
              <a:rPr b="0" i="0" lang="en-US" sz="1900" u="none" cap="none" strike="noStrike">
                <a:solidFill>
                  <a:srgbClr val="E8ECFF"/>
                </a:solidFill>
                <a:latin typeface="Courier New"/>
                <a:ea typeface="Courier New"/>
                <a:cs typeface="Courier New"/>
                <a:sym typeface="Courier New"/>
              </a:rPr>
              <a:t> angka[</a:t>
            </a:r>
            <a:r>
              <a:rPr b="0" i="0" lang="en-US" sz="1900" u="none" cap="none" strike="noStrike">
                <a:solidFill>
                  <a:srgbClr val="FFC58A"/>
                </a:solidFill>
                <a:latin typeface="Courier New"/>
                <a:ea typeface="Courier New"/>
                <a:cs typeface="Courier New"/>
                <a:sym typeface="Courier New"/>
              </a:rPr>
              <a:t>0</a:t>
            </a:r>
            <a:r>
              <a:rPr b="0" i="0" lang="en-US" sz="1900" u="none" cap="none" strike="noStrike">
                <a:solidFill>
                  <a:srgbClr val="E8ECFF"/>
                </a:solidFill>
                <a:latin typeface="Courier New"/>
                <a:ea typeface="Courier New"/>
                <a:cs typeface="Courier New"/>
                <a:sym typeface="Courier New"/>
              </a:rPr>
              <a:t>]        </a:t>
            </a:r>
            <a:r>
              <a:rPr b="0" i="0" lang="en-US" sz="1900" u="none" cap="none" strike="noStrike">
                <a:solidFill>
                  <a:srgbClr val="8C93C9"/>
                </a:solidFill>
                <a:latin typeface="Courier New"/>
                <a:ea typeface="Courier New"/>
                <a:cs typeface="Courier New"/>
                <a:sym typeface="Courier New"/>
              </a:rPr>
              <a:t>// 10</a:t>
            </a:r>
            <a:endParaRPr b="0" i="0" sz="1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1900"/>
              <a:buFont typeface="Courier New"/>
              <a:buNone/>
            </a:pPr>
            <a:r>
              <a:rPr b="0" i="0" lang="en-US" sz="1900" u="none" cap="none" strike="noStrike">
                <a:solidFill>
                  <a:srgbClr val="E8ECFF"/>
                </a:solidFill>
                <a:latin typeface="Courier New"/>
                <a:ea typeface="Courier New"/>
                <a:cs typeface="Courier New"/>
                <a:sym typeface="Courier New"/>
              </a:rPr>
              <a:t>angka[</a:t>
            </a:r>
            <a:r>
              <a:rPr b="0" i="0" lang="en-US" sz="1900" u="none" cap="none" strike="noStrike">
                <a:solidFill>
                  <a:srgbClr val="FFC58A"/>
                </a:solidFill>
                <a:latin typeface="Courier New"/>
                <a:ea typeface="Courier New"/>
                <a:cs typeface="Courier New"/>
                <a:sym typeface="Courier New"/>
              </a:rPr>
              <a:t>4</a:t>
            </a:r>
            <a:r>
              <a:rPr b="0" i="0" lang="en-US" sz="1900" u="none" cap="none" strike="noStrike">
                <a:solidFill>
                  <a:srgbClr val="E8ECFF"/>
                </a:solidFill>
                <a:latin typeface="Courier New"/>
                <a:ea typeface="Courier New"/>
                <a:cs typeface="Courier New"/>
                <a:sym typeface="Courier New"/>
              </a:rPr>
              <a:t>] = </a:t>
            </a:r>
            <a:r>
              <a:rPr b="0" i="0" lang="en-US" sz="1900" u="none" cap="none" strike="noStrike">
                <a:solidFill>
                  <a:srgbClr val="FFC58A"/>
                </a:solidFill>
                <a:latin typeface="Courier New"/>
                <a:ea typeface="Courier New"/>
                <a:cs typeface="Courier New"/>
                <a:sym typeface="Courier New"/>
              </a:rPr>
              <a:t>99</a:t>
            </a:r>
            <a:r>
              <a:rPr b="0" i="0" lang="en-US" sz="1900" u="none" cap="none" strike="noStrike">
                <a:solidFill>
                  <a:srgbClr val="E8ECFF"/>
                </a:solidFill>
                <a:latin typeface="Courier New"/>
                <a:ea typeface="Courier New"/>
                <a:cs typeface="Courier New"/>
                <a:sym typeface="Courier New"/>
              </a:rPr>
              <a:t>         </a:t>
            </a:r>
            <a:r>
              <a:rPr b="0" i="0" lang="en-US" sz="1900" u="none" cap="none" strike="noStrike">
                <a:solidFill>
                  <a:srgbClr val="8C93C9"/>
                </a:solidFill>
                <a:latin typeface="Courier New"/>
                <a:ea typeface="Courier New"/>
                <a:cs typeface="Courier New"/>
                <a:sym typeface="Courier New"/>
              </a:rPr>
              <a:t>// ubah elemen</a:t>
            </a:r>
            <a:endParaRPr b="0" i="0" sz="1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CDF59"/>
              </a:buClr>
              <a:buSzPts val="1900"/>
              <a:buFont typeface="Courier New"/>
              <a:buNone/>
            </a:pPr>
            <a:r>
              <a:rPr b="0" i="0" lang="en-US" sz="1900" u="none" cap="none" strike="noStrike">
                <a:solidFill>
                  <a:srgbClr val="FCDF59"/>
                </a:solidFill>
                <a:latin typeface="Courier New"/>
                <a:ea typeface="Courier New"/>
                <a:cs typeface="Courier New"/>
                <a:sym typeface="Courier New"/>
              </a:rPr>
              <a:t>print</a:t>
            </a:r>
            <a:r>
              <a:rPr b="0" i="0" lang="en-US" sz="1900" u="none" cap="none" strike="noStrike">
                <a:solidFill>
                  <a:srgbClr val="E8ECFF"/>
                </a:solidFill>
                <a:latin typeface="Courier New"/>
                <a:ea typeface="Courier New"/>
                <a:cs typeface="Courier New"/>
                <a:sym typeface="Courier New"/>
              </a:rPr>
              <a:t> </a:t>
            </a:r>
            <a:r>
              <a:rPr b="0" i="0" lang="en-US" sz="1900" u="none" cap="none" strike="noStrike">
                <a:solidFill>
                  <a:srgbClr val="FCDF59"/>
                </a:solidFill>
                <a:latin typeface="Courier New"/>
                <a:ea typeface="Courier New"/>
                <a:cs typeface="Courier New"/>
                <a:sym typeface="Courier New"/>
              </a:rPr>
              <a:t>length</a:t>
            </a:r>
            <a:r>
              <a:rPr b="0" i="0" lang="en-US" sz="1900" u="none" cap="none" strike="noStrike">
                <a:solidFill>
                  <a:srgbClr val="E8ECFF"/>
                </a:solidFill>
                <a:latin typeface="Courier New"/>
                <a:ea typeface="Courier New"/>
                <a:cs typeface="Courier New"/>
                <a:sym typeface="Courier New"/>
              </a:rPr>
              <a:t>(angka)   </a:t>
            </a:r>
            <a:r>
              <a:rPr b="0" i="0" lang="en-US" sz="1900" u="none" cap="none" strike="noStrike">
                <a:solidFill>
                  <a:srgbClr val="8C93C9"/>
                </a:solidFill>
                <a:latin typeface="Courier New"/>
                <a:ea typeface="Courier New"/>
                <a:cs typeface="Courier New"/>
                <a:sym typeface="Courier New"/>
              </a:rPr>
              <a:t>// 5</a:t>
            </a:r>
            <a:endParaRPr b="0" i="0" sz="1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CDF59"/>
              </a:buClr>
              <a:buSzPts val="1900"/>
              <a:buFont typeface="Courier New"/>
              <a:buNone/>
            </a:pPr>
            <a:r>
              <a:rPr b="0" i="0" lang="en-US" sz="1900" u="none" cap="none" strike="noStrike">
                <a:solidFill>
                  <a:srgbClr val="FCDF59"/>
                </a:solidFill>
                <a:latin typeface="Courier New"/>
                <a:ea typeface="Courier New"/>
                <a:cs typeface="Courier New"/>
                <a:sym typeface="Courier New"/>
              </a:rPr>
              <a:t>for</a:t>
            </a:r>
            <a:r>
              <a:rPr b="0" i="0" lang="en-US" sz="1900" u="none" cap="none" strike="noStrike">
                <a:solidFill>
                  <a:srgbClr val="E8ECFF"/>
                </a:solidFill>
                <a:latin typeface="Courier New"/>
                <a:ea typeface="Courier New"/>
                <a:cs typeface="Courier New"/>
                <a:sym typeface="Courier New"/>
              </a:rPr>
              <a:t> </a:t>
            </a:r>
            <a:r>
              <a:rPr b="0" i="0" lang="en-US" sz="1900" u="none" cap="none" strike="noStrike">
                <a:solidFill>
                  <a:srgbClr val="FCDF59"/>
                </a:solidFill>
                <a:latin typeface="Courier New"/>
                <a:ea typeface="Courier New"/>
                <a:cs typeface="Courier New"/>
                <a:sym typeface="Courier New"/>
              </a:rPr>
              <a:t>each</a:t>
            </a:r>
            <a:r>
              <a:rPr b="0" i="0" lang="en-US" sz="1900" u="none" cap="none" strike="noStrike">
                <a:solidFill>
                  <a:srgbClr val="E8ECFF"/>
                </a:solidFill>
                <a:latin typeface="Courier New"/>
                <a:ea typeface="Courier New"/>
                <a:cs typeface="Courier New"/>
                <a:sym typeface="Courier New"/>
              </a:rPr>
              <a:t> x </a:t>
            </a:r>
            <a:r>
              <a:rPr b="0" i="0" lang="en-US" sz="1900" u="none" cap="none" strike="noStrike">
                <a:solidFill>
                  <a:srgbClr val="FCDF59"/>
                </a:solidFill>
                <a:latin typeface="Courier New"/>
                <a:ea typeface="Courier New"/>
                <a:cs typeface="Courier New"/>
                <a:sym typeface="Courier New"/>
              </a:rPr>
              <a:t>in</a:t>
            </a:r>
            <a:r>
              <a:rPr b="0" i="0" lang="en-US" sz="1900" u="none" cap="none" strike="noStrike">
                <a:solidFill>
                  <a:srgbClr val="E8ECFF"/>
                </a:solidFill>
                <a:latin typeface="Courier New"/>
                <a:ea typeface="Courier New"/>
                <a:cs typeface="Courier New"/>
                <a:sym typeface="Courier New"/>
              </a:rPr>
              <a:t> angka</a:t>
            </a:r>
            <a:endParaRPr b="0" i="0" sz="1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1900"/>
              <a:buFont typeface="Courier New"/>
              <a:buNone/>
            </a:pPr>
            <a:r>
              <a:rPr b="0" i="0" lang="en-US" sz="1900" u="none" cap="none" strike="noStrike">
                <a:solidFill>
                  <a:srgbClr val="E8ECFF"/>
                </a:solidFill>
                <a:latin typeface="Courier New"/>
                <a:ea typeface="Courier New"/>
                <a:cs typeface="Courier New"/>
                <a:sym typeface="Courier New"/>
              </a:rPr>
              <a:t>    </a:t>
            </a:r>
            <a:r>
              <a:rPr b="0" i="0" lang="en-US" sz="1900" u="none" cap="none" strike="noStrike">
                <a:solidFill>
                  <a:srgbClr val="FCDF59"/>
                </a:solidFill>
                <a:latin typeface="Courier New"/>
                <a:ea typeface="Courier New"/>
                <a:cs typeface="Courier New"/>
                <a:sym typeface="Courier New"/>
              </a:rPr>
              <a:t>print</a:t>
            </a:r>
            <a:r>
              <a:rPr b="0" i="0" lang="en-US" sz="1900" u="none" cap="none" strike="noStrike">
                <a:solidFill>
                  <a:srgbClr val="E8ECFF"/>
                </a:solidFill>
                <a:latin typeface="Courier New"/>
                <a:ea typeface="Courier New"/>
                <a:cs typeface="Courier New"/>
                <a:sym typeface="Courier New"/>
              </a:rPr>
              <a:t> x</a:t>
            </a:r>
            <a:endParaRPr b="0" i="0" sz="1900" u="none" cap="none" strike="noStrike">
              <a:solidFill>
                <a:schemeClr val="dk1"/>
              </a:solidFill>
              <a:latin typeface="Calibri"/>
              <a:ea typeface="Calibri"/>
              <a:cs typeface="Calibri"/>
              <a:sym typeface="Calibri"/>
            </a:endParaRPr>
          </a:p>
        </p:txBody>
      </p:sp>
      <p:sp>
        <p:nvSpPr>
          <p:cNvPr id="557" name="Google Shape;557;p21"/>
          <p:cNvSpPr/>
          <p:nvPr/>
        </p:nvSpPr>
        <p:spPr>
          <a:xfrm>
            <a:off x="11247120" y="6675120"/>
            <a:ext cx="6126480" cy="2834640"/>
          </a:xfrm>
          <a:prstGeom prst="roundRect">
            <a:avLst>
              <a:gd fmla="val 4839"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21"/>
          <p:cNvSpPr txBox="1"/>
          <p:nvPr/>
        </p:nvSpPr>
        <p:spPr>
          <a:xfrm>
            <a:off x="11521440" y="6675120"/>
            <a:ext cx="5577840" cy="2834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CA2"/>
              </a:buClr>
              <a:buSzPts val="2200"/>
              <a:buFont typeface="Calibri"/>
              <a:buNone/>
            </a:pPr>
            <a:r>
              <a:rPr b="1" i="0" lang="en-US" sz="2200" u="none" cap="none" strike="noStrike">
                <a:solidFill>
                  <a:srgbClr val="162CA2"/>
                </a:solidFill>
                <a:latin typeface="Calibri"/>
                <a:ea typeface="Calibri"/>
                <a:cs typeface="Calibri"/>
                <a:sym typeface="Calibri"/>
              </a:rPr>
              <a:t>Array vs List</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3123D"/>
              </a:buClr>
              <a:buSzPts val="2000"/>
              <a:buFont typeface="Calibri"/>
              <a:buNone/>
            </a:pPr>
            <a:r>
              <a:rPr b="0" i="0" lang="en-US" sz="2000" u="none" cap="none" strike="noStrike">
                <a:solidFill>
                  <a:srgbClr val="13123D"/>
                </a:solidFill>
                <a:latin typeface="Calibri"/>
                <a:ea typeface="Calibri"/>
                <a:cs typeface="Calibri"/>
                <a:sym typeface="Calibri"/>
              </a:rPr>
              <a:t>Array: ukuran umumnya tetap (C, Java). List: dinamis (Python). Konsep sama: data berurutan dengan indeks.</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pic>
        <p:nvPicPr>
          <p:cNvPr descr="/home/claude/assets/image6.png" id="564" name="Google Shape;564;p22"/>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565" name="Google Shape;565;p22"/>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566" name="Google Shape;566;p22"/>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BAGIAN 8 · LATIHAN 35 MENIT</a:t>
            </a:r>
            <a:endParaRPr b="0" i="0" sz="2000" u="none" cap="none" strike="noStrike">
              <a:solidFill>
                <a:schemeClr val="dk1"/>
              </a:solidFill>
              <a:latin typeface="Calibri"/>
              <a:ea typeface="Calibri"/>
              <a:cs typeface="Calibri"/>
              <a:sym typeface="Calibri"/>
            </a:endParaRPr>
          </a:p>
        </p:txBody>
      </p:sp>
      <p:sp>
        <p:nvSpPr>
          <p:cNvPr id="567" name="Google Shape;567;p22"/>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Cara Memecahkan Masalah</a:t>
            </a:r>
            <a:endParaRPr b="0" i="0" sz="4800" u="none" cap="none" strike="noStrike">
              <a:solidFill>
                <a:schemeClr val="dk1"/>
              </a:solidFill>
              <a:latin typeface="Calibri"/>
              <a:ea typeface="Calibri"/>
              <a:cs typeface="Calibri"/>
              <a:sym typeface="Calibri"/>
            </a:endParaRPr>
          </a:p>
        </p:txBody>
      </p:sp>
      <p:sp>
        <p:nvSpPr>
          <p:cNvPr id="568" name="Google Shape;568;p22"/>
          <p:cNvSpPr/>
          <p:nvPr/>
        </p:nvSpPr>
        <p:spPr>
          <a:xfrm>
            <a:off x="914400" y="4343400"/>
            <a:ext cx="3977640" cy="3611880"/>
          </a:xfrm>
          <a:prstGeom prst="roundRect">
            <a:avLst>
              <a:gd fmla="val 3797"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22"/>
          <p:cNvSpPr/>
          <p:nvPr/>
        </p:nvSpPr>
        <p:spPr>
          <a:xfrm>
            <a:off x="1188720" y="4572000"/>
            <a:ext cx="914400" cy="914400"/>
          </a:xfrm>
          <a:prstGeom prst="ellipse">
            <a:avLst/>
          </a:prstGeom>
          <a:solidFill>
            <a:srgbClr val="FCDF59"/>
          </a:solidFill>
          <a:ln cap="flat" cmpd="sng" w="9525">
            <a:solidFill>
              <a:srgbClr val="FCDF59"/>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3123D"/>
              </a:buClr>
              <a:buSzPts val="3200"/>
              <a:buFont typeface="Arial"/>
              <a:buNone/>
            </a:pPr>
            <a:r>
              <a:rPr b="1" i="0" lang="en-US" sz="3200" u="none" cap="none" strike="noStrike">
                <a:solidFill>
                  <a:srgbClr val="13123D"/>
                </a:solidFill>
                <a:latin typeface="Arial"/>
                <a:ea typeface="Arial"/>
                <a:cs typeface="Arial"/>
                <a:sym typeface="Arial"/>
              </a:rPr>
              <a:t>1</a:t>
            </a:r>
            <a:endParaRPr b="0" i="0" sz="3200" u="none" cap="none" strike="noStrike">
              <a:solidFill>
                <a:schemeClr val="dk1"/>
              </a:solidFill>
              <a:latin typeface="Calibri"/>
              <a:ea typeface="Calibri"/>
              <a:cs typeface="Calibri"/>
              <a:sym typeface="Calibri"/>
            </a:endParaRPr>
          </a:p>
        </p:txBody>
      </p:sp>
      <p:sp>
        <p:nvSpPr>
          <p:cNvPr id="570" name="Google Shape;570;p22"/>
          <p:cNvSpPr txBox="1"/>
          <p:nvPr/>
        </p:nvSpPr>
        <p:spPr>
          <a:xfrm>
            <a:off x="1188720" y="5760720"/>
            <a:ext cx="347472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600"/>
              <a:buFont typeface="Calibri"/>
              <a:buNone/>
            </a:pPr>
            <a:r>
              <a:rPr b="1" i="0" lang="en-US" sz="2600" u="none" cap="none" strike="noStrike">
                <a:solidFill>
                  <a:srgbClr val="162CA2"/>
                </a:solidFill>
                <a:latin typeface="Calibri"/>
                <a:ea typeface="Calibri"/>
                <a:cs typeface="Calibri"/>
                <a:sym typeface="Calibri"/>
              </a:rPr>
              <a:t>Pahami</a:t>
            </a:r>
            <a:endParaRPr b="0" i="0" sz="2600" u="none" cap="none" strike="noStrike">
              <a:solidFill>
                <a:schemeClr val="dk1"/>
              </a:solidFill>
              <a:latin typeface="Calibri"/>
              <a:ea typeface="Calibri"/>
              <a:cs typeface="Calibri"/>
              <a:sym typeface="Calibri"/>
            </a:endParaRPr>
          </a:p>
        </p:txBody>
      </p:sp>
      <p:sp>
        <p:nvSpPr>
          <p:cNvPr id="571" name="Google Shape;571;p22"/>
          <p:cNvSpPr txBox="1"/>
          <p:nvPr/>
        </p:nvSpPr>
        <p:spPr>
          <a:xfrm>
            <a:off x="1188720" y="6492240"/>
            <a:ext cx="347472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F86"/>
              </a:buClr>
              <a:buSzPts val="2100"/>
              <a:buFont typeface="Calibri"/>
              <a:buNone/>
            </a:pPr>
            <a:r>
              <a:rPr b="0" i="0" lang="en-US" sz="2100" u="none" cap="none" strike="noStrike">
                <a:solidFill>
                  <a:srgbClr val="5A5F86"/>
                </a:solidFill>
                <a:latin typeface="Calibri"/>
                <a:ea typeface="Calibri"/>
                <a:cs typeface="Calibri"/>
                <a:sym typeface="Calibri"/>
              </a:rPr>
              <a:t>Apa inputnya? Apa outputnya? Apa aturannya?</a:t>
            </a:r>
            <a:endParaRPr b="0" i="0" sz="2100" u="none" cap="none" strike="noStrike">
              <a:solidFill>
                <a:schemeClr val="dk1"/>
              </a:solidFill>
              <a:latin typeface="Calibri"/>
              <a:ea typeface="Calibri"/>
              <a:cs typeface="Calibri"/>
              <a:sym typeface="Calibri"/>
            </a:endParaRPr>
          </a:p>
        </p:txBody>
      </p:sp>
      <p:sp>
        <p:nvSpPr>
          <p:cNvPr id="572" name="Google Shape;572;p22"/>
          <p:cNvSpPr/>
          <p:nvPr/>
        </p:nvSpPr>
        <p:spPr>
          <a:xfrm>
            <a:off x="5166360" y="4343400"/>
            <a:ext cx="3977640" cy="3611880"/>
          </a:xfrm>
          <a:prstGeom prst="roundRect">
            <a:avLst>
              <a:gd fmla="val 3797"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22"/>
          <p:cNvSpPr/>
          <p:nvPr/>
        </p:nvSpPr>
        <p:spPr>
          <a:xfrm>
            <a:off x="5440680" y="4572000"/>
            <a:ext cx="914400" cy="914400"/>
          </a:xfrm>
          <a:prstGeom prst="ellipse">
            <a:avLst/>
          </a:prstGeom>
          <a:solidFill>
            <a:srgbClr val="FCDF59"/>
          </a:solidFill>
          <a:ln cap="flat" cmpd="sng" w="9525">
            <a:solidFill>
              <a:srgbClr val="FCDF59"/>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3123D"/>
              </a:buClr>
              <a:buSzPts val="3200"/>
              <a:buFont typeface="Arial"/>
              <a:buNone/>
            </a:pPr>
            <a:r>
              <a:rPr b="1" i="0" lang="en-US" sz="3200" u="none" cap="none" strike="noStrike">
                <a:solidFill>
                  <a:srgbClr val="13123D"/>
                </a:solidFill>
                <a:latin typeface="Arial"/>
                <a:ea typeface="Arial"/>
                <a:cs typeface="Arial"/>
                <a:sym typeface="Arial"/>
              </a:rPr>
              <a:t>2</a:t>
            </a:r>
            <a:endParaRPr b="0" i="0" sz="3200" u="none" cap="none" strike="noStrike">
              <a:solidFill>
                <a:schemeClr val="dk1"/>
              </a:solidFill>
              <a:latin typeface="Calibri"/>
              <a:ea typeface="Calibri"/>
              <a:cs typeface="Calibri"/>
              <a:sym typeface="Calibri"/>
            </a:endParaRPr>
          </a:p>
        </p:txBody>
      </p:sp>
      <p:sp>
        <p:nvSpPr>
          <p:cNvPr id="574" name="Google Shape;574;p22"/>
          <p:cNvSpPr txBox="1"/>
          <p:nvPr/>
        </p:nvSpPr>
        <p:spPr>
          <a:xfrm>
            <a:off x="5440680" y="5760720"/>
            <a:ext cx="347472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600"/>
              <a:buFont typeface="Calibri"/>
              <a:buNone/>
            </a:pPr>
            <a:r>
              <a:rPr b="1" i="0" lang="en-US" sz="2600" u="none" cap="none" strike="noStrike">
                <a:solidFill>
                  <a:srgbClr val="162CA2"/>
                </a:solidFill>
                <a:latin typeface="Calibri"/>
                <a:ea typeface="Calibri"/>
                <a:cs typeface="Calibri"/>
                <a:sym typeface="Calibri"/>
              </a:rPr>
              <a:t>Rencanakan</a:t>
            </a:r>
            <a:endParaRPr b="0" i="0" sz="2600" u="none" cap="none" strike="noStrike">
              <a:solidFill>
                <a:schemeClr val="dk1"/>
              </a:solidFill>
              <a:latin typeface="Calibri"/>
              <a:ea typeface="Calibri"/>
              <a:cs typeface="Calibri"/>
              <a:sym typeface="Calibri"/>
            </a:endParaRPr>
          </a:p>
        </p:txBody>
      </p:sp>
      <p:sp>
        <p:nvSpPr>
          <p:cNvPr id="575" name="Google Shape;575;p22"/>
          <p:cNvSpPr txBox="1"/>
          <p:nvPr/>
        </p:nvSpPr>
        <p:spPr>
          <a:xfrm>
            <a:off x="5440680" y="6492240"/>
            <a:ext cx="347472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F86"/>
              </a:buClr>
              <a:buSzPts val="2100"/>
              <a:buFont typeface="Calibri"/>
              <a:buNone/>
            </a:pPr>
            <a:r>
              <a:rPr b="0" i="0" lang="en-US" sz="2100" u="none" cap="none" strike="noStrike">
                <a:solidFill>
                  <a:srgbClr val="5A5F86"/>
                </a:solidFill>
                <a:latin typeface="Calibri"/>
                <a:ea typeface="Calibri"/>
                <a:cs typeface="Calibri"/>
                <a:sym typeface="Calibri"/>
              </a:rPr>
              <a:t>Tulis pseudocode atau gambar flowchart.</a:t>
            </a:r>
            <a:endParaRPr b="0" i="0" sz="2100" u="none" cap="none" strike="noStrike">
              <a:solidFill>
                <a:schemeClr val="dk1"/>
              </a:solidFill>
              <a:latin typeface="Calibri"/>
              <a:ea typeface="Calibri"/>
              <a:cs typeface="Calibri"/>
              <a:sym typeface="Calibri"/>
            </a:endParaRPr>
          </a:p>
        </p:txBody>
      </p:sp>
      <p:sp>
        <p:nvSpPr>
          <p:cNvPr id="576" name="Google Shape;576;p22"/>
          <p:cNvSpPr/>
          <p:nvPr/>
        </p:nvSpPr>
        <p:spPr>
          <a:xfrm>
            <a:off x="9418320" y="4343400"/>
            <a:ext cx="3977640" cy="3611880"/>
          </a:xfrm>
          <a:prstGeom prst="roundRect">
            <a:avLst>
              <a:gd fmla="val 3797"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22"/>
          <p:cNvSpPr/>
          <p:nvPr/>
        </p:nvSpPr>
        <p:spPr>
          <a:xfrm>
            <a:off x="9692640" y="4572000"/>
            <a:ext cx="914400" cy="914400"/>
          </a:xfrm>
          <a:prstGeom prst="ellipse">
            <a:avLst/>
          </a:prstGeom>
          <a:solidFill>
            <a:srgbClr val="FCDF59"/>
          </a:solidFill>
          <a:ln cap="flat" cmpd="sng" w="9525">
            <a:solidFill>
              <a:srgbClr val="FCDF59"/>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3123D"/>
              </a:buClr>
              <a:buSzPts val="3200"/>
              <a:buFont typeface="Arial"/>
              <a:buNone/>
            </a:pPr>
            <a:r>
              <a:rPr b="1" i="0" lang="en-US" sz="3200" u="none" cap="none" strike="noStrike">
                <a:solidFill>
                  <a:srgbClr val="13123D"/>
                </a:solidFill>
                <a:latin typeface="Arial"/>
                <a:ea typeface="Arial"/>
                <a:cs typeface="Arial"/>
                <a:sym typeface="Arial"/>
              </a:rPr>
              <a:t>3</a:t>
            </a:r>
            <a:endParaRPr b="0" i="0" sz="3200" u="none" cap="none" strike="noStrike">
              <a:solidFill>
                <a:schemeClr val="dk1"/>
              </a:solidFill>
              <a:latin typeface="Calibri"/>
              <a:ea typeface="Calibri"/>
              <a:cs typeface="Calibri"/>
              <a:sym typeface="Calibri"/>
            </a:endParaRPr>
          </a:p>
        </p:txBody>
      </p:sp>
      <p:sp>
        <p:nvSpPr>
          <p:cNvPr id="578" name="Google Shape;578;p22"/>
          <p:cNvSpPr txBox="1"/>
          <p:nvPr/>
        </p:nvSpPr>
        <p:spPr>
          <a:xfrm>
            <a:off x="9692640" y="5760720"/>
            <a:ext cx="347472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600"/>
              <a:buFont typeface="Calibri"/>
              <a:buNone/>
            </a:pPr>
            <a:r>
              <a:rPr b="1" i="0" lang="en-US" sz="2600" u="none" cap="none" strike="noStrike">
                <a:solidFill>
                  <a:srgbClr val="162CA2"/>
                </a:solidFill>
                <a:latin typeface="Calibri"/>
                <a:ea typeface="Calibri"/>
                <a:cs typeface="Calibri"/>
                <a:sym typeface="Calibri"/>
              </a:rPr>
              <a:t>Terapkan</a:t>
            </a:r>
            <a:endParaRPr b="0" i="0" sz="2600" u="none" cap="none" strike="noStrike">
              <a:solidFill>
                <a:schemeClr val="dk1"/>
              </a:solidFill>
              <a:latin typeface="Calibri"/>
              <a:ea typeface="Calibri"/>
              <a:cs typeface="Calibri"/>
              <a:sym typeface="Calibri"/>
            </a:endParaRPr>
          </a:p>
        </p:txBody>
      </p:sp>
      <p:sp>
        <p:nvSpPr>
          <p:cNvPr id="579" name="Google Shape;579;p22"/>
          <p:cNvSpPr txBox="1"/>
          <p:nvPr/>
        </p:nvSpPr>
        <p:spPr>
          <a:xfrm>
            <a:off x="9692640" y="6492240"/>
            <a:ext cx="347472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F86"/>
              </a:buClr>
              <a:buSzPts val="2100"/>
              <a:buFont typeface="Calibri"/>
              <a:buNone/>
            </a:pPr>
            <a:r>
              <a:rPr b="0" i="0" lang="en-US" sz="2100" u="none" cap="none" strike="noStrike">
                <a:solidFill>
                  <a:srgbClr val="5A5F86"/>
                </a:solidFill>
                <a:latin typeface="Calibri"/>
                <a:ea typeface="Calibri"/>
                <a:cs typeface="Calibri"/>
                <a:sym typeface="Calibri"/>
              </a:rPr>
              <a:t>Terjemahkan rencana menjadi kode.</a:t>
            </a:r>
            <a:endParaRPr b="0" i="0" sz="2100" u="none" cap="none" strike="noStrike">
              <a:solidFill>
                <a:schemeClr val="dk1"/>
              </a:solidFill>
              <a:latin typeface="Calibri"/>
              <a:ea typeface="Calibri"/>
              <a:cs typeface="Calibri"/>
              <a:sym typeface="Calibri"/>
            </a:endParaRPr>
          </a:p>
        </p:txBody>
      </p:sp>
      <p:sp>
        <p:nvSpPr>
          <p:cNvPr id="580" name="Google Shape;580;p22"/>
          <p:cNvSpPr/>
          <p:nvPr/>
        </p:nvSpPr>
        <p:spPr>
          <a:xfrm>
            <a:off x="13670280" y="4343400"/>
            <a:ext cx="3977640" cy="3611880"/>
          </a:xfrm>
          <a:prstGeom prst="roundRect">
            <a:avLst>
              <a:gd fmla="val 3797"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22"/>
          <p:cNvSpPr/>
          <p:nvPr/>
        </p:nvSpPr>
        <p:spPr>
          <a:xfrm>
            <a:off x="13944600" y="4572000"/>
            <a:ext cx="914400" cy="914400"/>
          </a:xfrm>
          <a:prstGeom prst="ellipse">
            <a:avLst/>
          </a:prstGeom>
          <a:solidFill>
            <a:srgbClr val="FCDF59"/>
          </a:solidFill>
          <a:ln cap="flat" cmpd="sng" w="9525">
            <a:solidFill>
              <a:srgbClr val="FCDF59"/>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3123D"/>
              </a:buClr>
              <a:buSzPts val="3200"/>
              <a:buFont typeface="Arial"/>
              <a:buNone/>
            </a:pPr>
            <a:r>
              <a:rPr b="1" i="0" lang="en-US" sz="3200" u="none" cap="none" strike="noStrike">
                <a:solidFill>
                  <a:srgbClr val="13123D"/>
                </a:solidFill>
                <a:latin typeface="Arial"/>
                <a:ea typeface="Arial"/>
                <a:cs typeface="Arial"/>
                <a:sym typeface="Arial"/>
              </a:rPr>
              <a:t>4</a:t>
            </a:r>
            <a:endParaRPr b="0" i="0" sz="3200" u="none" cap="none" strike="noStrike">
              <a:solidFill>
                <a:schemeClr val="dk1"/>
              </a:solidFill>
              <a:latin typeface="Calibri"/>
              <a:ea typeface="Calibri"/>
              <a:cs typeface="Calibri"/>
              <a:sym typeface="Calibri"/>
            </a:endParaRPr>
          </a:p>
        </p:txBody>
      </p:sp>
      <p:sp>
        <p:nvSpPr>
          <p:cNvPr id="582" name="Google Shape;582;p22"/>
          <p:cNvSpPr txBox="1"/>
          <p:nvPr/>
        </p:nvSpPr>
        <p:spPr>
          <a:xfrm>
            <a:off x="13944600" y="5760720"/>
            <a:ext cx="347472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600"/>
              <a:buFont typeface="Calibri"/>
              <a:buNone/>
            </a:pPr>
            <a:r>
              <a:rPr b="1" i="0" lang="en-US" sz="2600" u="none" cap="none" strike="noStrike">
                <a:solidFill>
                  <a:srgbClr val="162CA2"/>
                </a:solidFill>
                <a:latin typeface="Calibri"/>
                <a:ea typeface="Calibri"/>
                <a:cs typeface="Calibri"/>
                <a:sym typeface="Calibri"/>
              </a:rPr>
              <a:t>Uji</a:t>
            </a:r>
            <a:endParaRPr b="0" i="0" sz="2600" u="none" cap="none" strike="noStrike">
              <a:solidFill>
                <a:schemeClr val="dk1"/>
              </a:solidFill>
              <a:latin typeface="Calibri"/>
              <a:ea typeface="Calibri"/>
              <a:cs typeface="Calibri"/>
              <a:sym typeface="Calibri"/>
            </a:endParaRPr>
          </a:p>
        </p:txBody>
      </p:sp>
      <p:sp>
        <p:nvSpPr>
          <p:cNvPr id="583" name="Google Shape;583;p22"/>
          <p:cNvSpPr txBox="1"/>
          <p:nvPr/>
        </p:nvSpPr>
        <p:spPr>
          <a:xfrm>
            <a:off x="13944600" y="6492240"/>
            <a:ext cx="347472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F86"/>
              </a:buClr>
              <a:buSzPts val="2100"/>
              <a:buFont typeface="Calibri"/>
              <a:buNone/>
            </a:pPr>
            <a:r>
              <a:rPr b="0" i="0" lang="en-US" sz="2100" u="none" cap="none" strike="noStrike">
                <a:solidFill>
                  <a:srgbClr val="5A5F86"/>
                </a:solidFill>
                <a:latin typeface="Calibri"/>
                <a:ea typeface="Calibri"/>
                <a:cs typeface="Calibri"/>
                <a:sym typeface="Calibri"/>
              </a:rPr>
              <a:t>Coba contoh biasa dan kasus tepi (0, negatif, kosong).</a:t>
            </a:r>
            <a:endParaRPr b="0" i="0" sz="2100" u="none" cap="none" strike="noStrike">
              <a:solidFill>
                <a:schemeClr val="dk1"/>
              </a:solidFill>
              <a:latin typeface="Calibri"/>
              <a:ea typeface="Calibri"/>
              <a:cs typeface="Calibri"/>
              <a:sym typeface="Calibri"/>
            </a:endParaRPr>
          </a:p>
        </p:txBody>
      </p:sp>
      <p:sp>
        <p:nvSpPr>
          <p:cNvPr id="584" name="Google Shape;584;p22"/>
          <p:cNvSpPr/>
          <p:nvPr/>
        </p:nvSpPr>
        <p:spPr>
          <a:xfrm>
            <a:off x="914400" y="8183880"/>
            <a:ext cx="16459200" cy="1325880"/>
          </a:xfrm>
          <a:prstGeom prst="roundRect">
            <a:avLst>
              <a:gd fmla="val 10345" name="adj"/>
            </a:avLst>
          </a:prstGeom>
          <a:solidFill>
            <a:srgbClr val="162CA2"/>
          </a:solidFill>
          <a:ln cap="flat" cmpd="sng" w="12700">
            <a:solidFill>
              <a:srgbClr val="162C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22"/>
          <p:cNvSpPr txBox="1"/>
          <p:nvPr/>
        </p:nvSpPr>
        <p:spPr>
          <a:xfrm>
            <a:off x="1188720" y="8183880"/>
            <a:ext cx="15910560" cy="1325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CDF59"/>
              </a:buClr>
              <a:buSzPts val="2800"/>
              <a:buFont typeface="Calibri"/>
              <a:buNone/>
            </a:pPr>
            <a:r>
              <a:rPr b="1" i="0" lang="en-US" sz="2800" u="none" cap="none" strike="noStrike">
                <a:solidFill>
                  <a:srgbClr val="FCDF59"/>
                </a:solidFill>
                <a:latin typeface="Calibri"/>
                <a:ea typeface="Calibri"/>
                <a:cs typeface="Calibri"/>
                <a:sym typeface="Calibri"/>
              </a:rPr>
              <a:t>Latihan: </a:t>
            </a:r>
            <a:r>
              <a:rPr b="0" i="0" lang="en-US" sz="2800" u="none" cap="none" strike="noStrike">
                <a:solidFill>
                  <a:srgbClr val="FDFBFB"/>
                </a:solidFill>
                <a:latin typeface="Calibri"/>
                <a:ea typeface="Calibri"/>
                <a:cs typeface="Calibri"/>
                <a:sym typeface="Calibri"/>
              </a:rPr>
              <a:t>3 studi kasus · 35 menit · pseudocode dulu, baru kode</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pic>
        <p:nvPicPr>
          <p:cNvPr descr="/home/claude/assets/image4.png" id="591" name="Google Shape;591;p23"/>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592" name="Google Shape;592;p23"/>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593" name="Google Shape;593;p23"/>
          <p:cNvSpPr txBox="1"/>
          <p:nvPr/>
        </p:nvSpPr>
        <p:spPr>
          <a:xfrm>
            <a:off x="1024128" y="1554480"/>
            <a:ext cx="58521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1800"/>
              <a:buFont typeface="Arial"/>
              <a:buNone/>
            </a:pPr>
            <a:r>
              <a:rPr b="1" i="0" lang="en-US" sz="1800" u="none" cap="none" strike="noStrike">
                <a:solidFill>
                  <a:srgbClr val="FCDF59"/>
                </a:solidFill>
                <a:latin typeface="Arial"/>
                <a:ea typeface="Arial"/>
                <a:cs typeface="Arial"/>
                <a:sym typeface="Arial"/>
              </a:rPr>
              <a:t>LATIHAN 1 · 10 MENIT</a:t>
            </a:r>
            <a:endParaRPr b="0" i="0" sz="1800" u="none" cap="none" strike="noStrike">
              <a:solidFill>
                <a:schemeClr val="dk1"/>
              </a:solidFill>
              <a:latin typeface="Calibri"/>
              <a:ea typeface="Calibri"/>
              <a:cs typeface="Calibri"/>
              <a:sym typeface="Calibri"/>
            </a:endParaRPr>
          </a:p>
        </p:txBody>
      </p:sp>
      <p:sp>
        <p:nvSpPr>
          <p:cNvPr id="594" name="Google Shape;594;p23"/>
          <p:cNvSpPr txBox="1"/>
          <p:nvPr/>
        </p:nvSpPr>
        <p:spPr>
          <a:xfrm>
            <a:off x="1024128" y="2011680"/>
            <a:ext cx="5760720" cy="2651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400"/>
              <a:buFont typeface="Arial"/>
              <a:buNone/>
            </a:pPr>
            <a:r>
              <a:rPr b="1" i="0" lang="en-US" sz="4400" u="none" cap="none" strike="noStrike">
                <a:solidFill>
                  <a:srgbClr val="FDFBFB"/>
                </a:solidFill>
                <a:latin typeface="Arial"/>
                <a:ea typeface="Arial"/>
                <a:cs typeface="Arial"/>
                <a:sym typeface="Arial"/>
              </a:rPr>
              <a:t>Bilangan Ganjil atau Genap</a:t>
            </a:r>
            <a:endParaRPr b="0" i="0" sz="4400" u="none" cap="none" strike="noStrike">
              <a:solidFill>
                <a:schemeClr val="dk1"/>
              </a:solidFill>
              <a:latin typeface="Calibri"/>
              <a:ea typeface="Calibri"/>
              <a:cs typeface="Calibri"/>
              <a:sym typeface="Calibri"/>
            </a:endParaRPr>
          </a:p>
        </p:txBody>
      </p:sp>
      <p:sp>
        <p:nvSpPr>
          <p:cNvPr id="595" name="Google Shape;595;p23"/>
          <p:cNvSpPr txBox="1"/>
          <p:nvPr/>
        </p:nvSpPr>
        <p:spPr>
          <a:xfrm>
            <a:off x="1024128" y="4937760"/>
            <a:ext cx="5486400" cy="42062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FDFBFB"/>
              </a:buClr>
              <a:buSzPts val="2600"/>
              <a:buFont typeface="Calibri"/>
              <a:buChar char="•"/>
            </a:pPr>
            <a:r>
              <a:rPr b="0" i="0" lang="en-US" sz="2600" u="none" cap="none" strike="noStrike">
                <a:solidFill>
                  <a:srgbClr val="FDFBFB"/>
                </a:solidFill>
                <a:latin typeface="Calibri"/>
                <a:ea typeface="Calibri"/>
                <a:cs typeface="Calibri"/>
                <a:sym typeface="Calibri"/>
              </a:rPr>
              <a:t>Percabangan</a:t>
            </a:r>
            <a:endParaRPr b="0" i="0" sz="2600" u="none" cap="none" strike="noStrike">
              <a:solidFill>
                <a:schemeClr val="dk1"/>
              </a:solidFill>
              <a:latin typeface="Calibri"/>
              <a:ea typeface="Calibri"/>
              <a:cs typeface="Calibri"/>
              <a:sym typeface="Calibri"/>
            </a:endParaRPr>
          </a:p>
          <a:p>
            <a:pPr indent="-342900" lvl="0" marL="342900" marR="0" rtl="0" algn="l">
              <a:spcBef>
                <a:spcPts val="1400"/>
              </a:spcBef>
              <a:spcAft>
                <a:spcPts val="0"/>
              </a:spcAft>
              <a:buClr>
                <a:srgbClr val="FDFBFB"/>
              </a:buClr>
              <a:buSzPts val="2600"/>
              <a:buFont typeface="Calibri"/>
              <a:buChar char="•"/>
            </a:pPr>
            <a:r>
              <a:rPr b="0" i="0" lang="en-US" sz="2600" u="none" cap="none" strike="noStrike">
                <a:solidFill>
                  <a:srgbClr val="FDFBFB"/>
                </a:solidFill>
                <a:latin typeface="Calibri"/>
                <a:ea typeface="Calibri"/>
                <a:cs typeface="Calibri"/>
                <a:sym typeface="Calibri"/>
              </a:rPr>
              <a:t>Operator MOD</a:t>
            </a:r>
            <a:endParaRPr b="0" i="0" sz="2600" u="none" cap="none" strike="noStrike">
              <a:solidFill>
                <a:schemeClr val="dk1"/>
              </a:solidFill>
              <a:latin typeface="Calibri"/>
              <a:ea typeface="Calibri"/>
              <a:cs typeface="Calibri"/>
              <a:sym typeface="Calibri"/>
            </a:endParaRPr>
          </a:p>
        </p:txBody>
      </p:sp>
      <p:sp>
        <p:nvSpPr>
          <p:cNvPr id="596" name="Google Shape;596;p23"/>
          <p:cNvSpPr/>
          <p:nvPr/>
        </p:nvSpPr>
        <p:spPr>
          <a:xfrm>
            <a:off x="8229600" y="731520"/>
            <a:ext cx="9418320" cy="2103120"/>
          </a:xfrm>
          <a:prstGeom prst="roundRect">
            <a:avLst>
              <a:gd fmla="val 652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23"/>
          <p:cNvSpPr/>
          <p:nvPr/>
        </p:nvSpPr>
        <p:spPr>
          <a:xfrm>
            <a:off x="8503920" y="914400"/>
            <a:ext cx="1280160" cy="457200"/>
          </a:xfrm>
          <a:prstGeom prst="roundRect">
            <a:avLst>
              <a:gd fmla="val 24000"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1800"/>
              <a:buFont typeface="Calibri"/>
              <a:buNone/>
            </a:pPr>
            <a:r>
              <a:rPr b="1" i="0" lang="en-US" sz="1800" u="none" cap="none" strike="noStrike">
                <a:solidFill>
                  <a:srgbClr val="FDFBFB"/>
                </a:solidFill>
                <a:latin typeface="Calibri"/>
                <a:ea typeface="Calibri"/>
                <a:cs typeface="Calibri"/>
                <a:sym typeface="Calibri"/>
              </a:rPr>
              <a:t>SOAL</a:t>
            </a:r>
            <a:endParaRPr b="0" i="0" sz="1800" u="none" cap="none" strike="noStrike">
              <a:solidFill>
                <a:schemeClr val="dk1"/>
              </a:solidFill>
              <a:latin typeface="Calibri"/>
              <a:ea typeface="Calibri"/>
              <a:cs typeface="Calibri"/>
              <a:sym typeface="Calibri"/>
            </a:endParaRPr>
          </a:p>
        </p:txBody>
      </p:sp>
      <p:sp>
        <p:nvSpPr>
          <p:cNvPr id="598" name="Google Shape;598;p23"/>
          <p:cNvSpPr txBox="1"/>
          <p:nvPr/>
        </p:nvSpPr>
        <p:spPr>
          <a:xfrm>
            <a:off x="8503920" y="1508760"/>
            <a:ext cx="886968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0" i="0" lang="en-US" sz="2400" u="none" cap="none" strike="noStrike">
                <a:solidFill>
                  <a:srgbClr val="13123D"/>
                </a:solidFill>
                <a:latin typeface="Calibri"/>
                <a:ea typeface="Calibri"/>
                <a:cs typeface="Calibri"/>
                <a:sym typeface="Calibri"/>
              </a:rPr>
              <a:t>Buat algoritma yang membaca sebuah bilangan bulat, lalu menampilkan apakah bilangan itu Ganjil atau Genap.</a:t>
            </a:r>
            <a:endParaRPr b="0" i="0" sz="2400" u="none" cap="none" strike="noStrike">
              <a:solidFill>
                <a:schemeClr val="dk1"/>
              </a:solidFill>
              <a:latin typeface="Calibri"/>
              <a:ea typeface="Calibri"/>
              <a:cs typeface="Calibri"/>
              <a:sym typeface="Calibri"/>
            </a:endParaRPr>
          </a:p>
        </p:txBody>
      </p:sp>
      <p:sp>
        <p:nvSpPr>
          <p:cNvPr id="599" name="Google Shape;599;p23"/>
          <p:cNvSpPr/>
          <p:nvPr/>
        </p:nvSpPr>
        <p:spPr>
          <a:xfrm>
            <a:off x="8229600" y="3017520"/>
            <a:ext cx="9418320" cy="1920240"/>
          </a:xfrm>
          <a:prstGeom prst="roundRect">
            <a:avLst>
              <a:gd fmla="val 7143" name="adj"/>
            </a:avLst>
          </a:prstGeom>
          <a:solidFill>
            <a:srgbClr val="FFF3BF"/>
          </a:solidFill>
          <a:ln cap="flat" cmpd="sng" w="12700">
            <a:solidFill>
              <a:srgbClr val="FFF3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00" name="Google Shape;600;p23"/>
          <p:cNvPicPr preferRelativeResize="0"/>
          <p:nvPr/>
        </p:nvPicPr>
        <p:blipFill rotWithShape="1">
          <a:blip r:embed="rId5">
            <a:alphaModFix/>
          </a:blip>
          <a:srcRect b="0" l="0" r="0" t="0"/>
          <a:stretch/>
        </p:blipFill>
        <p:spPr>
          <a:xfrm>
            <a:off x="8503920" y="3200400"/>
            <a:ext cx="457200" cy="457200"/>
          </a:xfrm>
          <a:prstGeom prst="rect">
            <a:avLst/>
          </a:prstGeom>
          <a:noFill/>
          <a:ln>
            <a:noFill/>
          </a:ln>
        </p:spPr>
      </p:pic>
      <p:sp>
        <p:nvSpPr>
          <p:cNvPr id="601" name="Google Shape;601;p23"/>
          <p:cNvSpPr txBox="1"/>
          <p:nvPr/>
        </p:nvSpPr>
        <p:spPr>
          <a:xfrm>
            <a:off x="9144000" y="3200400"/>
            <a:ext cx="4572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Petunjuk</a:t>
            </a:r>
            <a:endParaRPr b="0" i="0" sz="2400" u="none" cap="none" strike="noStrike">
              <a:solidFill>
                <a:schemeClr val="dk1"/>
              </a:solidFill>
              <a:latin typeface="Calibri"/>
              <a:ea typeface="Calibri"/>
              <a:cs typeface="Calibri"/>
              <a:sym typeface="Calibri"/>
            </a:endParaRPr>
          </a:p>
        </p:txBody>
      </p:sp>
      <p:sp>
        <p:nvSpPr>
          <p:cNvPr id="602" name="Google Shape;602;p23"/>
          <p:cNvSpPr txBox="1"/>
          <p:nvPr/>
        </p:nvSpPr>
        <p:spPr>
          <a:xfrm>
            <a:off x="8503920" y="3794760"/>
            <a:ext cx="8869680" cy="1097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3123D"/>
              </a:buClr>
              <a:buSzPts val="2200"/>
              <a:buFont typeface="Calibri"/>
              <a:buChar char="•"/>
            </a:pPr>
            <a:r>
              <a:rPr b="0" i="0" lang="en-US" sz="2200" u="none" cap="none" strike="noStrike">
                <a:solidFill>
                  <a:srgbClr val="13123D"/>
                </a:solidFill>
                <a:latin typeface="Calibri"/>
                <a:ea typeface="Calibri"/>
                <a:cs typeface="Calibri"/>
                <a:sym typeface="Calibri"/>
              </a:rPr>
              <a:t>Bilangan genap selalu habis dibagi 2. Gunakan operator MOD.</a:t>
            </a:r>
            <a:endParaRPr b="0" i="0" sz="2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3123D"/>
              </a:buClr>
              <a:buSzPts val="2200"/>
              <a:buFont typeface="Calibri"/>
              <a:buChar char="•"/>
            </a:pPr>
            <a:r>
              <a:rPr b="0" i="0" lang="en-US" sz="2200" u="none" cap="none" strike="noStrike">
                <a:solidFill>
                  <a:srgbClr val="13123D"/>
                </a:solidFill>
                <a:latin typeface="Calibri"/>
                <a:ea typeface="Calibri"/>
                <a:cs typeface="Calibri"/>
                <a:sym typeface="Calibri"/>
              </a:rPr>
              <a:t>Gambar flowchart dulu: di mana titik keputusannya?</a:t>
            </a:r>
            <a:endParaRPr b="0" i="0" sz="2200" u="none" cap="none" strike="noStrike">
              <a:solidFill>
                <a:schemeClr val="dk1"/>
              </a:solidFill>
              <a:latin typeface="Calibri"/>
              <a:ea typeface="Calibri"/>
              <a:cs typeface="Calibri"/>
              <a:sym typeface="Calibri"/>
            </a:endParaRPr>
          </a:p>
        </p:txBody>
      </p:sp>
      <p:graphicFrame>
        <p:nvGraphicFramePr>
          <p:cNvPr id="603" name="Google Shape;603;p23"/>
          <p:cNvGraphicFramePr/>
          <p:nvPr/>
        </p:nvGraphicFramePr>
        <p:xfrm>
          <a:off x="8229600" y="5166360"/>
          <a:ext cx="3000000" cy="3000000"/>
        </p:xfrm>
        <a:graphic>
          <a:graphicData uri="http://schemas.openxmlformats.org/drawingml/2006/table">
            <a:tbl>
              <a:tblPr>
                <a:noFill/>
                <a:tableStyleId>{73E2A723-B492-44FB-AF4C-91DFBF99BAEE}</a:tableStyleId>
              </a:tblPr>
              <a:tblGrid>
                <a:gridCol w="3200400"/>
                <a:gridCol w="6217925"/>
              </a:tblGrid>
              <a:tr h="566925">
                <a:tc>
                  <a:txBody>
                    <a:bodyPr/>
                    <a:lstStyle/>
                    <a:p>
                      <a:pPr indent="0" lvl="0" marL="0" marR="0" rtl="0" algn="l">
                        <a:spcBef>
                          <a:spcPts val="0"/>
                        </a:spcBef>
                        <a:spcAft>
                          <a:spcPts val="0"/>
                        </a:spcAft>
                        <a:buClr>
                          <a:srgbClr val="FDFBFB"/>
                        </a:buClr>
                        <a:buSzPts val="2100"/>
                        <a:buFont typeface="Calibri"/>
                        <a:buNone/>
                      </a:pPr>
                      <a:r>
                        <a:rPr b="1" lang="en-US" sz="2100" u="none" cap="none" strike="noStrike">
                          <a:solidFill>
                            <a:srgbClr val="FDFBFB"/>
                          </a:solidFill>
                          <a:latin typeface="Calibri"/>
                          <a:ea typeface="Calibri"/>
                          <a:cs typeface="Calibri"/>
                          <a:sym typeface="Calibri"/>
                        </a:rPr>
                        <a:t>Input</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162CA2"/>
                    </a:solidFill>
                  </a:tcPr>
                </a:tc>
                <a:tc>
                  <a:txBody>
                    <a:bodyPr/>
                    <a:lstStyle/>
                    <a:p>
                      <a:pPr indent="0" lvl="0" marL="0" marR="0" rtl="0" algn="l">
                        <a:spcBef>
                          <a:spcPts val="0"/>
                        </a:spcBef>
                        <a:spcAft>
                          <a:spcPts val="0"/>
                        </a:spcAft>
                        <a:buClr>
                          <a:srgbClr val="FDFBFB"/>
                        </a:buClr>
                        <a:buSzPts val="2100"/>
                        <a:buFont typeface="Calibri"/>
                        <a:buNone/>
                      </a:pPr>
                      <a:r>
                        <a:rPr b="1" lang="en-US" sz="2100" u="none" cap="none" strike="noStrike">
                          <a:solidFill>
                            <a:srgbClr val="FDFBFB"/>
                          </a:solidFill>
                          <a:latin typeface="Calibri"/>
                          <a:ea typeface="Calibri"/>
                          <a:cs typeface="Calibri"/>
                          <a:sym typeface="Calibri"/>
                        </a:rPr>
                        <a:t>Output</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162CA2"/>
                    </a:solidFill>
                  </a:tcPr>
                </a:tc>
              </a:tr>
              <a:tr h="566925">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7</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100"/>
                        <a:buFont typeface="Calibri"/>
                        <a:buNone/>
                      </a:pPr>
                      <a:r>
                        <a:rPr lang="en-US" sz="2100" u="none" cap="none" strike="noStrike">
                          <a:solidFill>
                            <a:srgbClr val="13123D"/>
                          </a:solidFill>
                          <a:latin typeface="Calibri"/>
                          <a:ea typeface="Calibri"/>
                          <a:cs typeface="Calibri"/>
                          <a:sym typeface="Calibri"/>
                        </a:rPr>
                        <a:t>Ganjil</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10</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100"/>
                        <a:buFont typeface="Calibri"/>
                        <a:buNone/>
                      </a:pPr>
                      <a:r>
                        <a:rPr lang="en-US" sz="2100" u="none" cap="none" strike="noStrike">
                          <a:solidFill>
                            <a:srgbClr val="13123D"/>
                          </a:solidFill>
                          <a:latin typeface="Calibri"/>
                          <a:ea typeface="Calibri"/>
                          <a:cs typeface="Calibri"/>
                          <a:sym typeface="Calibri"/>
                        </a:rPr>
                        <a:t>Genap</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0</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100"/>
                        <a:buFont typeface="Calibri"/>
                        <a:buNone/>
                      </a:pPr>
                      <a:r>
                        <a:rPr lang="en-US" sz="2100" u="none" cap="none" strike="noStrike">
                          <a:solidFill>
                            <a:srgbClr val="13123D"/>
                          </a:solidFill>
                          <a:latin typeface="Calibri"/>
                          <a:ea typeface="Calibri"/>
                          <a:cs typeface="Calibri"/>
                          <a:sym typeface="Calibri"/>
                        </a:rPr>
                        <a:t>Genap</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-3</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100"/>
                        <a:buFont typeface="Calibri"/>
                        <a:buNone/>
                      </a:pPr>
                      <a:r>
                        <a:rPr lang="en-US" sz="2100" u="none" cap="none" strike="noStrike">
                          <a:solidFill>
                            <a:srgbClr val="13123D"/>
                          </a:solidFill>
                          <a:latin typeface="Calibri"/>
                          <a:ea typeface="Calibri"/>
                          <a:cs typeface="Calibri"/>
                          <a:sym typeface="Calibri"/>
                        </a:rPr>
                        <a:t>Ganjil</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bl>
          </a:graphicData>
        </a:graphic>
      </p:graphicFrame>
      <p:sp>
        <p:nvSpPr>
          <p:cNvPr id="604" name="Google Shape;604;p23"/>
          <p:cNvSpPr/>
          <p:nvPr/>
        </p:nvSpPr>
        <p:spPr>
          <a:xfrm>
            <a:off x="8229600" y="8229600"/>
            <a:ext cx="9418320" cy="1280160"/>
          </a:xfrm>
          <a:prstGeom prst="roundRect">
            <a:avLst>
              <a:gd fmla="val 10714" name="adj"/>
            </a:avLst>
          </a:prstGeom>
          <a:solidFill>
            <a:srgbClr val="FFF3BF"/>
          </a:solidFill>
          <a:ln cap="flat" cmpd="sng" w="12700">
            <a:solidFill>
              <a:srgbClr val="FFF3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23"/>
          <p:cNvSpPr txBox="1"/>
          <p:nvPr/>
        </p:nvSpPr>
        <p:spPr>
          <a:xfrm>
            <a:off x="8503920" y="8229600"/>
            <a:ext cx="8869680" cy="1280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1" i="0" lang="en-US" sz="2200" u="none" cap="none" strike="noStrike">
                <a:solidFill>
                  <a:srgbClr val="13123D"/>
                </a:solidFill>
                <a:latin typeface="Calibri"/>
                <a:ea typeface="Calibri"/>
                <a:cs typeface="Calibri"/>
                <a:sym typeface="Calibri"/>
              </a:rPr>
              <a:t>Bonus: </a:t>
            </a:r>
            <a:r>
              <a:rPr b="0" i="0" lang="en-US" sz="2200" u="none" cap="none" strike="noStrike">
                <a:solidFill>
                  <a:srgbClr val="13123D"/>
                </a:solidFill>
                <a:latin typeface="Calibri"/>
                <a:ea typeface="Calibri"/>
                <a:cs typeface="Calibri"/>
                <a:sym typeface="Calibri"/>
              </a:rPr>
              <a:t>uji juga 0 dan bilangan negatif.</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pic>
        <p:nvPicPr>
          <p:cNvPr descr="/home/claude/assets/image4.png" id="611" name="Google Shape;611;p24"/>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612" name="Google Shape;612;p24"/>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613" name="Google Shape;613;p24"/>
          <p:cNvSpPr txBox="1"/>
          <p:nvPr/>
        </p:nvSpPr>
        <p:spPr>
          <a:xfrm>
            <a:off x="1024128" y="1554480"/>
            <a:ext cx="58521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1800"/>
              <a:buFont typeface="Arial"/>
              <a:buNone/>
            </a:pPr>
            <a:r>
              <a:rPr b="1" i="0" lang="en-US" sz="1800" u="none" cap="none" strike="noStrike">
                <a:solidFill>
                  <a:srgbClr val="FCDF59"/>
                </a:solidFill>
                <a:latin typeface="Arial"/>
                <a:ea typeface="Arial"/>
                <a:cs typeface="Arial"/>
                <a:sym typeface="Arial"/>
              </a:rPr>
              <a:t>PEMBAHASAN LATIHAN 1</a:t>
            </a:r>
            <a:endParaRPr b="0" i="0" sz="1800" u="none" cap="none" strike="noStrike">
              <a:solidFill>
                <a:schemeClr val="dk1"/>
              </a:solidFill>
              <a:latin typeface="Calibri"/>
              <a:ea typeface="Calibri"/>
              <a:cs typeface="Calibri"/>
              <a:sym typeface="Calibri"/>
            </a:endParaRPr>
          </a:p>
        </p:txBody>
      </p:sp>
      <p:sp>
        <p:nvSpPr>
          <p:cNvPr id="614" name="Google Shape;614;p24"/>
          <p:cNvSpPr txBox="1"/>
          <p:nvPr/>
        </p:nvSpPr>
        <p:spPr>
          <a:xfrm>
            <a:off x="1024128" y="2011680"/>
            <a:ext cx="5760720" cy="2651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400"/>
              <a:buFont typeface="Arial"/>
              <a:buNone/>
            </a:pPr>
            <a:r>
              <a:rPr b="1" i="0" lang="en-US" sz="4400" u="none" cap="none" strike="noStrike">
                <a:solidFill>
                  <a:srgbClr val="FDFBFB"/>
                </a:solidFill>
                <a:latin typeface="Arial"/>
                <a:ea typeface="Arial"/>
                <a:cs typeface="Arial"/>
                <a:sym typeface="Arial"/>
              </a:rPr>
              <a:t>Solusi: Ganjil atau Genap</a:t>
            </a:r>
            <a:endParaRPr b="0" i="0" sz="4400" u="none" cap="none" strike="noStrike">
              <a:solidFill>
                <a:schemeClr val="dk1"/>
              </a:solidFill>
              <a:latin typeface="Calibri"/>
              <a:ea typeface="Calibri"/>
              <a:cs typeface="Calibri"/>
              <a:sym typeface="Calibri"/>
            </a:endParaRPr>
          </a:p>
        </p:txBody>
      </p:sp>
      <p:sp>
        <p:nvSpPr>
          <p:cNvPr id="615" name="Google Shape;615;p24"/>
          <p:cNvSpPr txBox="1"/>
          <p:nvPr/>
        </p:nvSpPr>
        <p:spPr>
          <a:xfrm>
            <a:off x="1024128" y="4937760"/>
            <a:ext cx="5486400" cy="42062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FDFBFB"/>
              </a:buClr>
              <a:buSzPts val="2600"/>
              <a:buFont typeface="Calibri"/>
              <a:buChar char="•"/>
            </a:pPr>
            <a:r>
              <a:rPr b="0" i="0" lang="en-US" sz="2600" u="none" cap="none" strike="noStrike">
                <a:solidFill>
                  <a:srgbClr val="FDFBFB"/>
                </a:solidFill>
                <a:latin typeface="Calibri"/>
                <a:ea typeface="Calibri"/>
                <a:cs typeface="Calibri"/>
                <a:sym typeface="Calibri"/>
              </a:rPr>
              <a:t>Satu keputusan, dua jalur</a:t>
            </a:r>
            <a:endParaRPr b="0" i="0" sz="2600" u="none" cap="none" strike="noStrike">
              <a:solidFill>
                <a:schemeClr val="dk1"/>
              </a:solidFill>
              <a:latin typeface="Calibri"/>
              <a:ea typeface="Calibri"/>
              <a:cs typeface="Calibri"/>
              <a:sym typeface="Calibri"/>
            </a:endParaRPr>
          </a:p>
        </p:txBody>
      </p:sp>
      <p:sp>
        <p:nvSpPr>
          <p:cNvPr id="616" name="Google Shape;616;p24"/>
          <p:cNvSpPr/>
          <p:nvPr/>
        </p:nvSpPr>
        <p:spPr>
          <a:xfrm>
            <a:off x="8229600" y="731520"/>
            <a:ext cx="9418320" cy="2593848"/>
          </a:xfrm>
          <a:prstGeom prst="roundRect">
            <a:avLst>
              <a:gd fmla="val 5288" name="adj"/>
            </a:avLst>
          </a:prstGeom>
          <a:solidFill>
            <a:srgbClr val="13123D"/>
          </a:solidFill>
          <a:ln cap="flat" cmpd="sng" w="12700">
            <a:solidFill>
              <a:srgbClr val="1312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24"/>
          <p:cNvSpPr txBox="1"/>
          <p:nvPr/>
        </p:nvSpPr>
        <p:spPr>
          <a:xfrm>
            <a:off x="8503920" y="987552"/>
            <a:ext cx="8869680" cy="21366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200"/>
              <a:buFont typeface="Courier New"/>
              <a:buNone/>
            </a:pPr>
            <a:r>
              <a:rPr b="0" i="0" lang="en-US" sz="2200" u="none" cap="none" strike="noStrike">
                <a:solidFill>
                  <a:srgbClr val="FCDF59"/>
                </a:solidFill>
                <a:latin typeface="Courier New"/>
                <a:ea typeface="Courier New"/>
                <a:cs typeface="Courier New"/>
                <a:sym typeface="Courier New"/>
              </a:rPr>
              <a:t>input</a:t>
            </a:r>
            <a:r>
              <a:rPr b="0" i="0" lang="en-US" sz="2200" u="none" cap="none" strike="noStrike">
                <a:solidFill>
                  <a:srgbClr val="E8ECFF"/>
                </a:solidFill>
                <a:latin typeface="Courier New"/>
                <a:ea typeface="Courier New"/>
                <a:cs typeface="Courier New"/>
                <a:sym typeface="Courier New"/>
              </a:rPr>
              <a:t> angka</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CDF59"/>
              </a:buClr>
              <a:buSzPts val="2200"/>
              <a:buFont typeface="Courier New"/>
              <a:buNone/>
            </a:pPr>
            <a:r>
              <a:rPr b="0" i="0" lang="en-US" sz="2200" u="none" cap="none" strike="noStrike">
                <a:solidFill>
                  <a:srgbClr val="FCDF59"/>
                </a:solidFill>
                <a:latin typeface="Courier New"/>
                <a:ea typeface="Courier New"/>
                <a:cs typeface="Courier New"/>
                <a:sym typeface="Courier New"/>
              </a:rPr>
              <a:t>if</a:t>
            </a:r>
            <a:r>
              <a:rPr b="0" i="0" lang="en-US" sz="2200" u="none" cap="none" strike="noStrike">
                <a:solidFill>
                  <a:srgbClr val="E8ECFF"/>
                </a:solidFill>
                <a:latin typeface="Courier New"/>
                <a:ea typeface="Courier New"/>
                <a:cs typeface="Courier New"/>
                <a:sym typeface="Courier New"/>
              </a:rPr>
              <a:t> angka </a:t>
            </a:r>
            <a:r>
              <a:rPr b="0" i="0" lang="en-US" sz="2200" u="none" cap="none" strike="noStrike">
                <a:solidFill>
                  <a:srgbClr val="FCDF59"/>
                </a:solidFill>
                <a:latin typeface="Courier New"/>
                <a:ea typeface="Courier New"/>
                <a:cs typeface="Courier New"/>
                <a:sym typeface="Courier New"/>
              </a:rPr>
              <a:t>MOD</a:t>
            </a:r>
            <a:r>
              <a:rPr b="0" i="0" lang="en-US" sz="2200" u="none" cap="none" strike="noStrike">
                <a:solidFill>
                  <a:srgbClr val="E8ECFF"/>
                </a:solidFill>
                <a:latin typeface="Courier New"/>
                <a:ea typeface="Courier New"/>
                <a:cs typeface="Courier New"/>
                <a:sym typeface="Courier New"/>
              </a:rPr>
              <a:t> </a:t>
            </a:r>
            <a:r>
              <a:rPr b="0" i="0" lang="en-US" sz="2200" u="none" cap="none" strike="noStrike">
                <a:solidFill>
                  <a:srgbClr val="FFC58A"/>
                </a:solidFill>
                <a:latin typeface="Courier New"/>
                <a:ea typeface="Courier New"/>
                <a:cs typeface="Courier New"/>
                <a:sym typeface="Courier New"/>
              </a:rPr>
              <a:t>2</a:t>
            </a:r>
            <a:r>
              <a:rPr b="0" i="0" lang="en-US" sz="2200" u="none" cap="none" strike="noStrike">
                <a:solidFill>
                  <a:srgbClr val="E8ECFF"/>
                </a:solidFill>
                <a:latin typeface="Courier New"/>
                <a:ea typeface="Courier New"/>
                <a:cs typeface="Courier New"/>
                <a:sym typeface="Courier New"/>
              </a:rPr>
              <a:t> == </a:t>
            </a:r>
            <a:r>
              <a:rPr b="0" i="0" lang="en-US" sz="2200" u="none" cap="none" strike="noStrike">
                <a:solidFill>
                  <a:srgbClr val="FFC58A"/>
                </a:solidFill>
                <a:latin typeface="Courier New"/>
                <a:ea typeface="Courier New"/>
                <a:cs typeface="Courier New"/>
                <a:sym typeface="Courier New"/>
              </a:rPr>
              <a:t>0</a:t>
            </a:r>
            <a:r>
              <a:rPr b="0" i="0" lang="en-US" sz="2200" u="none" cap="none" strike="noStrike">
                <a:solidFill>
                  <a:srgbClr val="E8ECFF"/>
                </a:solidFill>
                <a:latin typeface="Courier New"/>
                <a:ea typeface="Courier New"/>
                <a:cs typeface="Courier New"/>
                <a:sym typeface="Courier New"/>
              </a:rPr>
              <a:t> </a:t>
            </a:r>
            <a:r>
              <a:rPr b="0" i="0" lang="en-US" sz="2200" u="none" cap="none" strike="noStrike">
                <a:solidFill>
                  <a:srgbClr val="FCDF59"/>
                </a:solidFill>
                <a:latin typeface="Courier New"/>
                <a:ea typeface="Courier New"/>
                <a:cs typeface="Courier New"/>
                <a:sym typeface="Courier New"/>
              </a:rPr>
              <a:t>then</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200"/>
              <a:buFont typeface="Courier New"/>
              <a:buNone/>
            </a:pPr>
            <a:r>
              <a:rPr b="0" i="0" lang="en-US" sz="2200" u="none" cap="none" strike="noStrike">
                <a:solidFill>
                  <a:srgbClr val="E8ECFF"/>
                </a:solidFill>
                <a:latin typeface="Courier New"/>
                <a:ea typeface="Courier New"/>
                <a:cs typeface="Courier New"/>
                <a:sym typeface="Courier New"/>
              </a:rPr>
              <a:t>    </a:t>
            </a:r>
            <a:r>
              <a:rPr b="0" i="0" lang="en-US" sz="2200" u="none" cap="none" strike="noStrike">
                <a:solidFill>
                  <a:srgbClr val="FCDF59"/>
                </a:solidFill>
                <a:latin typeface="Courier New"/>
                <a:ea typeface="Courier New"/>
                <a:cs typeface="Courier New"/>
                <a:sym typeface="Courier New"/>
              </a:rPr>
              <a:t>print</a:t>
            </a:r>
            <a:r>
              <a:rPr b="0" i="0" lang="en-US" sz="2200" u="none" cap="none" strike="noStrike">
                <a:solidFill>
                  <a:srgbClr val="E8ECFF"/>
                </a:solidFill>
                <a:latin typeface="Courier New"/>
                <a:ea typeface="Courier New"/>
                <a:cs typeface="Courier New"/>
                <a:sym typeface="Courier New"/>
              </a:rPr>
              <a:t> </a:t>
            </a:r>
            <a:r>
              <a:rPr b="0" i="0" lang="en-US" sz="2200" u="none" cap="none" strike="noStrike">
                <a:solidFill>
                  <a:srgbClr val="A8E6CF"/>
                </a:solidFill>
                <a:latin typeface="Courier New"/>
                <a:ea typeface="Courier New"/>
                <a:cs typeface="Courier New"/>
                <a:sym typeface="Courier New"/>
              </a:rPr>
              <a:t>"Genap"</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CDF59"/>
              </a:buClr>
              <a:buSzPts val="2200"/>
              <a:buFont typeface="Courier New"/>
              <a:buNone/>
            </a:pPr>
            <a:r>
              <a:rPr b="0" i="0" lang="en-US" sz="2200" u="none" cap="none" strike="noStrike">
                <a:solidFill>
                  <a:srgbClr val="FCDF59"/>
                </a:solidFill>
                <a:latin typeface="Courier New"/>
                <a:ea typeface="Courier New"/>
                <a:cs typeface="Courier New"/>
                <a:sym typeface="Courier New"/>
              </a:rPr>
              <a:t>else</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200"/>
              <a:buFont typeface="Courier New"/>
              <a:buNone/>
            </a:pPr>
            <a:r>
              <a:rPr b="0" i="0" lang="en-US" sz="2200" u="none" cap="none" strike="noStrike">
                <a:solidFill>
                  <a:srgbClr val="E8ECFF"/>
                </a:solidFill>
                <a:latin typeface="Courier New"/>
                <a:ea typeface="Courier New"/>
                <a:cs typeface="Courier New"/>
                <a:sym typeface="Courier New"/>
              </a:rPr>
              <a:t>    </a:t>
            </a:r>
            <a:r>
              <a:rPr b="0" i="0" lang="en-US" sz="2200" u="none" cap="none" strike="noStrike">
                <a:solidFill>
                  <a:srgbClr val="FCDF59"/>
                </a:solidFill>
                <a:latin typeface="Courier New"/>
                <a:ea typeface="Courier New"/>
                <a:cs typeface="Courier New"/>
                <a:sym typeface="Courier New"/>
              </a:rPr>
              <a:t>print</a:t>
            </a:r>
            <a:r>
              <a:rPr b="0" i="0" lang="en-US" sz="2200" u="none" cap="none" strike="noStrike">
                <a:solidFill>
                  <a:srgbClr val="E8ECFF"/>
                </a:solidFill>
                <a:latin typeface="Courier New"/>
                <a:ea typeface="Courier New"/>
                <a:cs typeface="Courier New"/>
                <a:sym typeface="Courier New"/>
              </a:rPr>
              <a:t> </a:t>
            </a:r>
            <a:r>
              <a:rPr b="0" i="0" lang="en-US" sz="2200" u="none" cap="none" strike="noStrike">
                <a:solidFill>
                  <a:srgbClr val="A8E6CF"/>
                </a:solidFill>
                <a:latin typeface="Courier New"/>
                <a:ea typeface="Courier New"/>
                <a:cs typeface="Courier New"/>
                <a:sym typeface="Courier New"/>
              </a:rPr>
              <a:t>"Ganjil"</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CDF59"/>
              </a:buClr>
              <a:buSzPts val="2200"/>
              <a:buFont typeface="Courier New"/>
              <a:buNone/>
            </a:pPr>
            <a:r>
              <a:rPr b="0" i="0" lang="en-US" sz="2200" u="none" cap="none" strike="noStrike">
                <a:solidFill>
                  <a:srgbClr val="FCDF59"/>
                </a:solidFill>
                <a:latin typeface="Courier New"/>
                <a:ea typeface="Courier New"/>
                <a:cs typeface="Courier New"/>
                <a:sym typeface="Courier New"/>
              </a:rPr>
              <a:t>end</a:t>
            </a:r>
            <a:r>
              <a:rPr b="0" i="0" lang="en-US" sz="2200" u="none" cap="none" strike="noStrike">
                <a:solidFill>
                  <a:srgbClr val="E8ECFF"/>
                </a:solidFill>
                <a:latin typeface="Courier New"/>
                <a:ea typeface="Courier New"/>
                <a:cs typeface="Courier New"/>
                <a:sym typeface="Courier New"/>
              </a:rPr>
              <a:t> </a:t>
            </a:r>
            <a:r>
              <a:rPr b="0" i="0" lang="en-US" sz="2200" u="none" cap="none" strike="noStrike">
                <a:solidFill>
                  <a:srgbClr val="FCDF59"/>
                </a:solidFill>
                <a:latin typeface="Courier New"/>
                <a:ea typeface="Courier New"/>
                <a:cs typeface="Courier New"/>
                <a:sym typeface="Courier New"/>
              </a:rPr>
              <a:t>if</a:t>
            </a:r>
            <a:endParaRPr b="0" i="0" sz="2200" u="none" cap="none" strike="noStrike">
              <a:solidFill>
                <a:schemeClr val="dk1"/>
              </a:solidFill>
              <a:latin typeface="Calibri"/>
              <a:ea typeface="Calibri"/>
              <a:cs typeface="Calibri"/>
              <a:sym typeface="Calibri"/>
            </a:endParaRPr>
          </a:p>
        </p:txBody>
      </p:sp>
      <p:sp>
        <p:nvSpPr>
          <p:cNvPr id="618" name="Google Shape;618;p24"/>
          <p:cNvSpPr/>
          <p:nvPr/>
        </p:nvSpPr>
        <p:spPr>
          <a:xfrm>
            <a:off x="8229600" y="4206240"/>
            <a:ext cx="9418320" cy="1463040"/>
          </a:xfrm>
          <a:prstGeom prst="roundRect">
            <a:avLst>
              <a:gd fmla="val 9375"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24"/>
          <p:cNvSpPr txBox="1"/>
          <p:nvPr/>
        </p:nvSpPr>
        <p:spPr>
          <a:xfrm>
            <a:off x="8503920" y="4206240"/>
            <a:ext cx="886968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CA2"/>
              </a:buClr>
              <a:buSzPts val="2400"/>
              <a:buFont typeface="Calibri"/>
              <a:buNone/>
            </a:pPr>
            <a:r>
              <a:rPr b="1" i="0" lang="en-US" sz="2400" u="none" cap="none" strike="noStrike">
                <a:solidFill>
                  <a:srgbClr val="162CA2"/>
                </a:solidFill>
                <a:latin typeface="Calibri"/>
                <a:ea typeface="Calibri"/>
                <a:cs typeface="Calibri"/>
                <a:sym typeface="Calibri"/>
              </a:rPr>
              <a:t>Angka 0</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Termasuk genap, karena 0 MOD 2 = 0.</a:t>
            </a:r>
            <a:endParaRPr b="0" i="0" sz="2400" u="none" cap="none" strike="noStrike">
              <a:solidFill>
                <a:schemeClr val="dk1"/>
              </a:solidFill>
              <a:latin typeface="Calibri"/>
              <a:ea typeface="Calibri"/>
              <a:cs typeface="Calibri"/>
              <a:sym typeface="Calibri"/>
            </a:endParaRPr>
          </a:p>
        </p:txBody>
      </p:sp>
      <p:sp>
        <p:nvSpPr>
          <p:cNvPr id="620" name="Google Shape;620;p24"/>
          <p:cNvSpPr/>
          <p:nvPr/>
        </p:nvSpPr>
        <p:spPr>
          <a:xfrm>
            <a:off x="8229600" y="5852160"/>
            <a:ext cx="9418320" cy="2011680"/>
          </a:xfrm>
          <a:prstGeom prst="roundRect">
            <a:avLst>
              <a:gd fmla="val 6818" name="adj"/>
            </a:avLst>
          </a:prstGeom>
          <a:solidFill>
            <a:srgbClr val="FFF3BF"/>
          </a:solidFill>
          <a:ln cap="flat" cmpd="sng" w="12700">
            <a:solidFill>
              <a:srgbClr val="FFF3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24"/>
          <p:cNvSpPr txBox="1"/>
          <p:nvPr/>
        </p:nvSpPr>
        <p:spPr>
          <a:xfrm>
            <a:off x="8503920" y="5852160"/>
            <a:ext cx="8869680" cy="2011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Cek == 0 lebih aman</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Di sebagian bahasa, -3 MOD 2 menghasilkan -1, sehingga cek == 1 gagal.</a:t>
            </a:r>
            <a:endParaRPr b="0" i="0" sz="2400" u="none" cap="none" strike="noStrike">
              <a:solidFill>
                <a:schemeClr val="dk1"/>
              </a:solidFill>
              <a:latin typeface="Calibri"/>
              <a:ea typeface="Calibri"/>
              <a:cs typeface="Calibri"/>
              <a:sym typeface="Calibri"/>
            </a:endParaRPr>
          </a:p>
        </p:txBody>
      </p:sp>
      <p:sp>
        <p:nvSpPr>
          <p:cNvPr id="622" name="Google Shape;622;p24"/>
          <p:cNvSpPr/>
          <p:nvPr/>
        </p:nvSpPr>
        <p:spPr>
          <a:xfrm>
            <a:off x="8229600" y="8046720"/>
            <a:ext cx="9418320" cy="1463040"/>
          </a:xfrm>
          <a:prstGeom prst="roundRect">
            <a:avLst>
              <a:gd fmla="val 9375"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24"/>
          <p:cNvSpPr txBox="1"/>
          <p:nvPr/>
        </p:nvSpPr>
        <p:spPr>
          <a:xfrm>
            <a:off x="8503920" y="8046720"/>
            <a:ext cx="886968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CA2"/>
              </a:buClr>
              <a:buSzPts val="2400"/>
              <a:buFont typeface="Calibri"/>
              <a:buNone/>
            </a:pPr>
            <a:r>
              <a:rPr b="1" i="0" lang="en-US" sz="2400" u="none" cap="none" strike="noStrike">
                <a:solidFill>
                  <a:srgbClr val="162CA2"/>
                </a:solidFill>
                <a:latin typeface="Calibri"/>
                <a:ea typeface="Calibri"/>
                <a:cs typeface="Calibri"/>
                <a:sym typeface="Calibri"/>
              </a:rPr>
              <a:t>Variasi</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Bungkus dalam fungsi isGenap(n).</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pic>
        <p:nvPicPr>
          <p:cNvPr descr="/home/claude/assets/image4.png" id="629" name="Google Shape;629;p25"/>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630" name="Google Shape;630;p25"/>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631" name="Google Shape;631;p25"/>
          <p:cNvSpPr txBox="1"/>
          <p:nvPr/>
        </p:nvSpPr>
        <p:spPr>
          <a:xfrm>
            <a:off x="1024128" y="1554480"/>
            <a:ext cx="58521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1800"/>
              <a:buFont typeface="Arial"/>
              <a:buNone/>
            </a:pPr>
            <a:r>
              <a:rPr b="1" i="0" lang="en-US" sz="1800" u="none" cap="none" strike="noStrike">
                <a:solidFill>
                  <a:srgbClr val="FCDF59"/>
                </a:solidFill>
                <a:latin typeface="Arial"/>
                <a:ea typeface="Arial"/>
                <a:cs typeface="Arial"/>
                <a:sym typeface="Arial"/>
              </a:rPr>
              <a:t>LATIHAN 2 · 12 MENIT</a:t>
            </a:r>
            <a:endParaRPr b="0" i="0" sz="1800" u="none" cap="none" strike="noStrike">
              <a:solidFill>
                <a:schemeClr val="dk1"/>
              </a:solidFill>
              <a:latin typeface="Calibri"/>
              <a:ea typeface="Calibri"/>
              <a:cs typeface="Calibri"/>
              <a:sym typeface="Calibri"/>
            </a:endParaRPr>
          </a:p>
        </p:txBody>
      </p:sp>
      <p:sp>
        <p:nvSpPr>
          <p:cNvPr id="632" name="Google Shape;632;p25"/>
          <p:cNvSpPr txBox="1"/>
          <p:nvPr/>
        </p:nvSpPr>
        <p:spPr>
          <a:xfrm>
            <a:off x="1024128" y="2011680"/>
            <a:ext cx="5760720" cy="2651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400"/>
              <a:buFont typeface="Arial"/>
              <a:buNone/>
            </a:pPr>
            <a:r>
              <a:rPr b="1" i="0" lang="en-US" sz="4400" u="none" cap="none" strike="noStrike">
                <a:solidFill>
                  <a:srgbClr val="FDFBFB"/>
                </a:solidFill>
                <a:latin typeface="Arial"/>
                <a:ea typeface="Arial"/>
                <a:cs typeface="Arial"/>
                <a:sym typeface="Arial"/>
              </a:rPr>
              <a:t>Kalkulator Sederhana</a:t>
            </a:r>
            <a:endParaRPr b="0" i="0" sz="4400" u="none" cap="none" strike="noStrike">
              <a:solidFill>
                <a:schemeClr val="dk1"/>
              </a:solidFill>
              <a:latin typeface="Calibri"/>
              <a:ea typeface="Calibri"/>
              <a:cs typeface="Calibri"/>
              <a:sym typeface="Calibri"/>
            </a:endParaRPr>
          </a:p>
        </p:txBody>
      </p:sp>
      <p:sp>
        <p:nvSpPr>
          <p:cNvPr id="633" name="Google Shape;633;p25"/>
          <p:cNvSpPr txBox="1"/>
          <p:nvPr/>
        </p:nvSpPr>
        <p:spPr>
          <a:xfrm>
            <a:off x="1024128" y="4937760"/>
            <a:ext cx="5486400" cy="42062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FDFBFB"/>
              </a:buClr>
              <a:buSzPts val="2600"/>
              <a:buFont typeface="Calibri"/>
              <a:buChar char="•"/>
            </a:pPr>
            <a:r>
              <a:rPr b="0" i="0" lang="en-US" sz="2600" u="none" cap="none" strike="noStrike">
                <a:solidFill>
                  <a:srgbClr val="FDFBFB"/>
                </a:solidFill>
                <a:latin typeface="Calibri"/>
                <a:ea typeface="Calibri"/>
                <a:cs typeface="Calibri"/>
                <a:sym typeface="Calibri"/>
              </a:rPr>
              <a:t>Percabangan bersarang</a:t>
            </a:r>
            <a:endParaRPr b="0" i="0" sz="2600" u="none" cap="none" strike="noStrike">
              <a:solidFill>
                <a:schemeClr val="dk1"/>
              </a:solidFill>
              <a:latin typeface="Calibri"/>
              <a:ea typeface="Calibri"/>
              <a:cs typeface="Calibri"/>
              <a:sym typeface="Calibri"/>
            </a:endParaRPr>
          </a:p>
          <a:p>
            <a:pPr indent="-342900" lvl="0" marL="342900" marR="0" rtl="0" algn="l">
              <a:spcBef>
                <a:spcPts val="1400"/>
              </a:spcBef>
              <a:spcAft>
                <a:spcPts val="0"/>
              </a:spcAft>
              <a:buClr>
                <a:srgbClr val="FDFBFB"/>
              </a:buClr>
              <a:buSzPts val="2600"/>
              <a:buFont typeface="Calibri"/>
              <a:buChar char="•"/>
            </a:pPr>
            <a:r>
              <a:rPr b="0" i="0" lang="en-US" sz="2600" u="none" cap="none" strike="noStrike">
                <a:solidFill>
                  <a:srgbClr val="FDFBFB"/>
                </a:solidFill>
                <a:latin typeface="Calibri"/>
                <a:ea typeface="Calibri"/>
                <a:cs typeface="Calibri"/>
                <a:sym typeface="Calibri"/>
              </a:rPr>
              <a:t>Validasi input</a:t>
            </a:r>
            <a:endParaRPr b="0" i="0" sz="2600" u="none" cap="none" strike="noStrike">
              <a:solidFill>
                <a:schemeClr val="dk1"/>
              </a:solidFill>
              <a:latin typeface="Calibri"/>
              <a:ea typeface="Calibri"/>
              <a:cs typeface="Calibri"/>
              <a:sym typeface="Calibri"/>
            </a:endParaRPr>
          </a:p>
        </p:txBody>
      </p:sp>
      <p:sp>
        <p:nvSpPr>
          <p:cNvPr id="634" name="Google Shape;634;p25"/>
          <p:cNvSpPr/>
          <p:nvPr/>
        </p:nvSpPr>
        <p:spPr>
          <a:xfrm>
            <a:off x="8229600" y="731520"/>
            <a:ext cx="9418320" cy="2103120"/>
          </a:xfrm>
          <a:prstGeom prst="roundRect">
            <a:avLst>
              <a:gd fmla="val 652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25"/>
          <p:cNvSpPr/>
          <p:nvPr/>
        </p:nvSpPr>
        <p:spPr>
          <a:xfrm>
            <a:off x="8503920" y="914400"/>
            <a:ext cx="1280160" cy="457200"/>
          </a:xfrm>
          <a:prstGeom prst="roundRect">
            <a:avLst>
              <a:gd fmla="val 24000"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1800"/>
              <a:buFont typeface="Calibri"/>
              <a:buNone/>
            </a:pPr>
            <a:r>
              <a:rPr b="1" i="0" lang="en-US" sz="1800" u="none" cap="none" strike="noStrike">
                <a:solidFill>
                  <a:srgbClr val="FDFBFB"/>
                </a:solidFill>
                <a:latin typeface="Calibri"/>
                <a:ea typeface="Calibri"/>
                <a:cs typeface="Calibri"/>
                <a:sym typeface="Calibri"/>
              </a:rPr>
              <a:t>SOAL</a:t>
            </a:r>
            <a:endParaRPr b="0" i="0" sz="1800" u="none" cap="none" strike="noStrike">
              <a:solidFill>
                <a:schemeClr val="dk1"/>
              </a:solidFill>
              <a:latin typeface="Calibri"/>
              <a:ea typeface="Calibri"/>
              <a:cs typeface="Calibri"/>
              <a:sym typeface="Calibri"/>
            </a:endParaRPr>
          </a:p>
        </p:txBody>
      </p:sp>
      <p:sp>
        <p:nvSpPr>
          <p:cNvPr id="636" name="Google Shape;636;p25"/>
          <p:cNvSpPr txBox="1"/>
          <p:nvPr/>
        </p:nvSpPr>
        <p:spPr>
          <a:xfrm>
            <a:off x="8503920" y="1508760"/>
            <a:ext cx="886968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0" i="0" lang="en-US" sz="2400" u="none" cap="none" strike="noStrike">
                <a:solidFill>
                  <a:srgbClr val="13123D"/>
                </a:solidFill>
                <a:latin typeface="Calibri"/>
                <a:ea typeface="Calibri"/>
                <a:cs typeface="Calibri"/>
                <a:sym typeface="Calibri"/>
              </a:rPr>
              <a:t>Baca dua bilangan dan satu operator (+, -, *, /), lalu tampilkan hasilnya. Tangani pembagian dengan nol.</a:t>
            </a:r>
            <a:endParaRPr b="0" i="0" sz="2400" u="none" cap="none" strike="noStrike">
              <a:solidFill>
                <a:schemeClr val="dk1"/>
              </a:solidFill>
              <a:latin typeface="Calibri"/>
              <a:ea typeface="Calibri"/>
              <a:cs typeface="Calibri"/>
              <a:sym typeface="Calibri"/>
            </a:endParaRPr>
          </a:p>
        </p:txBody>
      </p:sp>
      <p:sp>
        <p:nvSpPr>
          <p:cNvPr id="637" name="Google Shape;637;p25"/>
          <p:cNvSpPr/>
          <p:nvPr/>
        </p:nvSpPr>
        <p:spPr>
          <a:xfrm>
            <a:off x="8229600" y="3017520"/>
            <a:ext cx="9418320" cy="1920240"/>
          </a:xfrm>
          <a:prstGeom prst="roundRect">
            <a:avLst>
              <a:gd fmla="val 7143" name="adj"/>
            </a:avLst>
          </a:prstGeom>
          <a:solidFill>
            <a:srgbClr val="FFF3BF"/>
          </a:solidFill>
          <a:ln cap="flat" cmpd="sng" w="12700">
            <a:solidFill>
              <a:srgbClr val="FFF3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38" name="Google Shape;638;p25"/>
          <p:cNvPicPr preferRelativeResize="0"/>
          <p:nvPr/>
        </p:nvPicPr>
        <p:blipFill rotWithShape="1">
          <a:blip r:embed="rId5">
            <a:alphaModFix/>
          </a:blip>
          <a:srcRect b="0" l="0" r="0" t="0"/>
          <a:stretch/>
        </p:blipFill>
        <p:spPr>
          <a:xfrm>
            <a:off x="8503920" y="3200400"/>
            <a:ext cx="457200" cy="457200"/>
          </a:xfrm>
          <a:prstGeom prst="rect">
            <a:avLst/>
          </a:prstGeom>
          <a:noFill/>
          <a:ln>
            <a:noFill/>
          </a:ln>
        </p:spPr>
      </p:pic>
      <p:sp>
        <p:nvSpPr>
          <p:cNvPr id="639" name="Google Shape;639;p25"/>
          <p:cNvSpPr txBox="1"/>
          <p:nvPr/>
        </p:nvSpPr>
        <p:spPr>
          <a:xfrm>
            <a:off x="9144000" y="3200400"/>
            <a:ext cx="4572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Petunjuk</a:t>
            </a:r>
            <a:endParaRPr b="0" i="0" sz="2400" u="none" cap="none" strike="noStrike">
              <a:solidFill>
                <a:schemeClr val="dk1"/>
              </a:solidFill>
              <a:latin typeface="Calibri"/>
              <a:ea typeface="Calibri"/>
              <a:cs typeface="Calibri"/>
              <a:sym typeface="Calibri"/>
            </a:endParaRPr>
          </a:p>
        </p:txBody>
      </p:sp>
      <p:sp>
        <p:nvSpPr>
          <p:cNvPr id="640" name="Google Shape;640;p25"/>
          <p:cNvSpPr txBox="1"/>
          <p:nvPr/>
        </p:nvSpPr>
        <p:spPr>
          <a:xfrm>
            <a:off x="8503920" y="3794760"/>
            <a:ext cx="8869680" cy="1097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3123D"/>
              </a:buClr>
              <a:buSzPts val="2200"/>
              <a:buFont typeface="Calibri"/>
              <a:buChar char="•"/>
            </a:pPr>
            <a:r>
              <a:rPr b="0" i="0" lang="en-US" sz="2200" u="none" cap="none" strike="noStrike">
                <a:solidFill>
                  <a:srgbClr val="13123D"/>
                </a:solidFill>
                <a:latin typeface="Calibri"/>
                <a:ea typeface="Calibri"/>
                <a:cs typeface="Calibri"/>
                <a:sym typeface="Calibri"/>
              </a:rPr>
              <a:t>Struktur apa yang cocok untuk memilih operator?</a:t>
            </a:r>
            <a:endParaRPr b="0" i="0" sz="2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3123D"/>
              </a:buClr>
              <a:buSzPts val="2200"/>
              <a:buFont typeface="Calibri"/>
              <a:buChar char="•"/>
            </a:pPr>
            <a:r>
              <a:rPr b="0" i="0" lang="en-US" sz="2200" u="none" cap="none" strike="noStrike">
                <a:solidFill>
                  <a:srgbClr val="13123D"/>
                </a:solidFill>
                <a:latin typeface="Calibri"/>
                <a:ea typeface="Calibri"/>
                <a:cs typeface="Calibri"/>
                <a:sym typeface="Calibri"/>
              </a:rPr>
              <a:t>Bagaimana jika pembagi = 0? Tambahkan pengecekan.</a:t>
            </a:r>
            <a:endParaRPr b="0" i="0" sz="2200" u="none" cap="none" strike="noStrike">
              <a:solidFill>
                <a:schemeClr val="dk1"/>
              </a:solidFill>
              <a:latin typeface="Calibri"/>
              <a:ea typeface="Calibri"/>
              <a:cs typeface="Calibri"/>
              <a:sym typeface="Calibri"/>
            </a:endParaRPr>
          </a:p>
        </p:txBody>
      </p:sp>
      <p:graphicFrame>
        <p:nvGraphicFramePr>
          <p:cNvPr id="641" name="Google Shape;641;p25"/>
          <p:cNvGraphicFramePr/>
          <p:nvPr/>
        </p:nvGraphicFramePr>
        <p:xfrm>
          <a:off x="8229600" y="5166360"/>
          <a:ext cx="3000000" cy="3000000"/>
        </p:xfrm>
        <a:graphic>
          <a:graphicData uri="http://schemas.openxmlformats.org/drawingml/2006/table">
            <a:tbl>
              <a:tblPr>
                <a:noFill/>
                <a:tableStyleId>{73E2A723-B492-44FB-AF4C-91DFBF99BAEE}</a:tableStyleId>
              </a:tblPr>
              <a:tblGrid>
                <a:gridCol w="3200400"/>
                <a:gridCol w="6217925"/>
              </a:tblGrid>
              <a:tr h="566925">
                <a:tc>
                  <a:txBody>
                    <a:bodyPr/>
                    <a:lstStyle/>
                    <a:p>
                      <a:pPr indent="0" lvl="0" marL="0" marR="0" rtl="0" algn="l">
                        <a:spcBef>
                          <a:spcPts val="0"/>
                        </a:spcBef>
                        <a:spcAft>
                          <a:spcPts val="0"/>
                        </a:spcAft>
                        <a:buClr>
                          <a:srgbClr val="FDFBFB"/>
                        </a:buClr>
                        <a:buSzPts val="2100"/>
                        <a:buFont typeface="Calibri"/>
                        <a:buNone/>
                      </a:pPr>
                      <a:r>
                        <a:rPr b="1" lang="en-US" sz="2100" u="none" cap="none" strike="noStrike">
                          <a:solidFill>
                            <a:srgbClr val="FDFBFB"/>
                          </a:solidFill>
                          <a:latin typeface="Calibri"/>
                          <a:ea typeface="Calibri"/>
                          <a:cs typeface="Calibri"/>
                          <a:sym typeface="Calibri"/>
                        </a:rPr>
                        <a:t>Input</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162CA2"/>
                    </a:solidFill>
                  </a:tcPr>
                </a:tc>
                <a:tc>
                  <a:txBody>
                    <a:bodyPr/>
                    <a:lstStyle/>
                    <a:p>
                      <a:pPr indent="0" lvl="0" marL="0" marR="0" rtl="0" algn="l">
                        <a:spcBef>
                          <a:spcPts val="0"/>
                        </a:spcBef>
                        <a:spcAft>
                          <a:spcPts val="0"/>
                        </a:spcAft>
                        <a:buClr>
                          <a:srgbClr val="FDFBFB"/>
                        </a:buClr>
                        <a:buSzPts val="2100"/>
                        <a:buFont typeface="Calibri"/>
                        <a:buNone/>
                      </a:pPr>
                      <a:r>
                        <a:rPr b="1" lang="en-US" sz="2100" u="none" cap="none" strike="noStrike">
                          <a:solidFill>
                            <a:srgbClr val="FDFBFB"/>
                          </a:solidFill>
                          <a:latin typeface="Calibri"/>
                          <a:ea typeface="Calibri"/>
                          <a:cs typeface="Calibri"/>
                          <a:sym typeface="Calibri"/>
                        </a:rPr>
                        <a:t>Output</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162CA2"/>
                    </a:solidFill>
                  </a:tcPr>
                </a:tc>
              </a:tr>
              <a:tr h="566925">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8 + 2</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100"/>
                        <a:buFont typeface="Calibri"/>
                        <a:buNone/>
                      </a:pPr>
                      <a:r>
                        <a:rPr lang="en-US" sz="2100" u="none" cap="none" strike="noStrike">
                          <a:solidFill>
                            <a:srgbClr val="13123D"/>
                          </a:solidFill>
                          <a:latin typeface="Calibri"/>
                          <a:ea typeface="Calibri"/>
                          <a:cs typeface="Calibri"/>
                          <a:sym typeface="Calibri"/>
                        </a:rPr>
                        <a:t>10</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8 / 2</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100"/>
                        <a:buFont typeface="Calibri"/>
                        <a:buNone/>
                      </a:pPr>
                      <a:r>
                        <a:rPr lang="en-US" sz="2100" u="none" cap="none" strike="noStrike">
                          <a:solidFill>
                            <a:srgbClr val="13123D"/>
                          </a:solidFill>
                          <a:latin typeface="Calibri"/>
                          <a:ea typeface="Calibri"/>
                          <a:cs typeface="Calibri"/>
                          <a:sym typeface="Calibri"/>
                        </a:rPr>
                        <a:t>4</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8 / 0</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100"/>
                        <a:buFont typeface="Calibri"/>
                        <a:buNone/>
                      </a:pPr>
                      <a:r>
                        <a:rPr lang="en-US" sz="2100" u="none" cap="none" strike="noStrike">
                          <a:solidFill>
                            <a:srgbClr val="13123D"/>
                          </a:solidFill>
                          <a:latin typeface="Calibri"/>
                          <a:ea typeface="Calibri"/>
                          <a:cs typeface="Calibri"/>
                          <a:sym typeface="Calibri"/>
                        </a:rPr>
                        <a:t>Tidak bisa dibagi nol</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8 % 2</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100"/>
                        <a:buFont typeface="Calibri"/>
                        <a:buNone/>
                      </a:pPr>
                      <a:r>
                        <a:rPr lang="en-US" sz="2100" u="none" cap="none" strike="noStrike">
                          <a:solidFill>
                            <a:srgbClr val="13123D"/>
                          </a:solidFill>
                          <a:latin typeface="Calibri"/>
                          <a:ea typeface="Calibri"/>
                          <a:cs typeface="Calibri"/>
                          <a:sym typeface="Calibri"/>
                        </a:rPr>
                        <a:t>Operator tidak valid</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bl>
          </a:graphicData>
        </a:graphic>
      </p:graphicFrame>
      <p:sp>
        <p:nvSpPr>
          <p:cNvPr id="642" name="Google Shape;642;p25"/>
          <p:cNvSpPr/>
          <p:nvPr/>
        </p:nvSpPr>
        <p:spPr>
          <a:xfrm>
            <a:off x="8229600" y="8229600"/>
            <a:ext cx="9418320" cy="1280160"/>
          </a:xfrm>
          <a:prstGeom prst="roundRect">
            <a:avLst>
              <a:gd fmla="val 10714" name="adj"/>
            </a:avLst>
          </a:prstGeom>
          <a:solidFill>
            <a:srgbClr val="FFF3BF"/>
          </a:solidFill>
          <a:ln cap="flat" cmpd="sng" w="12700">
            <a:solidFill>
              <a:srgbClr val="FFF3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25"/>
          <p:cNvSpPr txBox="1"/>
          <p:nvPr/>
        </p:nvSpPr>
        <p:spPr>
          <a:xfrm>
            <a:off x="8503920" y="8229600"/>
            <a:ext cx="8869680" cy="1280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1" i="0" lang="en-US" sz="2200" u="none" cap="none" strike="noStrike">
                <a:solidFill>
                  <a:srgbClr val="13123D"/>
                </a:solidFill>
                <a:latin typeface="Calibri"/>
                <a:ea typeface="Calibri"/>
                <a:cs typeface="Calibri"/>
                <a:sym typeface="Calibri"/>
              </a:rPr>
              <a:t>Bonus: </a:t>
            </a:r>
            <a:r>
              <a:rPr b="0" i="0" lang="en-US" sz="2200" u="none" cap="none" strike="noStrike">
                <a:solidFill>
                  <a:srgbClr val="13123D"/>
                </a:solidFill>
                <a:latin typeface="Calibri"/>
                <a:ea typeface="Calibri"/>
                <a:cs typeface="Calibri"/>
                <a:sym typeface="Calibri"/>
              </a:rPr>
              <a:t>bungkus dalam fungsi hitung(a, b, op).</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pic>
        <p:nvPicPr>
          <p:cNvPr descr="/home/claude/assets/image4.png" id="649" name="Google Shape;649;p26"/>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650" name="Google Shape;650;p26"/>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651" name="Google Shape;651;p26"/>
          <p:cNvSpPr txBox="1"/>
          <p:nvPr/>
        </p:nvSpPr>
        <p:spPr>
          <a:xfrm>
            <a:off x="1024128" y="1554480"/>
            <a:ext cx="58521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1800"/>
              <a:buFont typeface="Arial"/>
              <a:buNone/>
            </a:pPr>
            <a:r>
              <a:rPr b="1" i="0" lang="en-US" sz="1800" u="none" cap="none" strike="noStrike">
                <a:solidFill>
                  <a:srgbClr val="FCDF59"/>
                </a:solidFill>
                <a:latin typeface="Arial"/>
                <a:ea typeface="Arial"/>
                <a:cs typeface="Arial"/>
                <a:sym typeface="Arial"/>
              </a:rPr>
              <a:t>PEMBAHASAN LATIHAN 2</a:t>
            </a:r>
            <a:endParaRPr b="0" i="0" sz="1800" u="none" cap="none" strike="noStrike">
              <a:solidFill>
                <a:schemeClr val="dk1"/>
              </a:solidFill>
              <a:latin typeface="Calibri"/>
              <a:ea typeface="Calibri"/>
              <a:cs typeface="Calibri"/>
              <a:sym typeface="Calibri"/>
            </a:endParaRPr>
          </a:p>
        </p:txBody>
      </p:sp>
      <p:sp>
        <p:nvSpPr>
          <p:cNvPr id="652" name="Google Shape;652;p26"/>
          <p:cNvSpPr txBox="1"/>
          <p:nvPr/>
        </p:nvSpPr>
        <p:spPr>
          <a:xfrm>
            <a:off x="1024128" y="2011680"/>
            <a:ext cx="5760720" cy="2651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400"/>
              <a:buFont typeface="Arial"/>
              <a:buNone/>
            </a:pPr>
            <a:r>
              <a:rPr b="1" i="0" lang="en-US" sz="4400" u="none" cap="none" strike="noStrike">
                <a:solidFill>
                  <a:srgbClr val="FDFBFB"/>
                </a:solidFill>
                <a:latin typeface="Arial"/>
                <a:ea typeface="Arial"/>
                <a:cs typeface="Arial"/>
                <a:sym typeface="Arial"/>
              </a:rPr>
              <a:t>Solusi: Kalkulator</a:t>
            </a:r>
            <a:endParaRPr b="0" i="0" sz="4400" u="none" cap="none" strike="noStrike">
              <a:solidFill>
                <a:schemeClr val="dk1"/>
              </a:solidFill>
              <a:latin typeface="Calibri"/>
              <a:ea typeface="Calibri"/>
              <a:cs typeface="Calibri"/>
              <a:sym typeface="Calibri"/>
            </a:endParaRPr>
          </a:p>
        </p:txBody>
      </p:sp>
      <p:sp>
        <p:nvSpPr>
          <p:cNvPr id="653" name="Google Shape;653;p26"/>
          <p:cNvSpPr txBox="1"/>
          <p:nvPr/>
        </p:nvSpPr>
        <p:spPr>
          <a:xfrm>
            <a:off x="1024128" y="4937760"/>
            <a:ext cx="5486400" cy="42062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FDFBFB"/>
              </a:buClr>
              <a:buSzPts val="2600"/>
              <a:buFont typeface="Calibri"/>
              <a:buChar char="•"/>
            </a:pPr>
            <a:r>
              <a:rPr b="0" i="0" lang="en-US" sz="2600" u="none" cap="none" strike="noStrike">
                <a:solidFill>
                  <a:srgbClr val="FDFBFB"/>
                </a:solidFill>
                <a:latin typeface="Calibri"/>
                <a:ea typeface="Calibri"/>
                <a:cs typeface="Calibri"/>
                <a:sym typeface="Calibri"/>
              </a:rPr>
              <a:t>switch untuk operator</a:t>
            </a:r>
            <a:endParaRPr b="0" i="0" sz="2600" u="none" cap="none" strike="noStrike">
              <a:solidFill>
                <a:schemeClr val="dk1"/>
              </a:solidFill>
              <a:latin typeface="Calibri"/>
              <a:ea typeface="Calibri"/>
              <a:cs typeface="Calibri"/>
              <a:sym typeface="Calibri"/>
            </a:endParaRPr>
          </a:p>
          <a:p>
            <a:pPr indent="-342900" lvl="0" marL="342900" marR="0" rtl="0" algn="l">
              <a:spcBef>
                <a:spcPts val="1400"/>
              </a:spcBef>
              <a:spcAft>
                <a:spcPts val="0"/>
              </a:spcAft>
              <a:buClr>
                <a:srgbClr val="FDFBFB"/>
              </a:buClr>
              <a:buSzPts val="2600"/>
              <a:buFont typeface="Calibri"/>
              <a:buChar char="•"/>
            </a:pPr>
            <a:r>
              <a:rPr b="0" i="0" lang="en-US" sz="2600" u="none" cap="none" strike="noStrike">
                <a:solidFill>
                  <a:srgbClr val="FDFBFB"/>
                </a:solidFill>
                <a:latin typeface="Calibri"/>
                <a:ea typeface="Calibri"/>
                <a:cs typeface="Calibri"/>
                <a:sym typeface="Calibri"/>
              </a:rPr>
              <a:t>if bersarang untuk pembagian</a:t>
            </a:r>
            <a:endParaRPr b="0" i="0" sz="2600" u="none" cap="none" strike="noStrike">
              <a:solidFill>
                <a:schemeClr val="dk1"/>
              </a:solidFill>
              <a:latin typeface="Calibri"/>
              <a:ea typeface="Calibri"/>
              <a:cs typeface="Calibri"/>
              <a:sym typeface="Calibri"/>
            </a:endParaRPr>
          </a:p>
        </p:txBody>
      </p:sp>
      <p:sp>
        <p:nvSpPr>
          <p:cNvPr id="654" name="Google Shape;654;p26"/>
          <p:cNvSpPr/>
          <p:nvPr/>
        </p:nvSpPr>
        <p:spPr>
          <a:xfrm>
            <a:off x="8229600" y="731520"/>
            <a:ext cx="9418320" cy="4375658"/>
          </a:xfrm>
          <a:prstGeom prst="roundRect">
            <a:avLst>
              <a:gd fmla="val 3135" name="adj"/>
            </a:avLst>
          </a:prstGeom>
          <a:solidFill>
            <a:srgbClr val="13123D"/>
          </a:solidFill>
          <a:ln cap="flat" cmpd="sng" w="12700">
            <a:solidFill>
              <a:srgbClr val="1312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26"/>
          <p:cNvSpPr txBox="1"/>
          <p:nvPr/>
        </p:nvSpPr>
        <p:spPr>
          <a:xfrm>
            <a:off x="8503920" y="987552"/>
            <a:ext cx="8869680" cy="391845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1900"/>
              <a:buFont typeface="Courier New"/>
              <a:buNone/>
            </a:pPr>
            <a:r>
              <a:rPr b="0" i="0" lang="en-US" sz="1900" u="none" cap="none" strike="noStrike">
                <a:solidFill>
                  <a:srgbClr val="FCDF59"/>
                </a:solidFill>
                <a:latin typeface="Courier New"/>
                <a:ea typeface="Courier New"/>
                <a:cs typeface="Courier New"/>
                <a:sym typeface="Courier New"/>
              </a:rPr>
              <a:t>input</a:t>
            </a:r>
            <a:r>
              <a:rPr b="0" i="0" lang="en-US" sz="1900" u="none" cap="none" strike="noStrike">
                <a:solidFill>
                  <a:srgbClr val="E8ECFF"/>
                </a:solidFill>
                <a:latin typeface="Courier New"/>
                <a:ea typeface="Courier New"/>
                <a:cs typeface="Courier New"/>
                <a:sym typeface="Courier New"/>
              </a:rPr>
              <a:t> a, b, op</a:t>
            </a:r>
            <a:endParaRPr b="0" i="0" sz="1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CDF59"/>
              </a:buClr>
              <a:buSzPts val="1900"/>
              <a:buFont typeface="Courier New"/>
              <a:buNone/>
            </a:pPr>
            <a:r>
              <a:rPr b="0" i="0" lang="en-US" sz="1900" u="none" cap="none" strike="noStrike">
                <a:solidFill>
                  <a:srgbClr val="FCDF59"/>
                </a:solidFill>
                <a:latin typeface="Courier New"/>
                <a:ea typeface="Courier New"/>
                <a:cs typeface="Courier New"/>
                <a:sym typeface="Courier New"/>
              </a:rPr>
              <a:t>switch</a:t>
            </a:r>
            <a:r>
              <a:rPr b="0" i="0" lang="en-US" sz="1900" u="none" cap="none" strike="noStrike">
                <a:solidFill>
                  <a:srgbClr val="E8ECFF"/>
                </a:solidFill>
                <a:latin typeface="Courier New"/>
                <a:ea typeface="Courier New"/>
                <a:cs typeface="Courier New"/>
                <a:sym typeface="Courier New"/>
              </a:rPr>
              <a:t> op</a:t>
            </a:r>
            <a:endParaRPr b="0" i="0" sz="1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1900"/>
              <a:buFont typeface="Courier New"/>
              <a:buNone/>
            </a:pPr>
            <a:r>
              <a:rPr b="0" i="0" lang="en-US" sz="1900" u="none" cap="none" strike="noStrike">
                <a:solidFill>
                  <a:srgbClr val="E8ECFF"/>
                </a:solidFill>
                <a:latin typeface="Courier New"/>
                <a:ea typeface="Courier New"/>
                <a:cs typeface="Courier New"/>
                <a:sym typeface="Courier New"/>
              </a:rPr>
              <a:t>    </a:t>
            </a:r>
            <a:r>
              <a:rPr b="0" i="0" lang="en-US" sz="1900" u="none" cap="none" strike="noStrike">
                <a:solidFill>
                  <a:srgbClr val="FCDF59"/>
                </a:solidFill>
                <a:latin typeface="Courier New"/>
                <a:ea typeface="Courier New"/>
                <a:cs typeface="Courier New"/>
                <a:sym typeface="Courier New"/>
              </a:rPr>
              <a:t>case</a:t>
            </a:r>
            <a:r>
              <a:rPr b="0" i="0" lang="en-US" sz="1900" u="none" cap="none" strike="noStrike">
                <a:solidFill>
                  <a:srgbClr val="E8ECFF"/>
                </a:solidFill>
                <a:latin typeface="Courier New"/>
                <a:ea typeface="Courier New"/>
                <a:cs typeface="Courier New"/>
                <a:sym typeface="Courier New"/>
              </a:rPr>
              <a:t> </a:t>
            </a:r>
            <a:r>
              <a:rPr b="0" i="0" lang="en-US" sz="1900" u="none" cap="none" strike="noStrike">
                <a:solidFill>
                  <a:srgbClr val="A8E6CF"/>
                </a:solidFill>
                <a:latin typeface="Courier New"/>
                <a:ea typeface="Courier New"/>
                <a:cs typeface="Courier New"/>
                <a:sym typeface="Courier New"/>
              </a:rPr>
              <a:t>"+"</a:t>
            </a:r>
            <a:r>
              <a:rPr b="0" i="0" lang="en-US" sz="1900" u="none" cap="none" strike="noStrike">
                <a:solidFill>
                  <a:srgbClr val="E8ECFF"/>
                </a:solidFill>
                <a:latin typeface="Courier New"/>
                <a:ea typeface="Courier New"/>
                <a:cs typeface="Courier New"/>
                <a:sym typeface="Courier New"/>
              </a:rPr>
              <a:t>: </a:t>
            </a:r>
            <a:r>
              <a:rPr b="0" i="0" lang="en-US" sz="1900" u="none" cap="none" strike="noStrike">
                <a:solidFill>
                  <a:srgbClr val="FCDF59"/>
                </a:solidFill>
                <a:latin typeface="Courier New"/>
                <a:ea typeface="Courier New"/>
                <a:cs typeface="Courier New"/>
                <a:sym typeface="Courier New"/>
              </a:rPr>
              <a:t>print</a:t>
            </a:r>
            <a:r>
              <a:rPr b="0" i="0" lang="en-US" sz="1900" u="none" cap="none" strike="noStrike">
                <a:solidFill>
                  <a:srgbClr val="E8ECFF"/>
                </a:solidFill>
                <a:latin typeface="Courier New"/>
                <a:ea typeface="Courier New"/>
                <a:cs typeface="Courier New"/>
                <a:sym typeface="Courier New"/>
              </a:rPr>
              <a:t> a + b</a:t>
            </a:r>
            <a:endParaRPr b="0" i="0" sz="1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1900"/>
              <a:buFont typeface="Courier New"/>
              <a:buNone/>
            </a:pPr>
            <a:r>
              <a:rPr b="0" i="0" lang="en-US" sz="1900" u="none" cap="none" strike="noStrike">
                <a:solidFill>
                  <a:srgbClr val="E8ECFF"/>
                </a:solidFill>
                <a:latin typeface="Courier New"/>
                <a:ea typeface="Courier New"/>
                <a:cs typeface="Courier New"/>
                <a:sym typeface="Courier New"/>
              </a:rPr>
              <a:t>    </a:t>
            </a:r>
            <a:r>
              <a:rPr b="0" i="0" lang="en-US" sz="1900" u="none" cap="none" strike="noStrike">
                <a:solidFill>
                  <a:srgbClr val="FCDF59"/>
                </a:solidFill>
                <a:latin typeface="Courier New"/>
                <a:ea typeface="Courier New"/>
                <a:cs typeface="Courier New"/>
                <a:sym typeface="Courier New"/>
              </a:rPr>
              <a:t>case</a:t>
            </a:r>
            <a:r>
              <a:rPr b="0" i="0" lang="en-US" sz="1900" u="none" cap="none" strike="noStrike">
                <a:solidFill>
                  <a:srgbClr val="E8ECFF"/>
                </a:solidFill>
                <a:latin typeface="Courier New"/>
                <a:ea typeface="Courier New"/>
                <a:cs typeface="Courier New"/>
                <a:sym typeface="Courier New"/>
              </a:rPr>
              <a:t> </a:t>
            </a:r>
            <a:r>
              <a:rPr b="0" i="0" lang="en-US" sz="1900" u="none" cap="none" strike="noStrike">
                <a:solidFill>
                  <a:srgbClr val="A8E6CF"/>
                </a:solidFill>
                <a:latin typeface="Courier New"/>
                <a:ea typeface="Courier New"/>
                <a:cs typeface="Courier New"/>
                <a:sym typeface="Courier New"/>
              </a:rPr>
              <a:t>"-"</a:t>
            </a:r>
            <a:r>
              <a:rPr b="0" i="0" lang="en-US" sz="1900" u="none" cap="none" strike="noStrike">
                <a:solidFill>
                  <a:srgbClr val="E8ECFF"/>
                </a:solidFill>
                <a:latin typeface="Courier New"/>
                <a:ea typeface="Courier New"/>
                <a:cs typeface="Courier New"/>
                <a:sym typeface="Courier New"/>
              </a:rPr>
              <a:t>: </a:t>
            </a:r>
            <a:r>
              <a:rPr b="0" i="0" lang="en-US" sz="1900" u="none" cap="none" strike="noStrike">
                <a:solidFill>
                  <a:srgbClr val="FCDF59"/>
                </a:solidFill>
                <a:latin typeface="Courier New"/>
                <a:ea typeface="Courier New"/>
                <a:cs typeface="Courier New"/>
                <a:sym typeface="Courier New"/>
              </a:rPr>
              <a:t>print</a:t>
            </a:r>
            <a:r>
              <a:rPr b="0" i="0" lang="en-US" sz="1900" u="none" cap="none" strike="noStrike">
                <a:solidFill>
                  <a:srgbClr val="E8ECFF"/>
                </a:solidFill>
                <a:latin typeface="Courier New"/>
                <a:ea typeface="Courier New"/>
                <a:cs typeface="Courier New"/>
                <a:sym typeface="Courier New"/>
              </a:rPr>
              <a:t> a - b</a:t>
            </a:r>
            <a:endParaRPr b="0" i="0" sz="1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1900"/>
              <a:buFont typeface="Courier New"/>
              <a:buNone/>
            </a:pPr>
            <a:r>
              <a:rPr b="0" i="0" lang="en-US" sz="1900" u="none" cap="none" strike="noStrike">
                <a:solidFill>
                  <a:srgbClr val="E8ECFF"/>
                </a:solidFill>
                <a:latin typeface="Courier New"/>
                <a:ea typeface="Courier New"/>
                <a:cs typeface="Courier New"/>
                <a:sym typeface="Courier New"/>
              </a:rPr>
              <a:t>    </a:t>
            </a:r>
            <a:r>
              <a:rPr b="0" i="0" lang="en-US" sz="1900" u="none" cap="none" strike="noStrike">
                <a:solidFill>
                  <a:srgbClr val="FCDF59"/>
                </a:solidFill>
                <a:latin typeface="Courier New"/>
                <a:ea typeface="Courier New"/>
                <a:cs typeface="Courier New"/>
                <a:sym typeface="Courier New"/>
              </a:rPr>
              <a:t>case</a:t>
            </a:r>
            <a:r>
              <a:rPr b="0" i="0" lang="en-US" sz="1900" u="none" cap="none" strike="noStrike">
                <a:solidFill>
                  <a:srgbClr val="E8ECFF"/>
                </a:solidFill>
                <a:latin typeface="Courier New"/>
                <a:ea typeface="Courier New"/>
                <a:cs typeface="Courier New"/>
                <a:sym typeface="Courier New"/>
              </a:rPr>
              <a:t> </a:t>
            </a:r>
            <a:r>
              <a:rPr b="0" i="0" lang="en-US" sz="1900" u="none" cap="none" strike="noStrike">
                <a:solidFill>
                  <a:srgbClr val="A8E6CF"/>
                </a:solidFill>
                <a:latin typeface="Courier New"/>
                <a:ea typeface="Courier New"/>
                <a:cs typeface="Courier New"/>
                <a:sym typeface="Courier New"/>
              </a:rPr>
              <a:t>"*"</a:t>
            </a:r>
            <a:r>
              <a:rPr b="0" i="0" lang="en-US" sz="1900" u="none" cap="none" strike="noStrike">
                <a:solidFill>
                  <a:srgbClr val="E8ECFF"/>
                </a:solidFill>
                <a:latin typeface="Courier New"/>
                <a:ea typeface="Courier New"/>
                <a:cs typeface="Courier New"/>
                <a:sym typeface="Courier New"/>
              </a:rPr>
              <a:t>: </a:t>
            </a:r>
            <a:r>
              <a:rPr b="0" i="0" lang="en-US" sz="1900" u="none" cap="none" strike="noStrike">
                <a:solidFill>
                  <a:srgbClr val="FCDF59"/>
                </a:solidFill>
                <a:latin typeface="Courier New"/>
                <a:ea typeface="Courier New"/>
                <a:cs typeface="Courier New"/>
                <a:sym typeface="Courier New"/>
              </a:rPr>
              <a:t>print</a:t>
            </a:r>
            <a:r>
              <a:rPr b="0" i="0" lang="en-US" sz="1900" u="none" cap="none" strike="noStrike">
                <a:solidFill>
                  <a:srgbClr val="E8ECFF"/>
                </a:solidFill>
                <a:latin typeface="Courier New"/>
                <a:ea typeface="Courier New"/>
                <a:cs typeface="Courier New"/>
                <a:sym typeface="Courier New"/>
              </a:rPr>
              <a:t> a * b</a:t>
            </a:r>
            <a:endParaRPr b="0" i="0" sz="1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1900"/>
              <a:buFont typeface="Courier New"/>
              <a:buNone/>
            </a:pPr>
            <a:r>
              <a:rPr b="0" i="0" lang="en-US" sz="1900" u="none" cap="none" strike="noStrike">
                <a:solidFill>
                  <a:srgbClr val="E8ECFF"/>
                </a:solidFill>
                <a:latin typeface="Courier New"/>
                <a:ea typeface="Courier New"/>
                <a:cs typeface="Courier New"/>
                <a:sym typeface="Courier New"/>
              </a:rPr>
              <a:t>    </a:t>
            </a:r>
            <a:r>
              <a:rPr b="0" i="0" lang="en-US" sz="1900" u="none" cap="none" strike="noStrike">
                <a:solidFill>
                  <a:srgbClr val="FCDF59"/>
                </a:solidFill>
                <a:latin typeface="Courier New"/>
                <a:ea typeface="Courier New"/>
                <a:cs typeface="Courier New"/>
                <a:sym typeface="Courier New"/>
              </a:rPr>
              <a:t>case</a:t>
            </a:r>
            <a:r>
              <a:rPr b="0" i="0" lang="en-US" sz="1900" u="none" cap="none" strike="noStrike">
                <a:solidFill>
                  <a:srgbClr val="E8ECFF"/>
                </a:solidFill>
                <a:latin typeface="Courier New"/>
                <a:ea typeface="Courier New"/>
                <a:cs typeface="Courier New"/>
                <a:sym typeface="Courier New"/>
              </a:rPr>
              <a:t> </a:t>
            </a:r>
            <a:r>
              <a:rPr b="0" i="0" lang="en-US" sz="1900" u="none" cap="none" strike="noStrike">
                <a:solidFill>
                  <a:srgbClr val="A8E6CF"/>
                </a:solidFill>
                <a:latin typeface="Courier New"/>
                <a:ea typeface="Courier New"/>
                <a:cs typeface="Courier New"/>
                <a:sym typeface="Courier New"/>
              </a:rPr>
              <a:t>"/"</a:t>
            </a:r>
            <a:r>
              <a:rPr b="0" i="0" lang="en-US" sz="1900" u="none" cap="none" strike="noStrike">
                <a:solidFill>
                  <a:srgbClr val="E8ECFF"/>
                </a:solidFill>
                <a:latin typeface="Courier New"/>
                <a:ea typeface="Courier New"/>
                <a:cs typeface="Courier New"/>
                <a:sym typeface="Courier New"/>
              </a:rPr>
              <a:t>:</a:t>
            </a:r>
            <a:endParaRPr b="0" i="0" sz="1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1900"/>
              <a:buFont typeface="Courier New"/>
              <a:buNone/>
            </a:pPr>
            <a:r>
              <a:rPr b="0" i="0" lang="en-US" sz="1900" u="none" cap="none" strike="noStrike">
                <a:solidFill>
                  <a:srgbClr val="E8ECFF"/>
                </a:solidFill>
                <a:latin typeface="Courier New"/>
                <a:ea typeface="Courier New"/>
                <a:cs typeface="Courier New"/>
                <a:sym typeface="Courier New"/>
              </a:rPr>
              <a:t>        </a:t>
            </a:r>
            <a:r>
              <a:rPr b="0" i="0" lang="en-US" sz="1900" u="none" cap="none" strike="noStrike">
                <a:solidFill>
                  <a:srgbClr val="FCDF59"/>
                </a:solidFill>
                <a:latin typeface="Courier New"/>
                <a:ea typeface="Courier New"/>
                <a:cs typeface="Courier New"/>
                <a:sym typeface="Courier New"/>
              </a:rPr>
              <a:t>if</a:t>
            </a:r>
            <a:r>
              <a:rPr b="0" i="0" lang="en-US" sz="1900" u="none" cap="none" strike="noStrike">
                <a:solidFill>
                  <a:srgbClr val="E8ECFF"/>
                </a:solidFill>
                <a:latin typeface="Courier New"/>
                <a:ea typeface="Courier New"/>
                <a:cs typeface="Courier New"/>
                <a:sym typeface="Courier New"/>
              </a:rPr>
              <a:t> b == </a:t>
            </a:r>
            <a:r>
              <a:rPr b="0" i="0" lang="en-US" sz="1900" u="none" cap="none" strike="noStrike">
                <a:solidFill>
                  <a:srgbClr val="FFC58A"/>
                </a:solidFill>
                <a:latin typeface="Courier New"/>
                <a:ea typeface="Courier New"/>
                <a:cs typeface="Courier New"/>
                <a:sym typeface="Courier New"/>
              </a:rPr>
              <a:t>0</a:t>
            </a:r>
            <a:r>
              <a:rPr b="0" i="0" lang="en-US" sz="1900" u="none" cap="none" strike="noStrike">
                <a:solidFill>
                  <a:srgbClr val="E8ECFF"/>
                </a:solidFill>
                <a:latin typeface="Courier New"/>
                <a:ea typeface="Courier New"/>
                <a:cs typeface="Courier New"/>
                <a:sym typeface="Courier New"/>
              </a:rPr>
              <a:t> </a:t>
            </a:r>
            <a:r>
              <a:rPr b="0" i="0" lang="en-US" sz="1900" u="none" cap="none" strike="noStrike">
                <a:solidFill>
                  <a:srgbClr val="FCDF59"/>
                </a:solidFill>
                <a:latin typeface="Courier New"/>
                <a:ea typeface="Courier New"/>
                <a:cs typeface="Courier New"/>
                <a:sym typeface="Courier New"/>
              </a:rPr>
              <a:t>then</a:t>
            </a:r>
            <a:endParaRPr b="0" i="0" sz="1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1900"/>
              <a:buFont typeface="Courier New"/>
              <a:buNone/>
            </a:pPr>
            <a:r>
              <a:rPr b="0" i="0" lang="en-US" sz="1900" u="none" cap="none" strike="noStrike">
                <a:solidFill>
                  <a:srgbClr val="E8ECFF"/>
                </a:solidFill>
                <a:latin typeface="Courier New"/>
                <a:ea typeface="Courier New"/>
                <a:cs typeface="Courier New"/>
                <a:sym typeface="Courier New"/>
              </a:rPr>
              <a:t>            </a:t>
            </a:r>
            <a:r>
              <a:rPr b="0" i="0" lang="en-US" sz="1900" u="none" cap="none" strike="noStrike">
                <a:solidFill>
                  <a:srgbClr val="FCDF59"/>
                </a:solidFill>
                <a:latin typeface="Courier New"/>
                <a:ea typeface="Courier New"/>
                <a:cs typeface="Courier New"/>
                <a:sym typeface="Courier New"/>
              </a:rPr>
              <a:t>print</a:t>
            </a:r>
            <a:r>
              <a:rPr b="0" i="0" lang="en-US" sz="1900" u="none" cap="none" strike="noStrike">
                <a:solidFill>
                  <a:srgbClr val="E8ECFF"/>
                </a:solidFill>
                <a:latin typeface="Courier New"/>
                <a:ea typeface="Courier New"/>
                <a:cs typeface="Courier New"/>
                <a:sym typeface="Courier New"/>
              </a:rPr>
              <a:t> </a:t>
            </a:r>
            <a:r>
              <a:rPr b="0" i="0" lang="en-US" sz="1900" u="none" cap="none" strike="noStrike">
                <a:solidFill>
                  <a:srgbClr val="A8E6CF"/>
                </a:solidFill>
                <a:latin typeface="Courier New"/>
                <a:ea typeface="Courier New"/>
                <a:cs typeface="Courier New"/>
                <a:sym typeface="Courier New"/>
              </a:rPr>
              <a:t>"Tidak bisa dibagi nol"</a:t>
            </a:r>
            <a:endParaRPr b="0" i="0" sz="1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1900"/>
              <a:buFont typeface="Courier New"/>
              <a:buNone/>
            </a:pPr>
            <a:r>
              <a:rPr b="0" i="0" lang="en-US" sz="1900" u="none" cap="none" strike="noStrike">
                <a:solidFill>
                  <a:srgbClr val="E8ECFF"/>
                </a:solidFill>
                <a:latin typeface="Courier New"/>
                <a:ea typeface="Courier New"/>
                <a:cs typeface="Courier New"/>
                <a:sym typeface="Courier New"/>
              </a:rPr>
              <a:t>        </a:t>
            </a:r>
            <a:r>
              <a:rPr b="0" i="0" lang="en-US" sz="1900" u="none" cap="none" strike="noStrike">
                <a:solidFill>
                  <a:srgbClr val="FCDF59"/>
                </a:solidFill>
                <a:latin typeface="Courier New"/>
                <a:ea typeface="Courier New"/>
                <a:cs typeface="Courier New"/>
                <a:sym typeface="Courier New"/>
              </a:rPr>
              <a:t>else</a:t>
            </a:r>
            <a:endParaRPr b="0" i="0" sz="1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1900"/>
              <a:buFont typeface="Courier New"/>
              <a:buNone/>
            </a:pPr>
            <a:r>
              <a:rPr b="0" i="0" lang="en-US" sz="1900" u="none" cap="none" strike="noStrike">
                <a:solidFill>
                  <a:srgbClr val="E8ECFF"/>
                </a:solidFill>
                <a:latin typeface="Courier New"/>
                <a:ea typeface="Courier New"/>
                <a:cs typeface="Courier New"/>
                <a:sym typeface="Courier New"/>
              </a:rPr>
              <a:t>            </a:t>
            </a:r>
            <a:r>
              <a:rPr b="0" i="0" lang="en-US" sz="1900" u="none" cap="none" strike="noStrike">
                <a:solidFill>
                  <a:srgbClr val="FCDF59"/>
                </a:solidFill>
                <a:latin typeface="Courier New"/>
                <a:ea typeface="Courier New"/>
                <a:cs typeface="Courier New"/>
                <a:sym typeface="Courier New"/>
              </a:rPr>
              <a:t>print</a:t>
            </a:r>
            <a:r>
              <a:rPr b="0" i="0" lang="en-US" sz="1900" u="none" cap="none" strike="noStrike">
                <a:solidFill>
                  <a:srgbClr val="E8ECFF"/>
                </a:solidFill>
                <a:latin typeface="Courier New"/>
                <a:ea typeface="Courier New"/>
                <a:cs typeface="Courier New"/>
                <a:sym typeface="Courier New"/>
              </a:rPr>
              <a:t> a / b</a:t>
            </a:r>
            <a:endParaRPr b="0" i="0" sz="1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1900"/>
              <a:buFont typeface="Courier New"/>
              <a:buNone/>
            </a:pPr>
            <a:r>
              <a:rPr b="0" i="0" lang="en-US" sz="1900" u="none" cap="none" strike="noStrike">
                <a:solidFill>
                  <a:srgbClr val="E8ECFF"/>
                </a:solidFill>
                <a:latin typeface="Courier New"/>
                <a:ea typeface="Courier New"/>
                <a:cs typeface="Courier New"/>
                <a:sym typeface="Courier New"/>
              </a:rPr>
              <a:t>        </a:t>
            </a:r>
            <a:r>
              <a:rPr b="0" i="0" lang="en-US" sz="1900" u="none" cap="none" strike="noStrike">
                <a:solidFill>
                  <a:srgbClr val="FCDF59"/>
                </a:solidFill>
                <a:latin typeface="Courier New"/>
                <a:ea typeface="Courier New"/>
                <a:cs typeface="Courier New"/>
                <a:sym typeface="Courier New"/>
              </a:rPr>
              <a:t>end</a:t>
            </a:r>
            <a:r>
              <a:rPr b="0" i="0" lang="en-US" sz="1900" u="none" cap="none" strike="noStrike">
                <a:solidFill>
                  <a:srgbClr val="E8ECFF"/>
                </a:solidFill>
                <a:latin typeface="Courier New"/>
                <a:ea typeface="Courier New"/>
                <a:cs typeface="Courier New"/>
                <a:sym typeface="Courier New"/>
              </a:rPr>
              <a:t> </a:t>
            </a:r>
            <a:r>
              <a:rPr b="0" i="0" lang="en-US" sz="1900" u="none" cap="none" strike="noStrike">
                <a:solidFill>
                  <a:srgbClr val="FCDF59"/>
                </a:solidFill>
                <a:latin typeface="Courier New"/>
                <a:ea typeface="Courier New"/>
                <a:cs typeface="Courier New"/>
                <a:sym typeface="Courier New"/>
              </a:rPr>
              <a:t>if</a:t>
            </a:r>
            <a:endParaRPr b="0" i="0" sz="1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1900"/>
              <a:buFont typeface="Courier New"/>
              <a:buNone/>
            </a:pPr>
            <a:r>
              <a:rPr b="0" i="0" lang="en-US" sz="1900" u="none" cap="none" strike="noStrike">
                <a:solidFill>
                  <a:srgbClr val="E8ECFF"/>
                </a:solidFill>
                <a:latin typeface="Courier New"/>
                <a:ea typeface="Courier New"/>
                <a:cs typeface="Courier New"/>
                <a:sym typeface="Courier New"/>
              </a:rPr>
              <a:t>    </a:t>
            </a:r>
            <a:r>
              <a:rPr b="0" i="0" lang="en-US" sz="1900" u="none" cap="none" strike="noStrike">
                <a:solidFill>
                  <a:srgbClr val="FCDF59"/>
                </a:solidFill>
                <a:latin typeface="Courier New"/>
                <a:ea typeface="Courier New"/>
                <a:cs typeface="Courier New"/>
                <a:sym typeface="Courier New"/>
              </a:rPr>
              <a:t>default</a:t>
            </a:r>
            <a:r>
              <a:rPr b="0" i="0" lang="en-US" sz="1900" u="none" cap="none" strike="noStrike">
                <a:solidFill>
                  <a:srgbClr val="E8ECFF"/>
                </a:solidFill>
                <a:latin typeface="Courier New"/>
                <a:ea typeface="Courier New"/>
                <a:cs typeface="Courier New"/>
                <a:sym typeface="Courier New"/>
              </a:rPr>
              <a:t>: </a:t>
            </a:r>
            <a:r>
              <a:rPr b="0" i="0" lang="en-US" sz="1900" u="none" cap="none" strike="noStrike">
                <a:solidFill>
                  <a:srgbClr val="FCDF59"/>
                </a:solidFill>
                <a:latin typeface="Courier New"/>
                <a:ea typeface="Courier New"/>
                <a:cs typeface="Courier New"/>
                <a:sym typeface="Courier New"/>
              </a:rPr>
              <a:t>print</a:t>
            </a:r>
            <a:r>
              <a:rPr b="0" i="0" lang="en-US" sz="1900" u="none" cap="none" strike="noStrike">
                <a:solidFill>
                  <a:srgbClr val="E8ECFF"/>
                </a:solidFill>
                <a:latin typeface="Courier New"/>
                <a:ea typeface="Courier New"/>
                <a:cs typeface="Courier New"/>
                <a:sym typeface="Courier New"/>
              </a:rPr>
              <a:t> </a:t>
            </a:r>
            <a:r>
              <a:rPr b="0" i="0" lang="en-US" sz="1900" u="none" cap="none" strike="noStrike">
                <a:solidFill>
                  <a:srgbClr val="A8E6CF"/>
                </a:solidFill>
                <a:latin typeface="Courier New"/>
                <a:ea typeface="Courier New"/>
                <a:cs typeface="Courier New"/>
                <a:sym typeface="Courier New"/>
              </a:rPr>
              <a:t>"Operator tidak valid"</a:t>
            </a:r>
            <a:endParaRPr b="0" i="0" sz="1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CDF59"/>
              </a:buClr>
              <a:buSzPts val="1900"/>
              <a:buFont typeface="Courier New"/>
              <a:buNone/>
            </a:pPr>
            <a:r>
              <a:rPr b="0" i="0" lang="en-US" sz="1900" u="none" cap="none" strike="noStrike">
                <a:solidFill>
                  <a:srgbClr val="FCDF59"/>
                </a:solidFill>
                <a:latin typeface="Courier New"/>
                <a:ea typeface="Courier New"/>
                <a:cs typeface="Courier New"/>
                <a:sym typeface="Courier New"/>
              </a:rPr>
              <a:t>end</a:t>
            </a:r>
            <a:r>
              <a:rPr b="0" i="0" lang="en-US" sz="1900" u="none" cap="none" strike="noStrike">
                <a:solidFill>
                  <a:srgbClr val="E8ECFF"/>
                </a:solidFill>
                <a:latin typeface="Courier New"/>
                <a:ea typeface="Courier New"/>
                <a:cs typeface="Courier New"/>
                <a:sym typeface="Courier New"/>
              </a:rPr>
              <a:t> </a:t>
            </a:r>
            <a:r>
              <a:rPr b="0" i="0" lang="en-US" sz="1900" u="none" cap="none" strike="noStrike">
                <a:solidFill>
                  <a:srgbClr val="FCDF59"/>
                </a:solidFill>
                <a:latin typeface="Courier New"/>
                <a:ea typeface="Courier New"/>
                <a:cs typeface="Courier New"/>
                <a:sym typeface="Courier New"/>
              </a:rPr>
              <a:t>switch</a:t>
            </a:r>
            <a:endParaRPr b="0" i="0" sz="1900" u="none" cap="none" strike="noStrike">
              <a:solidFill>
                <a:schemeClr val="dk1"/>
              </a:solidFill>
              <a:latin typeface="Calibri"/>
              <a:ea typeface="Calibri"/>
              <a:cs typeface="Calibri"/>
              <a:sym typeface="Calibri"/>
            </a:endParaRPr>
          </a:p>
        </p:txBody>
      </p:sp>
      <p:sp>
        <p:nvSpPr>
          <p:cNvPr id="656" name="Google Shape;656;p26"/>
          <p:cNvSpPr/>
          <p:nvPr/>
        </p:nvSpPr>
        <p:spPr>
          <a:xfrm>
            <a:off x="8229600" y="6309360"/>
            <a:ext cx="9418320" cy="1554480"/>
          </a:xfrm>
          <a:prstGeom prst="roundRect">
            <a:avLst>
              <a:gd fmla="val 8824"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6"/>
          <p:cNvSpPr txBox="1"/>
          <p:nvPr/>
        </p:nvSpPr>
        <p:spPr>
          <a:xfrm>
            <a:off x="8503920" y="6309360"/>
            <a:ext cx="8869680" cy="1554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CA2"/>
              </a:buClr>
              <a:buSzPts val="2300"/>
              <a:buFont typeface="Calibri"/>
              <a:buNone/>
            </a:pPr>
            <a:r>
              <a:rPr b="1" i="0" lang="en-US" sz="2300" u="none" cap="none" strike="noStrike">
                <a:solidFill>
                  <a:srgbClr val="162CA2"/>
                </a:solidFill>
                <a:latin typeface="Calibri"/>
                <a:ea typeface="Calibri"/>
                <a:cs typeface="Calibri"/>
                <a:sym typeface="Calibri"/>
              </a:rPr>
              <a:t>Percabangan bersarang</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3123D"/>
              </a:buClr>
              <a:buSzPts val="2100"/>
              <a:buFont typeface="Calibri"/>
              <a:buNone/>
            </a:pPr>
            <a:r>
              <a:rPr b="0" i="0" lang="en-US" sz="2100" u="none" cap="none" strike="noStrike">
                <a:solidFill>
                  <a:srgbClr val="13123D"/>
                </a:solidFill>
                <a:latin typeface="Calibri"/>
                <a:ea typeface="Calibri"/>
                <a:cs typeface="Calibri"/>
                <a:sym typeface="Calibri"/>
              </a:rPr>
              <a:t>if di dalam case.</a:t>
            </a:r>
            <a:endParaRPr b="0" i="0" sz="2400" u="none" cap="none" strike="noStrike">
              <a:solidFill>
                <a:schemeClr val="dk1"/>
              </a:solidFill>
              <a:latin typeface="Calibri"/>
              <a:ea typeface="Calibri"/>
              <a:cs typeface="Calibri"/>
              <a:sym typeface="Calibri"/>
            </a:endParaRPr>
          </a:p>
        </p:txBody>
      </p:sp>
      <p:sp>
        <p:nvSpPr>
          <p:cNvPr id="658" name="Google Shape;658;p26"/>
          <p:cNvSpPr/>
          <p:nvPr/>
        </p:nvSpPr>
        <p:spPr>
          <a:xfrm>
            <a:off x="8229600" y="8092440"/>
            <a:ext cx="9418320" cy="1417320"/>
          </a:xfrm>
          <a:prstGeom prst="roundRect">
            <a:avLst>
              <a:gd fmla="val 9677" name="adj"/>
            </a:avLst>
          </a:prstGeom>
          <a:solidFill>
            <a:srgbClr val="FFF3BF"/>
          </a:solidFill>
          <a:ln cap="flat" cmpd="sng" w="12700">
            <a:solidFill>
              <a:srgbClr val="FFF3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26"/>
          <p:cNvSpPr txBox="1"/>
          <p:nvPr/>
        </p:nvSpPr>
        <p:spPr>
          <a:xfrm>
            <a:off x="8503920" y="8092440"/>
            <a:ext cx="8869680" cy="1417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300"/>
              <a:buFont typeface="Calibri"/>
              <a:buNone/>
            </a:pPr>
            <a:r>
              <a:rPr b="1" i="0" lang="en-US" sz="2300" u="none" cap="none" strike="noStrike">
                <a:solidFill>
                  <a:srgbClr val="13123D"/>
                </a:solidFill>
                <a:latin typeface="Calibri"/>
                <a:ea typeface="Calibri"/>
                <a:cs typeface="Calibri"/>
                <a:sym typeface="Calibri"/>
              </a:rPr>
              <a:t>default</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3123D"/>
              </a:buClr>
              <a:buSzPts val="2100"/>
              <a:buFont typeface="Calibri"/>
              <a:buNone/>
            </a:pPr>
            <a:r>
              <a:rPr b="0" i="0" lang="en-US" sz="2100" u="none" cap="none" strike="noStrike">
                <a:solidFill>
                  <a:srgbClr val="13123D"/>
                </a:solidFill>
                <a:latin typeface="Calibri"/>
                <a:ea typeface="Calibri"/>
                <a:cs typeface="Calibri"/>
                <a:sym typeface="Calibri"/>
              </a:rPr>
              <a:t>Menangani operator yang tidak dikenal.</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pic>
        <p:nvPicPr>
          <p:cNvPr descr="/home/claude/assets/image6.png" id="665" name="Google Shape;665;p27"/>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666" name="Google Shape;666;p27"/>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667" name="Google Shape;667;p27"/>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LATIHAN 3 · 13 MENIT</a:t>
            </a:r>
            <a:endParaRPr b="0" i="0" sz="2000" u="none" cap="none" strike="noStrike">
              <a:solidFill>
                <a:schemeClr val="dk1"/>
              </a:solidFill>
              <a:latin typeface="Calibri"/>
              <a:ea typeface="Calibri"/>
              <a:cs typeface="Calibri"/>
              <a:sym typeface="Calibri"/>
            </a:endParaRPr>
          </a:p>
        </p:txBody>
      </p:sp>
      <p:sp>
        <p:nvSpPr>
          <p:cNvPr id="668" name="Google Shape;668;p27"/>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Deret Angka</a:t>
            </a:r>
            <a:endParaRPr b="0" i="0" sz="4800" u="none" cap="none" strike="noStrike">
              <a:solidFill>
                <a:schemeClr val="dk1"/>
              </a:solidFill>
              <a:latin typeface="Calibri"/>
              <a:ea typeface="Calibri"/>
              <a:cs typeface="Calibri"/>
              <a:sym typeface="Calibri"/>
            </a:endParaRPr>
          </a:p>
        </p:txBody>
      </p:sp>
      <p:sp>
        <p:nvSpPr>
          <p:cNvPr id="669" name="Google Shape;669;p27"/>
          <p:cNvSpPr/>
          <p:nvPr/>
        </p:nvSpPr>
        <p:spPr>
          <a:xfrm>
            <a:off x="914400" y="4343400"/>
            <a:ext cx="5212080" cy="3840480"/>
          </a:xfrm>
          <a:prstGeom prst="roundRect">
            <a:avLst>
              <a:gd fmla="val 3571"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27"/>
          <p:cNvSpPr/>
          <p:nvPr/>
        </p:nvSpPr>
        <p:spPr>
          <a:xfrm>
            <a:off x="1188720" y="4572000"/>
            <a:ext cx="2377440" cy="502920"/>
          </a:xfrm>
          <a:prstGeom prst="roundRect">
            <a:avLst>
              <a:gd fmla="val 21818"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1800"/>
              <a:buFont typeface="Calibri"/>
              <a:buNone/>
            </a:pPr>
            <a:r>
              <a:rPr b="1" i="0" lang="en-US" sz="1800" u="none" cap="none" strike="noStrike">
                <a:solidFill>
                  <a:srgbClr val="FDFBFB"/>
                </a:solidFill>
                <a:latin typeface="Calibri"/>
                <a:ea typeface="Calibri"/>
                <a:cs typeface="Calibri"/>
                <a:sym typeface="Calibri"/>
              </a:rPr>
              <a:t>DASAR</a:t>
            </a:r>
            <a:endParaRPr b="0" i="0" sz="1800" u="none" cap="none" strike="noStrike">
              <a:solidFill>
                <a:schemeClr val="dk1"/>
              </a:solidFill>
              <a:latin typeface="Calibri"/>
              <a:ea typeface="Calibri"/>
              <a:cs typeface="Calibri"/>
              <a:sym typeface="Calibri"/>
            </a:endParaRPr>
          </a:p>
        </p:txBody>
      </p:sp>
      <p:sp>
        <p:nvSpPr>
          <p:cNvPr id="671" name="Google Shape;671;p27"/>
          <p:cNvSpPr txBox="1"/>
          <p:nvPr/>
        </p:nvSpPr>
        <p:spPr>
          <a:xfrm>
            <a:off x="1188720" y="5303520"/>
            <a:ext cx="46634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600"/>
              <a:buFont typeface="Calibri"/>
              <a:buNone/>
            </a:pPr>
            <a:r>
              <a:rPr b="1" i="0" lang="en-US" sz="2600" u="none" cap="none" strike="noStrike">
                <a:solidFill>
                  <a:srgbClr val="162CA2"/>
                </a:solidFill>
                <a:latin typeface="Calibri"/>
                <a:ea typeface="Calibri"/>
                <a:cs typeface="Calibri"/>
                <a:sym typeface="Calibri"/>
              </a:rPr>
              <a:t>A. Cetak 1 sampai N</a:t>
            </a:r>
            <a:endParaRPr b="0" i="0" sz="2600" u="none" cap="none" strike="noStrike">
              <a:solidFill>
                <a:schemeClr val="dk1"/>
              </a:solidFill>
              <a:latin typeface="Calibri"/>
              <a:ea typeface="Calibri"/>
              <a:cs typeface="Calibri"/>
              <a:sym typeface="Calibri"/>
            </a:endParaRPr>
          </a:p>
        </p:txBody>
      </p:sp>
      <p:sp>
        <p:nvSpPr>
          <p:cNvPr id="672" name="Google Shape;672;p27"/>
          <p:cNvSpPr txBox="1"/>
          <p:nvPr/>
        </p:nvSpPr>
        <p:spPr>
          <a:xfrm>
            <a:off x="1188720" y="5943600"/>
            <a:ext cx="46634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F86"/>
              </a:buClr>
              <a:buSzPts val="2100"/>
              <a:buFont typeface="Calibri"/>
              <a:buNone/>
            </a:pPr>
            <a:r>
              <a:rPr b="0" i="0" lang="en-US" sz="2100" u="none" cap="none" strike="noStrike">
                <a:solidFill>
                  <a:srgbClr val="5A5F86"/>
                </a:solidFill>
                <a:latin typeface="Calibri"/>
                <a:ea typeface="Calibri"/>
                <a:cs typeface="Calibri"/>
                <a:sym typeface="Calibri"/>
              </a:rPr>
              <a:t>Tampilkan semua bilangan dari 1 hingga N.</a:t>
            </a:r>
            <a:endParaRPr b="0" i="0" sz="2100" u="none" cap="none" strike="noStrike">
              <a:solidFill>
                <a:schemeClr val="dk1"/>
              </a:solidFill>
              <a:latin typeface="Calibri"/>
              <a:ea typeface="Calibri"/>
              <a:cs typeface="Calibri"/>
              <a:sym typeface="Calibri"/>
            </a:endParaRPr>
          </a:p>
        </p:txBody>
      </p:sp>
      <p:sp>
        <p:nvSpPr>
          <p:cNvPr id="673" name="Google Shape;673;p27"/>
          <p:cNvSpPr/>
          <p:nvPr/>
        </p:nvSpPr>
        <p:spPr>
          <a:xfrm>
            <a:off x="1188720" y="6949440"/>
            <a:ext cx="4663440" cy="1051560"/>
          </a:xfrm>
          <a:prstGeom prst="roundRect">
            <a:avLst>
              <a:gd fmla="val 8696" name="adj"/>
            </a:avLst>
          </a:prstGeom>
          <a:solidFill>
            <a:srgbClr val="13123D"/>
          </a:solidFill>
          <a:ln cap="flat" cmpd="sng" w="12700">
            <a:solidFill>
              <a:srgbClr val="1312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27"/>
          <p:cNvSpPr txBox="1"/>
          <p:nvPr/>
        </p:nvSpPr>
        <p:spPr>
          <a:xfrm>
            <a:off x="1417320" y="6949440"/>
            <a:ext cx="429768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F"/>
              </a:buClr>
              <a:buSzPts val="2100"/>
              <a:buFont typeface="Courier New"/>
              <a:buNone/>
            </a:pPr>
            <a:r>
              <a:rPr b="0" i="0" lang="en-US" sz="2100" u="none" cap="none" strike="noStrike">
                <a:solidFill>
                  <a:srgbClr val="E8ECFF"/>
                </a:solidFill>
                <a:latin typeface="Courier New"/>
                <a:ea typeface="Courier New"/>
                <a:cs typeface="Courier New"/>
                <a:sym typeface="Courier New"/>
              </a:rPr>
              <a:t>N = 5</a:t>
            </a:r>
            <a:endParaRPr b="0" i="0" sz="2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100"/>
              <a:buFont typeface="Courier New"/>
              <a:buNone/>
            </a:pPr>
            <a:r>
              <a:rPr b="0" i="0" lang="en-US" sz="2100" u="none" cap="none" strike="noStrike">
                <a:solidFill>
                  <a:srgbClr val="E8ECFF"/>
                </a:solidFill>
                <a:latin typeface="Courier New"/>
                <a:ea typeface="Courier New"/>
                <a:cs typeface="Courier New"/>
                <a:sym typeface="Courier New"/>
              </a:rPr>
              <a:t>1 2 3 4 5</a:t>
            </a:r>
            <a:endParaRPr b="0" i="0" sz="2100" u="none" cap="none" strike="noStrike">
              <a:solidFill>
                <a:schemeClr val="dk1"/>
              </a:solidFill>
              <a:latin typeface="Calibri"/>
              <a:ea typeface="Calibri"/>
              <a:cs typeface="Calibri"/>
              <a:sym typeface="Calibri"/>
            </a:endParaRPr>
          </a:p>
        </p:txBody>
      </p:sp>
      <p:sp>
        <p:nvSpPr>
          <p:cNvPr id="675" name="Google Shape;675;p27"/>
          <p:cNvSpPr/>
          <p:nvPr/>
        </p:nvSpPr>
        <p:spPr>
          <a:xfrm>
            <a:off x="6537960" y="4343400"/>
            <a:ext cx="5212080" cy="3840480"/>
          </a:xfrm>
          <a:prstGeom prst="roundRect">
            <a:avLst>
              <a:gd fmla="val 3571"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27"/>
          <p:cNvSpPr/>
          <p:nvPr/>
        </p:nvSpPr>
        <p:spPr>
          <a:xfrm>
            <a:off x="6812280" y="4572000"/>
            <a:ext cx="2377440" cy="502920"/>
          </a:xfrm>
          <a:prstGeom prst="roundRect">
            <a:avLst>
              <a:gd fmla="val 21818" name="adj"/>
            </a:avLst>
          </a:prstGeom>
          <a:solidFill>
            <a:srgbClr val="0F2178"/>
          </a:solidFill>
          <a:ln cap="flat" cmpd="sng" w="9525">
            <a:solidFill>
              <a:srgbClr val="0F217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1800"/>
              <a:buFont typeface="Calibri"/>
              <a:buNone/>
            </a:pPr>
            <a:r>
              <a:rPr b="1" i="0" lang="en-US" sz="1800" u="none" cap="none" strike="noStrike">
                <a:solidFill>
                  <a:srgbClr val="FDFBFB"/>
                </a:solidFill>
                <a:latin typeface="Calibri"/>
                <a:ea typeface="Calibri"/>
                <a:cs typeface="Calibri"/>
                <a:sym typeface="Calibri"/>
              </a:rPr>
              <a:t>MENENGAH</a:t>
            </a:r>
            <a:endParaRPr b="0" i="0" sz="1800" u="none" cap="none" strike="noStrike">
              <a:solidFill>
                <a:schemeClr val="dk1"/>
              </a:solidFill>
              <a:latin typeface="Calibri"/>
              <a:ea typeface="Calibri"/>
              <a:cs typeface="Calibri"/>
              <a:sym typeface="Calibri"/>
            </a:endParaRPr>
          </a:p>
        </p:txBody>
      </p:sp>
      <p:sp>
        <p:nvSpPr>
          <p:cNvPr id="677" name="Google Shape;677;p27"/>
          <p:cNvSpPr txBox="1"/>
          <p:nvPr/>
        </p:nvSpPr>
        <p:spPr>
          <a:xfrm>
            <a:off x="6812280" y="5303520"/>
            <a:ext cx="46634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600"/>
              <a:buFont typeface="Calibri"/>
              <a:buNone/>
            </a:pPr>
            <a:r>
              <a:rPr b="1" i="0" lang="en-US" sz="2600" u="none" cap="none" strike="noStrike">
                <a:solidFill>
                  <a:srgbClr val="162CA2"/>
                </a:solidFill>
                <a:latin typeface="Calibri"/>
                <a:ea typeface="Calibri"/>
                <a:cs typeface="Calibri"/>
                <a:sym typeface="Calibri"/>
              </a:rPr>
              <a:t>B. Jumlah 1 sampai N</a:t>
            </a:r>
            <a:endParaRPr b="0" i="0" sz="2600" u="none" cap="none" strike="noStrike">
              <a:solidFill>
                <a:schemeClr val="dk1"/>
              </a:solidFill>
              <a:latin typeface="Calibri"/>
              <a:ea typeface="Calibri"/>
              <a:cs typeface="Calibri"/>
              <a:sym typeface="Calibri"/>
            </a:endParaRPr>
          </a:p>
        </p:txBody>
      </p:sp>
      <p:sp>
        <p:nvSpPr>
          <p:cNvPr id="678" name="Google Shape;678;p27"/>
          <p:cNvSpPr txBox="1"/>
          <p:nvPr/>
        </p:nvSpPr>
        <p:spPr>
          <a:xfrm>
            <a:off x="6812280" y="5943600"/>
            <a:ext cx="46634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F86"/>
              </a:buClr>
              <a:buSzPts val="2100"/>
              <a:buFont typeface="Calibri"/>
              <a:buNone/>
            </a:pPr>
            <a:r>
              <a:rPr b="0" i="0" lang="en-US" sz="2100" u="none" cap="none" strike="noStrike">
                <a:solidFill>
                  <a:srgbClr val="5A5F86"/>
                </a:solidFill>
                <a:latin typeface="Calibri"/>
                <a:ea typeface="Calibri"/>
                <a:cs typeface="Calibri"/>
                <a:sym typeface="Calibri"/>
              </a:rPr>
              <a:t>Hitung total 1 + 2 + ... + N.</a:t>
            </a:r>
            <a:endParaRPr b="0" i="0" sz="2100" u="none" cap="none" strike="noStrike">
              <a:solidFill>
                <a:schemeClr val="dk1"/>
              </a:solidFill>
              <a:latin typeface="Calibri"/>
              <a:ea typeface="Calibri"/>
              <a:cs typeface="Calibri"/>
              <a:sym typeface="Calibri"/>
            </a:endParaRPr>
          </a:p>
        </p:txBody>
      </p:sp>
      <p:sp>
        <p:nvSpPr>
          <p:cNvPr id="679" name="Google Shape;679;p27"/>
          <p:cNvSpPr/>
          <p:nvPr/>
        </p:nvSpPr>
        <p:spPr>
          <a:xfrm>
            <a:off x="6812280" y="6949440"/>
            <a:ext cx="4663440" cy="1051560"/>
          </a:xfrm>
          <a:prstGeom prst="roundRect">
            <a:avLst>
              <a:gd fmla="val 8696" name="adj"/>
            </a:avLst>
          </a:prstGeom>
          <a:solidFill>
            <a:srgbClr val="13123D"/>
          </a:solidFill>
          <a:ln cap="flat" cmpd="sng" w="12700">
            <a:solidFill>
              <a:srgbClr val="1312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27"/>
          <p:cNvSpPr txBox="1"/>
          <p:nvPr/>
        </p:nvSpPr>
        <p:spPr>
          <a:xfrm>
            <a:off x="7040880" y="6949440"/>
            <a:ext cx="429768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F"/>
              </a:buClr>
              <a:buSzPts val="2100"/>
              <a:buFont typeface="Courier New"/>
              <a:buNone/>
            </a:pPr>
            <a:r>
              <a:rPr b="0" i="0" lang="en-US" sz="2100" u="none" cap="none" strike="noStrike">
                <a:solidFill>
                  <a:srgbClr val="E8ECFF"/>
                </a:solidFill>
                <a:latin typeface="Courier New"/>
                <a:ea typeface="Courier New"/>
                <a:cs typeface="Courier New"/>
                <a:sym typeface="Courier New"/>
              </a:rPr>
              <a:t>N = 5</a:t>
            </a:r>
            <a:endParaRPr b="0" i="0" sz="2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100"/>
              <a:buFont typeface="Courier New"/>
              <a:buNone/>
            </a:pPr>
            <a:r>
              <a:rPr b="0" i="0" lang="en-US" sz="2100" u="none" cap="none" strike="noStrike">
                <a:solidFill>
                  <a:srgbClr val="E8ECFF"/>
                </a:solidFill>
                <a:latin typeface="Courier New"/>
                <a:ea typeface="Courier New"/>
                <a:cs typeface="Courier New"/>
                <a:sym typeface="Courier New"/>
              </a:rPr>
              <a:t>15</a:t>
            </a:r>
            <a:endParaRPr b="0" i="0" sz="2100" u="none" cap="none" strike="noStrike">
              <a:solidFill>
                <a:schemeClr val="dk1"/>
              </a:solidFill>
              <a:latin typeface="Calibri"/>
              <a:ea typeface="Calibri"/>
              <a:cs typeface="Calibri"/>
              <a:sym typeface="Calibri"/>
            </a:endParaRPr>
          </a:p>
        </p:txBody>
      </p:sp>
      <p:sp>
        <p:nvSpPr>
          <p:cNvPr id="681" name="Google Shape;681;p27"/>
          <p:cNvSpPr/>
          <p:nvPr/>
        </p:nvSpPr>
        <p:spPr>
          <a:xfrm>
            <a:off x="12161520" y="4343400"/>
            <a:ext cx="5212080" cy="3840480"/>
          </a:xfrm>
          <a:prstGeom prst="roundRect">
            <a:avLst>
              <a:gd fmla="val 3571"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27"/>
          <p:cNvSpPr/>
          <p:nvPr/>
        </p:nvSpPr>
        <p:spPr>
          <a:xfrm>
            <a:off x="12435840" y="4572000"/>
            <a:ext cx="2377440" cy="502920"/>
          </a:xfrm>
          <a:prstGeom prst="roundRect">
            <a:avLst>
              <a:gd fmla="val 21818" name="adj"/>
            </a:avLst>
          </a:prstGeom>
          <a:solidFill>
            <a:srgbClr val="FCDF59"/>
          </a:solidFill>
          <a:ln cap="flat" cmpd="sng" w="9525">
            <a:solidFill>
              <a:srgbClr val="FCDF59"/>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3123D"/>
              </a:buClr>
              <a:buSzPts val="1800"/>
              <a:buFont typeface="Calibri"/>
              <a:buNone/>
            </a:pPr>
            <a:r>
              <a:rPr b="1" i="0" lang="en-US" sz="1800" u="none" cap="none" strike="noStrike">
                <a:solidFill>
                  <a:srgbClr val="13123D"/>
                </a:solidFill>
                <a:latin typeface="Calibri"/>
                <a:ea typeface="Calibri"/>
                <a:cs typeface="Calibri"/>
                <a:sym typeface="Calibri"/>
              </a:rPr>
              <a:t>TANTANGAN</a:t>
            </a:r>
            <a:endParaRPr b="0" i="0" sz="1800" u="none" cap="none" strike="noStrike">
              <a:solidFill>
                <a:schemeClr val="dk1"/>
              </a:solidFill>
              <a:latin typeface="Calibri"/>
              <a:ea typeface="Calibri"/>
              <a:cs typeface="Calibri"/>
              <a:sym typeface="Calibri"/>
            </a:endParaRPr>
          </a:p>
        </p:txBody>
      </p:sp>
      <p:sp>
        <p:nvSpPr>
          <p:cNvPr id="683" name="Google Shape;683;p27"/>
          <p:cNvSpPr txBox="1"/>
          <p:nvPr/>
        </p:nvSpPr>
        <p:spPr>
          <a:xfrm>
            <a:off x="12435840" y="5303520"/>
            <a:ext cx="46634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600"/>
              <a:buFont typeface="Calibri"/>
              <a:buNone/>
            </a:pPr>
            <a:r>
              <a:rPr b="1" i="0" lang="en-US" sz="2600" u="none" cap="none" strike="noStrike">
                <a:solidFill>
                  <a:srgbClr val="162CA2"/>
                </a:solidFill>
                <a:latin typeface="Calibri"/>
                <a:ea typeface="Calibri"/>
                <a:cs typeface="Calibri"/>
                <a:sym typeface="Calibri"/>
              </a:rPr>
              <a:t>C. Deret Fibonacci</a:t>
            </a:r>
            <a:endParaRPr b="0" i="0" sz="2600" u="none" cap="none" strike="noStrike">
              <a:solidFill>
                <a:schemeClr val="dk1"/>
              </a:solidFill>
              <a:latin typeface="Calibri"/>
              <a:ea typeface="Calibri"/>
              <a:cs typeface="Calibri"/>
              <a:sym typeface="Calibri"/>
            </a:endParaRPr>
          </a:p>
        </p:txBody>
      </p:sp>
      <p:sp>
        <p:nvSpPr>
          <p:cNvPr id="684" name="Google Shape;684;p27"/>
          <p:cNvSpPr txBox="1"/>
          <p:nvPr/>
        </p:nvSpPr>
        <p:spPr>
          <a:xfrm>
            <a:off x="12435840" y="5943600"/>
            <a:ext cx="46634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F86"/>
              </a:buClr>
              <a:buSzPts val="2100"/>
              <a:buFont typeface="Calibri"/>
              <a:buNone/>
            </a:pPr>
            <a:r>
              <a:rPr b="0" i="0" lang="en-US" sz="2100" u="none" cap="none" strike="noStrike">
                <a:solidFill>
                  <a:srgbClr val="5A5F86"/>
                </a:solidFill>
                <a:latin typeface="Calibri"/>
                <a:ea typeface="Calibri"/>
                <a:cs typeface="Calibri"/>
                <a:sym typeface="Calibri"/>
              </a:rPr>
              <a:t>Tampilkan N suku pertama: 0, 1, 1, 2, 3, ...</a:t>
            </a:r>
            <a:endParaRPr b="0" i="0" sz="2100" u="none" cap="none" strike="noStrike">
              <a:solidFill>
                <a:schemeClr val="dk1"/>
              </a:solidFill>
              <a:latin typeface="Calibri"/>
              <a:ea typeface="Calibri"/>
              <a:cs typeface="Calibri"/>
              <a:sym typeface="Calibri"/>
            </a:endParaRPr>
          </a:p>
        </p:txBody>
      </p:sp>
      <p:sp>
        <p:nvSpPr>
          <p:cNvPr id="685" name="Google Shape;685;p27"/>
          <p:cNvSpPr/>
          <p:nvPr/>
        </p:nvSpPr>
        <p:spPr>
          <a:xfrm>
            <a:off x="12435840" y="6949440"/>
            <a:ext cx="4663440" cy="1051560"/>
          </a:xfrm>
          <a:prstGeom prst="roundRect">
            <a:avLst>
              <a:gd fmla="val 8696" name="adj"/>
            </a:avLst>
          </a:prstGeom>
          <a:solidFill>
            <a:srgbClr val="13123D"/>
          </a:solidFill>
          <a:ln cap="flat" cmpd="sng" w="12700">
            <a:solidFill>
              <a:srgbClr val="1312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27"/>
          <p:cNvSpPr txBox="1"/>
          <p:nvPr/>
        </p:nvSpPr>
        <p:spPr>
          <a:xfrm>
            <a:off x="12664440" y="6949440"/>
            <a:ext cx="429768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F"/>
              </a:buClr>
              <a:buSzPts val="2100"/>
              <a:buFont typeface="Courier New"/>
              <a:buNone/>
            </a:pPr>
            <a:r>
              <a:rPr b="0" i="0" lang="en-US" sz="2100" u="none" cap="none" strike="noStrike">
                <a:solidFill>
                  <a:srgbClr val="E8ECFF"/>
                </a:solidFill>
                <a:latin typeface="Courier New"/>
                <a:ea typeface="Courier New"/>
                <a:cs typeface="Courier New"/>
                <a:sym typeface="Courier New"/>
              </a:rPr>
              <a:t>N = 6</a:t>
            </a:r>
            <a:endParaRPr b="0" i="0" sz="2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100"/>
              <a:buFont typeface="Courier New"/>
              <a:buNone/>
            </a:pPr>
            <a:r>
              <a:rPr b="0" i="0" lang="en-US" sz="2100" u="none" cap="none" strike="noStrike">
                <a:solidFill>
                  <a:srgbClr val="E8ECFF"/>
                </a:solidFill>
                <a:latin typeface="Courier New"/>
                <a:ea typeface="Courier New"/>
                <a:cs typeface="Courier New"/>
                <a:sym typeface="Courier New"/>
              </a:rPr>
              <a:t>0 1 1 2 3 5</a:t>
            </a:r>
            <a:endParaRPr b="0" i="0" sz="2100" u="none" cap="none" strike="noStrike">
              <a:solidFill>
                <a:schemeClr val="dk1"/>
              </a:solidFill>
              <a:latin typeface="Calibri"/>
              <a:ea typeface="Calibri"/>
              <a:cs typeface="Calibri"/>
              <a:sym typeface="Calibri"/>
            </a:endParaRPr>
          </a:p>
        </p:txBody>
      </p:sp>
      <p:sp>
        <p:nvSpPr>
          <p:cNvPr id="687" name="Google Shape;687;p27"/>
          <p:cNvSpPr/>
          <p:nvPr/>
        </p:nvSpPr>
        <p:spPr>
          <a:xfrm>
            <a:off x="914400" y="8412480"/>
            <a:ext cx="16459200" cy="1097280"/>
          </a:xfrm>
          <a:prstGeom prst="roundRect">
            <a:avLst>
              <a:gd fmla="val 12500" name="adj"/>
            </a:avLst>
          </a:prstGeom>
          <a:solidFill>
            <a:srgbClr val="FFF3BF"/>
          </a:solidFill>
          <a:ln cap="flat" cmpd="sng" w="12700">
            <a:solidFill>
              <a:srgbClr val="FFF3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27"/>
          <p:cNvSpPr txBox="1"/>
          <p:nvPr/>
        </p:nvSpPr>
        <p:spPr>
          <a:xfrm>
            <a:off x="1188720" y="8412480"/>
            <a:ext cx="1591056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300"/>
              <a:buFont typeface="Calibri"/>
              <a:buNone/>
            </a:pPr>
            <a:r>
              <a:rPr b="1" i="0" lang="en-US" sz="2300" u="none" cap="none" strike="noStrike">
                <a:solidFill>
                  <a:srgbClr val="13123D"/>
                </a:solidFill>
                <a:latin typeface="Calibri"/>
                <a:ea typeface="Calibri"/>
                <a:cs typeface="Calibri"/>
                <a:sym typeface="Calibri"/>
              </a:rPr>
              <a:t>Petunjuk: </a:t>
            </a:r>
            <a:r>
              <a:rPr b="0" i="0" lang="en-US" sz="2300" u="none" cap="none" strike="noStrike">
                <a:solidFill>
                  <a:srgbClr val="13123D"/>
                </a:solidFill>
                <a:latin typeface="Calibri"/>
                <a:ea typeface="Calibri"/>
                <a:cs typeface="Calibri"/>
                <a:sym typeface="Calibri"/>
              </a:rPr>
              <a:t>pakai for. B butuh akumulator (mulai 0). C perlu menyimpan dua nilai sebelumnya.</a:t>
            </a:r>
            <a:endParaRPr b="0" i="0" sz="23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pic>
        <p:nvPicPr>
          <p:cNvPr descr="/home/claude/assets/image6.png" id="694" name="Google Shape;694;p28"/>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695" name="Google Shape;695;p28"/>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696" name="Google Shape;696;p28"/>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PEMBAHASAN LATIHAN 3</a:t>
            </a:r>
            <a:endParaRPr b="0" i="0" sz="2000" u="none" cap="none" strike="noStrike">
              <a:solidFill>
                <a:schemeClr val="dk1"/>
              </a:solidFill>
              <a:latin typeface="Calibri"/>
              <a:ea typeface="Calibri"/>
              <a:cs typeface="Calibri"/>
              <a:sym typeface="Calibri"/>
            </a:endParaRPr>
          </a:p>
        </p:txBody>
      </p:sp>
      <p:sp>
        <p:nvSpPr>
          <p:cNvPr id="697" name="Google Shape;697;p28"/>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Solusi: Deret Angka</a:t>
            </a:r>
            <a:endParaRPr b="0" i="0" sz="4800" u="none" cap="none" strike="noStrike">
              <a:solidFill>
                <a:schemeClr val="dk1"/>
              </a:solidFill>
              <a:latin typeface="Calibri"/>
              <a:ea typeface="Calibri"/>
              <a:cs typeface="Calibri"/>
              <a:sym typeface="Calibri"/>
            </a:endParaRPr>
          </a:p>
        </p:txBody>
      </p:sp>
      <p:sp>
        <p:nvSpPr>
          <p:cNvPr id="698" name="Google Shape;698;p28"/>
          <p:cNvSpPr txBox="1"/>
          <p:nvPr/>
        </p:nvSpPr>
        <p:spPr>
          <a:xfrm>
            <a:off x="914400" y="4160520"/>
            <a:ext cx="79552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600"/>
              <a:buFont typeface="Calibri"/>
              <a:buNone/>
            </a:pPr>
            <a:r>
              <a:rPr b="1" i="0" lang="en-US" sz="2600" u="none" cap="none" strike="noStrike">
                <a:solidFill>
                  <a:srgbClr val="162CA2"/>
                </a:solidFill>
                <a:latin typeface="Calibri"/>
                <a:ea typeface="Calibri"/>
                <a:cs typeface="Calibri"/>
                <a:sym typeface="Calibri"/>
              </a:rPr>
              <a:t>B. Jumlah 1 sampai N</a:t>
            </a:r>
            <a:endParaRPr b="0" i="0" sz="2600" u="none" cap="none" strike="noStrike">
              <a:solidFill>
                <a:schemeClr val="dk1"/>
              </a:solidFill>
              <a:latin typeface="Calibri"/>
              <a:ea typeface="Calibri"/>
              <a:cs typeface="Calibri"/>
              <a:sym typeface="Calibri"/>
            </a:endParaRPr>
          </a:p>
        </p:txBody>
      </p:sp>
      <p:sp>
        <p:nvSpPr>
          <p:cNvPr id="699" name="Google Shape;699;p28"/>
          <p:cNvSpPr/>
          <p:nvPr/>
        </p:nvSpPr>
        <p:spPr>
          <a:xfrm>
            <a:off x="914400" y="4709160"/>
            <a:ext cx="7955280" cy="2593848"/>
          </a:xfrm>
          <a:prstGeom prst="roundRect">
            <a:avLst>
              <a:gd fmla="val 5288" name="adj"/>
            </a:avLst>
          </a:prstGeom>
          <a:solidFill>
            <a:srgbClr val="13123D"/>
          </a:solidFill>
          <a:ln cap="flat" cmpd="sng" w="12700">
            <a:solidFill>
              <a:srgbClr val="1312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28"/>
          <p:cNvSpPr txBox="1"/>
          <p:nvPr/>
        </p:nvSpPr>
        <p:spPr>
          <a:xfrm>
            <a:off x="1188720" y="4965192"/>
            <a:ext cx="7406640" cy="21366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200"/>
              <a:buFont typeface="Courier New"/>
              <a:buNone/>
            </a:pPr>
            <a:r>
              <a:rPr b="0" i="0" lang="en-US" sz="2200" u="none" cap="none" strike="noStrike">
                <a:solidFill>
                  <a:srgbClr val="FCDF59"/>
                </a:solidFill>
                <a:latin typeface="Courier New"/>
                <a:ea typeface="Courier New"/>
                <a:cs typeface="Courier New"/>
                <a:sym typeface="Courier New"/>
              </a:rPr>
              <a:t>input</a:t>
            </a:r>
            <a:r>
              <a:rPr b="0" i="0" lang="en-US" sz="2200" u="none" cap="none" strike="noStrike">
                <a:solidFill>
                  <a:srgbClr val="E8ECFF"/>
                </a:solidFill>
                <a:latin typeface="Courier New"/>
                <a:ea typeface="Courier New"/>
                <a:cs typeface="Courier New"/>
                <a:sym typeface="Courier New"/>
              </a:rPr>
              <a:t> n</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200"/>
              <a:buFont typeface="Courier New"/>
              <a:buNone/>
            </a:pPr>
            <a:r>
              <a:rPr b="0" i="0" lang="en-US" sz="2200" u="none" cap="none" strike="noStrike">
                <a:solidFill>
                  <a:srgbClr val="E8ECFF"/>
                </a:solidFill>
                <a:latin typeface="Courier New"/>
                <a:ea typeface="Courier New"/>
                <a:cs typeface="Courier New"/>
                <a:sym typeface="Courier New"/>
              </a:rPr>
              <a:t>total = </a:t>
            </a:r>
            <a:r>
              <a:rPr b="0" i="0" lang="en-US" sz="2200" u="none" cap="none" strike="noStrike">
                <a:solidFill>
                  <a:srgbClr val="FFC58A"/>
                </a:solidFill>
                <a:latin typeface="Courier New"/>
                <a:ea typeface="Courier New"/>
                <a:cs typeface="Courier New"/>
                <a:sym typeface="Courier New"/>
              </a:rPr>
              <a:t>0</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CDF59"/>
              </a:buClr>
              <a:buSzPts val="2200"/>
              <a:buFont typeface="Courier New"/>
              <a:buNone/>
            </a:pPr>
            <a:r>
              <a:rPr b="0" i="0" lang="en-US" sz="2200" u="none" cap="none" strike="noStrike">
                <a:solidFill>
                  <a:srgbClr val="FCDF59"/>
                </a:solidFill>
                <a:latin typeface="Courier New"/>
                <a:ea typeface="Courier New"/>
                <a:cs typeface="Courier New"/>
                <a:sym typeface="Courier New"/>
              </a:rPr>
              <a:t>for</a:t>
            </a:r>
            <a:r>
              <a:rPr b="0" i="0" lang="en-US" sz="2200" u="none" cap="none" strike="noStrike">
                <a:solidFill>
                  <a:srgbClr val="E8ECFF"/>
                </a:solidFill>
                <a:latin typeface="Courier New"/>
                <a:ea typeface="Courier New"/>
                <a:cs typeface="Courier New"/>
                <a:sym typeface="Courier New"/>
              </a:rPr>
              <a:t> i = </a:t>
            </a:r>
            <a:r>
              <a:rPr b="0" i="0" lang="en-US" sz="2200" u="none" cap="none" strike="noStrike">
                <a:solidFill>
                  <a:srgbClr val="FFC58A"/>
                </a:solidFill>
                <a:latin typeface="Courier New"/>
                <a:ea typeface="Courier New"/>
                <a:cs typeface="Courier New"/>
                <a:sym typeface="Courier New"/>
              </a:rPr>
              <a:t>1</a:t>
            </a:r>
            <a:r>
              <a:rPr b="0" i="0" lang="en-US" sz="2200" u="none" cap="none" strike="noStrike">
                <a:solidFill>
                  <a:srgbClr val="E8ECFF"/>
                </a:solidFill>
                <a:latin typeface="Courier New"/>
                <a:ea typeface="Courier New"/>
                <a:cs typeface="Courier New"/>
                <a:sym typeface="Courier New"/>
              </a:rPr>
              <a:t> </a:t>
            </a:r>
            <a:r>
              <a:rPr b="0" i="0" lang="en-US" sz="2200" u="none" cap="none" strike="noStrike">
                <a:solidFill>
                  <a:srgbClr val="FCDF59"/>
                </a:solidFill>
                <a:latin typeface="Courier New"/>
                <a:ea typeface="Courier New"/>
                <a:cs typeface="Courier New"/>
                <a:sym typeface="Courier New"/>
              </a:rPr>
              <a:t>to</a:t>
            </a:r>
            <a:r>
              <a:rPr b="0" i="0" lang="en-US" sz="2200" u="none" cap="none" strike="noStrike">
                <a:solidFill>
                  <a:srgbClr val="E8ECFF"/>
                </a:solidFill>
                <a:latin typeface="Courier New"/>
                <a:ea typeface="Courier New"/>
                <a:cs typeface="Courier New"/>
                <a:sym typeface="Courier New"/>
              </a:rPr>
              <a:t> n</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200"/>
              <a:buFont typeface="Courier New"/>
              <a:buNone/>
            </a:pPr>
            <a:r>
              <a:rPr b="0" i="0" lang="en-US" sz="2200" u="none" cap="none" strike="noStrike">
                <a:solidFill>
                  <a:srgbClr val="E8ECFF"/>
                </a:solidFill>
                <a:latin typeface="Courier New"/>
                <a:ea typeface="Courier New"/>
                <a:cs typeface="Courier New"/>
                <a:sym typeface="Courier New"/>
              </a:rPr>
              <a:t>    total = total + i</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CDF59"/>
              </a:buClr>
              <a:buSzPts val="2200"/>
              <a:buFont typeface="Courier New"/>
              <a:buNone/>
            </a:pPr>
            <a:r>
              <a:rPr b="0" i="0" lang="en-US" sz="2200" u="none" cap="none" strike="noStrike">
                <a:solidFill>
                  <a:srgbClr val="FCDF59"/>
                </a:solidFill>
                <a:latin typeface="Courier New"/>
                <a:ea typeface="Courier New"/>
                <a:cs typeface="Courier New"/>
                <a:sym typeface="Courier New"/>
              </a:rPr>
              <a:t>end</a:t>
            </a:r>
            <a:r>
              <a:rPr b="0" i="0" lang="en-US" sz="2200" u="none" cap="none" strike="noStrike">
                <a:solidFill>
                  <a:srgbClr val="E8ECFF"/>
                </a:solidFill>
                <a:latin typeface="Courier New"/>
                <a:ea typeface="Courier New"/>
                <a:cs typeface="Courier New"/>
                <a:sym typeface="Courier New"/>
              </a:rPr>
              <a:t> </a:t>
            </a:r>
            <a:r>
              <a:rPr b="0" i="0" lang="en-US" sz="2200" u="none" cap="none" strike="noStrike">
                <a:solidFill>
                  <a:srgbClr val="FCDF59"/>
                </a:solidFill>
                <a:latin typeface="Courier New"/>
                <a:ea typeface="Courier New"/>
                <a:cs typeface="Courier New"/>
                <a:sym typeface="Courier New"/>
              </a:rPr>
              <a:t>for</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CDF59"/>
              </a:buClr>
              <a:buSzPts val="2200"/>
              <a:buFont typeface="Courier New"/>
              <a:buNone/>
            </a:pPr>
            <a:r>
              <a:rPr b="0" i="0" lang="en-US" sz="2200" u="none" cap="none" strike="noStrike">
                <a:solidFill>
                  <a:srgbClr val="FCDF59"/>
                </a:solidFill>
                <a:latin typeface="Courier New"/>
                <a:ea typeface="Courier New"/>
                <a:cs typeface="Courier New"/>
                <a:sym typeface="Courier New"/>
              </a:rPr>
              <a:t>print</a:t>
            </a:r>
            <a:r>
              <a:rPr b="0" i="0" lang="en-US" sz="2200" u="none" cap="none" strike="noStrike">
                <a:solidFill>
                  <a:srgbClr val="E8ECFF"/>
                </a:solidFill>
                <a:latin typeface="Courier New"/>
                <a:ea typeface="Courier New"/>
                <a:cs typeface="Courier New"/>
                <a:sym typeface="Courier New"/>
              </a:rPr>
              <a:t> total</a:t>
            </a:r>
            <a:endParaRPr b="0" i="0" sz="2200" u="none" cap="none" strike="noStrike">
              <a:solidFill>
                <a:schemeClr val="dk1"/>
              </a:solidFill>
              <a:latin typeface="Calibri"/>
              <a:ea typeface="Calibri"/>
              <a:cs typeface="Calibri"/>
              <a:sym typeface="Calibri"/>
            </a:endParaRPr>
          </a:p>
        </p:txBody>
      </p:sp>
      <p:sp>
        <p:nvSpPr>
          <p:cNvPr id="701" name="Google Shape;701;p28"/>
          <p:cNvSpPr txBox="1"/>
          <p:nvPr/>
        </p:nvSpPr>
        <p:spPr>
          <a:xfrm>
            <a:off x="914400" y="7772400"/>
            <a:ext cx="7955280" cy="1645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A cukup print i di dalam for. B memakai pola akumulator: total mulai 0, lalu ditambah tiap iterasi.</a:t>
            </a:r>
            <a:endParaRPr b="0" i="0" sz="2200" u="none" cap="none" strike="noStrike">
              <a:solidFill>
                <a:schemeClr val="dk1"/>
              </a:solidFill>
              <a:latin typeface="Calibri"/>
              <a:ea typeface="Calibri"/>
              <a:cs typeface="Calibri"/>
              <a:sym typeface="Calibri"/>
            </a:endParaRPr>
          </a:p>
        </p:txBody>
      </p:sp>
      <p:sp>
        <p:nvSpPr>
          <p:cNvPr id="702" name="Google Shape;702;p28"/>
          <p:cNvSpPr txBox="1"/>
          <p:nvPr/>
        </p:nvSpPr>
        <p:spPr>
          <a:xfrm>
            <a:off x="9418320" y="4160520"/>
            <a:ext cx="79552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600"/>
              <a:buFont typeface="Calibri"/>
              <a:buNone/>
            </a:pPr>
            <a:r>
              <a:rPr b="1" i="0" lang="en-US" sz="2600" u="none" cap="none" strike="noStrike">
                <a:solidFill>
                  <a:srgbClr val="162CA2"/>
                </a:solidFill>
                <a:latin typeface="Calibri"/>
                <a:ea typeface="Calibri"/>
                <a:cs typeface="Calibri"/>
                <a:sym typeface="Calibri"/>
              </a:rPr>
              <a:t>C. Fibonacci</a:t>
            </a:r>
            <a:endParaRPr b="0" i="0" sz="2600" u="none" cap="none" strike="noStrike">
              <a:solidFill>
                <a:schemeClr val="dk1"/>
              </a:solidFill>
              <a:latin typeface="Calibri"/>
              <a:ea typeface="Calibri"/>
              <a:cs typeface="Calibri"/>
              <a:sym typeface="Calibri"/>
            </a:endParaRPr>
          </a:p>
        </p:txBody>
      </p:sp>
      <p:sp>
        <p:nvSpPr>
          <p:cNvPr id="703" name="Google Shape;703;p28"/>
          <p:cNvSpPr/>
          <p:nvPr/>
        </p:nvSpPr>
        <p:spPr>
          <a:xfrm>
            <a:off x="9418320" y="4709160"/>
            <a:ext cx="7955280" cy="3616452"/>
          </a:xfrm>
          <a:prstGeom prst="roundRect">
            <a:avLst>
              <a:gd fmla="val 3793" name="adj"/>
            </a:avLst>
          </a:prstGeom>
          <a:solidFill>
            <a:srgbClr val="13123D"/>
          </a:solidFill>
          <a:ln cap="flat" cmpd="sng" w="12700">
            <a:solidFill>
              <a:srgbClr val="1312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28"/>
          <p:cNvSpPr txBox="1"/>
          <p:nvPr/>
        </p:nvSpPr>
        <p:spPr>
          <a:xfrm>
            <a:off x="9692640" y="4965192"/>
            <a:ext cx="7406640" cy="31592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200"/>
              <a:buFont typeface="Courier New"/>
              <a:buNone/>
            </a:pPr>
            <a:r>
              <a:rPr b="0" i="0" lang="en-US" sz="2200" u="none" cap="none" strike="noStrike">
                <a:solidFill>
                  <a:srgbClr val="FCDF59"/>
                </a:solidFill>
                <a:latin typeface="Courier New"/>
                <a:ea typeface="Courier New"/>
                <a:cs typeface="Courier New"/>
                <a:sym typeface="Courier New"/>
              </a:rPr>
              <a:t>input</a:t>
            </a:r>
            <a:r>
              <a:rPr b="0" i="0" lang="en-US" sz="2200" u="none" cap="none" strike="noStrike">
                <a:solidFill>
                  <a:srgbClr val="E8ECFF"/>
                </a:solidFill>
                <a:latin typeface="Courier New"/>
                <a:ea typeface="Courier New"/>
                <a:cs typeface="Courier New"/>
                <a:sym typeface="Courier New"/>
              </a:rPr>
              <a:t> n</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200"/>
              <a:buFont typeface="Courier New"/>
              <a:buNone/>
            </a:pPr>
            <a:r>
              <a:rPr b="0" i="0" lang="en-US" sz="2200" u="none" cap="none" strike="noStrike">
                <a:solidFill>
                  <a:srgbClr val="E8ECFF"/>
                </a:solidFill>
                <a:latin typeface="Courier New"/>
                <a:ea typeface="Courier New"/>
                <a:cs typeface="Courier New"/>
                <a:sym typeface="Courier New"/>
              </a:rPr>
              <a:t>a = </a:t>
            </a:r>
            <a:r>
              <a:rPr b="0" i="0" lang="en-US" sz="2200" u="none" cap="none" strike="noStrike">
                <a:solidFill>
                  <a:srgbClr val="FFC58A"/>
                </a:solidFill>
                <a:latin typeface="Courier New"/>
                <a:ea typeface="Courier New"/>
                <a:cs typeface="Courier New"/>
                <a:sym typeface="Courier New"/>
              </a:rPr>
              <a:t>0</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200"/>
              <a:buFont typeface="Courier New"/>
              <a:buNone/>
            </a:pPr>
            <a:r>
              <a:rPr b="0" i="0" lang="en-US" sz="2200" u="none" cap="none" strike="noStrike">
                <a:solidFill>
                  <a:srgbClr val="E8ECFF"/>
                </a:solidFill>
                <a:latin typeface="Courier New"/>
                <a:ea typeface="Courier New"/>
                <a:cs typeface="Courier New"/>
                <a:sym typeface="Courier New"/>
              </a:rPr>
              <a:t>b = </a:t>
            </a:r>
            <a:r>
              <a:rPr b="0" i="0" lang="en-US" sz="2200" u="none" cap="none" strike="noStrike">
                <a:solidFill>
                  <a:srgbClr val="FFC58A"/>
                </a:solidFill>
                <a:latin typeface="Courier New"/>
                <a:ea typeface="Courier New"/>
                <a:cs typeface="Courier New"/>
                <a:sym typeface="Courier New"/>
              </a:rPr>
              <a:t>1</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CDF59"/>
              </a:buClr>
              <a:buSzPts val="2200"/>
              <a:buFont typeface="Courier New"/>
              <a:buNone/>
            </a:pPr>
            <a:r>
              <a:rPr b="0" i="0" lang="en-US" sz="2200" u="none" cap="none" strike="noStrike">
                <a:solidFill>
                  <a:srgbClr val="FCDF59"/>
                </a:solidFill>
                <a:latin typeface="Courier New"/>
                <a:ea typeface="Courier New"/>
                <a:cs typeface="Courier New"/>
                <a:sym typeface="Courier New"/>
              </a:rPr>
              <a:t>for</a:t>
            </a:r>
            <a:r>
              <a:rPr b="0" i="0" lang="en-US" sz="2200" u="none" cap="none" strike="noStrike">
                <a:solidFill>
                  <a:srgbClr val="E8ECFF"/>
                </a:solidFill>
                <a:latin typeface="Courier New"/>
                <a:ea typeface="Courier New"/>
                <a:cs typeface="Courier New"/>
                <a:sym typeface="Courier New"/>
              </a:rPr>
              <a:t> i = </a:t>
            </a:r>
            <a:r>
              <a:rPr b="0" i="0" lang="en-US" sz="2200" u="none" cap="none" strike="noStrike">
                <a:solidFill>
                  <a:srgbClr val="FFC58A"/>
                </a:solidFill>
                <a:latin typeface="Courier New"/>
                <a:ea typeface="Courier New"/>
                <a:cs typeface="Courier New"/>
                <a:sym typeface="Courier New"/>
              </a:rPr>
              <a:t>1</a:t>
            </a:r>
            <a:r>
              <a:rPr b="0" i="0" lang="en-US" sz="2200" u="none" cap="none" strike="noStrike">
                <a:solidFill>
                  <a:srgbClr val="E8ECFF"/>
                </a:solidFill>
                <a:latin typeface="Courier New"/>
                <a:ea typeface="Courier New"/>
                <a:cs typeface="Courier New"/>
                <a:sym typeface="Courier New"/>
              </a:rPr>
              <a:t> </a:t>
            </a:r>
            <a:r>
              <a:rPr b="0" i="0" lang="en-US" sz="2200" u="none" cap="none" strike="noStrike">
                <a:solidFill>
                  <a:srgbClr val="FCDF59"/>
                </a:solidFill>
                <a:latin typeface="Courier New"/>
                <a:ea typeface="Courier New"/>
                <a:cs typeface="Courier New"/>
                <a:sym typeface="Courier New"/>
              </a:rPr>
              <a:t>to</a:t>
            </a:r>
            <a:r>
              <a:rPr b="0" i="0" lang="en-US" sz="2200" u="none" cap="none" strike="noStrike">
                <a:solidFill>
                  <a:srgbClr val="E8ECFF"/>
                </a:solidFill>
                <a:latin typeface="Courier New"/>
                <a:ea typeface="Courier New"/>
                <a:cs typeface="Courier New"/>
                <a:sym typeface="Courier New"/>
              </a:rPr>
              <a:t> n</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200"/>
              <a:buFont typeface="Courier New"/>
              <a:buNone/>
            </a:pPr>
            <a:r>
              <a:rPr b="0" i="0" lang="en-US" sz="2200" u="none" cap="none" strike="noStrike">
                <a:solidFill>
                  <a:srgbClr val="E8ECFF"/>
                </a:solidFill>
                <a:latin typeface="Courier New"/>
                <a:ea typeface="Courier New"/>
                <a:cs typeface="Courier New"/>
                <a:sym typeface="Courier New"/>
              </a:rPr>
              <a:t>    </a:t>
            </a:r>
            <a:r>
              <a:rPr b="0" i="0" lang="en-US" sz="2200" u="none" cap="none" strike="noStrike">
                <a:solidFill>
                  <a:srgbClr val="FCDF59"/>
                </a:solidFill>
                <a:latin typeface="Courier New"/>
                <a:ea typeface="Courier New"/>
                <a:cs typeface="Courier New"/>
                <a:sym typeface="Courier New"/>
              </a:rPr>
              <a:t>print</a:t>
            </a:r>
            <a:r>
              <a:rPr b="0" i="0" lang="en-US" sz="2200" u="none" cap="none" strike="noStrike">
                <a:solidFill>
                  <a:srgbClr val="E8ECFF"/>
                </a:solidFill>
                <a:latin typeface="Courier New"/>
                <a:ea typeface="Courier New"/>
                <a:cs typeface="Courier New"/>
                <a:sym typeface="Courier New"/>
              </a:rPr>
              <a:t> a</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200"/>
              <a:buFont typeface="Courier New"/>
              <a:buNone/>
            </a:pPr>
            <a:r>
              <a:rPr b="0" i="0" lang="en-US" sz="2200" u="none" cap="none" strike="noStrike">
                <a:solidFill>
                  <a:srgbClr val="E8ECFF"/>
                </a:solidFill>
                <a:latin typeface="Courier New"/>
                <a:ea typeface="Courier New"/>
                <a:cs typeface="Courier New"/>
                <a:sym typeface="Courier New"/>
              </a:rPr>
              <a:t>    temp = a + b</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200"/>
              <a:buFont typeface="Courier New"/>
              <a:buNone/>
            </a:pPr>
            <a:r>
              <a:rPr b="0" i="0" lang="en-US" sz="2200" u="none" cap="none" strike="noStrike">
                <a:solidFill>
                  <a:srgbClr val="E8ECFF"/>
                </a:solidFill>
                <a:latin typeface="Courier New"/>
                <a:ea typeface="Courier New"/>
                <a:cs typeface="Courier New"/>
                <a:sym typeface="Courier New"/>
              </a:rPr>
              <a:t>    a = b</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200"/>
              <a:buFont typeface="Courier New"/>
              <a:buNone/>
            </a:pPr>
            <a:r>
              <a:rPr b="0" i="0" lang="en-US" sz="2200" u="none" cap="none" strike="noStrike">
                <a:solidFill>
                  <a:srgbClr val="E8ECFF"/>
                </a:solidFill>
                <a:latin typeface="Courier New"/>
                <a:ea typeface="Courier New"/>
                <a:cs typeface="Courier New"/>
                <a:sym typeface="Courier New"/>
              </a:rPr>
              <a:t>    b = temp</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CDF59"/>
              </a:buClr>
              <a:buSzPts val="2200"/>
              <a:buFont typeface="Courier New"/>
              <a:buNone/>
            </a:pPr>
            <a:r>
              <a:rPr b="0" i="0" lang="en-US" sz="2200" u="none" cap="none" strike="noStrike">
                <a:solidFill>
                  <a:srgbClr val="FCDF59"/>
                </a:solidFill>
                <a:latin typeface="Courier New"/>
                <a:ea typeface="Courier New"/>
                <a:cs typeface="Courier New"/>
                <a:sym typeface="Courier New"/>
              </a:rPr>
              <a:t>end</a:t>
            </a:r>
            <a:r>
              <a:rPr b="0" i="0" lang="en-US" sz="2200" u="none" cap="none" strike="noStrike">
                <a:solidFill>
                  <a:srgbClr val="E8ECFF"/>
                </a:solidFill>
                <a:latin typeface="Courier New"/>
                <a:ea typeface="Courier New"/>
                <a:cs typeface="Courier New"/>
                <a:sym typeface="Courier New"/>
              </a:rPr>
              <a:t> </a:t>
            </a:r>
            <a:r>
              <a:rPr b="0" i="0" lang="en-US" sz="2200" u="none" cap="none" strike="noStrike">
                <a:solidFill>
                  <a:srgbClr val="FCDF59"/>
                </a:solidFill>
                <a:latin typeface="Courier New"/>
                <a:ea typeface="Courier New"/>
                <a:cs typeface="Courier New"/>
                <a:sym typeface="Courier New"/>
              </a:rPr>
              <a:t>for</a:t>
            </a:r>
            <a:endParaRPr b="0" i="0" sz="2200" u="none" cap="none" strike="noStrike">
              <a:solidFill>
                <a:schemeClr val="dk1"/>
              </a:solidFill>
              <a:latin typeface="Calibri"/>
              <a:ea typeface="Calibri"/>
              <a:cs typeface="Calibri"/>
              <a:sym typeface="Calibri"/>
            </a:endParaRPr>
          </a:p>
        </p:txBody>
      </p:sp>
      <p:sp>
        <p:nvSpPr>
          <p:cNvPr id="705" name="Google Shape;705;p28"/>
          <p:cNvSpPr txBox="1"/>
          <p:nvPr/>
        </p:nvSpPr>
        <p:spPr>
          <a:xfrm>
            <a:off x="9418320" y="8778240"/>
            <a:ext cx="795528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Pola tukar nilai: simpan a + b di temp, lalu geser a dan b ke depan.</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pic>
        <p:nvPicPr>
          <p:cNvPr descr="/home/claude/assets/image6.png" id="711" name="Google Shape;711;p29"/>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712" name="Google Shape;712;p29"/>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713" name="Google Shape;713;p29"/>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PENUTUP · 10 MENIT</a:t>
            </a:r>
            <a:endParaRPr b="0" i="0" sz="2000" u="none" cap="none" strike="noStrike">
              <a:solidFill>
                <a:schemeClr val="dk1"/>
              </a:solidFill>
              <a:latin typeface="Calibri"/>
              <a:ea typeface="Calibri"/>
              <a:cs typeface="Calibri"/>
              <a:sym typeface="Calibri"/>
            </a:endParaRPr>
          </a:p>
        </p:txBody>
      </p:sp>
      <p:sp>
        <p:nvSpPr>
          <p:cNvPr id="714" name="Google Shape;714;p29"/>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Rangkuman Sesi 1</a:t>
            </a:r>
            <a:endParaRPr b="0" i="0" sz="4800" u="none" cap="none" strike="noStrike">
              <a:solidFill>
                <a:schemeClr val="dk1"/>
              </a:solidFill>
              <a:latin typeface="Calibri"/>
              <a:ea typeface="Calibri"/>
              <a:cs typeface="Calibri"/>
              <a:sym typeface="Calibri"/>
            </a:endParaRPr>
          </a:p>
        </p:txBody>
      </p:sp>
      <p:sp>
        <p:nvSpPr>
          <p:cNvPr id="715" name="Google Shape;715;p29"/>
          <p:cNvSpPr/>
          <p:nvPr/>
        </p:nvSpPr>
        <p:spPr>
          <a:xfrm>
            <a:off x="914400" y="4343400"/>
            <a:ext cx="3977640" cy="2331720"/>
          </a:xfrm>
          <a:prstGeom prst="roundRect">
            <a:avLst>
              <a:gd fmla="val 588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29"/>
          <p:cNvSpPr/>
          <p:nvPr/>
        </p:nvSpPr>
        <p:spPr>
          <a:xfrm>
            <a:off x="1188720" y="4572000"/>
            <a:ext cx="731520" cy="731520"/>
          </a:xfrm>
          <a:prstGeom prst="ellipse">
            <a:avLst/>
          </a:prstGeom>
          <a:solidFill>
            <a:srgbClr val="162CA2"/>
          </a:solidFill>
          <a:ln cap="flat" cmpd="sng" w="9525">
            <a:solidFill>
              <a:srgbClr val="162CA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DFBFB"/>
              </a:buClr>
              <a:buSzPts val="2600"/>
              <a:buFont typeface="Arial"/>
              <a:buNone/>
            </a:pPr>
            <a:r>
              <a:rPr b="1" i="0" lang="en-US" sz="2600" u="none" cap="none" strike="noStrike">
                <a:solidFill>
                  <a:srgbClr val="FDFBFB"/>
                </a:solidFill>
                <a:latin typeface="Arial"/>
                <a:ea typeface="Arial"/>
                <a:cs typeface="Arial"/>
                <a:sym typeface="Arial"/>
              </a:rPr>
              <a:t>1</a:t>
            </a:r>
            <a:endParaRPr b="0" i="0" sz="2600" u="none" cap="none" strike="noStrike">
              <a:solidFill>
                <a:schemeClr val="dk1"/>
              </a:solidFill>
              <a:latin typeface="Calibri"/>
              <a:ea typeface="Calibri"/>
              <a:cs typeface="Calibri"/>
              <a:sym typeface="Calibri"/>
            </a:endParaRPr>
          </a:p>
        </p:txBody>
      </p:sp>
      <p:sp>
        <p:nvSpPr>
          <p:cNvPr id="717" name="Google Shape;717;p29"/>
          <p:cNvSpPr txBox="1"/>
          <p:nvPr/>
        </p:nvSpPr>
        <p:spPr>
          <a:xfrm>
            <a:off x="1188720" y="5440680"/>
            <a:ext cx="34747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Pemrograman</a:t>
            </a:r>
            <a:endParaRPr b="0" i="0" sz="2400" u="none" cap="none" strike="noStrike">
              <a:solidFill>
                <a:schemeClr val="dk1"/>
              </a:solidFill>
              <a:latin typeface="Calibri"/>
              <a:ea typeface="Calibri"/>
              <a:cs typeface="Calibri"/>
              <a:sym typeface="Calibri"/>
            </a:endParaRPr>
          </a:p>
        </p:txBody>
      </p:sp>
      <p:sp>
        <p:nvSpPr>
          <p:cNvPr id="718" name="Google Shape;718;p29"/>
          <p:cNvSpPr txBox="1"/>
          <p:nvPr/>
        </p:nvSpPr>
        <p:spPr>
          <a:xfrm>
            <a:off x="1188720" y="5943600"/>
            <a:ext cx="34747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F86"/>
              </a:buClr>
              <a:buSzPts val="1900"/>
              <a:buFont typeface="Calibri"/>
              <a:buNone/>
            </a:pPr>
            <a:r>
              <a:rPr b="0" i="0" lang="en-US" sz="1900" u="none" cap="none" strike="noStrike">
                <a:solidFill>
                  <a:srgbClr val="5A5F86"/>
                </a:solidFill>
                <a:latin typeface="Calibri"/>
                <a:ea typeface="Calibri"/>
                <a:cs typeface="Calibri"/>
                <a:sym typeface="Calibri"/>
              </a:rPr>
              <a:t>Instruksi untuk komputer</a:t>
            </a:r>
            <a:endParaRPr b="0" i="0" sz="1900" u="none" cap="none" strike="noStrike">
              <a:solidFill>
                <a:schemeClr val="dk1"/>
              </a:solidFill>
              <a:latin typeface="Calibri"/>
              <a:ea typeface="Calibri"/>
              <a:cs typeface="Calibri"/>
              <a:sym typeface="Calibri"/>
            </a:endParaRPr>
          </a:p>
        </p:txBody>
      </p:sp>
      <p:sp>
        <p:nvSpPr>
          <p:cNvPr id="719" name="Google Shape;719;p29"/>
          <p:cNvSpPr/>
          <p:nvPr/>
        </p:nvSpPr>
        <p:spPr>
          <a:xfrm>
            <a:off x="5166360" y="4343400"/>
            <a:ext cx="3977640" cy="2331720"/>
          </a:xfrm>
          <a:prstGeom prst="roundRect">
            <a:avLst>
              <a:gd fmla="val 588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29"/>
          <p:cNvSpPr/>
          <p:nvPr/>
        </p:nvSpPr>
        <p:spPr>
          <a:xfrm>
            <a:off x="5440680" y="4572000"/>
            <a:ext cx="731520" cy="731520"/>
          </a:xfrm>
          <a:prstGeom prst="ellipse">
            <a:avLst/>
          </a:prstGeom>
          <a:solidFill>
            <a:srgbClr val="162CA2"/>
          </a:solidFill>
          <a:ln cap="flat" cmpd="sng" w="9525">
            <a:solidFill>
              <a:srgbClr val="162CA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DFBFB"/>
              </a:buClr>
              <a:buSzPts val="2600"/>
              <a:buFont typeface="Arial"/>
              <a:buNone/>
            </a:pPr>
            <a:r>
              <a:rPr b="1" i="0" lang="en-US" sz="2600" u="none" cap="none" strike="noStrike">
                <a:solidFill>
                  <a:srgbClr val="FDFBFB"/>
                </a:solidFill>
                <a:latin typeface="Arial"/>
                <a:ea typeface="Arial"/>
                <a:cs typeface="Arial"/>
                <a:sym typeface="Arial"/>
              </a:rPr>
              <a:t>2</a:t>
            </a:r>
            <a:endParaRPr b="0" i="0" sz="2600" u="none" cap="none" strike="noStrike">
              <a:solidFill>
                <a:schemeClr val="dk1"/>
              </a:solidFill>
              <a:latin typeface="Calibri"/>
              <a:ea typeface="Calibri"/>
              <a:cs typeface="Calibri"/>
              <a:sym typeface="Calibri"/>
            </a:endParaRPr>
          </a:p>
        </p:txBody>
      </p:sp>
      <p:sp>
        <p:nvSpPr>
          <p:cNvPr id="721" name="Google Shape;721;p29"/>
          <p:cNvSpPr txBox="1"/>
          <p:nvPr/>
        </p:nvSpPr>
        <p:spPr>
          <a:xfrm>
            <a:off x="5440680" y="5440680"/>
            <a:ext cx="34747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Algoritma</a:t>
            </a:r>
            <a:endParaRPr b="0" i="0" sz="2400" u="none" cap="none" strike="noStrike">
              <a:solidFill>
                <a:schemeClr val="dk1"/>
              </a:solidFill>
              <a:latin typeface="Calibri"/>
              <a:ea typeface="Calibri"/>
              <a:cs typeface="Calibri"/>
              <a:sym typeface="Calibri"/>
            </a:endParaRPr>
          </a:p>
        </p:txBody>
      </p:sp>
      <p:sp>
        <p:nvSpPr>
          <p:cNvPr id="722" name="Google Shape;722;p29"/>
          <p:cNvSpPr txBox="1"/>
          <p:nvPr/>
        </p:nvSpPr>
        <p:spPr>
          <a:xfrm>
            <a:off x="5440680" y="5943600"/>
            <a:ext cx="34747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F86"/>
              </a:buClr>
              <a:buSzPts val="1900"/>
              <a:buFont typeface="Calibri"/>
              <a:buNone/>
            </a:pPr>
            <a:r>
              <a:rPr b="0" i="0" lang="en-US" sz="1900" u="none" cap="none" strike="noStrike">
                <a:solidFill>
                  <a:srgbClr val="5A5F86"/>
                </a:solidFill>
                <a:latin typeface="Calibri"/>
                <a:ea typeface="Calibri"/>
                <a:cs typeface="Calibri"/>
                <a:sym typeface="Calibri"/>
              </a:rPr>
              <a:t>Langkah logis + pseudocode</a:t>
            </a:r>
            <a:endParaRPr b="0" i="0" sz="1900" u="none" cap="none" strike="noStrike">
              <a:solidFill>
                <a:schemeClr val="dk1"/>
              </a:solidFill>
              <a:latin typeface="Calibri"/>
              <a:ea typeface="Calibri"/>
              <a:cs typeface="Calibri"/>
              <a:sym typeface="Calibri"/>
            </a:endParaRPr>
          </a:p>
        </p:txBody>
      </p:sp>
      <p:sp>
        <p:nvSpPr>
          <p:cNvPr id="723" name="Google Shape;723;p29"/>
          <p:cNvSpPr/>
          <p:nvPr/>
        </p:nvSpPr>
        <p:spPr>
          <a:xfrm>
            <a:off x="9418320" y="4343400"/>
            <a:ext cx="3977640" cy="2331720"/>
          </a:xfrm>
          <a:prstGeom prst="roundRect">
            <a:avLst>
              <a:gd fmla="val 588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29"/>
          <p:cNvSpPr/>
          <p:nvPr/>
        </p:nvSpPr>
        <p:spPr>
          <a:xfrm>
            <a:off x="9692640" y="4572000"/>
            <a:ext cx="731520" cy="731520"/>
          </a:xfrm>
          <a:prstGeom prst="ellipse">
            <a:avLst/>
          </a:prstGeom>
          <a:solidFill>
            <a:srgbClr val="162CA2"/>
          </a:solidFill>
          <a:ln cap="flat" cmpd="sng" w="9525">
            <a:solidFill>
              <a:srgbClr val="162CA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DFBFB"/>
              </a:buClr>
              <a:buSzPts val="2600"/>
              <a:buFont typeface="Arial"/>
              <a:buNone/>
            </a:pPr>
            <a:r>
              <a:rPr b="1" i="0" lang="en-US" sz="2600" u="none" cap="none" strike="noStrike">
                <a:solidFill>
                  <a:srgbClr val="FDFBFB"/>
                </a:solidFill>
                <a:latin typeface="Arial"/>
                <a:ea typeface="Arial"/>
                <a:cs typeface="Arial"/>
                <a:sym typeface="Arial"/>
              </a:rPr>
              <a:t>3</a:t>
            </a:r>
            <a:endParaRPr b="0" i="0" sz="2600" u="none" cap="none" strike="noStrike">
              <a:solidFill>
                <a:schemeClr val="dk1"/>
              </a:solidFill>
              <a:latin typeface="Calibri"/>
              <a:ea typeface="Calibri"/>
              <a:cs typeface="Calibri"/>
              <a:sym typeface="Calibri"/>
            </a:endParaRPr>
          </a:p>
        </p:txBody>
      </p:sp>
      <p:sp>
        <p:nvSpPr>
          <p:cNvPr id="725" name="Google Shape;725;p29"/>
          <p:cNvSpPr txBox="1"/>
          <p:nvPr/>
        </p:nvSpPr>
        <p:spPr>
          <a:xfrm>
            <a:off x="9692640" y="5440680"/>
            <a:ext cx="34747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Flowchart</a:t>
            </a:r>
            <a:endParaRPr b="0" i="0" sz="2400" u="none" cap="none" strike="noStrike">
              <a:solidFill>
                <a:schemeClr val="dk1"/>
              </a:solidFill>
              <a:latin typeface="Calibri"/>
              <a:ea typeface="Calibri"/>
              <a:cs typeface="Calibri"/>
              <a:sym typeface="Calibri"/>
            </a:endParaRPr>
          </a:p>
        </p:txBody>
      </p:sp>
      <p:sp>
        <p:nvSpPr>
          <p:cNvPr id="726" name="Google Shape;726;p29"/>
          <p:cNvSpPr txBox="1"/>
          <p:nvPr/>
        </p:nvSpPr>
        <p:spPr>
          <a:xfrm>
            <a:off x="9692640" y="5943600"/>
            <a:ext cx="34747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F86"/>
              </a:buClr>
              <a:buSzPts val="1900"/>
              <a:buFont typeface="Calibri"/>
              <a:buNone/>
            </a:pPr>
            <a:r>
              <a:rPr b="0" i="0" lang="en-US" sz="1900" u="none" cap="none" strike="noStrike">
                <a:solidFill>
                  <a:srgbClr val="5A5F86"/>
                </a:solidFill>
                <a:latin typeface="Calibri"/>
                <a:ea typeface="Calibri"/>
                <a:cs typeface="Calibri"/>
                <a:sym typeface="Calibri"/>
              </a:rPr>
              <a:t>Visualisasi alur logika</a:t>
            </a:r>
            <a:endParaRPr b="0" i="0" sz="1900" u="none" cap="none" strike="noStrike">
              <a:solidFill>
                <a:schemeClr val="dk1"/>
              </a:solidFill>
              <a:latin typeface="Calibri"/>
              <a:ea typeface="Calibri"/>
              <a:cs typeface="Calibri"/>
              <a:sym typeface="Calibri"/>
            </a:endParaRPr>
          </a:p>
        </p:txBody>
      </p:sp>
      <p:sp>
        <p:nvSpPr>
          <p:cNvPr id="727" name="Google Shape;727;p29"/>
          <p:cNvSpPr/>
          <p:nvPr/>
        </p:nvSpPr>
        <p:spPr>
          <a:xfrm>
            <a:off x="13670280" y="4343400"/>
            <a:ext cx="3977640" cy="2331720"/>
          </a:xfrm>
          <a:prstGeom prst="roundRect">
            <a:avLst>
              <a:gd fmla="val 588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29"/>
          <p:cNvSpPr/>
          <p:nvPr/>
        </p:nvSpPr>
        <p:spPr>
          <a:xfrm>
            <a:off x="13944600" y="4572000"/>
            <a:ext cx="731520" cy="731520"/>
          </a:xfrm>
          <a:prstGeom prst="ellipse">
            <a:avLst/>
          </a:prstGeom>
          <a:solidFill>
            <a:srgbClr val="162CA2"/>
          </a:solidFill>
          <a:ln cap="flat" cmpd="sng" w="9525">
            <a:solidFill>
              <a:srgbClr val="162CA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DFBFB"/>
              </a:buClr>
              <a:buSzPts val="2600"/>
              <a:buFont typeface="Arial"/>
              <a:buNone/>
            </a:pPr>
            <a:r>
              <a:rPr b="1" i="0" lang="en-US" sz="2600" u="none" cap="none" strike="noStrike">
                <a:solidFill>
                  <a:srgbClr val="FDFBFB"/>
                </a:solidFill>
                <a:latin typeface="Arial"/>
                <a:ea typeface="Arial"/>
                <a:cs typeface="Arial"/>
                <a:sym typeface="Arial"/>
              </a:rPr>
              <a:t>4</a:t>
            </a:r>
            <a:endParaRPr b="0" i="0" sz="2600" u="none" cap="none" strike="noStrike">
              <a:solidFill>
                <a:schemeClr val="dk1"/>
              </a:solidFill>
              <a:latin typeface="Calibri"/>
              <a:ea typeface="Calibri"/>
              <a:cs typeface="Calibri"/>
              <a:sym typeface="Calibri"/>
            </a:endParaRPr>
          </a:p>
        </p:txBody>
      </p:sp>
      <p:sp>
        <p:nvSpPr>
          <p:cNvPr id="729" name="Google Shape;729;p29"/>
          <p:cNvSpPr txBox="1"/>
          <p:nvPr/>
        </p:nvSpPr>
        <p:spPr>
          <a:xfrm>
            <a:off x="13944600" y="5440680"/>
            <a:ext cx="34747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Variabel &amp; operator</a:t>
            </a:r>
            <a:endParaRPr b="0" i="0" sz="2400" u="none" cap="none" strike="noStrike">
              <a:solidFill>
                <a:schemeClr val="dk1"/>
              </a:solidFill>
              <a:latin typeface="Calibri"/>
              <a:ea typeface="Calibri"/>
              <a:cs typeface="Calibri"/>
              <a:sym typeface="Calibri"/>
            </a:endParaRPr>
          </a:p>
        </p:txBody>
      </p:sp>
      <p:sp>
        <p:nvSpPr>
          <p:cNvPr id="730" name="Google Shape;730;p29"/>
          <p:cNvSpPr txBox="1"/>
          <p:nvPr/>
        </p:nvSpPr>
        <p:spPr>
          <a:xfrm>
            <a:off x="13944600" y="5943600"/>
            <a:ext cx="34747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F86"/>
              </a:buClr>
              <a:buSzPts val="1900"/>
              <a:buFont typeface="Calibri"/>
              <a:buNone/>
            </a:pPr>
            <a:r>
              <a:rPr b="0" i="0" lang="en-US" sz="1900" u="none" cap="none" strike="noStrike">
                <a:solidFill>
                  <a:srgbClr val="5A5F86"/>
                </a:solidFill>
                <a:latin typeface="Calibri"/>
                <a:ea typeface="Calibri"/>
                <a:cs typeface="Calibri"/>
                <a:sym typeface="Calibri"/>
              </a:rPr>
              <a:t>Data dan operasinya</a:t>
            </a:r>
            <a:endParaRPr b="0" i="0" sz="1900" u="none" cap="none" strike="noStrike">
              <a:solidFill>
                <a:schemeClr val="dk1"/>
              </a:solidFill>
              <a:latin typeface="Calibri"/>
              <a:ea typeface="Calibri"/>
              <a:cs typeface="Calibri"/>
              <a:sym typeface="Calibri"/>
            </a:endParaRPr>
          </a:p>
        </p:txBody>
      </p:sp>
      <p:sp>
        <p:nvSpPr>
          <p:cNvPr id="731" name="Google Shape;731;p29"/>
          <p:cNvSpPr/>
          <p:nvPr/>
        </p:nvSpPr>
        <p:spPr>
          <a:xfrm>
            <a:off x="914400" y="6812280"/>
            <a:ext cx="3977640" cy="2331720"/>
          </a:xfrm>
          <a:prstGeom prst="roundRect">
            <a:avLst>
              <a:gd fmla="val 588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29"/>
          <p:cNvSpPr/>
          <p:nvPr/>
        </p:nvSpPr>
        <p:spPr>
          <a:xfrm>
            <a:off x="1188720" y="7040880"/>
            <a:ext cx="731520" cy="731520"/>
          </a:xfrm>
          <a:prstGeom prst="ellipse">
            <a:avLst/>
          </a:prstGeom>
          <a:solidFill>
            <a:srgbClr val="162CA2"/>
          </a:solidFill>
          <a:ln cap="flat" cmpd="sng" w="9525">
            <a:solidFill>
              <a:srgbClr val="162CA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DFBFB"/>
              </a:buClr>
              <a:buSzPts val="2600"/>
              <a:buFont typeface="Arial"/>
              <a:buNone/>
            </a:pPr>
            <a:r>
              <a:rPr b="1" i="0" lang="en-US" sz="2600" u="none" cap="none" strike="noStrike">
                <a:solidFill>
                  <a:srgbClr val="FDFBFB"/>
                </a:solidFill>
                <a:latin typeface="Arial"/>
                <a:ea typeface="Arial"/>
                <a:cs typeface="Arial"/>
                <a:sym typeface="Arial"/>
              </a:rPr>
              <a:t>5</a:t>
            </a:r>
            <a:endParaRPr b="0" i="0" sz="2600" u="none" cap="none" strike="noStrike">
              <a:solidFill>
                <a:schemeClr val="dk1"/>
              </a:solidFill>
              <a:latin typeface="Calibri"/>
              <a:ea typeface="Calibri"/>
              <a:cs typeface="Calibri"/>
              <a:sym typeface="Calibri"/>
            </a:endParaRPr>
          </a:p>
        </p:txBody>
      </p:sp>
      <p:sp>
        <p:nvSpPr>
          <p:cNvPr id="733" name="Google Shape;733;p29"/>
          <p:cNvSpPr txBox="1"/>
          <p:nvPr/>
        </p:nvSpPr>
        <p:spPr>
          <a:xfrm>
            <a:off x="1188720" y="7909560"/>
            <a:ext cx="34747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Percabangan</a:t>
            </a:r>
            <a:endParaRPr b="0" i="0" sz="2400" u="none" cap="none" strike="noStrike">
              <a:solidFill>
                <a:schemeClr val="dk1"/>
              </a:solidFill>
              <a:latin typeface="Calibri"/>
              <a:ea typeface="Calibri"/>
              <a:cs typeface="Calibri"/>
              <a:sym typeface="Calibri"/>
            </a:endParaRPr>
          </a:p>
        </p:txBody>
      </p:sp>
      <p:sp>
        <p:nvSpPr>
          <p:cNvPr id="734" name="Google Shape;734;p29"/>
          <p:cNvSpPr txBox="1"/>
          <p:nvPr/>
        </p:nvSpPr>
        <p:spPr>
          <a:xfrm>
            <a:off x="1188720" y="8412480"/>
            <a:ext cx="34747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F86"/>
              </a:buClr>
              <a:buSzPts val="1900"/>
              <a:buFont typeface="Calibri"/>
              <a:buNone/>
            </a:pPr>
            <a:r>
              <a:rPr b="0" i="0" lang="en-US" sz="1900" u="none" cap="none" strike="noStrike">
                <a:solidFill>
                  <a:srgbClr val="5A5F86"/>
                </a:solidFill>
                <a:latin typeface="Calibri"/>
                <a:ea typeface="Calibri"/>
                <a:cs typeface="Calibri"/>
                <a:sym typeface="Calibri"/>
              </a:rPr>
              <a:t>if-else dan switch</a:t>
            </a:r>
            <a:endParaRPr b="0" i="0" sz="1900" u="none" cap="none" strike="noStrike">
              <a:solidFill>
                <a:schemeClr val="dk1"/>
              </a:solidFill>
              <a:latin typeface="Calibri"/>
              <a:ea typeface="Calibri"/>
              <a:cs typeface="Calibri"/>
              <a:sym typeface="Calibri"/>
            </a:endParaRPr>
          </a:p>
        </p:txBody>
      </p:sp>
      <p:sp>
        <p:nvSpPr>
          <p:cNvPr id="735" name="Google Shape;735;p29"/>
          <p:cNvSpPr/>
          <p:nvPr/>
        </p:nvSpPr>
        <p:spPr>
          <a:xfrm>
            <a:off x="5166360" y="6812280"/>
            <a:ext cx="3977640" cy="2331720"/>
          </a:xfrm>
          <a:prstGeom prst="roundRect">
            <a:avLst>
              <a:gd fmla="val 588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29"/>
          <p:cNvSpPr/>
          <p:nvPr/>
        </p:nvSpPr>
        <p:spPr>
          <a:xfrm>
            <a:off x="5440680" y="7040880"/>
            <a:ext cx="731520" cy="731520"/>
          </a:xfrm>
          <a:prstGeom prst="ellipse">
            <a:avLst/>
          </a:prstGeom>
          <a:solidFill>
            <a:srgbClr val="162CA2"/>
          </a:solidFill>
          <a:ln cap="flat" cmpd="sng" w="9525">
            <a:solidFill>
              <a:srgbClr val="162CA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DFBFB"/>
              </a:buClr>
              <a:buSzPts val="2600"/>
              <a:buFont typeface="Arial"/>
              <a:buNone/>
            </a:pPr>
            <a:r>
              <a:rPr b="1" i="0" lang="en-US" sz="2600" u="none" cap="none" strike="noStrike">
                <a:solidFill>
                  <a:srgbClr val="FDFBFB"/>
                </a:solidFill>
                <a:latin typeface="Arial"/>
                <a:ea typeface="Arial"/>
                <a:cs typeface="Arial"/>
                <a:sym typeface="Arial"/>
              </a:rPr>
              <a:t>6</a:t>
            </a:r>
            <a:endParaRPr b="0" i="0" sz="2600" u="none" cap="none" strike="noStrike">
              <a:solidFill>
                <a:schemeClr val="dk1"/>
              </a:solidFill>
              <a:latin typeface="Calibri"/>
              <a:ea typeface="Calibri"/>
              <a:cs typeface="Calibri"/>
              <a:sym typeface="Calibri"/>
            </a:endParaRPr>
          </a:p>
        </p:txBody>
      </p:sp>
      <p:sp>
        <p:nvSpPr>
          <p:cNvPr id="737" name="Google Shape;737;p29"/>
          <p:cNvSpPr txBox="1"/>
          <p:nvPr/>
        </p:nvSpPr>
        <p:spPr>
          <a:xfrm>
            <a:off x="5440680" y="7909560"/>
            <a:ext cx="34747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Perulangan</a:t>
            </a:r>
            <a:endParaRPr b="0" i="0" sz="2400" u="none" cap="none" strike="noStrike">
              <a:solidFill>
                <a:schemeClr val="dk1"/>
              </a:solidFill>
              <a:latin typeface="Calibri"/>
              <a:ea typeface="Calibri"/>
              <a:cs typeface="Calibri"/>
              <a:sym typeface="Calibri"/>
            </a:endParaRPr>
          </a:p>
        </p:txBody>
      </p:sp>
      <p:sp>
        <p:nvSpPr>
          <p:cNvPr id="738" name="Google Shape;738;p29"/>
          <p:cNvSpPr txBox="1"/>
          <p:nvPr/>
        </p:nvSpPr>
        <p:spPr>
          <a:xfrm>
            <a:off x="5440680" y="8412480"/>
            <a:ext cx="34747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F86"/>
              </a:buClr>
              <a:buSzPts val="1900"/>
              <a:buFont typeface="Calibri"/>
              <a:buNone/>
            </a:pPr>
            <a:r>
              <a:rPr b="0" i="0" lang="en-US" sz="1900" u="none" cap="none" strike="noStrike">
                <a:solidFill>
                  <a:srgbClr val="5A5F86"/>
                </a:solidFill>
                <a:latin typeface="Calibri"/>
                <a:ea typeface="Calibri"/>
                <a:cs typeface="Calibri"/>
                <a:sym typeface="Calibri"/>
              </a:rPr>
              <a:t>for dan while</a:t>
            </a:r>
            <a:endParaRPr b="0" i="0" sz="1900" u="none" cap="none" strike="noStrike">
              <a:solidFill>
                <a:schemeClr val="dk1"/>
              </a:solidFill>
              <a:latin typeface="Calibri"/>
              <a:ea typeface="Calibri"/>
              <a:cs typeface="Calibri"/>
              <a:sym typeface="Calibri"/>
            </a:endParaRPr>
          </a:p>
        </p:txBody>
      </p:sp>
      <p:sp>
        <p:nvSpPr>
          <p:cNvPr id="739" name="Google Shape;739;p29"/>
          <p:cNvSpPr/>
          <p:nvPr/>
        </p:nvSpPr>
        <p:spPr>
          <a:xfrm>
            <a:off x="9418320" y="6812280"/>
            <a:ext cx="3977640" cy="2331720"/>
          </a:xfrm>
          <a:prstGeom prst="roundRect">
            <a:avLst>
              <a:gd fmla="val 588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29"/>
          <p:cNvSpPr/>
          <p:nvPr/>
        </p:nvSpPr>
        <p:spPr>
          <a:xfrm>
            <a:off x="9692640" y="7040880"/>
            <a:ext cx="731520" cy="731520"/>
          </a:xfrm>
          <a:prstGeom prst="ellipse">
            <a:avLst/>
          </a:prstGeom>
          <a:solidFill>
            <a:srgbClr val="162CA2"/>
          </a:solidFill>
          <a:ln cap="flat" cmpd="sng" w="9525">
            <a:solidFill>
              <a:srgbClr val="162CA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DFBFB"/>
              </a:buClr>
              <a:buSzPts val="2600"/>
              <a:buFont typeface="Arial"/>
              <a:buNone/>
            </a:pPr>
            <a:r>
              <a:rPr b="1" i="0" lang="en-US" sz="2600" u="none" cap="none" strike="noStrike">
                <a:solidFill>
                  <a:srgbClr val="FDFBFB"/>
                </a:solidFill>
                <a:latin typeface="Arial"/>
                <a:ea typeface="Arial"/>
                <a:cs typeface="Arial"/>
                <a:sym typeface="Arial"/>
              </a:rPr>
              <a:t>7</a:t>
            </a:r>
            <a:endParaRPr b="0" i="0" sz="2600" u="none" cap="none" strike="noStrike">
              <a:solidFill>
                <a:schemeClr val="dk1"/>
              </a:solidFill>
              <a:latin typeface="Calibri"/>
              <a:ea typeface="Calibri"/>
              <a:cs typeface="Calibri"/>
              <a:sym typeface="Calibri"/>
            </a:endParaRPr>
          </a:p>
        </p:txBody>
      </p:sp>
      <p:sp>
        <p:nvSpPr>
          <p:cNvPr id="741" name="Google Shape;741;p29"/>
          <p:cNvSpPr txBox="1"/>
          <p:nvPr/>
        </p:nvSpPr>
        <p:spPr>
          <a:xfrm>
            <a:off x="9692640" y="7909560"/>
            <a:ext cx="34747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Fungsi</a:t>
            </a:r>
            <a:endParaRPr b="0" i="0" sz="2400" u="none" cap="none" strike="noStrike">
              <a:solidFill>
                <a:schemeClr val="dk1"/>
              </a:solidFill>
              <a:latin typeface="Calibri"/>
              <a:ea typeface="Calibri"/>
              <a:cs typeface="Calibri"/>
              <a:sym typeface="Calibri"/>
            </a:endParaRPr>
          </a:p>
        </p:txBody>
      </p:sp>
      <p:sp>
        <p:nvSpPr>
          <p:cNvPr id="742" name="Google Shape;742;p29"/>
          <p:cNvSpPr txBox="1"/>
          <p:nvPr/>
        </p:nvSpPr>
        <p:spPr>
          <a:xfrm>
            <a:off x="9692640" y="8412480"/>
            <a:ext cx="34747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F86"/>
              </a:buClr>
              <a:buSzPts val="1900"/>
              <a:buFont typeface="Calibri"/>
              <a:buNone/>
            </a:pPr>
            <a:r>
              <a:rPr b="0" i="0" lang="en-US" sz="1900" u="none" cap="none" strike="noStrike">
                <a:solidFill>
                  <a:srgbClr val="5A5F86"/>
                </a:solidFill>
                <a:latin typeface="Calibri"/>
                <a:ea typeface="Calibri"/>
                <a:cs typeface="Calibri"/>
                <a:sym typeface="Calibri"/>
              </a:rPr>
              <a:t>Kode yang dipakai ulang</a:t>
            </a:r>
            <a:endParaRPr b="0" i="0" sz="1900" u="none" cap="none" strike="noStrike">
              <a:solidFill>
                <a:schemeClr val="dk1"/>
              </a:solidFill>
              <a:latin typeface="Calibri"/>
              <a:ea typeface="Calibri"/>
              <a:cs typeface="Calibri"/>
              <a:sym typeface="Calibri"/>
            </a:endParaRPr>
          </a:p>
        </p:txBody>
      </p:sp>
      <p:sp>
        <p:nvSpPr>
          <p:cNvPr id="743" name="Google Shape;743;p29"/>
          <p:cNvSpPr/>
          <p:nvPr/>
        </p:nvSpPr>
        <p:spPr>
          <a:xfrm>
            <a:off x="13670280" y="6812280"/>
            <a:ext cx="3977640" cy="2331720"/>
          </a:xfrm>
          <a:prstGeom prst="roundRect">
            <a:avLst>
              <a:gd fmla="val 588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29"/>
          <p:cNvSpPr/>
          <p:nvPr/>
        </p:nvSpPr>
        <p:spPr>
          <a:xfrm>
            <a:off x="13944600" y="7040880"/>
            <a:ext cx="731520" cy="731520"/>
          </a:xfrm>
          <a:prstGeom prst="ellipse">
            <a:avLst/>
          </a:prstGeom>
          <a:solidFill>
            <a:srgbClr val="162CA2"/>
          </a:solidFill>
          <a:ln cap="flat" cmpd="sng" w="9525">
            <a:solidFill>
              <a:srgbClr val="162CA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DFBFB"/>
              </a:buClr>
              <a:buSzPts val="2600"/>
              <a:buFont typeface="Arial"/>
              <a:buNone/>
            </a:pPr>
            <a:r>
              <a:rPr b="1" i="0" lang="en-US" sz="2600" u="none" cap="none" strike="noStrike">
                <a:solidFill>
                  <a:srgbClr val="FDFBFB"/>
                </a:solidFill>
                <a:latin typeface="Arial"/>
                <a:ea typeface="Arial"/>
                <a:cs typeface="Arial"/>
                <a:sym typeface="Arial"/>
              </a:rPr>
              <a:t>8</a:t>
            </a:r>
            <a:endParaRPr b="0" i="0" sz="2600" u="none" cap="none" strike="noStrike">
              <a:solidFill>
                <a:schemeClr val="dk1"/>
              </a:solidFill>
              <a:latin typeface="Calibri"/>
              <a:ea typeface="Calibri"/>
              <a:cs typeface="Calibri"/>
              <a:sym typeface="Calibri"/>
            </a:endParaRPr>
          </a:p>
        </p:txBody>
      </p:sp>
      <p:sp>
        <p:nvSpPr>
          <p:cNvPr id="745" name="Google Shape;745;p29"/>
          <p:cNvSpPr txBox="1"/>
          <p:nvPr/>
        </p:nvSpPr>
        <p:spPr>
          <a:xfrm>
            <a:off x="13944600" y="7909560"/>
            <a:ext cx="34747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Array / List</a:t>
            </a:r>
            <a:endParaRPr b="0" i="0" sz="2400" u="none" cap="none" strike="noStrike">
              <a:solidFill>
                <a:schemeClr val="dk1"/>
              </a:solidFill>
              <a:latin typeface="Calibri"/>
              <a:ea typeface="Calibri"/>
              <a:cs typeface="Calibri"/>
              <a:sym typeface="Calibri"/>
            </a:endParaRPr>
          </a:p>
        </p:txBody>
      </p:sp>
      <p:sp>
        <p:nvSpPr>
          <p:cNvPr id="746" name="Google Shape;746;p29"/>
          <p:cNvSpPr txBox="1"/>
          <p:nvPr/>
        </p:nvSpPr>
        <p:spPr>
          <a:xfrm>
            <a:off x="13944600" y="8412480"/>
            <a:ext cx="34747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F86"/>
              </a:buClr>
              <a:buSzPts val="1900"/>
              <a:buFont typeface="Calibri"/>
              <a:buNone/>
            </a:pPr>
            <a:r>
              <a:rPr b="0" i="0" lang="en-US" sz="1900" u="none" cap="none" strike="noStrike">
                <a:solidFill>
                  <a:srgbClr val="5A5F86"/>
                </a:solidFill>
                <a:latin typeface="Calibri"/>
                <a:ea typeface="Calibri"/>
                <a:cs typeface="Calibri"/>
                <a:sym typeface="Calibri"/>
              </a:rPr>
              <a:t>Kumpulan data berindeks</a:t>
            </a:r>
            <a:endParaRPr b="0" i="0" sz="1900" u="none" cap="none" strike="noStrike">
              <a:solidFill>
                <a:schemeClr val="dk1"/>
              </a:solidFill>
              <a:latin typeface="Calibri"/>
              <a:ea typeface="Calibri"/>
              <a:cs typeface="Calibri"/>
              <a:sym typeface="Calibri"/>
            </a:endParaRPr>
          </a:p>
        </p:txBody>
      </p:sp>
      <p:sp>
        <p:nvSpPr>
          <p:cNvPr id="747" name="Google Shape;747;p29"/>
          <p:cNvSpPr txBox="1"/>
          <p:nvPr/>
        </p:nvSpPr>
        <p:spPr>
          <a:xfrm>
            <a:off x="914400" y="9326880"/>
            <a:ext cx="16459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CA2"/>
              </a:buClr>
              <a:buSzPts val="2400"/>
              <a:buFont typeface="Calibri"/>
              <a:buNone/>
            </a:pPr>
            <a:r>
              <a:rPr b="1" i="0" lang="en-US" sz="2400" u="none" cap="none" strike="noStrike">
                <a:solidFill>
                  <a:srgbClr val="162CA2"/>
                </a:solidFill>
                <a:latin typeface="Calibri"/>
                <a:ea typeface="Calibri"/>
                <a:cs typeface="Calibri"/>
                <a:sym typeface="Calibri"/>
              </a:rPr>
              <a:t>Kunci: </a:t>
            </a:r>
            <a:r>
              <a:rPr b="1" i="0" lang="en-US" sz="2400" u="none" cap="none" strike="noStrike">
                <a:solidFill>
                  <a:srgbClr val="13123D"/>
                </a:solidFill>
                <a:latin typeface="Calibri"/>
                <a:ea typeface="Calibri"/>
                <a:cs typeface="Calibri"/>
                <a:sym typeface="Calibri"/>
              </a:rPr>
              <a:t>pahami → rencanakan → terapkan → uji.</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pic>
        <p:nvPicPr>
          <p:cNvPr descr="/home/claude/assets/image3.png" id="753" name="Google Shape;753;p30"/>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754" name="Google Shape;754;p30"/>
          <p:cNvSpPr txBox="1"/>
          <p:nvPr/>
        </p:nvSpPr>
        <p:spPr>
          <a:xfrm>
            <a:off x="8686800" y="914400"/>
            <a:ext cx="928116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CA2"/>
              </a:buClr>
              <a:buSzPts val="8000"/>
              <a:buFont typeface="Poppins"/>
              <a:buNone/>
            </a:pPr>
            <a:r>
              <a:rPr b="1" i="0" lang="en-US" sz="8000" u="none" cap="none" strike="noStrike">
                <a:solidFill>
                  <a:srgbClr val="162CA2"/>
                </a:solidFill>
                <a:latin typeface="Poppins"/>
                <a:ea typeface="Poppins"/>
                <a:cs typeface="Poppins"/>
                <a:sym typeface="Poppins"/>
              </a:rPr>
              <a:t>TANYA JAWAB</a:t>
            </a:r>
            <a:endParaRPr b="0" i="0" sz="8000" u="none" cap="none" strike="noStrike">
              <a:solidFill>
                <a:schemeClr val="dk1"/>
              </a:solidFill>
              <a:latin typeface="Calibri"/>
              <a:ea typeface="Calibri"/>
              <a:cs typeface="Calibri"/>
              <a:sym typeface="Calibri"/>
            </a:endParaRPr>
          </a:p>
        </p:txBody>
      </p:sp>
      <p:sp>
        <p:nvSpPr>
          <p:cNvPr id="755" name="Google Shape;755;p30"/>
          <p:cNvSpPr txBox="1"/>
          <p:nvPr/>
        </p:nvSpPr>
        <p:spPr>
          <a:xfrm>
            <a:off x="9601200" y="2423160"/>
            <a:ext cx="8229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400"/>
              <a:buFont typeface="Poppins"/>
              <a:buNone/>
            </a:pPr>
            <a:r>
              <a:rPr b="1" i="0" lang="en-US" sz="2400" u="none" cap="none" strike="noStrike">
                <a:solidFill>
                  <a:srgbClr val="162CA2"/>
                </a:solidFill>
                <a:latin typeface="Poppins"/>
                <a:ea typeface="Poppins"/>
                <a:cs typeface="Poppins"/>
                <a:sym typeface="Poppins"/>
              </a:rPr>
              <a:t>Tugas mandiri</a:t>
            </a:r>
            <a:endParaRPr b="0" i="0" sz="2400" u="none" cap="none" strike="noStrike">
              <a:solidFill>
                <a:schemeClr val="dk1"/>
              </a:solidFill>
              <a:latin typeface="Calibri"/>
              <a:ea typeface="Calibri"/>
              <a:cs typeface="Calibri"/>
              <a:sym typeface="Calibri"/>
            </a:endParaRPr>
          </a:p>
        </p:txBody>
      </p:sp>
      <p:sp>
        <p:nvSpPr>
          <p:cNvPr id="756" name="Google Shape;756;p30"/>
          <p:cNvSpPr txBox="1"/>
          <p:nvPr/>
        </p:nvSpPr>
        <p:spPr>
          <a:xfrm>
            <a:off x="9601200" y="3017520"/>
            <a:ext cx="8503920" cy="2011680"/>
          </a:xfrm>
          <a:prstGeom prst="rect">
            <a:avLst/>
          </a:prstGeom>
          <a:noFill/>
          <a:ln>
            <a:noFill/>
          </a:ln>
        </p:spPr>
        <p:txBody>
          <a:bodyPr anchorCtr="0" anchor="t" bIns="0" lIns="0" spcFirstLastPara="1" rIns="0" wrap="square" tIns="0">
            <a:noAutofit/>
          </a:bodyPr>
          <a:lstStyle/>
          <a:p>
            <a:pPr indent="-361950" lvl="0" marL="457200" marR="0" rtl="0" algn="l">
              <a:spcBef>
                <a:spcPts val="0"/>
              </a:spcBef>
              <a:spcAft>
                <a:spcPts val="0"/>
              </a:spcAft>
              <a:buClr>
                <a:srgbClr val="162CA2"/>
              </a:buClr>
              <a:buSzPts val="2100"/>
              <a:buFont typeface="Poppins"/>
              <a:buAutoNum type="arabicPeriod"/>
            </a:pPr>
            <a:r>
              <a:rPr b="0" i="0" lang="en-US" sz="2100" u="none" cap="none" strike="noStrike">
                <a:solidFill>
                  <a:srgbClr val="162CA2"/>
                </a:solidFill>
                <a:latin typeface="Poppins"/>
                <a:ea typeface="Poppins"/>
                <a:cs typeface="Poppins"/>
                <a:sym typeface="Poppins"/>
              </a:rPr>
              <a:t>Cek apakah sebuah bilangan prima</a:t>
            </a:r>
            <a:endParaRPr b="0" i="0" sz="2100" u="none" cap="none" strike="noStrike">
              <a:solidFill>
                <a:schemeClr val="dk1"/>
              </a:solidFill>
              <a:latin typeface="Calibri"/>
              <a:ea typeface="Calibri"/>
              <a:cs typeface="Calibri"/>
              <a:sym typeface="Calibri"/>
            </a:endParaRPr>
          </a:p>
          <a:p>
            <a:pPr indent="-361950" lvl="0" marL="457200" marR="0" rtl="0" algn="l">
              <a:spcBef>
                <a:spcPts val="0"/>
              </a:spcBef>
              <a:spcAft>
                <a:spcPts val="0"/>
              </a:spcAft>
              <a:buClr>
                <a:srgbClr val="162CA2"/>
              </a:buClr>
              <a:buSzPts val="2100"/>
              <a:buFont typeface="Poppins"/>
              <a:buAutoNum type="arabicPeriod"/>
            </a:pPr>
            <a:r>
              <a:rPr b="0" i="0" lang="en-US" sz="2100" u="none" cap="none" strike="noStrike">
                <a:solidFill>
                  <a:srgbClr val="162CA2"/>
                </a:solidFill>
                <a:latin typeface="Poppins"/>
                <a:ea typeface="Poppins"/>
                <a:cs typeface="Poppins"/>
                <a:sym typeface="Poppins"/>
              </a:rPr>
              <a:t>Hitung rata-rata elemen dalam array</a:t>
            </a:r>
            <a:endParaRPr b="0" i="0" sz="2100" u="none" cap="none" strike="noStrike">
              <a:solidFill>
                <a:schemeClr val="dk1"/>
              </a:solidFill>
              <a:latin typeface="Calibri"/>
              <a:ea typeface="Calibri"/>
              <a:cs typeface="Calibri"/>
              <a:sym typeface="Calibri"/>
            </a:endParaRPr>
          </a:p>
          <a:p>
            <a:pPr indent="-361950" lvl="0" marL="457200" marR="0" rtl="0" algn="l">
              <a:spcBef>
                <a:spcPts val="0"/>
              </a:spcBef>
              <a:spcAft>
                <a:spcPts val="0"/>
              </a:spcAft>
              <a:buClr>
                <a:srgbClr val="162CA2"/>
              </a:buClr>
              <a:buSzPts val="2100"/>
              <a:buFont typeface="Poppins"/>
              <a:buAutoNum type="arabicPeriod"/>
            </a:pPr>
            <a:r>
              <a:rPr b="0" i="0" lang="en-US" sz="2100" u="none" cap="none" strike="noStrike">
                <a:solidFill>
                  <a:srgbClr val="162CA2"/>
                </a:solidFill>
                <a:latin typeface="Poppins"/>
                <a:ea typeface="Poppins"/>
                <a:cs typeface="Poppins"/>
                <a:sym typeface="Poppins"/>
              </a:rPr>
              <a:t>Cari nilai terbesar dalam array</a:t>
            </a:r>
            <a:endParaRPr b="0" i="0" sz="2100" u="none" cap="none" strike="noStrike">
              <a:solidFill>
                <a:schemeClr val="dk1"/>
              </a:solidFill>
              <a:latin typeface="Calibri"/>
              <a:ea typeface="Calibri"/>
              <a:cs typeface="Calibri"/>
              <a:sym typeface="Calibri"/>
            </a:endParaRPr>
          </a:p>
        </p:txBody>
      </p:sp>
      <p:sp>
        <p:nvSpPr>
          <p:cNvPr id="757" name="Google Shape;757;p30"/>
          <p:cNvSpPr txBox="1"/>
          <p:nvPr/>
        </p:nvSpPr>
        <p:spPr>
          <a:xfrm>
            <a:off x="6272784" y="5093208"/>
            <a:ext cx="1097280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3000"/>
              <a:buFont typeface="Poppins"/>
              <a:buNone/>
            </a:pPr>
            <a:r>
              <a:rPr b="1" i="0" lang="en-US" sz="3000" u="none" cap="none" strike="noStrike">
                <a:solidFill>
                  <a:srgbClr val="FDFBFB"/>
                </a:solidFill>
                <a:latin typeface="Poppins"/>
                <a:ea typeface="Poppins"/>
                <a:cs typeface="Poppins"/>
                <a:sym typeface="Poppins"/>
              </a:rPr>
              <a:t>Sesi 2 · Pengenalan Go &amp; Sintaks Dasar</a:t>
            </a:r>
            <a:endParaRPr b="0" i="0" sz="3000" u="none" cap="none" strike="noStrike">
              <a:solidFill>
                <a:schemeClr val="dk1"/>
              </a:solidFill>
              <a:latin typeface="Calibri"/>
              <a:ea typeface="Calibri"/>
              <a:cs typeface="Calibri"/>
              <a:sym typeface="Calibri"/>
            </a:endParaRPr>
          </a:p>
        </p:txBody>
      </p:sp>
      <p:sp>
        <p:nvSpPr>
          <p:cNvPr id="758" name="Google Shape;758;p30"/>
          <p:cNvSpPr txBox="1"/>
          <p:nvPr/>
        </p:nvSpPr>
        <p:spPr>
          <a:xfrm>
            <a:off x="6272784" y="5897880"/>
            <a:ext cx="10515600" cy="1463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1900"/>
              <a:buFont typeface="Poppins"/>
              <a:buNone/>
            </a:pPr>
            <a:r>
              <a:rPr b="0" i="0" lang="en-US" sz="1900" u="none" cap="none" strike="noStrike">
                <a:solidFill>
                  <a:srgbClr val="FDFBFB"/>
                </a:solidFill>
                <a:latin typeface="Poppins"/>
                <a:ea typeface="Poppins"/>
                <a:cs typeface="Poppins"/>
                <a:sym typeface="Poppins"/>
              </a:rPr>
              <a:t>Instalasi Go, VS Code, variabel, tipe data, operator, dan komunikasi efektif.</a:t>
            </a:r>
            <a:endParaRPr b="0" i="0" sz="1900" u="none" cap="none" strike="noStrike">
              <a:solidFill>
                <a:schemeClr val="dk1"/>
              </a:solidFill>
              <a:latin typeface="Calibri"/>
              <a:ea typeface="Calibri"/>
              <a:cs typeface="Calibri"/>
              <a:sym typeface="Calibri"/>
            </a:endParaRPr>
          </a:p>
        </p:txBody>
      </p:sp>
      <p:sp>
        <p:nvSpPr>
          <p:cNvPr id="759" name="Google Shape;759;p30"/>
          <p:cNvSpPr txBox="1"/>
          <p:nvPr/>
        </p:nvSpPr>
        <p:spPr>
          <a:xfrm>
            <a:off x="6922008" y="8156448"/>
            <a:ext cx="548640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2000"/>
              <a:buFont typeface="Poppins"/>
              <a:buNone/>
            </a:pPr>
            <a:r>
              <a:rPr b="0" i="0" lang="en-US" sz="2000" u="none" cap="none" strike="noStrike">
                <a:solidFill>
                  <a:srgbClr val="FDFBFB"/>
                </a:solidFill>
                <a:latin typeface="Poppins"/>
                <a:ea typeface="Poppins"/>
                <a:cs typeface="Poppins"/>
                <a:sym typeface="Poppins"/>
              </a:rPr>
              <a:t>0857-4050-0094</a:t>
            </a:r>
            <a:endParaRPr b="0" i="0" sz="2000" u="none" cap="none" strike="noStrike">
              <a:solidFill>
                <a:schemeClr val="dk1"/>
              </a:solidFill>
              <a:latin typeface="Calibri"/>
              <a:ea typeface="Calibri"/>
              <a:cs typeface="Calibri"/>
              <a:sym typeface="Calibri"/>
            </a:endParaRPr>
          </a:p>
        </p:txBody>
      </p:sp>
      <p:sp>
        <p:nvSpPr>
          <p:cNvPr id="760" name="Google Shape;760;p30"/>
          <p:cNvSpPr txBox="1"/>
          <p:nvPr/>
        </p:nvSpPr>
        <p:spPr>
          <a:xfrm>
            <a:off x="6958584" y="8732520"/>
            <a:ext cx="73152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1400"/>
              <a:buFont typeface="Poppins"/>
              <a:buNone/>
            </a:pPr>
            <a:r>
              <a:rPr b="0" i="0" lang="en-US" sz="1400" u="none" cap="none" strike="noStrike">
                <a:solidFill>
                  <a:srgbClr val="FDFBFB"/>
                </a:solidFill>
                <a:latin typeface="Poppins"/>
                <a:ea typeface="Poppins"/>
                <a:cs typeface="Poppins"/>
                <a:sym typeface="Poppins"/>
              </a:rPr>
              <a:t>martha@hicolleagues.com</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DFBFB"/>
              </a:buClr>
              <a:buSzPts val="1400"/>
              <a:buFont typeface="Poppins"/>
              <a:buNone/>
            </a:pPr>
            <a:r>
              <a:rPr b="0" i="0" lang="en-US" sz="1400" u="none" cap="none" strike="noStrike">
                <a:solidFill>
                  <a:srgbClr val="FDFBFB"/>
                </a:solidFill>
                <a:latin typeface="Poppins"/>
                <a:ea typeface="Poppins"/>
                <a:cs typeface="Poppins"/>
                <a:sym typeface="Poppins"/>
              </a:rPr>
              <a:t>gilang@hicolleagues.com</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DFBFB"/>
              </a:buClr>
              <a:buSzPts val="1400"/>
              <a:buFont typeface="Poppins"/>
              <a:buNone/>
            </a:pPr>
            <a:r>
              <a:rPr b="0" i="0" lang="en-US" sz="1400" u="none" cap="none" strike="noStrike">
                <a:solidFill>
                  <a:srgbClr val="FDFBFB"/>
                </a:solidFill>
                <a:latin typeface="Poppins"/>
                <a:ea typeface="Poppins"/>
                <a:cs typeface="Poppins"/>
                <a:sym typeface="Poppins"/>
              </a:rPr>
              <a:t>partnership@hicolleagues.com</a:t>
            </a:r>
            <a:endParaRPr b="0" i="0" sz="1400" u="none" cap="none" strike="noStrike">
              <a:solidFill>
                <a:schemeClr val="dk1"/>
              </a:solidFill>
              <a:latin typeface="Calibri"/>
              <a:ea typeface="Calibri"/>
              <a:cs typeface="Calibri"/>
              <a:sym typeface="Calibri"/>
            </a:endParaRPr>
          </a:p>
        </p:txBody>
      </p:sp>
      <p:sp>
        <p:nvSpPr>
          <p:cNvPr id="761" name="Google Shape;761;p30"/>
          <p:cNvSpPr txBox="1"/>
          <p:nvPr/>
        </p:nvSpPr>
        <p:spPr>
          <a:xfrm>
            <a:off x="6958584" y="9601200"/>
            <a:ext cx="54864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2000"/>
              <a:buFont typeface="Poppins"/>
              <a:buNone/>
            </a:pPr>
            <a:r>
              <a:rPr b="0" i="0" lang="en-US" sz="2000" u="none" cap="none" strike="noStrike">
                <a:solidFill>
                  <a:srgbClr val="FDFBFB"/>
                </a:solidFill>
                <a:latin typeface="Poppins"/>
                <a:ea typeface="Poppins"/>
                <a:cs typeface="Poppins"/>
                <a:sym typeface="Poppins"/>
              </a:rPr>
              <a:t>www.hicolleagues.com</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2026-09-27T11:35:26Z</dcterms:created>
  <dc:creator>PptxGenJS</dc:creator>
</cp:coreProperties>
</file>